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1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e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jpeg"/><Relationship Id="rId17" Type="http://schemas.openxmlformats.org/officeDocument/2006/relationships/image" Target="../media/image52.png"/><Relationship Id="rId2" Type="http://schemas.openxmlformats.org/officeDocument/2006/relationships/image" Target="../media/image37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jpeg"/><Relationship Id="rId11" Type="http://schemas.openxmlformats.org/officeDocument/2006/relationships/image" Target="../media/image46.jpe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26" Type="http://schemas.openxmlformats.org/officeDocument/2006/relationships/image" Target="../media/image78.png"/><Relationship Id="rId3" Type="http://schemas.openxmlformats.org/officeDocument/2006/relationships/image" Target="../media/image55.png"/><Relationship Id="rId21" Type="http://schemas.openxmlformats.org/officeDocument/2006/relationships/image" Target="../media/image73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5" Type="http://schemas.openxmlformats.org/officeDocument/2006/relationships/image" Target="../media/image77.png"/><Relationship Id="rId2" Type="http://schemas.openxmlformats.org/officeDocument/2006/relationships/image" Target="../media/image54.png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24" Type="http://schemas.openxmlformats.org/officeDocument/2006/relationships/image" Target="../media/image76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23" Type="http://schemas.openxmlformats.org/officeDocument/2006/relationships/image" Target="../media/image75.png"/><Relationship Id="rId10" Type="http://schemas.openxmlformats.org/officeDocument/2006/relationships/image" Target="../media/image62.png"/><Relationship Id="rId19" Type="http://schemas.openxmlformats.org/officeDocument/2006/relationships/image" Target="../media/image71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Relationship Id="rId22" Type="http://schemas.openxmlformats.org/officeDocument/2006/relationships/image" Target="../media/image74.png"/><Relationship Id="rId27" Type="http://schemas.openxmlformats.org/officeDocument/2006/relationships/image" Target="../media/image7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18" Type="http://schemas.openxmlformats.org/officeDocument/2006/relationships/image" Target="../media/image96.png"/><Relationship Id="rId26" Type="http://schemas.openxmlformats.org/officeDocument/2006/relationships/image" Target="../media/image104.png"/><Relationship Id="rId3" Type="http://schemas.openxmlformats.org/officeDocument/2006/relationships/image" Target="../media/image81.png"/><Relationship Id="rId21" Type="http://schemas.openxmlformats.org/officeDocument/2006/relationships/image" Target="../media/image99.png"/><Relationship Id="rId7" Type="http://schemas.openxmlformats.org/officeDocument/2006/relationships/image" Target="../media/image85.jpeg"/><Relationship Id="rId12" Type="http://schemas.openxmlformats.org/officeDocument/2006/relationships/image" Target="../media/image90.png"/><Relationship Id="rId17" Type="http://schemas.openxmlformats.org/officeDocument/2006/relationships/image" Target="../media/image95.png"/><Relationship Id="rId25" Type="http://schemas.openxmlformats.org/officeDocument/2006/relationships/image" Target="../media/image103.png"/><Relationship Id="rId2" Type="http://schemas.openxmlformats.org/officeDocument/2006/relationships/image" Target="../media/image80.png"/><Relationship Id="rId16" Type="http://schemas.openxmlformats.org/officeDocument/2006/relationships/image" Target="../media/image94.jpeg"/><Relationship Id="rId20" Type="http://schemas.openxmlformats.org/officeDocument/2006/relationships/image" Target="../media/image98.png"/><Relationship Id="rId29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24" Type="http://schemas.openxmlformats.org/officeDocument/2006/relationships/image" Target="../media/image102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23" Type="http://schemas.openxmlformats.org/officeDocument/2006/relationships/image" Target="../media/image101.png"/><Relationship Id="rId28" Type="http://schemas.openxmlformats.org/officeDocument/2006/relationships/image" Target="../media/image106.png"/><Relationship Id="rId10" Type="http://schemas.openxmlformats.org/officeDocument/2006/relationships/image" Target="../media/image88.jpeg"/><Relationship Id="rId19" Type="http://schemas.openxmlformats.org/officeDocument/2006/relationships/image" Target="../media/image97.png"/><Relationship Id="rId4" Type="http://schemas.openxmlformats.org/officeDocument/2006/relationships/image" Target="../media/image82.png"/><Relationship Id="rId9" Type="http://schemas.openxmlformats.org/officeDocument/2006/relationships/image" Target="../media/image87.jpeg"/><Relationship Id="rId14" Type="http://schemas.openxmlformats.org/officeDocument/2006/relationships/image" Target="../media/image92.png"/><Relationship Id="rId22" Type="http://schemas.openxmlformats.org/officeDocument/2006/relationships/image" Target="../media/image100.png"/><Relationship Id="rId27" Type="http://schemas.openxmlformats.org/officeDocument/2006/relationships/image" Target="../media/image105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9.png"/><Relationship Id="rId18" Type="http://schemas.openxmlformats.org/officeDocument/2006/relationships/image" Target="../media/image124.png"/><Relationship Id="rId26" Type="http://schemas.openxmlformats.org/officeDocument/2006/relationships/image" Target="../media/image132.png"/><Relationship Id="rId39" Type="http://schemas.openxmlformats.org/officeDocument/2006/relationships/image" Target="../media/image145.png"/><Relationship Id="rId21" Type="http://schemas.openxmlformats.org/officeDocument/2006/relationships/image" Target="../media/image127.png"/><Relationship Id="rId34" Type="http://schemas.openxmlformats.org/officeDocument/2006/relationships/image" Target="../media/image140.png"/><Relationship Id="rId7" Type="http://schemas.openxmlformats.org/officeDocument/2006/relationships/image" Target="../media/image113.png"/><Relationship Id="rId12" Type="http://schemas.openxmlformats.org/officeDocument/2006/relationships/image" Target="../media/image118.png"/><Relationship Id="rId17" Type="http://schemas.openxmlformats.org/officeDocument/2006/relationships/image" Target="../media/image123.png"/><Relationship Id="rId25" Type="http://schemas.openxmlformats.org/officeDocument/2006/relationships/image" Target="../media/image131.png"/><Relationship Id="rId33" Type="http://schemas.openxmlformats.org/officeDocument/2006/relationships/image" Target="../media/image139.png"/><Relationship Id="rId38" Type="http://schemas.openxmlformats.org/officeDocument/2006/relationships/image" Target="../media/image144.png"/><Relationship Id="rId2" Type="http://schemas.openxmlformats.org/officeDocument/2006/relationships/image" Target="../media/image108.png"/><Relationship Id="rId16" Type="http://schemas.openxmlformats.org/officeDocument/2006/relationships/image" Target="../media/image122.png"/><Relationship Id="rId20" Type="http://schemas.openxmlformats.org/officeDocument/2006/relationships/image" Target="../media/image126.png"/><Relationship Id="rId29" Type="http://schemas.openxmlformats.org/officeDocument/2006/relationships/image" Target="../media/image13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24" Type="http://schemas.openxmlformats.org/officeDocument/2006/relationships/image" Target="../media/image130.png"/><Relationship Id="rId32" Type="http://schemas.openxmlformats.org/officeDocument/2006/relationships/image" Target="../media/image138.png"/><Relationship Id="rId37" Type="http://schemas.openxmlformats.org/officeDocument/2006/relationships/image" Target="../media/image143.png"/><Relationship Id="rId5" Type="http://schemas.openxmlformats.org/officeDocument/2006/relationships/image" Target="../media/image111.png"/><Relationship Id="rId15" Type="http://schemas.openxmlformats.org/officeDocument/2006/relationships/image" Target="../media/image121.png"/><Relationship Id="rId23" Type="http://schemas.openxmlformats.org/officeDocument/2006/relationships/image" Target="../media/image129.png"/><Relationship Id="rId28" Type="http://schemas.openxmlformats.org/officeDocument/2006/relationships/image" Target="../media/image134.png"/><Relationship Id="rId36" Type="http://schemas.openxmlformats.org/officeDocument/2006/relationships/image" Target="../media/image142.png"/><Relationship Id="rId10" Type="http://schemas.openxmlformats.org/officeDocument/2006/relationships/image" Target="../media/image116.png"/><Relationship Id="rId19" Type="http://schemas.openxmlformats.org/officeDocument/2006/relationships/image" Target="../media/image125.png"/><Relationship Id="rId31" Type="http://schemas.openxmlformats.org/officeDocument/2006/relationships/image" Target="../media/image137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Relationship Id="rId14" Type="http://schemas.openxmlformats.org/officeDocument/2006/relationships/image" Target="../media/image120.png"/><Relationship Id="rId22" Type="http://schemas.openxmlformats.org/officeDocument/2006/relationships/image" Target="../media/image128.png"/><Relationship Id="rId27" Type="http://schemas.openxmlformats.org/officeDocument/2006/relationships/image" Target="../media/image133.png"/><Relationship Id="rId30" Type="http://schemas.openxmlformats.org/officeDocument/2006/relationships/image" Target="../media/image136.png"/><Relationship Id="rId35" Type="http://schemas.openxmlformats.org/officeDocument/2006/relationships/image" Target="../media/image141.png"/><Relationship Id="rId8" Type="http://schemas.openxmlformats.org/officeDocument/2006/relationships/image" Target="../media/image114.png"/><Relationship Id="rId3" Type="http://schemas.openxmlformats.org/officeDocument/2006/relationships/image" Target="../media/image10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13" Type="http://schemas.openxmlformats.org/officeDocument/2006/relationships/image" Target="../media/image160.png"/><Relationship Id="rId18" Type="http://schemas.openxmlformats.org/officeDocument/2006/relationships/image" Target="../media/image165.png"/><Relationship Id="rId26" Type="http://schemas.openxmlformats.org/officeDocument/2006/relationships/image" Target="../media/image173.png"/><Relationship Id="rId3" Type="http://schemas.openxmlformats.org/officeDocument/2006/relationships/image" Target="../media/image150.png"/><Relationship Id="rId21" Type="http://schemas.openxmlformats.org/officeDocument/2006/relationships/image" Target="../media/image168.png"/><Relationship Id="rId7" Type="http://schemas.openxmlformats.org/officeDocument/2006/relationships/image" Target="../media/image154.png"/><Relationship Id="rId12" Type="http://schemas.openxmlformats.org/officeDocument/2006/relationships/image" Target="../media/image159.png"/><Relationship Id="rId17" Type="http://schemas.openxmlformats.org/officeDocument/2006/relationships/image" Target="../media/image164.png"/><Relationship Id="rId25" Type="http://schemas.openxmlformats.org/officeDocument/2006/relationships/image" Target="../media/image172.png"/><Relationship Id="rId2" Type="http://schemas.openxmlformats.org/officeDocument/2006/relationships/image" Target="../media/image149.jpeg"/><Relationship Id="rId16" Type="http://schemas.openxmlformats.org/officeDocument/2006/relationships/image" Target="../media/image163.png"/><Relationship Id="rId20" Type="http://schemas.openxmlformats.org/officeDocument/2006/relationships/image" Target="../media/image167.png"/><Relationship Id="rId29" Type="http://schemas.openxmlformats.org/officeDocument/2006/relationships/image" Target="../media/image1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3.png"/><Relationship Id="rId11" Type="http://schemas.openxmlformats.org/officeDocument/2006/relationships/image" Target="../media/image158.png"/><Relationship Id="rId24" Type="http://schemas.openxmlformats.org/officeDocument/2006/relationships/image" Target="../media/image171.png"/><Relationship Id="rId5" Type="http://schemas.openxmlformats.org/officeDocument/2006/relationships/image" Target="../media/image152.png"/><Relationship Id="rId15" Type="http://schemas.openxmlformats.org/officeDocument/2006/relationships/image" Target="../media/image162.png"/><Relationship Id="rId23" Type="http://schemas.openxmlformats.org/officeDocument/2006/relationships/image" Target="../media/image170.png"/><Relationship Id="rId28" Type="http://schemas.openxmlformats.org/officeDocument/2006/relationships/image" Target="../media/image175.png"/><Relationship Id="rId10" Type="http://schemas.openxmlformats.org/officeDocument/2006/relationships/image" Target="../media/image157.png"/><Relationship Id="rId19" Type="http://schemas.openxmlformats.org/officeDocument/2006/relationships/image" Target="../media/image166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Relationship Id="rId14" Type="http://schemas.openxmlformats.org/officeDocument/2006/relationships/image" Target="../media/image161.png"/><Relationship Id="rId22" Type="http://schemas.openxmlformats.org/officeDocument/2006/relationships/image" Target="../media/image169.png"/><Relationship Id="rId27" Type="http://schemas.openxmlformats.org/officeDocument/2006/relationships/image" Target="../media/image17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9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1.png"/><Relationship Id="rId18" Type="http://schemas.openxmlformats.org/officeDocument/2006/relationships/image" Target="../media/image196.png"/><Relationship Id="rId26" Type="http://schemas.openxmlformats.org/officeDocument/2006/relationships/image" Target="../media/image204.png"/><Relationship Id="rId39" Type="http://schemas.openxmlformats.org/officeDocument/2006/relationships/image" Target="../media/image217.png"/><Relationship Id="rId21" Type="http://schemas.openxmlformats.org/officeDocument/2006/relationships/image" Target="../media/image199.png"/><Relationship Id="rId34" Type="http://schemas.openxmlformats.org/officeDocument/2006/relationships/image" Target="../media/image212.png"/><Relationship Id="rId42" Type="http://schemas.openxmlformats.org/officeDocument/2006/relationships/image" Target="../media/image220.png"/><Relationship Id="rId47" Type="http://schemas.openxmlformats.org/officeDocument/2006/relationships/image" Target="../media/image225.png"/><Relationship Id="rId50" Type="http://schemas.openxmlformats.org/officeDocument/2006/relationships/image" Target="../media/image228.png"/><Relationship Id="rId55" Type="http://schemas.openxmlformats.org/officeDocument/2006/relationships/image" Target="../media/image233.png"/><Relationship Id="rId7" Type="http://schemas.openxmlformats.org/officeDocument/2006/relationships/image" Target="../media/image185.png"/><Relationship Id="rId2" Type="http://schemas.openxmlformats.org/officeDocument/2006/relationships/image" Target="../media/image180.png"/><Relationship Id="rId16" Type="http://schemas.openxmlformats.org/officeDocument/2006/relationships/image" Target="../media/image194.png"/><Relationship Id="rId29" Type="http://schemas.openxmlformats.org/officeDocument/2006/relationships/image" Target="../media/image207.png"/><Relationship Id="rId11" Type="http://schemas.openxmlformats.org/officeDocument/2006/relationships/image" Target="../media/image189.png"/><Relationship Id="rId24" Type="http://schemas.openxmlformats.org/officeDocument/2006/relationships/image" Target="../media/image202.png"/><Relationship Id="rId32" Type="http://schemas.openxmlformats.org/officeDocument/2006/relationships/image" Target="../media/image210.png"/><Relationship Id="rId37" Type="http://schemas.openxmlformats.org/officeDocument/2006/relationships/image" Target="../media/image215.png"/><Relationship Id="rId40" Type="http://schemas.openxmlformats.org/officeDocument/2006/relationships/image" Target="../media/image218.png"/><Relationship Id="rId45" Type="http://schemas.openxmlformats.org/officeDocument/2006/relationships/image" Target="../media/image223.png"/><Relationship Id="rId53" Type="http://schemas.openxmlformats.org/officeDocument/2006/relationships/image" Target="../media/image231.png"/><Relationship Id="rId58" Type="http://schemas.openxmlformats.org/officeDocument/2006/relationships/image" Target="../media/image236.png"/><Relationship Id="rId5" Type="http://schemas.openxmlformats.org/officeDocument/2006/relationships/image" Target="../media/image183.png"/><Relationship Id="rId19" Type="http://schemas.openxmlformats.org/officeDocument/2006/relationships/image" Target="../media/image197.png"/><Relationship Id="rId4" Type="http://schemas.openxmlformats.org/officeDocument/2006/relationships/image" Target="../media/image182.png"/><Relationship Id="rId9" Type="http://schemas.openxmlformats.org/officeDocument/2006/relationships/image" Target="../media/image187.png"/><Relationship Id="rId14" Type="http://schemas.openxmlformats.org/officeDocument/2006/relationships/image" Target="../media/image192.png"/><Relationship Id="rId22" Type="http://schemas.openxmlformats.org/officeDocument/2006/relationships/image" Target="../media/image200.png"/><Relationship Id="rId27" Type="http://schemas.openxmlformats.org/officeDocument/2006/relationships/image" Target="../media/image205.png"/><Relationship Id="rId30" Type="http://schemas.openxmlformats.org/officeDocument/2006/relationships/image" Target="../media/image208.png"/><Relationship Id="rId35" Type="http://schemas.openxmlformats.org/officeDocument/2006/relationships/image" Target="../media/image213.png"/><Relationship Id="rId43" Type="http://schemas.openxmlformats.org/officeDocument/2006/relationships/image" Target="../media/image221.png"/><Relationship Id="rId48" Type="http://schemas.openxmlformats.org/officeDocument/2006/relationships/image" Target="../media/image226.png"/><Relationship Id="rId56" Type="http://schemas.openxmlformats.org/officeDocument/2006/relationships/image" Target="../media/image234.png"/><Relationship Id="rId8" Type="http://schemas.openxmlformats.org/officeDocument/2006/relationships/image" Target="../media/image186.png"/><Relationship Id="rId51" Type="http://schemas.openxmlformats.org/officeDocument/2006/relationships/image" Target="../media/image229.png"/><Relationship Id="rId3" Type="http://schemas.openxmlformats.org/officeDocument/2006/relationships/image" Target="../media/image181.png"/><Relationship Id="rId12" Type="http://schemas.openxmlformats.org/officeDocument/2006/relationships/image" Target="../media/image190.png"/><Relationship Id="rId17" Type="http://schemas.openxmlformats.org/officeDocument/2006/relationships/image" Target="../media/image195.png"/><Relationship Id="rId25" Type="http://schemas.openxmlformats.org/officeDocument/2006/relationships/image" Target="../media/image203.png"/><Relationship Id="rId33" Type="http://schemas.openxmlformats.org/officeDocument/2006/relationships/image" Target="../media/image211.png"/><Relationship Id="rId38" Type="http://schemas.openxmlformats.org/officeDocument/2006/relationships/image" Target="../media/image216.png"/><Relationship Id="rId46" Type="http://schemas.openxmlformats.org/officeDocument/2006/relationships/image" Target="../media/image224.png"/><Relationship Id="rId20" Type="http://schemas.openxmlformats.org/officeDocument/2006/relationships/image" Target="../media/image198.png"/><Relationship Id="rId41" Type="http://schemas.openxmlformats.org/officeDocument/2006/relationships/image" Target="../media/image219.png"/><Relationship Id="rId54" Type="http://schemas.openxmlformats.org/officeDocument/2006/relationships/image" Target="../media/image2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4.png"/><Relationship Id="rId15" Type="http://schemas.openxmlformats.org/officeDocument/2006/relationships/image" Target="../media/image193.png"/><Relationship Id="rId23" Type="http://schemas.openxmlformats.org/officeDocument/2006/relationships/image" Target="../media/image201.png"/><Relationship Id="rId28" Type="http://schemas.openxmlformats.org/officeDocument/2006/relationships/image" Target="../media/image206.png"/><Relationship Id="rId36" Type="http://schemas.openxmlformats.org/officeDocument/2006/relationships/image" Target="../media/image214.png"/><Relationship Id="rId49" Type="http://schemas.openxmlformats.org/officeDocument/2006/relationships/image" Target="../media/image227.png"/><Relationship Id="rId57" Type="http://schemas.openxmlformats.org/officeDocument/2006/relationships/image" Target="../media/image235.png"/><Relationship Id="rId10" Type="http://schemas.openxmlformats.org/officeDocument/2006/relationships/image" Target="../media/image188.png"/><Relationship Id="rId31" Type="http://schemas.openxmlformats.org/officeDocument/2006/relationships/image" Target="../media/image209.png"/><Relationship Id="rId44" Type="http://schemas.openxmlformats.org/officeDocument/2006/relationships/image" Target="../media/image222.png"/><Relationship Id="rId52" Type="http://schemas.openxmlformats.org/officeDocument/2006/relationships/image" Target="../media/image230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8.png"/><Relationship Id="rId18" Type="http://schemas.openxmlformats.org/officeDocument/2006/relationships/image" Target="../media/image253.png"/><Relationship Id="rId26" Type="http://schemas.openxmlformats.org/officeDocument/2006/relationships/image" Target="../media/image261.png"/><Relationship Id="rId39" Type="http://schemas.openxmlformats.org/officeDocument/2006/relationships/image" Target="../media/image274.png"/><Relationship Id="rId21" Type="http://schemas.openxmlformats.org/officeDocument/2006/relationships/image" Target="../media/image256.png"/><Relationship Id="rId34" Type="http://schemas.openxmlformats.org/officeDocument/2006/relationships/image" Target="../media/image269.png"/><Relationship Id="rId42" Type="http://schemas.openxmlformats.org/officeDocument/2006/relationships/image" Target="../media/image277.png"/><Relationship Id="rId47" Type="http://schemas.openxmlformats.org/officeDocument/2006/relationships/image" Target="../media/image282.png"/><Relationship Id="rId50" Type="http://schemas.openxmlformats.org/officeDocument/2006/relationships/image" Target="../media/image285.png"/><Relationship Id="rId7" Type="http://schemas.openxmlformats.org/officeDocument/2006/relationships/image" Target="../media/image242.png"/><Relationship Id="rId2" Type="http://schemas.openxmlformats.org/officeDocument/2006/relationships/image" Target="../media/image237.png"/><Relationship Id="rId16" Type="http://schemas.openxmlformats.org/officeDocument/2006/relationships/image" Target="../media/image251.png"/><Relationship Id="rId29" Type="http://schemas.openxmlformats.org/officeDocument/2006/relationships/image" Target="../media/image264.png"/><Relationship Id="rId11" Type="http://schemas.openxmlformats.org/officeDocument/2006/relationships/image" Target="../media/image246.png"/><Relationship Id="rId24" Type="http://schemas.openxmlformats.org/officeDocument/2006/relationships/image" Target="../media/image259.png"/><Relationship Id="rId32" Type="http://schemas.openxmlformats.org/officeDocument/2006/relationships/image" Target="../media/image267.png"/><Relationship Id="rId37" Type="http://schemas.openxmlformats.org/officeDocument/2006/relationships/image" Target="../media/image272.png"/><Relationship Id="rId40" Type="http://schemas.openxmlformats.org/officeDocument/2006/relationships/image" Target="../media/image275.png"/><Relationship Id="rId45" Type="http://schemas.openxmlformats.org/officeDocument/2006/relationships/image" Target="../media/image280.png"/><Relationship Id="rId5" Type="http://schemas.openxmlformats.org/officeDocument/2006/relationships/image" Target="../media/image240.png"/><Relationship Id="rId15" Type="http://schemas.openxmlformats.org/officeDocument/2006/relationships/image" Target="../media/image250.png"/><Relationship Id="rId23" Type="http://schemas.openxmlformats.org/officeDocument/2006/relationships/image" Target="../media/image258.png"/><Relationship Id="rId28" Type="http://schemas.openxmlformats.org/officeDocument/2006/relationships/image" Target="../media/image263.png"/><Relationship Id="rId36" Type="http://schemas.openxmlformats.org/officeDocument/2006/relationships/image" Target="../media/image271.png"/><Relationship Id="rId49" Type="http://schemas.openxmlformats.org/officeDocument/2006/relationships/image" Target="../media/image284.png"/><Relationship Id="rId10" Type="http://schemas.openxmlformats.org/officeDocument/2006/relationships/image" Target="../media/image245.png"/><Relationship Id="rId19" Type="http://schemas.openxmlformats.org/officeDocument/2006/relationships/image" Target="../media/image254.png"/><Relationship Id="rId31" Type="http://schemas.openxmlformats.org/officeDocument/2006/relationships/image" Target="../media/image266.png"/><Relationship Id="rId44" Type="http://schemas.openxmlformats.org/officeDocument/2006/relationships/image" Target="../media/image279.png"/><Relationship Id="rId4" Type="http://schemas.openxmlformats.org/officeDocument/2006/relationships/image" Target="../media/image239.png"/><Relationship Id="rId9" Type="http://schemas.openxmlformats.org/officeDocument/2006/relationships/image" Target="../media/image244.png"/><Relationship Id="rId14" Type="http://schemas.openxmlformats.org/officeDocument/2006/relationships/image" Target="../media/image249.png"/><Relationship Id="rId22" Type="http://schemas.openxmlformats.org/officeDocument/2006/relationships/image" Target="../media/image257.png"/><Relationship Id="rId27" Type="http://schemas.openxmlformats.org/officeDocument/2006/relationships/image" Target="../media/image262.png"/><Relationship Id="rId30" Type="http://schemas.openxmlformats.org/officeDocument/2006/relationships/image" Target="../media/image265.png"/><Relationship Id="rId35" Type="http://schemas.openxmlformats.org/officeDocument/2006/relationships/image" Target="../media/image270.png"/><Relationship Id="rId43" Type="http://schemas.openxmlformats.org/officeDocument/2006/relationships/image" Target="../media/image278.png"/><Relationship Id="rId48" Type="http://schemas.openxmlformats.org/officeDocument/2006/relationships/image" Target="../media/image283.png"/><Relationship Id="rId8" Type="http://schemas.openxmlformats.org/officeDocument/2006/relationships/image" Target="../media/image243.png"/><Relationship Id="rId3" Type="http://schemas.openxmlformats.org/officeDocument/2006/relationships/image" Target="../media/image238.png"/><Relationship Id="rId12" Type="http://schemas.openxmlformats.org/officeDocument/2006/relationships/image" Target="../media/image247.png"/><Relationship Id="rId17" Type="http://schemas.openxmlformats.org/officeDocument/2006/relationships/image" Target="../media/image252.png"/><Relationship Id="rId25" Type="http://schemas.openxmlformats.org/officeDocument/2006/relationships/image" Target="../media/image260.png"/><Relationship Id="rId33" Type="http://schemas.openxmlformats.org/officeDocument/2006/relationships/image" Target="../media/image268.png"/><Relationship Id="rId38" Type="http://schemas.openxmlformats.org/officeDocument/2006/relationships/image" Target="../media/image273.png"/><Relationship Id="rId46" Type="http://schemas.openxmlformats.org/officeDocument/2006/relationships/image" Target="../media/image281.png"/><Relationship Id="rId20" Type="http://schemas.openxmlformats.org/officeDocument/2006/relationships/image" Target="../media/image255.png"/><Relationship Id="rId41" Type="http://schemas.openxmlformats.org/officeDocument/2006/relationships/image" Target="../media/image2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13" Type="http://schemas.openxmlformats.org/officeDocument/2006/relationships/image" Target="../media/image278.png"/><Relationship Id="rId18" Type="http://schemas.openxmlformats.org/officeDocument/2006/relationships/image" Target="../media/image285.png"/><Relationship Id="rId3" Type="http://schemas.openxmlformats.org/officeDocument/2006/relationships/image" Target="../media/image287.png"/><Relationship Id="rId7" Type="http://schemas.openxmlformats.org/officeDocument/2006/relationships/image" Target="../media/image289.png"/><Relationship Id="rId12" Type="http://schemas.openxmlformats.org/officeDocument/2006/relationships/image" Target="../media/image293.png"/><Relationship Id="rId17" Type="http://schemas.openxmlformats.org/officeDocument/2006/relationships/image" Target="../media/image268.png"/><Relationship Id="rId2" Type="http://schemas.openxmlformats.org/officeDocument/2006/relationships/image" Target="../media/image286.png"/><Relationship Id="rId16" Type="http://schemas.openxmlformats.org/officeDocument/2006/relationships/image" Target="../media/image2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1.png"/><Relationship Id="rId11" Type="http://schemas.openxmlformats.org/officeDocument/2006/relationships/image" Target="../media/image292.png"/><Relationship Id="rId5" Type="http://schemas.openxmlformats.org/officeDocument/2006/relationships/image" Target="../media/image288.png"/><Relationship Id="rId15" Type="http://schemas.openxmlformats.org/officeDocument/2006/relationships/image" Target="../media/image295.png"/><Relationship Id="rId10" Type="http://schemas.openxmlformats.org/officeDocument/2006/relationships/image" Target="../media/image291.png"/><Relationship Id="rId19" Type="http://schemas.openxmlformats.org/officeDocument/2006/relationships/image" Target="../media/image277.png"/><Relationship Id="rId4" Type="http://schemas.openxmlformats.org/officeDocument/2006/relationships/image" Target="../media/image265.png"/><Relationship Id="rId9" Type="http://schemas.openxmlformats.org/officeDocument/2006/relationships/image" Target="../media/image266.png"/><Relationship Id="rId14" Type="http://schemas.openxmlformats.org/officeDocument/2006/relationships/image" Target="../media/image29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png"/><Relationship Id="rId13" Type="http://schemas.openxmlformats.org/officeDocument/2006/relationships/image" Target="../media/image308.png"/><Relationship Id="rId18" Type="http://schemas.openxmlformats.org/officeDocument/2006/relationships/image" Target="../media/image313.png"/><Relationship Id="rId26" Type="http://schemas.openxmlformats.org/officeDocument/2006/relationships/image" Target="../media/image321.png"/><Relationship Id="rId3" Type="http://schemas.openxmlformats.org/officeDocument/2006/relationships/image" Target="../media/image298.jpeg"/><Relationship Id="rId21" Type="http://schemas.openxmlformats.org/officeDocument/2006/relationships/image" Target="../media/image316.jpeg"/><Relationship Id="rId7" Type="http://schemas.openxmlformats.org/officeDocument/2006/relationships/image" Target="../media/image302.jpeg"/><Relationship Id="rId12" Type="http://schemas.openxmlformats.org/officeDocument/2006/relationships/image" Target="../media/image307.jpeg"/><Relationship Id="rId17" Type="http://schemas.openxmlformats.org/officeDocument/2006/relationships/image" Target="../media/image312.png"/><Relationship Id="rId25" Type="http://schemas.openxmlformats.org/officeDocument/2006/relationships/image" Target="../media/image320.png"/><Relationship Id="rId2" Type="http://schemas.openxmlformats.org/officeDocument/2006/relationships/image" Target="../media/image297.png"/><Relationship Id="rId16" Type="http://schemas.openxmlformats.org/officeDocument/2006/relationships/image" Target="../media/image311.png"/><Relationship Id="rId20" Type="http://schemas.openxmlformats.org/officeDocument/2006/relationships/image" Target="../media/image315.png"/><Relationship Id="rId29" Type="http://schemas.openxmlformats.org/officeDocument/2006/relationships/image" Target="../media/image3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1.png"/><Relationship Id="rId11" Type="http://schemas.openxmlformats.org/officeDocument/2006/relationships/image" Target="../media/image306.png"/><Relationship Id="rId24" Type="http://schemas.openxmlformats.org/officeDocument/2006/relationships/image" Target="../media/image319.png"/><Relationship Id="rId5" Type="http://schemas.openxmlformats.org/officeDocument/2006/relationships/image" Target="../media/image300.png"/><Relationship Id="rId15" Type="http://schemas.openxmlformats.org/officeDocument/2006/relationships/image" Target="../media/image310.png"/><Relationship Id="rId23" Type="http://schemas.openxmlformats.org/officeDocument/2006/relationships/image" Target="../media/image318.png"/><Relationship Id="rId28" Type="http://schemas.openxmlformats.org/officeDocument/2006/relationships/image" Target="../media/image323.png"/><Relationship Id="rId10" Type="http://schemas.openxmlformats.org/officeDocument/2006/relationships/image" Target="../media/image305.png"/><Relationship Id="rId19" Type="http://schemas.openxmlformats.org/officeDocument/2006/relationships/image" Target="../media/image314.jpeg"/><Relationship Id="rId4" Type="http://schemas.openxmlformats.org/officeDocument/2006/relationships/image" Target="../media/image299.png"/><Relationship Id="rId9" Type="http://schemas.openxmlformats.org/officeDocument/2006/relationships/image" Target="../media/image304.png"/><Relationship Id="rId14" Type="http://schemas.openxmlformats.org/officeDocument/2006/relationships/image" Target="../media/image309.png"/><Relationship Id="rId22" Type="http://schemas.openxmlformats.org/officeDocument/2006/relationships/image" Target="../media/image317.png"/><Relationship Id="rId27" Type="http://schemas.openxmlformats.org/officeDocument/2006/relationships/image" Target="../media/image322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6.png"/><Relationship Id="rId18" Type="http://schemas.openxmlformats.org/officeDocument/2006/relationships/image" Target="../media/image341.png"/><Relationship Id="rId26" Type="http://schemas.openxmlformats.org/officeDocument/2006/relationships/image" Target="../media/image349.png"/><Relationship Id="rId39" Type="http://schemas.openxmlformats.org/officeDocument/2006/relationships/image" Target="../media/image362.png"/><Relationship Id="rId21" Type="http://schemas.openxmlformats.org/officeDocument/2006/relationships/image" Target="../media/image344.png"/><Relationship Id="rId34" Type="http://schemas.openxmlformats.org/officeDocument/2006/relationships/image" Target="../media/image357.jpeg"/><Relationship Id="rId7" Type="http://schemas.openxmlformats.org/officeDocument/2006/relationships/image" Target="../media/image330.png"/><Relationship Id="rId12" Type="http://schemas.openxmlformats.org/officeDocument/2006/relationships/image" Target="../media/image335.png"/><Relationship Id="rId17" Type="http://schemas.openxmlformats.org/officeDocument/2006/relationships/image" Target="../media/image340.jpeg"/><Relationship Id="rId25" Type="http://schemas.openxmlformats.org/officeDocument/2006/relationships/image" Target="../media/image348.png"/><Relationship Id="rId33" Type="http://schemas.openxmlformats.org/officeDocument/2006/relationships/image" Target="../media/image356.jpeg"/><Relationship Id="rId38" Type="http://schemas.openxmlformats.org/officeDocument/2006/relationships/image" Target="../media/image361.png"/><Relationship Id="rId2" Type="http://schemas.openxmlformats.org/officeDocument/2006/relationships/image" Target="../media/image325.png"/><Relationship Id="rId16" Type="http://schemas.openxmlformats.org/officeDocument/2006/relationships/image" Target="../media/image339.jpeg"/><Relationship Id="rId20" Type="http://schemas.openxmlformats.org/officeDocument/2006/relationships/image" Target="../media/image343.png"/><Relationship Id="rId29" Type="http://schemas.openxmlformats.org/officeDocument/2006/relationships/image" Target="../media/image3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9.png"/><Relationship Id="rId11" Type="http://schemas.openxmlformats.org/officeDocument/2006/relationships/image" Target="../media/image334.jpeg"/><Relationship Id="rId24" Type="http://schemas.openxmlformats.org/officeDocument/2006/relationships/image" Target="../media/image347.png"/><Relationship Id="rId32" Type="http://schemas.openxmlformats.org/officeDocument/2006/relationships/image" Target="../media/image355.jpeg"/><Relationship Id="rId37" Type="http://schemas.openxmlformats.org/officeDocument/2006/relationships/image" Target="../media/image360.jpeg"/><Relationship Id="rId40" Type="http://schemas.openxmlformats.org/officeDocument/2006/relationships/image" Target="../media/image363.png"/><Relationship Id="rId5" Type="http://schemas.openxmlformats.org/officeDocument/2006/relationships/image" Target="../media/image328.png"/><Relationship Id="rId15" Type="http://schemas.openxmlformats.org/officeDocument/2006/relationships/image" Target="../media/image338.png"/><Relationship Id="rId23" Type="http://schemas.openxmlformats.org/officeDocument/2006/relationships/image" Target="../media/image346.png"/><Relationship Id="rId28" Type="http://schemas.openxmlformats.org/officeDocument/2006/relationships/image" Target="../media/image351.jpeg"/><Relationship Id="rId36" Type="http://schemas.openxmlformats.org/officeDocument/2006/relationships/image" Target="../media/image359.jpeg"/><Relationship Id="rId10" Type="http://schemas.openxmlformats.org/officeDocument/2006/relationships/image" Target="../media/image333.jpeg"/><Relationship Id="rId19" Type="http://schemas.openxmlformats.org/officeDocument/2006/relationships/image" Target="../media/image342.png"/><Relationship Id="rId31" Type="http://schemas.openxmlformats.org/officeDocument/2006/relationships/image" Target="../media/image354.jpeg"/><Relationship Id="rId4" Type="http://schemas.openxmlformats.org/officeDocument/2006/relationships/image" Target="../media/image327.png"/><Relationship Id="rId9" Type="http://schemas.openxmlformats.org/officeDocument/2006/relationships/image" Target="../media/image332.png"/><Relationship Id="rId14" Type="http://schemas.openxmlformats.org/officeDocument/2006/relationships/image" Target="../media/image337.jpeg"/><Relationship Id="rId22" Type="http://schemas.openxmlformats.org/officeDocument/2006/relationships/image" Target="../media/image345.jpeg"/><Relationship Id="rId27" Type="http://schemas.openxmlformats.org/officeDocument/2006/relationships/image" Target="../media/image350.png"/><Relationship Id="rId30" Type="http://schemas.openxmlformats.org/officeDocument/2006/relationships/image" Target="../media/image353.jpeg"/><Relationship Id="rId35" Type="http://schemas.openxmlformats.org/officeDocument/2006/relationships/image" Target="../media/image358.jpeg"/><Relationship Id="rId8" Type="http://schemas.openxmlformats.org/officeDocument/2006/relationships/image" Target="../media/image331.jpeg"/><Relationship Id="rId3" Type="http://schemas.openxmlformats.org/officeDocument/2006/relationships/image" Target="../media/image32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jpeg"/><Relationship Id="rId13" Type="http://schemas.openxmlformats.org/officeDocument/2006/relationships/image" Target="../media/image373.jpeg"/><Relationship Id="rId18" Type="http://schemas.openxmlformats.org/officeDocument/2006/relationships/image" Target="../media/image378.png"/><Relationship Id="rId3" Type="http://schemas.openxmlformats.org/officeDocument/2006/relationships/image" Target="../media/image331.jpeg"/><Relationship Id="rId21" Type="http://schemas.openxmlformats.org/officeDocument/2006/relationships/image" Target="../media/image381.png"/><Relationship Id="rId7" Type="http://schemas.openxmlformats.org/officeDocument/2006/relationships/image" Target="../media/image368.png"/><Relationship Id="rId12" Type="http://schemas.openxmlformats.org/officeDocument/2006/relationships/image" Target="../media/image372.png"/><Relationship Id="rId17" Type="http://schemas.openxmlformats.org/officeDocument/2006/relationships/image" Target="../media/image377.png"/><Relationship Id="rId25" Type="http://schemas.openxmlformats.org/officeDocument/2006/relationships/image" Target="../media/image385.jpeg"/><Relationship Id="rId2" Type="http://schemas.openxmlformats.org/officeDocument/2006/relationships/image" Target="../media/image364.png"/><Relationship Id="rId16" Type="http://schemas.openxmlformats.org/officeDocument/2006/relationships/image" Target="../media/image376.png"/><Relationship Id="rId20" Type="http://schemas.openxmlformats.org/officeDocument/2006/relationships/image" Target="../media/image3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7.png"/><Relationship Id="rId11" Type="http://schemas.openxmlformats.org/officeDocument/2006/relationships/image" Target="../media/image371.png"/><Relationship Id="rId24" Type="http://schemas.openxmlformats.org/officeDocument/2006/relationships/image" Target="../media/image384.jpeg"/><Relationship Id="rId5" Type="http://schemas.openxmlformats.org/officeDocument/2006/relationships/image" Target="../media/image366.png"/><Relationship Id="rId15" Type="http://schemas.openxmlformats.org/officeDocument/2006/relationships/image" Target="../media/image375.png"/><Relationship Id="rId23" Type="http://schemas.openxmlformats.org/officeDocument/2006/relationships/image" Target="../media/image383.jpeg"/><Relationship Id="rId10" Type="http://schemas.openxmlformats.org/officeDocument/2006/relationships/image" Target="../media/image370.png"/><Relationship Id="rId19" Type="http://schemas.openxmlformats.org/officeDocument/2006/relationships/image" Target="../media/image379.png"/><Relationship Id="rId4" Type="http://schemas.openxmlformats.org/officeDocument/2006/relationships/image" Target="../media/image365.jpeg"/><Relationship Id="rId9" Type="http://schemas.openxmlformats.org/officeDocument/2006/relationships/image" Target="../media/image369.jpeg"/><Relationship Id="rId14" Type="http://schemas.openxmlformats.org/officeDocument/2006/relationships/image" Target="../media/image374.png"/><Relationship Id="rId22" Type="http://schemas.openxmlformats.org/officeDocument/2006/relationships/image" Target="../media/image38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2.png"/><Relationship Id="rId3" Type="http://schemas.openxmlformats.org/officeDocument/2006/relationships/image" Target="../media/image387.png"/><Relationship Id="rId7" Type="http://schemas.openxmlformats.org/officeDocument/2006/relationships/image" Target="../media/image391.png"/><Relationship Id="rId12" Type="http://schemas.openxmlformats.org/officeDocument/2006/relationships/image" Target="../media/image396.png"/><Relationship Id="rId2" Type="http://schemas.openxmlformats.org/officeDocument/2006/relationships/image" Target="../media/image38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0.png"/><Relationship Id="rId11" Type="http://schemas.openxmlformats.org/officeDocument/2006/relationships/image" Target="../media/image395.png"/><Relationship Id="rId5" Type="http://schemas.openxmlformats.org/officeDocument/2006/relationships/image" Target="../media/image389.png"/><Relationship Id="rId10" Type="http://schemas.openxmlformats.org/officeDocument/2006/relationships/image" Target="../media/image394.png"/><Relationship Id="rId4" Type="http://schemas.openxmlformats.org/officeDocument/2006/relationships/image" Target="../media/image388.png"/><Relationship Id="rId9" Type="http://schemas.openxmlformats.org/officeDocument/2006/relationships/image" Target="../media/image393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8.png"/><Relationship Id="rId18" Type="http://schemas.openxmlformats.org/officeDocument/2006/relationships/image" Target="../media/image413.png"/><Relationship Id="rId26" Type="http://schemas.openxmlformats.org/officeDocument/2006/relationships/image" Target="../media/image421.png"/><Relationship Id="rId39" Type="http://schemas.openxmlformats.org/officeDocument/2006/relationships/image" Target="../media/image434.png"/><Relationship Id="rId21" Type="http://schemas.openxmlformats.org/officeDocument/2006/relationships/image" Target="../media/image416.jpeg"/><Relationship Id="rId34" Type="http://schemas.openxmlformats.org/officeDocument/2006/relationships/image" Target="../media/image429.png"/><Relationship Id="rId7" Type="http://schemas.openxmlformats.org/officeDocument/2006/relationships/image" Target="../media/image402.png"/><Relationship Id="rId12" Type="http://schemas.openxmlformats.org/officeDocument/2006/relationships/image" Target="../media/image407.png"/><Relationship Id="rId17" Type="http://schemas.openxmlformats.org/officeDocument/2006/relationships/image" Target="../media/image412.png"/><Relationship Id="rId25" Type="http://schemas.openxmlformats.org/officeDocument/2006/relationships/image" Target="../media/image420.png"/><Relationship Id="rId33" Type="http://schemas.openxmlformats.org/officeDocument/2006/relationships/image" Target="../media/image428.jpeg"/><Relationship Id="rId38" Type="http://schemas.openxmlformats.org/officeDocument/2006/relationships/image" Target="../media/image433.png"/><Relationship Id="rId2" Type="http://schemas.openxmlformats.org/officeDocument/2006/relationships/image" Target="../media/image397.jpeg"/><Relationship Id="rId16" Type="http://schemas.openxmlformats.org/officeDocument/2006/relationships/image" Target="../media/image411.png"/><Relationship Id="rId20" Type="http://schemas.openxmlformats.org/officeDocument/2006/relationships/image" Target="../media/image415.jpeg"/><Relationship Id="rId29" Type="http://schemas.openxmlformats.org/officeDocument/2006/relationships/image" Target="../media/image4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1.png"/><Relationship Id="rId11" Type="http://schemas.openxmlformats.org/officeDocument/2006/relationships/image" Target="../media/image406.png"/><Relationship Id="rId24" Type="http://schemas.openxmlformats.org/officeDocument/2006/relationships/image" Target="../media/image419.jpeg"/><Relationship Id="rId32" Type="http://schemas.openxmlformats.org/officeDocument/2006/relationships/image" Target="../media/image427.jpeg"/><Relationship Id="rId37" Type="http://schemas.openxmlformats.org/officeDocument/2006/relationships/image" Target="../media/image432.png"/><Relationship Id="rId40" Type="http://schemas.openxmlformats.org/officeDocument/2006/relationships/image" Target="../media/image435.png"/><Relationship Id="rId5" Type="http://schemas.openxmlformats.org/officeDocument/2006/relationships/image" Target="../media/image400.png"/><Relationship Id="rId15" Type="http://schemas.openxmlformats.org/officeDocument/2006/relationships/image" Target="../media/image410.png"/><Relationship Id="rId23" Type="http://schemas.openxmlformats.org/officeDocument/2006/relationships/image" Target="../media/image418.png"/><Relationship Id="rId28" Type="http://schemas.openxmlformats.org/officeDocument/2006/relationships/image" Target="../media/image423.png"/><Relationship Id="rId36" Type="http://schemas.openxmlformats.org/officeDocument/2006/relationships/image" Target="../media/image431.png"/><Relationship Id="rId10" Type="http://schemas.openxmlformats.org/officeDocument/2006/relationships/image" Target="../media/image405.jpeg"/><Relationship Id="rId19" Type="http://schemas.openxmlformats.org/officeDocument/2006/relationships/image" Target="../media/image414.jpeg"/><Relationship Id="rId31" Type="http://schemas.openxmlformats.org/officeDocument/2006/relationships/image" Target="../media/image426.png"/><Relationship Id="rId4" Type="http://schemas.openxmlformats.org/officeDocument/2006/relationships/image" Target="../media/image399.png"/><Relationship Id="rId9" Type="http://schemas.openxmlformats.org/officeDocument/2006/relationships/image" Target="../media/image404.png"/><Relationship Id="rId14" Type="http://schemas.openxmlformats.org/officeDocument/2006/relationships/image" Target="../media/image409.png"/><Relationship Id="rId22" Type="http://schemas.openxmlformats.org/officeDocument/2006/relationships/image" Target="../media/image417.jpeg"/><Relationship Id="rId27" Type="http://schemas.openxmlformats.org/officeDocument/2006/relationships/image" Target="../media/image422.png"/><Relationship Id="rId30" Type="http://schemas.openxmlformats.org/officeDocument/2006/relationships/image" Target="../media/image425.png"/><Relationship Id="rId35" Type="http://schemas.openxmlformats.org/officeDocument/2006/relationships/image" Target="../media/image430.jpeg"/><Relationship Id="rId8" Type="http://schemas.openxmlformats.org/officeDocument/2006/relationships/image" Target="../media/image403.png"/><Relationship Id="rId3" Type="http://schemas.openxmlformats.org/officeDocument/2006/relationships/image" Target="../media/image39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2.png"/><Relationship Id="rId13" Type="http://schemas.openxmlformats.org/officeDocument/2006/relationships/image" Target="../media/image447.png"/><Relationship Id="rId3" Type="http://schemas.openxmlformats.org/officeDocument/2006/relationships/image" Target="../media/image437.png"/><Relationship Id="rId7" Type="http://schemas.openxmlformats.org/officeDocument/2006/relationships/image" Target="../media/image441.png"/><Relationship Id="rId12" Type="http://schemas.openxmlformats.org/officeDocument/2006/relationships/image" Target="../media/image446.png"/><Relationship Id="rId2" Type="http://schemas.openxmlformats.org/officeDocument/2006/relationships/image" Target="../media/image436.png"/><Relationship Id="rId16" Type="http://schemas.openxmlformats.org/officeDocument/2006/relationships/image" Target="../media/image4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0.png"/><Relationship Id="rId11" Type="http://schemas.openxmlformats.org/officeDocument/2006/relationships/image" Target="../media/image445.png"/><Relationship Id="rId5" Type="http://schemas.openxmlformats.org/officeDocument/2006/relationships/image" Target="../media/image439.png"/><Relationship Id="rId15" Type="http://schemas.openxmlformats.org/officeDocument/2006/relationships/image" Target="../media/image449.png"/><Relationship Id="rId10" Type="http://schemas.openxmlformats.org/officeDocument/2006/relationships/image" Target="../media/image444.png"/><Relationship Id="rId4" Type="http://schemas.openxmlformats.org/officeDocument/2006/relationships/image" Target="../media/image438.png"/><Relationship Id="rId9" Type="http://schemas.openxmlformats.org/officeDocument/2006/relationships/image" Target="../media/image443.png"/><Relationship Id="rId14" Type="http://schemas.openxmlformats.org/officeDocument/2006/relationships/image" Target="../media/image44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1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8.png"/><Relationship Id="rId13" Type="http://schemas.openxmlformats.org/officeDocument/2006/relationships/image" Target="../media/image463.png"/><Relationship Id="rId18" Type="http://schemas.openxmlformats.org/officeDocument/2006/relationships/image" Target="../media/image468.png"/><Relationship Id="rId3" Type="http://schemas.openxmlformats.org/officeDocument/2006/relationships/image" Target="../media/image453.png"/><Relationship Id="rId21" Type="http://schemas.openxmlformats.org/officeDocument/2006/relationships/image" Target="../media/image471.png"/><Relationship Id="rId7" Type="http://schemas.openxmlformats.org/officeDocument/2006/relationships/image" Target="../media/image457.png"/><Relationship Id="rId12" Type="http://schemas.openxmlformats.org/officeDocument/2006/relationships/image" Target="../media/image462.png"/><Relationship Id="rId17" Type="http://schemas.openxmlformats.org/officeDocument/2006/relationships/image" Target="../media/image467.png"/><Relationship Id="rId25" Type="http://schemas.openxmlformats.org/officeDocument/2006/relationships/image" Target="../media/image475.png"/><Relationship Id="rId2" Type="http://schemas.openxmlformats.org/officeDocument/2006/relationships/image" Target="../media/image452.png"/><Relationship Id="rId16" Type="http://schemas.openxmlformats.org/officeDocument/2006/relationships/image" Target="../media/image466.png"/><Relationship Id="rId20" Type="http://schemas.openxmlformats.org/officeDocument/2006/relationships/image" Target="../media/image4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6.png"/><Relationship Id="rId11" Type="http://schemas.openxmlformats.org/officeDocument/2006/relationships/image" Target="../media/image461.png"/><Relationship Id="rId24" Type="http://schemas.openxmlformats.org/officeDocument/2006/relationships/image" Target="../media/image474.png"/><Relationship Id="rId5" Type="http://schemas.openxmlformats.org/officeDocument/2006/relationships/image" Target="../media/image455.png"/><Relationship Id="rId15" Type="http://schemas.openxmlformats.org/officeDocument/2006/relationships/image" Target="../media/image465.png"/><Relationship Id="rId23" Type="http://schemas.openxmlformats.org/officeDocument/2006/relationships/image" Target="../media/image473.png"/><Relationship Id="rId10" Type="http://schemas.openxmlformats.org/officeDocument/2006/relationships/image" Target="../media/image460.png"/><Relationship Id="rId19" Type="http://schemas.openxmlformats.org/officeDocument/2006/relationships/image" Target="../media/image469.png"/><Relationship Id="rId4" Type="http://schemas.openxmlformats.org/officeDocument/2006/relationships/image" Target="../media/image454.png"/><Relationship Id="rId9" Type="http://schemas.openxmlformats.org/officeDocument/2006/relationships/image" Target="../media/image459.png"/><Relationship Id="rId14" Type="http://schemas.openxmlformats.org/officeDocument/2006/relationships/image" Target="../media/image464.png"/><Relationship Id="rId22" Type="http://schemas.openxmlformats.org/officeDocument/2006/relationships/image" Target="../media/image472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7.png"/><Relationship Id="rId18" Type="http://schemas.openxmlformats.org/officeDocument/2006/relationships/image" Target="../media/image492.png"/><Relationship Id="rId26" Type="http://schemas.openxmlformats.org/officeDocument/2006/relationships/image" Target="../media/image500.png"/><Relationship Id="rId39" Type="http://schemas.openxmlformats.org/officeDocument/2006/relationships/image" Target="../media/image513.png"/><Relationship Id="rId21" Type="http://schemas.openxmlformats.org/officeDocument/2006/relationships/image" Target="../media/image495.png"/><Relationship Id="rId34" Type="http://schemas.openxmlformats.org/officeDocument/2006/relationships/image" Target="../media/image508.png"/><Relationship Id="rId42" Type="http://schemas.openxmlformats.org/officeDocument/2006/relationships/image" Target="../media/image516.png"/><Relationship Id="rId7" Type="http://schemas.openxmlformats.org/officeDocument/2006/relationships/image" Target="../media/image481.png"/><Relationship Id="rId2" Type="http://schemas.openxmlformats.org/officeDocument/2006/relationships/image" Target="../media/image476.png"/><Relationship Id="rId16" Type="http://schemas.openxmlformats.org/officeDocument/2006/relationships/image" Target="../media/image490.png"/><Relationship Id="rId20" Type="http://schemas.openxmlformats.org/officeDocument/2006/relationships/image" Target="../media/image494.png"/><Relationship Id="rId29" Type="http://schemas.openxmlformats.org/officeDocument/2006/relationships/image" Target="../media/image503.png"/><Relationship Id="rId41" Type="http://schemas.openxmlformats.org/officeDocument/2006/relationships/image" Target="../media/image5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0.png"/><Relationship Id="rId11" Type="http://schemas.openxmlformats.org/officeDocument/2006/relationships/image" Target="../media/image485.png"/><Relationship Id="rId24" Type="http://schemas.openxmlformats.org/officeDocument/2006/relationships/image" Target="../media/image498.png"/><Relationship Id="rId32" Type="http://schemas.openxmlformats.org/officeDocument/2006/relationships/image" Target="../media/image506.png"/><Relationship Id="rId37" Type="http://schemas.openxmlformats.org/officeDocument/2006/relationships/image" Target="../media/image511.png"/><Relationship Id="rId40" Type="http://schemas.openxmlformats.org/officeDocument/2006/relationships/image" Target="../media/image514.png"/><Relationship Id="rId5" Type="http://schemas.openxmlformats.org/officeDocument/2006/relationships/image" Target="../media/image479.png"/><Relationship Id="rId15" Type="http://schemas.openxmlformats.org/officeDocument/2006/relationships/image" Target="../media/image489.png"/><Relationship Id="rId23" Type="http://schemas.openxmlformats.org/officeDocument/2006/relationships/image" Target="../media/image497.png"/><Relationship Id="rId28" Type="http://schemas.openxmlformats.org/officeDocument/2006/relationships/image" Target="../media/image502.png"/><Relationship Id="rId36" Type="http://schemas.openxmlformats.org/officeDocument/2006/relationships/image" Target="../media/image510.png"/><Relationship Id="rId10" Type="http://schemas.openxmlformats.org/officeDocument/2006/relationships/image" Target="../media/image484.png"/><Relationship Id="rId19" Type="http://schemas.openxmlformats.org/officeDocument/2006/relationships/image" Target="../media/image493.png"/><Relationship Id="rId31" Type="http://schemas.openxmlformats.org/officeDocument/2006/relationships/image" Target="../media/image505.png"/><Relationship Id="rId4" Type="http://schemas.openxmlformats.org/officeDocument/2006/relationships/image" Target="../media/image478.png"/><Relationship Id="rId9" Type="http://schemas.openxmlformats.org/officeDocument/2006/relationships/image" Target="../media/image483.png"/><Relationship Id="rId14" Type="http://schemas.openxmlformats.org/officeDocument/2006/relationships/image" Target="../media/image488.png"/><Relationship Id="rId22" Type="http://schemas.openxmlformats.org/officeDocument/2006/relationships/image" Target="../media/image496.png"/><Relationship Id="rId27" Type="http://schemas.openxmlformats.org/officeDocument/2006/relationships/image" Target="../media/image501.png"/><Relationship Id="rId30" Type="http://schemas.openxmlformats.org/officeDocument/2006/relationships/image" Target="../media/image504.png"/><Relationship Id="rId35" Type="http://schemas.openxmlformats.org/officeDocument/2006/relationships/image" Target="../media/image509.png"/><Relationship Id="rId8" Type="http://schemas.openxmlformats.org/officeDocument/2006/relationships/image" Target="../media/image482.png"/><Relationship Id="rId3" Type="http://schemas.openxmlformats.org/officeDocument/2006/relationships/image" Target="../media/image477.png"/><Relationship Id="rId12" Type="http://schemas.openxmlformats.org/officeDocument/2006/relationships/image" Target="../media/image486.png"/><Relationship Id="rId17" Type="http://schemas.openxmlformats.org/officeDocument/2006/relationships/image" Target="../media/image491.png"/><Relationship Id="rId25" Type="http://schemas.openxmlformats.org/officeDocument/2006/relationships/image" Target="../media/image499.png"/><Relationship Id="rId33" Type="http://schemas.openxmlformats.org/officeDocument/2006/relationships/image" Target="../media/image507.png"/><Relationship Id="rId38" Type="http://schemas.openxmlformats.org/officeDocument/2006/relationships/image" Target="../media/image51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3.png"/><Relationship Id="rId13" Type="http://schemas.openxmlformats.org/officeDocument/2006/relationships/image" Target="../media/image528.png"/><Relationship Id="rId18" Type="http://schemas.openxmlformats.org/officeDocument/2006/relationships/image" Target="../media/image533.png"/><Relationship Id="rId26" Type="http://schemas.openxmlformats.org/officeDocument/2006/relationships/image" Target="../media/image541.png"/><Relationship Id="rId3" Type="http://schemas.openxmlformats.org/officeDocument/2006/relationships/image" Target="../media/image518.png"/><Relationship Id="rId21" Type="http://schemas.openxmlformats.org/officeDocument/2006/relationships/image" Target="../media/image536.png"/><Relationship Id="rId7" Type="http://schemas.openxmlformats.org/officeDocument/2006/relationships/image" Target="../media/image522.png"/><Relationship Id="rId12" Type="http://schemas.openxmlformats.org/officeDocument/2006/relationships/image" Target="../media/image527.png"/><Relationship Id="rId17" Type="http://schemas.openxmlformats.org/officeDocument/2006/relationships/image" Target="../media/image532.png"/><Relationship Id="rId25" Type="http://schemas.openxmlformats.org/officeDocument/2006/relationships/image" Target="../media/image540.png"/><Relationship Id="rId2" Type="http://schemas.openxmlformats.org/officeDocument/2006/relationships/image" Target="../media/image517.png"/><Relationship Id="rId16" Type="http://schemas.openxmlformats.org/officeDocument/2006/relationships/image" Target="../media/image531.png"/><Relationship Id="rId20" Type="http://schemas.openxmlformats.org/officeDocument/2006/relationships/image" Target="../media/image535.png"/><Relationship Id="rId29" Type="http://schemas.openxmlformats.org/officeDocument/2006/relationships/image" Target="../media/image5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1.png"/><Relationship Id="rId11" Type="http://schemas.openxmlformats.org/officeDocument/2006/relationships/image" Target="../media/image526.png"/><Relationship Id="rId24" Type="http://schemas.openxmlformats.org/officeDocument/2006/relationships/image" Target="../media/image539.png"/><Relationship Id="rId5" Type="http://schemas.openxmlformats.org/officeDocument/2006/relationships/image" Target="../media/image520.png"/><Relationship Id="rId15" Type="http://schemas.openxmlformats.org/officeDocument/2006/relationships/image" Target="../media/image530.png"/><Relationship Id="rId23" Type="http://schemas.openxmlformats.org/officeDocument/2006/relationships/image" Target="../media/image538.png"/><Relationship Id="rId28" Type="http://schemas.openxmlformats.org/officeDocument/2006/relationships/image" Target="../media/image543.png"/><Relationship Id="rId10" Type="http://schemas.openxmlformats.org/officeDocument/2006/relationships/image" Target="../media/image525.png"/><Relationship Id="rId19" Type="http://schemas.openxmlformats.org/officeDocument/2006/relationships/image" Target="../media/image534.png"/><Relationship Id="rId4" Type="http://schemas.openxmlformats.org/officeDocument/2006/relationships/image" Target="../media/image519.png"/><Relationship Id="rId9" Type="http://schemas.openxmlformats.org/officeDocument/2006/relationships/image" Target="../media/image524.png"/><Relationship Id="rId14" Type="http://schemas.openxmlformats.org/officeDocument/2006/relationships/image" Target="../media/image529.png"/><Relationship Id="rId22" Type="http://schemas.openxmlformats.org/officeDocument/2006/relationships/image" Target="../media/image537.png"/><Relationship Id="rId27" Type="http://schemas.openxmlformats.org/officeDocument/2006/relationships/image" Target="../media/image5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6.png"/><Relationship Id="rId7" Type="http://schemas.openxmlformats.org/officeDocument/2006/relationships/image" Target="../media/image550.png"/><Relationship Id="rId2" Type="http://schemas.openxmlformats.org/officeDocument/2006/relationships/image" Target="../media/image5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9.png"/><Relationship Id="rId5" Type="http://schemas.openxmlformats.org/officeDocument/2006/relationships/image" Target="../media/image548.png"/><Relationship Id="rId4" Type="http://schemas.openxmlformats.org/officeDocument/2006/relationships/image" Target="../media/image54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7.png"/><Relationship Id="rId13" Type="http://schemas.openxmlformats.org/officeDocument/2006/relationships/image" Target="../media/image562.png"/><Relationship Id="rId18" Type="http://schemas.openxmlformats.org/officeDocument/2006/relationships/image" Target="../media/image567.png"/><Relationship Id="rId3" Type="http://schemas.openxmlformats.org/officeDocument/2006/relationships/image" Target="../media/image552.png"/><Relationship Id="rId7" Type="http://schemas.openxmlformats.org/officeDocument/2006/relationships/image" Target="../media/image556.png"/><Relationship Id="rId12" Type="http://schemas.openxmlformats.org/officeDocument/2006/relationships/image" Target="../media/image561.png"/><Relationship Id="rId17" Type="http://schemas.openxmlformats.org/officeDocument/2006/relationships/image" Target="../media/image566.png"/><Relationship Id="rId2" Type="http://schemas.openxmlformats.org/officeDocument/2006/relationships/image" Target="../media/image551.png"/><Relationship Id="rId16" Type="http://schemas.openxmlformats.org/officeDocument/2006/relationships/image" Target="../media/image5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5.png"/><Relationship Id="rId11" Type="http://schemas.openxmlformats.org/officeDocument/2006/relationships/image" Target="../media/image560.png"/><Relationship Id="rId5" Type="http://schemas.openxmlformats.org/officeDocument/2006/relationships/image" Target="../media/image554.png"/><Relationship Id="rId15" Type="http://schemas.openxmlformats.org/officeDocument/2006/relationships/image" Target="../media/image564.png"/><Relationship Id="rId10" Type="http://schemas.openxmlformats.org/officeDocument/2006/relationships/image" Target="../media/image559.png"/><Relationship Id="rId19" Type="http://schemas.openxmlformats.org/officeDocument/2006/relationships/image" Target="../media/image568.png"/><Relationship Id="rId4" Type="http://schemas.openxmlformats.org/officeDocument/2006/relationships/image" Target="../media/image553.png"/><Relationship Id="rId9" Type="http://schemas.openxmlformats.org/officeDocument/2006/relationships/image" Target="../media/image558.png"/><Relationship Id="rId14" Type="http://schemas.openxmlformats.org/officeDocument/2006/relationships/image" Target="../media/image56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9.png"/><Relationship Id="rId2" Type="http://schemas.openxmlformats.org/officeDocument/2006/relationships/image" Target="../media/image5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1.png"/><Relationship Id="rId5" Type="http://schemas.openxmlformats.org/officeDocument/2006/relationships/image" Target="../media/image570.png"/><Relationship Id="rId4" Type="http://schemas.openxmlformats.org/officeDocument/2006/relationships/image" Target="../media/image54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8.png"/><Relationship Id="rId13" Type="http://schemas.openxmlformats.org/officeDocument/2006/relationships/image" Target="../media/image583.png"/><Relationship Id="rId18" Type="http://schemas.openxmlformats.org/officeDocument/2006/relationships/image" Target="../media/image588.png"/><Relationship Id="rId3" Type="http://schemas.openxmlformats.org/officeDocument/2006/relationships/image" Target="../media/image573.png"/><Relationship Id="rId7" Type="http://schemas.openxmlformats.org/officeDocument/2006/relationships/image" Target="../media/image577.png"/><Relationship Id="rId12" Type="http://schemas.openxmlformats.org/officeDocument/2006/relationships/image" Target="../media/image582.png"/><Relationship Id="rId17" Type="http://schemas.openxmlformats.org/officeDocument/2006/relationships/image" Target="../media/image587.png"/><Relationship Id="rId2" Type="http://schemas.openxmlformats.org/officeDocument/2006/relationships/image" Target="../media/image572.png"/><Relationship Id="rId16" Type="http://schemas.openxmlformats.org/officeDocument/2006/relationships/image" Target="../media/image5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6.png"/><Relationship Id="rId11" Type="http://schemas.openxmlformats.org/officeDocument/2006/relationships/image" Target="../media/image581.png"/><Relationship Id="rId5" Type="http://schemas.openxmlformats.org/officeDocument/2006/relationships/image" Target="../media/image575.png"/><Relationship Id="rId15" Type="http://schemas.openxmlformats.org/officeDocument/2006/relationships/image" Target="../media/image585.png"/><Relationship Id="rId10" Type="http://schemas.openxmlformats.org/officeDocument/2006/relationships/image" Target="../media/image580.png"/><Relationship Id="rId19" Type="http://schemas.openxmlformats.org/officeDocument/2006/relationships/image" Target="../media/image589.png"/><Relationship Id="rId4" Type="http://schemas.openxmlformats.org/officeDocument/2006/relationships/image" Target="../media/image574.png"/><Relationship Id="rId9" Type="http://schemas.openxmlformats.org/officeDocument/2006/relationships/image" Target="../media/image579.png"/><Relationship Id="rId14" Type="http://schemas.openxmlformats.org/officeDocument/2006/relationships/image" Target="../media/image58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1.png"/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8.png"/><Relationship Id="rId13" Type="http://schemas.openxmlformats.org/officeDocument/2006/relationships/image" Target="../media/image603.png"/><Relationship Id="rId18" Type="http://schemas.openxmlformats.org/officeDocument/2006/relationships/image" Target="../media/image608.png"/><Relationship Id="rId26" Type="http://schemas.openxmlformats.org/officeDocument/2006/relationships/image" Target="../media/image616.png"/><Relationship Id="rId3" Type="http://schemas.openxmlformats.org/officeDocument/2006/relationships/image" Target="../media/image593.png"/><Relationship Id="rId21" Type="http://schemas.openxmlformats.org/officeDocument/2006/relationships/image" Target="../media/image611.png"/><Relationship Id="rId7" Type="http://schemas.openxmlformats.org/officeDocument/2006/relationships/image" Target="../media/image597.png"/><Relationship Id="rId12" Type="http://schemas.openxmlformats.org/officeDocument/2006/relationships/image" Target="../media/image602.png"/><Relationship Id="rId17" Type="http://schemas.openxmlformats.org/officeDocument/2006/relationships/image" Target="../media/image607.png"/><Relationship Id="rId25" Type="http://schemas.openxmlformats.org/officeDocument/2006/relationships/image" Target="../media/image615.png"/><Relationship Id="rId2" Type="http://schemas.openxmlformats.org/officeDocument/2006/relationships/image" Target="../media/image592.png"/><Relationship Id="rId16" Type="http://schemas.openxmlformats.org/officeDocument/2006/relationships/image" Target="../media/image606.png"/><Relationship Id="rId20" Type="http://schemas.openxmlformats.org/officeDocument/2006/relationships/image" Target="../media/image6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6.png"/><Relationship Id="rId11" Type="http://schemas.openxmlformats.org/officeDocument/2006/relationships/image" Target="../media/image601.png"/><Relationship Id="rId24" Type="http://schemas.openxmlformats.org/officeDocument/2006/relationships/image" Target="../media/image614.png"/><Relationship Id="rId5" Type="http://schemas.openxmlformats.org/officeDocument/2006/relationships/image" Target="../media/image595.png"/><Relationship Id="rId15" Type="http://schemas.openxmlformats.org/officeDocument/2006/relationships/image" Target="../media/image605.png"/><Relationship Id="rId23" Type="http://schemas.openxmlformats.org/officeDocument/2006/relationships/image" Target="../media/image613.png"/><Relationship Id="rId10" Type="http://schemas.openxmlformats.org/officeDocument/2006/relationships/image" Target="../media/image600.png"/><Relationship Id="rId19" Type="http://schemas.openxmlformats.org/officeDocument/2006/relationships/image" Target="../media/image609.png"/><Relationship Id="rId4" Type="http://schemas.openxmlformats.org/officeDocument/2006/relationships/image" Target="../media/image594.png"/><Relationship Id="rId9" Type="http://schemas.openxmlformats.org/officeDocument/2006/relationships/image" Target="../media/image599.png"/><Relationship Id="rId14" Type="http://schemas.openxmlformats.org/officeDocument/2006/relationships/image" Target="../media/image604.png"/><Relationship Id="rId22" Type="http://schemas.openxmlformats.org/officeDocument/2006/relationships/image" Target="../media/image61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3.png"/><Relationship Id="rId13" Type="http://schemas.openxmlformats.org/officeDocument/2006/relationships/image" Target="../media/image628.png"/><Relationship Id="rId3" Type="http://schemas.openxmlformats.org/officeDocument/2006/relationships/image" Target="../media/image618.png"/><Relationship Id="rId7" Type="http://schemas.openxmlformats.org/officeDocument/2006/relationships/image" Target="../media/image622.png"/><Relationship Id="rId12" Type="http://schemas.openxmlformats.org/officeDocument/2006/relationships/image" Target="../media/image627.png"/><Relationship Id="rId2" Type="http://schemas.openxmlformats.org/officeDocument/2006/relationships/image" Target="../media/image6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1.png"/><Relationship Id="rId11" Type="http://schemas.openxmlformats.org/officeDocument/2006/relationships/image" Target="../media/image626.png"/><Relationship Id="rId5" Type="http://schemas.openxmlformats.org/officeDocument/2006/relationships/image" Target="../media/image620.png"/><Relationship Id="rId15" Type="http://schemas.openxmlformats.org/officeDocument/2006/relationships/image" Target="../media/image630.png"/><Relationship Id="rId10" Type="http://schemas.openxmlformats.org/officeDocument/2006/relationships/image" Target="../media/image625.png"/><Relationship Id="rId4" Type="http://schemas.openxmlformats.org/officeDocument/2006/relationships/image" Target="../media/image619.png"/><Relationship Id="rId9" Type="http://schemas.openxmlformats.org/officeDocument/2006/relationships/image" Target="../media/image624.png"/><Relationship Id="rId14" Type="http://schemas.openxmlformats.org/officeDocument/2006/relationships/image" Target="../media/image629.png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2.png"/><Relationship Id="rId18" Type="http://schemas.openxmlformats.org/officeDocument/2006/relationships/image" Target="../media/image647.png"/><Relationship Id="rId26" Type="http://schemas.openxmlformats.org/officeDocument/2006/relationships/image" Target="../media/image655.png"/><Relationship Id="rId39" Type="http://schemas.openxmlformats.org/officeDocument/2006/relationships/image" Target="../media/image668.png"/><Relationship Id="rId21" Type="http://schemas.openxmlformats.org/officeDocument/2006/relationships/image" Target="../media/image650.png"/><Relationship Id="rId34" Type="http://schemas.openxmlformats.org/officeDocument/2006/relationships/image" Target="../media/image663.png"/><Relationship Id="rId7" Type="http://schemas.openxmlformats.org/officeDocument/2006/relationships/image" Target="../media/image636.png"/><Relationship Id="rId12" Type="http://schemas.openxmlformats.org/officeDocument/2006/relationships/image" Target="../media/image641.png"/><Relationship Id="rId17" Type="http://schemas.openxmlformats.org/officeDocument/2006/relationships/image" Target="../media/image646.png"/><Relationship Id="rId25" Type="http://schemas.openxmlformats.org/officeDocument/2006/relationships/image" Target="../media/image654.png"/><Relationship Id="rId33" Type="http://schemas.openxmlformats.org/officeDocument/2006/relationships/image" Target="../media/image662.png"/><Relationship Id="rId38" Type="http://schemas.openxmlformats.org/officeDocument/2006/relationships/image" Target="../media/image667.png"/><Relationship Id="rId2" Type="http://schemas.openxmlformats.org/officeDocument/2006/relationships/image" Target="../media/image631.png"/><Relationship Id="rId16" Type="http://schemas.openxmlformats.org/officeDocument/2006/relationships/image" Target="../media/image645.png"/><Relationship Id="rId20" Type="http://schemas.openxmlformats.org/officeDocument/2006/relationships/image" Target="../media/image649.png"/><Relationship Id="rId29" Type="http://schemas.openxmlformats.org/officeDocument/2006/relationships/image" Target="../media/image6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5.png"/><Relationship Id="rId11" Type="http://schemas.openxmlformats.org/officeDocument/2006/relationships/image" Target="../media/image640.png"/><Relationship Id="rId24" Type="http://schemas.openxmlformats.org/officeDocument/2006/relationships/image" Target="../media/image653.png"/><Relationship Id="rId32" Type="http://schemas.openxmlformats.org/officeDocument/2006/relationships/image" Target="../media/image661.png"/><Relationship Id="rId37" Type="http://schemas.openxmlformats.org/officeDocument/2006/relationships/image" Target="../media/image666.png"/><Relationship Id="rId5" Type="http://schemas.openxmlformats.org/officeDocument/2006/relationships/image" Target="../media/image634.png"/><Relationship Id="rId15" Type="http://schemas.openxmlformats.org/officeDocument/2006/relationships/image" Target="../media/image644.png"/><Relationship Id="rId23" Type="http://schemas.openxmlformats.org/officeDocument/2006/relationships/image" Target="../media/image652.png"/><Relationship Id="rId28" Type="http://schemas.openxmlformats.org/officeDocument/2006/relationships/image" Target="../media/image657.png"/><Relationship Id="rId36" Type="http://schemas.openxmlformats.org/officeDocument/2006/relationships/image" Target="../media/image665.png"/><Relationship Id="rId10" Type="http://schemas.openxmlformats.org/officeDocument/2006/relationships/image" Target="../media/image639.png"/><Relationship Id="rId19" Type="http://schemas.openxmlformats.org/officeDocument/2006/relationships/image" Target="../media/image648.png"/><Relationship Id="rId31" Type="http://schemas.openxmlformats.org/officeDocument/2006/relationships/image" Target="../media/image660.png"/><Relationship Id="rId4" Type="http://schemas.openxmlformats.org/officeDocument/2006/relationships/image" Target="../media/image633.png"/><Relationship Id="rId9" Type="http://schemas.openxmlformats.org/officeDocument/2006/relationships/image" Target="../media/image638.png"/><Relationship Id="rId14" Type="http://schemas.openxmlformats.org/officeDocument/2006/relationships/image" Target="../media/image643.png"/><Relationship Id="rId22" Type="http://schemas.openxmlformats.org/officeDocument/2006/relationships/image" Target="../media/image651.png"/><Relationship Id="rId27" Type="http://schemas.openxmlformats.org/officeDocument/2006/relationships/image" Target="../media/image656.png"/><Relationship Id="rId30" Type="http://schemas.openxmlformats.org/officeDocument/2006/relationships/image" Target="../media/image659.png"/><Relationship Id="rId35" Type="http://schemas.openxmlformats.org/officeDocument/2006/relationships/image" Target="../media/image664.png"/><Relationship Id="rId8" Type="http://schemas.openxmlformats.org/officeDocument/2006/relationships/image" Target="../media/image637.png"/><Relationship Id="rId3" Type="http://schemas.openxmlformats.org/officeDocument/2006/relationships/image" Target="../media/image63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8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5.png"/><Relationship Id="rId13" Type="http://schemas.openxmlformats.org/officeDocument/2006/relationships/image" Target="../media/image680.png"/><Relationship Id="rId18" Type="http://schemas.openxmlformats.org/officeDocument/2006/relationships/image" Target="../media/image685.png"/><Relationship Id="rId26" Type="http://schemas.openxmlformats.org/officeDocument/2006/relationships/image" Target="../media/image693.png"/><Relationship Id="rId3" Type="http://schemas.openxmlformats.org/officeDocument/2006/relationships/image" Target="../media/image670.png"/><Relationship Id="rId21" Type="http://schemas.openxmlformats.org/officeDocument/2006/relationships/image" Target="../media/image688.png"/><Relationship Id="rId7" Type="http://schemas.openxmlformats.org/officeDocument/2006/relationships/image" Target="../media/image674.png"/><Relationship Id="rId12" Type="http://schemas.openxmlformats.org/officeDocument/2006/relationships/image" Target="../media/image679.png"/><Relationship Id="rId17" Type="http://schemas.openxmlformats.org/officeDocument/2006/relationships/image" Target="../media/image684.png"/><Relationship Id="rId25" Type="http://schemas.openxmlformats.org/officeDocument/2006/relationships/image" Target="../media/image692.png"/><Relationship Id="rId2" Type="http://schemas.openxmlformats.org/officeDocument/2006/relationships/image" Target="../media/image669.png"/><Relationship Id="rId16" Type="http://schemas.openxmlformats.org/officeDocument/2006/relationships/image" Target="../media/image683.png"/><Relationship Id="rId20" Type="http://schemas.openxmlformats.org/officeDocument/2006/relationships/image" Target="../media/image687.png"/><Relationship Id="rId29" Type="http://schemas.openxmlformats.org/officeDocument/2006/relationships/image" Target="../media/image6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3.png"/><Relationship Id="rId11" Type="http://schemas.openxmlformats.org/officeDocument/2006/relationships/image" Target="../media/image678.png"/><Relationship Id="rId24" Type="http://schemas.openxmlformats.org/officeDocument/2006/relationships/image" Target="../media/image691.png"/><Relationship Id="rId32" Type="http://schemas.openxmlformats.org/officeDocument/2006/relationships/image" Target="../media/image699.png"/><Relationship Id="rId5" Type="http://schemas.openxmlformats.org/officeDocument/2006/relationships/image" Target="../media/image672.png"/><Relationship Id="rId15" Type="http://schemas.openxmlformats.org/officeDocument/2006/relationships/image" Target="../media/image682.png"/><Relationship Id="rId23" Type="http://schemas.openxmlformats.org/officeDocument/2006/relationships/image" Target="../media/image690.png"/><Relationship Id="rId28" Type="http://schemas.openxmlformats.org/officeDocument/2006/relationships/image" Target="../media/image695.png"/><Relationship Id="rId10" Type="http://schemas.openxmlformats.org/officeDocument/2006/relationships/image" Target="../media/image677.png"/><Relationship Id="rId19" Type="http://schemas.openxmlformats.org/officeDocument/2006/relationships/image" Target="../media/image686.png"/><Relationship Id="rId31" Type="http://schemas.openxmlformats.org/officeDocument/2006/relationships/image" Target="../media/image698.png"/><Relationship Id="rId4" Type="http://schemas.openxmlformats.org/officeDocument/2006/relationships/image" Target="../media/image671.png"/><Relationship Id="rId9" Type="http://schemas.openxmlformats.org/officeDocument/2006/relationships/image" Target="../media/image676.png"/><Relationship Id="rId14" Type="http://schemas.openxmlformats.org/officeDocument/2006/relationships/image" Target="../media/image681.png"/><Relationship Id="rId22" Type="http://schemas.openxmlformats.org/officeDocument/2006/relationships/image" Target="../media/image689.png"/><Relationship Id="rId27" Type="http://schemas.openxmlformats.org/officeDocument/2006/relationships/image" Target="../media/image694.png"/><Relationship Id="rId30" Type="http://schemas.openxmlformats.org/officeDocument/2006/relationships/image" Target="../media/image69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1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3.png"/><Relationship Id="rId2" Type="http://schemas.openxmlformats.org/officeDocument/2006/relationships/image" Target="../media/image70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1.png"/><Relationship Id="rId3" Type="http://schemas.openxmlformats.org/officeDocument/2006/relationships/image" Target="../media/image706.jpeg"/><Relationship Id="rId7" Type="http://schemas.openxmlformats.org/officeDocument/2006/relationships/image" Target="../media/image710.png"/><Relationship Id="rId12" Type="http://schemas.openxmlformats.org/officeDocument/2006/relationships/image" Target="../media/image715.png"/><Relationship Id="rId2" Type="http://schemas.openxmlformats.org/officeDocument/2006/relationships/image" Target="../media/image70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9.jpeg"/><Relationship Id="rId11" Type="http://schemas.openxmlformats.org/officeDocument/2006/relationships/image" Target="../media/image714.png"/><Relationship Id="rId5" Type="http://schemas.openxmlformats.org/officeDocument/2006/relationships/image" Target="../media/image708.jpeg"/><Relationship Id="rId10" Type="http://schemas.openxmlformats.org/officeDocument/2006/relationships/image" Target="../media/image713.png"/><Relationship Id="rId4" Type="http://schemas.openxmlformats.org/officeDocument/2006/relationships/image" Target="../media/image707.jpeg"/><Relationship Id="rId9" Type="http://schemas.openxmlformats.org/officeDocument/2006/relationships/image" Target="../media/image71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7.png"/><Relationship Id="rId2" Type="http://schemas.openxmlformats.org/officeDocument/2006/relationships/image" Target="../media/image716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9.jpeg"/><Relationship Id="rId2" Type="http://schemas.openxmlformats.org/officeDocument/2006/relationships/image" Target="../media/image71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1.jpeg"/><Relationship Id="rId4" Type="http://schemas.openxmlformats.org/officeDocument/2006/relationships/image" Target="../media/image720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3.jpeg"/><Relationship Id="rId7" Type="http://schemas.openxmlformats.org/officeDocument/2006/relationships/image" Target="../media/image727.png"/><Relationship Id="rId2" Type="http://schemas.openxmlformats.org/officeDocument/2006/relationships/image" Target="../media/image7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6.png"/><Relationship Id="rId5" Type="http://schemas.openxmlformats.org/officeDocument/2006/relationships/image" Target="../media/image725.png"/><Relationship Id="rId4" Type="http://schemas.openxmlformats.org/officeDocument/2006/relationships/image" Target="../media/image72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9.png"/><Relationship Id="rId2" Type="http://schemas.openxmlformats.org/officeDocument/2006/relationships/image" Target="../media/image72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683" y="16329"/>
            <a:ext cx="12179316" cy="684167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845199" y="2987172"/>
            <a:ext cx="9237344" cy="716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3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50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企业数字化2.0项目规划建设方案</a:t>
            </a:r>
            <a:endParaRPr sz="5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/>
          <p:nvPr/>
        </p:nvSpPr>
        <p:spPr>
          <a:xfrm>
            <a:off x="3848458" y="1814323"/>
            <a:ext cx="2633979" cy="2778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880"/>
              </a:lnSpc>
              <a:tabLst>
                <a:tab pos="301625" algn="l"/>
              </a:tabLst>
            </a:pP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200" b="1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方案概览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883"/>
              </a:lnSpc>
              <a:spcBef>
                <a:spcPts val="575"/>
              </a:spcBef>
              <a:tabLst>
                <a:tab pos="301625" algn="l"/>
              </a:tabLst>
            </a:pPr>
            <a:r>
              <a:rPr sz="3200" kern="0" spc="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200" kern="0" spc="21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kern="0" spc="-2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营销领域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883"/>
              </a:lnSpc>
              <a:spcBef>
                <a:spcPts val="572"/>
              </a:spcBef>
              <a:tabLst>
                <a:tab pos="301625" algn="l"/>
              </a:tabLst>
            </a:pPr>
            <a:r>
              <a:rPr sz="3200" kern="0" spc="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200" kern="0" spc="21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kern="0" spc="-2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研发领域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883"/>
              </a:lnSpc>
              <a:spcBef>
                <a:spcPts val="572"/>
              </a:spcBef>
              <a:tabLst>
                <a:tab pos="301625" algn="l"/>
              </a:tabLst>
            </a:pPr>
            <a:r>
              <a:rPr sz="3200" kern="0" spc="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200" kern="0" spc="19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kern="0" spc="-1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供应链领域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00000"/>
              </a:lnSpc>
              <a:spcBef>
                <a:spcPts val="587"/>
              </a:spcBef>
              <a:tabLst>
                <a:tab pos="301625" algn="l"/>
              </a:tabLst>
            </a:pPr>
            <a:r>
              <a:rPr sz="3200" kern="0" spc="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200" kern="0" spc="19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kern="0" spc="-1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数据领域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861158" y="4090164"/>
            <a:ext cx="288994" cy="450994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861158" y="3524378"/>
            <a:ext cx="288994" cy="450994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861158" y="2958593"/>
            <a:ext cx="288994" cy="450994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861158" y="2392808"/>
            <a:ext cx="288994" cy="450994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861158" y="1827023"/>
            <a:ext cx="288994" cy="4509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45948" y="888491"/>
            <a:ext cx="11510671" cy="5880049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3811058" y="905813"/>
            <a:ext cx="4580254" cy="1635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6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15315" indent="-602615" algn="l" rtl="0" eaLnBrk="0">
              <a:lnSpc>
                <a:spcPct val="109000"/>
              </a:lnSpc>
              <a:tabLst/>
            </a:pPr>
            <a:r>
              <a:rPr sz="21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构建大规模柔性化定制（C2M）</a:t>
            </a:r>
            <a:r>
              <a:rPr sz="2100" b="1" kern="0" spc="-4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能力</a:t>
            </a:r>
            <a:r>
              <a:rPr sz="21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全流程的可视化和数字驱动</a:t>
            </a:r>
            <a:endParaRPr sz="2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88694" algn="l" rtl="0" eaLnBrk="0">
              <a:lnSpc>
                <a:spcPct val="96000"/>
              </a:lnSpc>
              <a:spcBef>
                <a:spcPts val="461"/>
              </a:spcBef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深化T+3模式</a:t>
            </a:r>
            <a:r>
              <a:rPr sz="15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，推动制造升级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70534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实现全价值链的数字化、</a:t>
            </a:r>
            <a:r>
              <a:rPr sz="15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可视化、</a:t>
            </a:r>
            <a:r>
              <a:rPr sz="1500" kern="0" spc="-3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移动化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8330260" y="3705195"/>
            <a:ext cx="3397884" cy="1951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87805" algn="l" rtl="0" eaLnBrk="0">
              <a:lnSpc>
                <a:spcPct val="91000"/>
              </a:lnSpc>
              <a:tabLst/>
            </a:pPr>
            <a:r>
              <a:rPr sz="17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制造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364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多频次的排产和拉式备料、拉式生产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0650" indent="-107950" algn="l" rtl="0" eaLnBrk="0">
              <a:lnSpc>
                <a:spcPct val="121000"/>
              </a:lnSpc>
              <a:spcBef>
                <a:spcPts val="836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工艺路线、</a:t>
            </a:r>
            <a:r>
              <a:rPr sz="12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BOM数字化管理应用到制造端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，支持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客户定制业务模式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1920" indent="-109220" algn="l" rtl="0" eaLnBrk="0">
              <a:lnSpc>
                <a:spcPct val="121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 搭建工业互联网平台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，实现设备联机和控制；将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生产管理延伸到供应商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601684" y="6090724"/>
            <a:ext cx="11221719" cy="518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286375" algn="l" rtl="0" eaLnBrk="0">
              <a:lnSpc>
                <a:spcPct val="91000"/>
              </a:lnSpc>
              <a:tabLst/>
            </a:pPr>
            <a:r>
              <a:rPr sz="17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大数据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3"/>
              </a:spcBef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强化数据运营分析</a:t>
            </a:r>
            <a:r>
              <a:rPr sz="14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，建立全面的、可持续的数据运营体系</a:t>
            </a:r>
            <a:r>
              <a:rPr sz="14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，拉通基础数据</a:t>
            </a:r>
            <a:r>
              <a:rPr sz="14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，建立有效的指标体系；全面实现经营透明、数字化、智能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化及移动化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488581" y="4366882"/>
            <a:ext cx="3333750" cy="1289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3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1920" indent="-109220" algn="l" rtl="0" eaLnBrk="0">
              <a:lnSpc>
                <a:spcPct val="121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 总部到代理商、分销商、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门店、导购、用户的全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流程覆盖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1000"/>
              </a:lnSpc>
              <a:spcBef>
                <a:spcPts val="850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 客户产品定制化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1000"/>
              </a:lnSpc>
              <a:spcBef>
                <a:spcPts val="850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 数字化手段指导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营销及服务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7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200" kern="0" spc="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电商、物流、售后、金融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4362691" y="4367034"/>
            <a:ext cx="3333750" cy="1015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数字化企划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1000"/>
              </a:lnSpc>
              <a:spcBef>
                <a:spcPts val="850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 产品零部件参数化、标准化、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模块化设计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1000"/>
              </a:lnSpc>
              <a:spcBef>
                <a:spcPts val="850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 客户定制业务模式的订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单选配设计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2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200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支持数字化工厂、智能制造及客户定制业务模式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420688" y="281673"/>
            <a:ext cx="2687320" cy="436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9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项目背景和目标</a:t>
            </a:r>
            <a:endParaRPr sz="2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943730" y="3703680"/>
            <a:ext cx="4357370" cy="262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7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销售           </a:t>
            </a:r>
            <a:r>
              <a:rPr sz="17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研发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8872" y="1415796"/>
            <a:ext cx="11899392" cy="4908372"/>
          </a:xfrm>
          <a:prstGeom prst="rect">
            <a:avLst/>
          </a:prstGeom>
        </p:spPr>
      </p:pic>
      <p:graphicFrame>
        <p:nvGraphicFramePr>
          <p:cNvPr id="36" name="table 36"/>
          <p:cNvGraphicFramePr>
            <a:graphicFrameLocks noGrp="1"/>
          </p:cNvGraphicFramePr>
          <p:nvPr/>
        </p:nvGraphicFramePr>
        <p:xfrm>
          <a:off x="2944825" y="2202484"/>
          <a:ext cx="1096645" cy="506095"/>
        </p:xfrm>
        <a:graphic>
          <a:graphicData uri="http://schemas.openxmlformats.org/drawingml/2006/table">
            <a:tbl>
              <a:tblPr>
                <a:solidFill>
                  <a:srgbClr val="5B9BD5"/>
                </a:solidFill>
              </a:tblPr>
              <a:tblGrid>
                <a:gridCol w="1096645"/>
              </a:tblGrid>
              <a:tr h="4933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" name="table 38"/>
          <p:cNvGraphicFramePr>
            <a:graphicFrameLocks noGrp="1"/>
          </p:cNvGraphicFramePr>
          <p:nvPr/>
        </p:nvGraphicFramePr>
        <p:xfrm>
          <a:off x="7636205" y="3087078"/>
          <a:ext cx="1096644" cy="506095"/>
        </p:xfrm>
        <a:graphic>
          <a:graphicData uri="http://schemas.openxmlformats.org/drawingml/2006/table">
            <a:tbl>
              <a:tblPr>
                <a:solidFill>
                  <a:srgbClr val="5B9BD5"/>
                </a:solidFill>
              </a:tblPr>
              <a:tblGrid>
                <a:gridCol w="1096644"/>
              </a:tblGrid>
              <a:tr h="4933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9545" algn="l" rtl="0" eaLnBrk="0">
                        <a:lnSpc>
                          <a:spcPct val="9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供应商协作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77825" algn="l" rtl="0" eaLnBrk="0">
                        <a:lnSpc>
                          <a:spcPct val="85000"/>
                        </a:lnSpc>
                        <a:spcBef>
                          <a:spcPts val="216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SRM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642584" y="2417788"/>
            <a:ext cx="707885" cy="104775"/>
          </a:xfrm>
          <a:prstGeom prst="rect">
            <a:avLst/>
          </a:prstGeom>
        </p:spPr>
      </p:pic>
      <p:graphicFrame>
        <p:nvGraphicFramePr>
          <p:cNvPr id="42" name="table 42"/>
          <p:cNvGraphicFramePr>
            <a:graphicFrameLocks noGrp="1"/>
          </p:cNvGraphicFramePr>
          <p:nvPr/>
        </p:nvGraphicFramePr>
        <p:xfrm>
          <a:off x="4551959" y="2216873"/>
          <a:ext cx="1096645" cy="506095"/>
        </p:xfrm>
        <a:graphic>
          <a:graphicData uri="http://schemas.openxmlformats.org/drawingml/2006/table">
            <a:tbl>
              <a:tblPr>
                <a:solidFill>
                  <a:srgbClr val="5B9BD5"/>
                </a:solidFill>
              </a:tblPr>
              <a:tblGrid>
                <a:gridCol w="1096645"/>
              </a:tblGrid>
              <a:tr h="4933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ts val="1582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试制/试产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90525" algn="l" rtl="0" eaLnBrk="0">
                        <a:lnSpc>
                          <a:spcPct val="84000"/>
                        </a:lnSpc>
                        <a:spcBef>
                          <a:spcPts val="205"/>
                        </a:spcBef>
                        <a:tabLst/>
                      </a:pPr>
                      <a:r>
                        <a:rPr sz="1200" b="1" kern="0" spc="-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PLM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" name="table 44"/>
          <p:cNvGraphicFramePr>
            <a:graphicFrameLocks noGrp="1"/>
          </p:cNvGraphicFramePr>
          <p:nvPr/>
        </p:nvGraphicFramePr>
        <p:xfrm>
          <a:off x="2944825" y="3102533"/>
          <a:ext cx="1096645" cy="514350"/>
        </p:xfrm>
        <a:graphic>
          <a:graphicData uri="http://schemas.openxmlformats.org/drawingml/2006/table">
            <a:tbl>
              <a:tblPr>
                <a:solidFill>
                  <a:srgbClr val="5B9BD5"/>
                </a:solidFill>
              </a:tblPr>
              <a:tblGrid>
                <a:gridCol w="1096645"/>
              </a:tblGrid>
              <a:tr h="501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281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9400" indent="-11112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产品模块化</a:t>
                      </a:r>
                      <a:r>
                        <a:rPr sz="1200" b="1" kern="0" spc="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/平台化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90525" algn="l" rtl="0" eaLnBrk="0">
                        <a:lnSpc>
                          <a:spcPct val="71000"/>
                        </a:lnSpc>
                        <a:spcBef>
                          <a:spcPts val="71"/>
                        </a:spcBef>
                        <a:tabLst/>
                      </a:pPr>
                      <a:r>
                        <a:rPr sz="1200" b="1" kern="0" spc="-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PLM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pic>
        <p:nvPicPr>
          <p:cNvPr id="46" name="picture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290586" y="4330471"/>
            <a:ext cx="1660588" cy="1230122"/>
          </a:xfrm>
          <a:prstGeom prst="rect">
            <a:avLst/>
          </a:prstGeom>
        </p:spPr>
      </p:pic>
      <p:graphicFrame>
        <p:nvGraphicFramePr>
          <p:cNvPr id="48" name="table 48"/>
          <p:cNvGraphicFramePr>
            <a:graphicFrameLocks noGrp="1"/>
          </p:cNvGraphicFramePr>
          <p:nvPr/>
        </p:nvGraphicFramePr>
        <p:xfrm>
          <a:off x="750036" y="3830218"/>
          <a:ext cx="1096645" cy="506095"/>
        </p:xfrm>
        <a:graphic>
          <a:graphicData uri="http://schemas.openxmlformats.org/drawingml/2006/table">
            <a:tbl>
              <a:tblPr>
                <a:solidFill>
                  <a:srgbClr val="5B9BD5"/>
                </a:solidFill>
              </a:tblPr>
              <a:tblGrid>
                <a:gridCol w="1096645"/>
              </a:tblGrid>
              <a:tr h="4933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6379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选配订单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52425" algn="l" rtl="0" eaLnBrk="0">
                        <a:lnSpc>
                          <a:spcPts val="1582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CIMS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" name="table 50"/>
          <p:cNvGraphicFramePr>
            <a:graphicFrameLocks noGrp="1"/>
          </p:cNvGraphicFramePr>
          <p:nvPr/>
        </p:nvGraphicFramePr>
        <p:xfrm>
          <a:off x="6344107" y="5302326"/>
          <a:ext cx="1096644" cy="506094"/>
        </p:xfrm>
        <a:graphic>
          <a:graphicData uri="http://schemas.openxmlformats.org/drawingml/2006/table">
            <a:tbl>
              <a:tblPr>
                <a:solidFill>
                  <a:srgbClr val="5B9BD5"/>
                </a:solidFill>
              </a:tblPr>
              <a:tblGrid>
                <a:gridCol w="1096644"/>
              </a:tblGrid>
              <a:tr h="4933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0814" algn="l" rtl="0" eaLnBrk="0">
                        <a:lnSpc>
                          <a:spcPct val="9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完工及入库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93065" algn="l" rtl="0" eaLnBrk="0">
                        <a:lnSpc>
                          <a:spcPct val="85000"/>
                        </a:lnSpc>
                        <a:spcBef>
                          <a:spcPts val="216"/>
                        </a:spcBef>
                        <a:tabLst/>
                      </a:pPr>
                      <a:r>
                        <a:rPr sz="1200" b="1" kern="0" spc="-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MES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pic>
        <p:nvPicPr>
          <p:cNvPr id="52" name="picture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035450" y="4141342"/>
            <a:ext cx="2315006" cy="1330731"/>
          </a:xfrm>
          <a:prstGeom prst="rect">
            <a:avLst/>
          </a:prstGeom>
        </p:spPr>
      </p:pic>
      <p:graphicFrame>
        <p:nvGraphicFramePr>
          <p:cNvPr id="54" name="table 54"/>
          <p:cNvGraphicFramePr>
            <a:graphicFrameLocks noGrp="1"/>
          </p:cNvGraphicFramePr>
          <p:nvPr/>
        </p:nvGraphicFramePr>
        <p:xfrm>
          <a:off x="2944825" y="5254904"/>
          <a:ext cx="1096645" cy="506094"/>
        </p:xfrm>
        <a:graphic>
          <a:graphicData uri="http://schemas.openxmlformats.org/drawingml/2006/table">
            <a:tbl>
              <a:tblPr>
                <a:solidFill>
                  <a:srgbClr val="5B9BD5"/>
                </a:solidFill>
              </a:tblPr>
              <a:tblGrid>
                <a:gridCol w="1096645"/>
              </a:tblGrid>
              <a:tr h="4933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5745" algn="l" rtl="0" eaLnBrk="0">
                        <a:lnSpc>
                          <a:spcPct val="9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订单产品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61950" algn="l" rtl="0" eaLnBrk="0">
                        <a:lnSpc>
                          <a:spcPct val="85000"/>
                        </a:lnSpc>
                        <a:spcBef>
                          <a:spcPts val="216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OCM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pic>
        <p:nvPicPr>
          <p:cNvPr id="56" name="picture 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840649" y="3610559"/>
            <a:ext cx="4509808" cy="1650695"/>
          </a:xfrm>
          <a:prstGeom prst="rect">
            <a:avLst/>
          </a:prstGeom>
        </p:spPr>
      </p:pic>
      <p:graphicFrame>
        <p:nvGraphicFramePr>
          <p:cNvPr id="58" name="table 58"/>
          <p:cNvGraphicFramePr>
            <a:graphicFrameLocks noGrp="1"/>
          </p:cNvGraphicFramePr>
          <p:nvPr/>
        </p:nvGraphicFramePr>
        <p:xfrm>
          <a:off x="290423" y="2991662"/>
          <a:ext cx="931544" cy="534670"/>
        </p:xfrm>
        <a:graphic>
          <a:graphicData uri="http://schemas.openxmlformats.org/drawingml/2006/table">
            <a:tbl>
              <a:tblPr>
                <a:solidFill>
                  <a:srgbClr val="5B9BD5"/>
                </a:solidFill>
              </a:tblPr>
              <a:tblGrid>
                <a:gridCol w="931544"/>
              </a:tblGrid>
              <a:tr h="5219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09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360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消费者选配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93344" indent="34290" algn="l" rtl="0" eaLnBrk="0">
                        <a:lnSpc>
                          <a:spcPct val="10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MMP/IS/</a:t>
                      </a:r>
                      <a:r>
                        <a:rPr sz="1200" b="1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ECM/CMS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" name="table 60"/>
          <p:cNvGraphicFramePr>
            <a:graphicFrameLocks noGrp="1"/>
          </p:cNvGraphicFramePr>
          <p:nvPr/>
        </p:nvGraphicFramePr>
        <p:xfrm>
          <a:off x="9139719" y="3801046"/>
          <a:ext cx="1096644" cy="506095"/>
        </p:xfrm>
        <a:graphic>
          <a:graphicData uri="http://schemas.openxmlformats.org/drawingml/2006/table">
            <a:tbl>
              <a:tblPr>
                <a:solidFill>
                  <a:srgbClr val="5B9BD5"/>
                </a:solidFill>
              </a:tblPr>
              <a:tblGrid>
                <a:gridCol w="1096644"/>
              </a:tblGrid>
              <a:tr h="4933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5109" algn="l" rtl="0" eaLnBrk="0">
                        <a:lnSpc>
                          <a:spcPct val="9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物流发运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94970" algn="l" rtl="0" eaLnBrk="0">
                        <a:lnSpc>
                          <a:spcPct val="85000"/>
                        </a:lnSpc>
                        <a:spcBef>
                          <a:spcPts val="216"/>
                        </a:spcBef>
                        <a:tabLst/>
                      </a:pPr>
                      <a:r>
                        <a:rPr sz="1200" b="1" kern="0" spc="-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LMS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" name="table 62"/>
          <p:cNvGraphicFramePr>
            <a:graphicFrameLocks noGrp="1"/>
          </p:cNvGraphicFramePr>
          <p:nvPr/>
        </p:nvGraphicFramePr>
        <p:xfrm>
          <a:off x="1385595" y="2959963"/>
          <a:ext cx="1022349" cy="553084"/>
        </p:xfrm>
        <a:graphic>
          <a:graphicData uri="http://schemas.openxmlformats.org/drawingml/2006/table">
            <a:tbl>
              <a:tblPr>
                <a:solidFill>
                  <a:srgbClr val="5B9BD5"/>
                </a:solidFill>
              </a:tblPr>
              <a:tblGrid>
                <a:gridCol w="1022349"/>
              </a:tblGrid>
              <a:tr h="540384">
                <a:tc>
                  <a:txBody>
                    <a:bodyPr/>
                    <a:lstStyle/>
                    <a:p>
                      <a:pPr marL="19684" algn="l" rtl="0" eaLnBrk="0">
                        <a:lnSpc>
                          <a:spcPts val="1511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客户选配/定制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427990" indent="-41211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CCS/CIMS/W</a:t>
                      </a:r>
                      <a:r>
                        <a:rPr sz="1200" b="1" kern="0" spc="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7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EB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" name="table 64"/>
          <p:cNvGraphicFramePr>
            <a:graphicFrameLocks noGrp="1"/>
          </p:cNvGraphicFramePr>
          <p:nvPr/>
        </p:nvGraphicFramePr>
        <p:xfrm>
          <a:off x="762266" y="2189975"/>
          <a:ext cx="1096645" cy="506095"/>
        </p:xfrm>
        <a:graphic>
          <a:graphicData uri="http://schemas.openxmlformats.org/drawingml/2006/table">
            <a:tbl>
              <a:tblPr/>
              <a:tblGrid>
                <a:gridCol w="1096645"/>
              </a:tblGrid>
              <a:tr h="4933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075" algn="l" rtl="0" eaLnBrk="0">
                        <a:lnSpc>
                          <a:spcPct val="9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70C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产品选配平台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95604" algn="l" rtl="0" eaLnBrk="0">
                        <a:lnSpc>
                          <a:spcPct val="91000"/>
                        </a:lnSpc>
                        <a:spcBef>
                          <a:spcPts val="130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新建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6" name="picture 6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852891" y="2390889"/>
            <a:ext cx="1098283" cy="980656"/>
          </a:xfrm>
          <a:prstGeom prst="rect">
            <a:avLst/>
          </a:prstGeom>
        </p:spPr>
      </p:pic>
      <p:graphicFrame>
        <p:nvGraphicFramePr>
          <p:cNvPr id="68" name="table 68"/>
          <p:cNvGraphicFramePr>
            <a:graphicFrameLocks noGrp="1"/>
          </p:cNvGraphicFramePr>
          <p:nvPr/>
        </p:nvGraphicFramePr>
        <p:xfrm>
          <a:off x="4551959" y="3110306"/>
          <a:ext cx="1096645" cy="506095"/>
        </p:xfrm>
        <a:graphic>
          <a:graphicData uri="http://schemas.openxmlformats.org/drawingml/2006/table">
            <a:tbl>
              <a:tblPr>
                <a:solidFill>
                  <a:srgbClr val="5B9BD5"/>
                </a:solidFill>
              </a:tblPr>
              <a:tblGrid>
                <a:gridCol w="1096645"/>
              </a:tblGrid>
              <a:tr h="4933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015" algn="l" rtl="0" eaLnBrk="0">
                        <a:lnSpc>
                          <a:spcPct val="9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工艺设计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90525" algn="l" rtl="0" eaLnBrk="0">
                        <a:lnSpc>
                          <a:spcPct val="84000"/>
                        </a:lnSpc>
                        <a:spcBef>
                          <a:spcPts val="232"/>
                        </a:spcBef>
                        <a:tabLst/>
                      </a:pPr>
                      <a:r>
                        <a:rPr sz="1200" b="1" kern="0" spc="-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PLM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pic>
        <p:nvPicPr>
          <p:cNvPr id="70" name="picture 7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035450" y="3311220"/>
            <a:ext cx="522858" cy="104775"/>
          </a:xfrm>
          <a:prstGeom prst="rect">
            <a:avLst/>
          </a:prstGeom>
        </p:spPr>
      </p:pic>
      <p:graphicFrame>
        <p:nvGraphicFramePr>
          <p:cNvPr id="72" name="table 72"/>
          <p:cNvGraphicFramePr>
            <a:graphicFrameLocks noGrp="1"/>
          </p:cNvGraphicFramePr>
          <p:nvPr/>
        </p:nvGraphicFramePr>
        <p:xfrm>
          <a:off x="7636205" y="3831704"/>
          <a:ext cx="1096644" cy="506095"/>
        </p:xfrm>
        <a:graphic>
          <a:graphicData uri="http://schemas.openxmlformats.org/drawingml/2006/table">
            <a:tbl>
              <a:tblPr>
                <a:solidFill>
                  <a:srgbClr val="5B9BD5"/>
                </a:solidFill>
              </a:tblPr>
              <a:tblGrid>
                <a:gridCol w="1096644"/>
              </a:tblGrid>
              <a:tr h="4933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7509" algn="l" rtl="0" eaLnBrk="0">
                        <a:lnSpc>
                          <a:spcPct val="9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备料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407669" algn="l" rtl="0" eaLnBrk="0">
                        <a:lnSpc>
                          <a:spcPct val="85000"/>
                        </a:lnSpc>
                        <a:spcBef>
                          <a:spcPts val="216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SCP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pic>
        <p:nvPicPr>
          <p:cNvPr id="74" name="picture 7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132305" y="3587330"/>
            <a:ext cx="104775" cy="250723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642584" y="3311220"/>
            <a:ext cx="707872" cy="104775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3273793" y="1987092"/>
            <a:ext cx="439038" cy="187362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7434733" y="4032618"/>
            <a:ext cx="207822" cy="104775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703999" y="2690228"/>
            <a:ext cx="1245387" cy="307784"/>
          </a:xfrm>
          <a:prstGeom prst="rect">
            <a:avLst/>
          </a:prstGeom>
        </p:spPr>
      </p:pic>
      <p:sp>
        <p:nvSpPr>
          <p:cNvPr id="84" name="textbox 84"/>
          <p:cNvSpPr/>
          <p:nvPr/>
        </p:nvSpPr>
        <p:spPr>
          <a:xfrm>
            <a:off x="2989046" y="2241270"/>
            <a:ext cx="1010285" cy="888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82"/>
              </a:lnSpc>
              <a:tabLst/>
            </a:pPr>
            <a:r>
              <a:rPr sz="1200" b="1" kern="0" spc="-10" dirty="0">
                <a:solidFill>
                  <a:srgbClr val="FFC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产品/配置企划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325120" algn="l" rtl="0" eaLnBrk="0">
              <a:lnSpc>
                <a:spcPct val="84000"/>
              </a:lnSpc>
              <a:spcBef>
                <a:spcPts val="205"/>
              </a:spcBef>
              <a:tabLst/>
            </a:pPr>
            <a:r>
              <a:rPr sz="1200" b="1" kern="0" spc="-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RDM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451484" algn="l" rtl="0" eaLnBrk="0">
              <a:lnSpc>
                <a:spcPct val="85000"/>
              </a:lnSpc>
              <a:spcBef>
                <a:spcPts val="532"/>
              </a:spcBef>
              <a:tabLst/>
            </a:pPr>
            <a:r>
              <a:rPr sz="3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!</a:t>
            </a:r>
            <a:endParaRPr sz="3200" dirty="0">
              <a:latin typeface="Arial"/>
              <a:ea typeface="Arial"/>
              <a:cs typeface="Arial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6344107" y="2278684"/>
            <a:ext cx="1097280" cy="2029460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5745" algn="l" rtl="0" eaLnBrk="0">
              <a:lnSpc>
                <a:spcPct val="82000"/>
              </a:lnSpc>
              <a:spcBef>
                <a:spcPts val="5"/>
              </a:spcBef>
              <a:tabLst/>
            </a:pPr>
            <a:r>
              <a:rPr sz="1200" b="1" kern="0" spc="-10" dirty="0">
                <a:solidFill>
                  <a:srgbClr val="FFC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生产计划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46379" algn="l" rtl="0" eaLnBrk="0">
              <a:lnSpc>
                <a:spcPct val="100000"/>
              </a:lnSpc>
              <a:spcBef>
                <a:spcPts val="7"/>
              </a:spcBef>
              <a:tabLst/>
            </a:pPr>
            <a:r>
              <a:rPr sz="1200" b="1" kern="0" spc="-10" dirty="0">
                <a:solidFill>
                  <a:srgbClr val="FFC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工程管理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12725" algn="l" rtl="0" eaLnBrk="0">
              <a:lnSpc>
                <a:spcPts val="1582"/>
              </a:lnSpc>
              <a:tabLst/>
            </a:pPr>
            <a:r>
              <a:rPr sz="1200" b="1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APS/ERP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8" name="picture 8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94043" y="1459991"/>
            <a:ext cx="9546552" cy="2637815"/>
          </a:xfrm>
          <a:prstGeom prst="rect">
            <a:avLst/>
          </a:prstGeom>
        </p:spPr>
      </p:pic>
      <p:sp>
        <p:nvSpPr>
          <p:cNvPr id="90" name="textbox 90"/>
          <p:cNvSpPr/>
          <p:nvPr/>
        </p:nvSpPr>
        <p:spPr>
          <a:xfrm>
            <a:off x="118872" y="6324600"/>
            <a:ext cx="11934825" cy="454659"/>
          </a:xfrm>
          <a:prstGeom prst="rect">
            <a:avLst/>
          </a:pr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782309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4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财务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5594350" algn="l" rtl="0" eaLnBrk="0">
              <a:lnSpc>
                <a:spcPct val="96000"/>
              </a:lnSpc>
              <a:spcBef>
                <a:spcPts val="148"/>
              </a:spcBef>
              <a:tabLst/>
            </a:pPr>
            <a:r>
              <a:rPr sz="14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数据平台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2726436" y="787908"/>
            <a:ext cx="9291955" cy="576580"/>
          </a:xfrm>
          <a:prstGeom prst="rect">
            <a:avLst/>
          </a:pr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50339" algn="l" rtl="0" eaLnBrk="0">
              <a:lnSpc>
                <a:spcPct val="96000"/>
              </a:lnSpc>
              <a:tabLst/>
            </a:pP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研发                        </a:t>
            </a:r>
            <a:r>
              <a:rPr sz="15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制造                             物流                   客服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94" name="table 94"/>
          <p:cNvGraphicFramePr>
            <a:graphicFrameLocks noGrp="1"/>
          </p:cNvGraphicFramePr>
          <p:nvPr/>
        </p:nvGraphicFramePr>
        <p:xfrm>
          <a:off x="9139719" y="5304396"/>
          <a:ext cx="1096644" cy="506094"/>
        </p:xfrm>
        <a:graphic>
          <a:graphicData uri="http://schemas.openxmlformats.org/drawingml/2006/table">
            <a:tbl>
              <a:tblPr>
                <a:solidFill>
                  <a:srgbClr val="5B9BD5"/>
                </a:solidFill>
              </a:tblPr>
              <a:tblGrid>
                <a:gridCol w="1096644"/>
              </a:tblGrid>
              <a:tr h="4933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5109" algn="l" rtl="0" eaLnBrk="0">
                        <a:lnSpc>
                          <a:spcPct val="9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物流入仓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94970" algn="l" rtl="0" eaLnBrk="0">
                        <a:lnSpc>
                          <a:spcPct val="85000"/>
                        </a:lnSpc>
                        <a:spcBef>
                          <a:spcPts val="216"/>
                        </a:spcBef>
                        <a:tabLst/>
                      </a:pPr>
                      <a:r>
                        <a:rPr sz="1200" b="1" kern="0" spc="-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LMS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" name="table 96"/>
          <p:cNvGraphicFramePr>
            <a:graphicFrameLocks noGrp="1"/>
          </p:cNvGraphicFramePr>
          <p:nvPr/>
        </p:nvGraphicFramePr>
        <p:xfrm>
          <a:off x="10610596" y="5266817"/>
          <a:ext cx="1096644" cy="548639"/>
        </p:xfrm>
        <a:graphic>
          <a:graphicData uri="http://schemas.openxmlformats.org/drawingml/2006/table">
            <a:tbl>
              <a:tblPr>
                <a:solidFill>
                  <a:srgbClr val="5B9BD5"/>
                </a:solidFill>
              </a:tblPr>
              <a:tblGrid>
                <a:gridCol w="1096644"/>
              </a:tblGrid>
              <a:tr h="535939">
                <a:tc>
                  <a:txBody>
                    <a:bodyPr/>
                    <a:lstStyle/>
                    <a:p>
                      <a:pPr marL="245109" indent="-228600" algn="l" rtl="0" eaLnBrk="0">
                        <a:lnSpc>
                          <a:spcPct val="10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接收BOM清单/</a:t>
                      </a:r>
                      <a:r>
                        <a:rPr sz="1200" b="1" kern="0" spc="4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技术资料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410844" algn="l" rtl="0" eaLnBrk="0">
                        <a:lnSpc>
                          <a:spcPct val="73000"/>
                        </a:lnSpc>
                        <a:spcBef>
                          <a:spcPts val="223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CSS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146" marB="0">
                    <a:lnL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pic>
        <p:nvPicPr>
          <p:cNvPr id="98" name="picture 9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3485375" y="5755157"/>
            <a:ext cx="7726095" cy="232828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118872" y="787908"/>
            <a:ext cx="2451100" cy="576580"/>
          </a:xfrm>
          <a:prstGeom prst="rect">
            <a:avLst/>
          </a:pr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25525" algn="l" rtl="0" eaLnBrk="0">
              <a:lnSpc>
                <a:spcPct val="96000"/>
              </a:lnSpc>
              <a:tabLst/>
            </a:pP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营销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210883" y="328495"/>
            <a:ext cx="3320415" cy="394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8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C2M端到端-顶层拉通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4" name="picture 10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5642584" y="3431870"/>
            <a:ext cx="707872" cy="1462150"/>
          </a:xfrm>
          <a:prstGeom prst="rect">
            <a:avLst/>
          </a:prstGeom>
        </p:spPr>
      </p:pic>
      <p:pic>
        <p:nvPicPr>
          <p:cNvPr id="106" name="picture 10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11701220" y="2524048"/>
            <a:ext cx="185560" cy="3043046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7434733" y="4268431"/>
            <a:ext cx="794625" cy="600189"/>
          </a:xfrm>
          <a:prstGeom prst="rect">
            <a:avLst/>
          </a:prstGeom>
        </p:spPr>
      </p:pic>
      <p:graphicFrame>
        <p:nvGraphicFramePr>
          <p:cNvPr id="110" name="table 110"/>
          <p:cNvGraphicFramePr>
            <a:graphicFrameLocks noGrp="1"/>
          </p:cNvGraphicFramePr>
          <p:nvPr/>
        </p:nvGraphicFramePr>
        <p:xfrm>
          <a:off x="6344107" y="4562932"/>
          <a:ext cx="1096644" cy="506095"/>
        </p:xfrm>
        <a:graphic>
          <a:graphicData uri="http://schemas.openxmlformats.org/drawingml/2006/table">
            <a:tbl>
              <a:tblPr>
                <a:solidFill>
                  <a:srgbClr val="5B9BD5"/>
                </a:solidFill>
              </a:tblPr>
              <a:tblGrid>
                <a:gridCol w="1096644"/>
              </a:tblGrid>
              <a:tr h="4933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5745" algn="l" rtl="0" eaLnBrk="0">
                        <a:lnSpc>
                          <a:spcPct val="9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生产制造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93065" algn="l" rtl="0" eaLnBrk="0">
                        <a:lnSpc>
                          <a:spcPct val="85000"/>
                        </a:lnSpc>
                        <a:spcBef>
                          <a:spcPts val="216"/>
                        </a:spcBef>
                        <a:tabLst/>
                      </a:pPr>
                      <a:r>
                        <a:rPr sz="1200" b="1" kern="0" spc="-5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MES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2" name="table 112"/>
          <p:cNvGraphicFramePr>
            <a:graphicFrameLocks noGrp="1"/>
          </p:cNvGraphicFramePr>
          <p:nvPr/>
        </p:nvGraphicFramePr>
        <p:xfrm>
          <a:off x="6344107" y="1542173"/>
          <a:ext cx="1096644" cy="506095"/>
        </p:xfrm>
        <a:graphic>
          <a:graphicData uri="http://schemas.openxmlformats.org/drawingml/2006/table">
            <a:tbl>
              <a:tblPr>
                <a:solidFill>
                  <a:srgbClr val="5B9BD5"/>
                </a:solidFill>
              </a:tblPr>
              <a:tblGrid>
                <a:gridCol w="1096644"/>
              </a:tblGrid>
              <a:tr h="4933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4" name="table 114"/>
          <p:cNvGraphicFramePr>
            <a:graphicFrameLocks noGrp="1"/>
          </p:cNvGraphicFramePr>
          <p:nvPr/>
        </p:nvGraphicFramePr>
        <p:xfrm>
          <a:off x="762266" y="1542173"/>
          <a:ext cx="1096645" cy="506095"/>
        </p:xfrm>
        <a:graphic>
          <a:graphicData uri="http://schemas.openxmlformats.org/drawingml/2006/table">
            <a:tbl>
              <a:tblPr>
                <a:solidFill>
                  <a:srgbClr val="5B9BD5"/>
                </a:solidFill>
              </a:tblPr>
              <a:tblGrid>
                <a:gridCol w="1096645"/>
              </a:tblGrid>
              <a:tr h="4933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5109" algn="l" rtl="0" eaLnBrk="0">
                        <a:lnSpc>
                          <a:spcPct val="9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销售预测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75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6" name="table 116"/>
          <p:cNvGraphicFramePr>
            <a:graphicFrameLocks noGrp="1"/>
          </p:cNvGraphicFramePr>
          <p:nvPr/>
        </p:nvGraphicFramePr>
        <p:xfrm>
          <a:off x="10612183" y="2278684"/>
          <a:ext cx="1096644" cy="506095"/>
        </p:xfrm>
        <a:graphic>
          <a:graphicData uri="http://schemas.openxmlformats.org/drawingml/2006/table">
            <a:tbl>
              <a:tblPr>
                <a:solidFill>
                  <a:srgbClr val="5B9BD5"/>
                </a:solidFill>
              </a:tblPr>
              <a:tblGrid>
                <a:gridCol w="1096644"/>
              </a:tblGrid>
              <a:tr h="4933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5109" algn="l" rtl="0" eaLnBrk="0">
                        <a:lnSpc>
                          <a:spcPct val="9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服务执行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410844" algn="l" rtl="0" eaLnBrk="0">
                        <a:lnSpc>
                          <a:spcPct val="85000"/>
                        </a:lnSpc>
                        <a:spcBef>
                          <a:spcPts val="216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CSS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8" name="table 118"/>
          <p:cNvGraphicFramePr>
            <a:graphicFrameLocks noGrp="1"/>
          </p:cNvGraphicFramePr>
          <p:nvPr/>
        </p:nvGraphicFramePr>
        <p:xfrm>
          <a:off x="10610596" y="3801046"/>
          <a:ext cx="1096644" cy="506095"/>
        </p:xfrm>
        <a:graphic>
          <a:graphicData uri="http://schemas.openxmlformats.org/drawingml/2006/table">
            <a:tbl>
              <a:tblPr>
                <a:solidFill>
                  <a:srgbClr val="5B9BD5"/>
                </a:solidFill>
              </a:tblPr>
              <a:tblGrid>
                <a:gridCol w="1096644"/>
              </a:tblGrid>
              <a:tr h="4933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5109" algn="l" rtl="0" eaLnBrk="0">
                        <a:lnSpc>
                          <a:spcPct val="9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C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服务接入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410844" algn="l" rtl="0" eaLnBrk="0">
                        <a:lnSpc>
                          <a:spcPct val="85000"/>
                        </a:lnSpc>
                        <a:spcBef>
                          <a:spcPts val="216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CSS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71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pic>
        <p:nvPicPr>
          <p:cNvPr id="120" name="picture 1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1852891" y="1743087"/>
            <a:ext cx="4497565" cy="104775"/>
          </a:xfrm>
          <a:prstGeom prst="rect">
            <a:avLst/>
          </a:prstGeom>
        </p:spPr>
      </p:pic>
      <p:pic>
        <p:nvPicPr>
          <p:cNvPr id="122" name="picture 1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4035450" y="2430488"/>
            <a:ext cx="522858" cy="864857"/>
          </a:xfrm>
          <a:prstGeom prst="rect">
            <a:avLst/>
          </a:prstGeom>
        </p:spPr>
      </p:pic>
      <p:pic>
        <p:nvPicPr>
          <p:cNvPr id="124" name="picture 12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748449" y="3507066"/>
            <a:ext cx="1156487" cy="329501"/>
          </a:xfrm>
          <a:prstGeom prst="rect">
            <a:avLst/>
          </a:prstGeom>
        </p:spPr>
      </p:pic>
      <p:sp>
        <p:nvSpPr>
          <p:cNvPr id="126" name="textbox 126"/>
          <p:cNvSpPr/>
          <p:nvPr/>
        </p:nvSpPr>
        <p:spPr>
          <a:xfrm>
            <a:off x="6576276" y="1703945"/>
            <a:ext cx="633730" cy="594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200" b="1" kern="0" spc="-10" dirty="0">
                <a:solidFill>
                  <a:srgbClr val="FFC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产销衔接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3525" algn="l" rtl="0" eaLnBrk="0">
              <a:lnSpc>
                <a:spcPct val="84000"/>
              </a:lnSpc>
              <a:spcBef>
                <a:spcPts val="5"/>
              </a:spcBef>
              <a:tabLst/>
            </a:pPr>
            <a:r>
              <a:rPr sz="1900" kern="0" spc="-1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 sz="1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8" name="picture 12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7434733" y="5505208"/>
            <a:ext cx="1711336" cy="104775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11891720" y="2524048"/>
            <a:ext cx="47638" cy="3043046"/>
          </a:xfrm>
          <a:prstGeom prst="rect">
            <a:avLst/>
          </a:prstGeom>
        </p:spPr>
      </p:pic>
      <p:pic>
        <p:nvPicPr>
          <p:cNvPr id="132" name="picture 13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11108143" y="2778937"/>
            <a:ext cx="104775" cy="1028471"/>
          </a:xfrm>
          <a:prstGeom prst="rect">
            <a:avLst/>
          </a:prstGeom>
        </p:spPr>
      </p:pic>
      <p:pic>
        <p:nvPicPr>
          <p:cNvPr id="134" name="picture 13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9635820" y="4301299"/>
            <a:ext cx="104775" cy="1009446"/>
          </a:xfrm>
          <a:prstGeom prst="rect">
            <a:avLst/>
          </a:prstGeom>
        </p:spPr>
      </p:pic>
      <p:pic>
        <p:nvPicPr>
          <p:cNvPr id="136" name="picture 13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10230345" y="4001960"/>
            <a:ext cx="386601" cy="104774"/>
          </a:xfrm>
          <a:prstGeom prst="rect">
            <a:avLst/>
          </a:prstGeom>
        </p:spPr>
      </p:pic>
      <p:sp>
        <p:nvSpPr>
          <p:cNvPr id="138" name="textbox 138"/>
          <p:cNvSpPr/>
          <p:nvPr/>
        </p:nvSpPr>
        <p:spPr>
          <a:xfrm>
            <a:off x="6827507" y="4288599"/>
            <a:ext cx="130175" cy="294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9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4000"/>
              </a:lnSpc>
              <a:tabLst/>
            </a:pPr>
            <a:r>
              <a:rPr sz="21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 sz="2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6827507" y="5050485"/>
            <a:ext cx="130175" cy="271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19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 sz="1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2" name="picture 14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11702822" y="2479598"/>
            <a:ext cx="99884" cy="1047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44"/>
          <p:cNvSpPr/>
          <p:nvPr/>
        </p:nvSpPr>
        <p:spPr>
          <a:xfrm>
            <a:off x="3858221" y="2311907"/>
            <a:ext cx="1423035" cy="1033780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7975" algn="l" rtl="0" eaLnBrk="0">
              <a:lnSpc>
                <a:spcPct val="96000"/>
              </a:lnSpc>
              <a:spcBef>
                <a:spcPts val="5"/>
              </a:spcBef>
              <a:tabLst/>
            </a:pP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订单提交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2199132" y="2311907"/>
            <a:ext cx="1422400" cy="1033780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9245" algn="l" rtl="0" eaLnBrk="0">
              <a:lnSpc>
                <a:spcPct val="96000"/>
              </a:lnSpc>
              <a:spcBef>
                <a:spcPts val="4"/>
              </a:spcBef>
              <a:tabLst/>
            </a:pP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选配结果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5516879" y="2311907"/>
            <a:ext cx="1422400" cy="1033780"/>
          </a:xfrm>
          <a:prstGeom prst="rect">
            <a:avLst/>
          </a:prstGeom>
          <a:solidFill>
            <a:srgbClr val="5B9BD5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78790" algn="l" rtl="0" eaLnBrk="0">
              <a:lnSpc>
                <a:spcPct val="96000"/>
              </a:lnSpc>
              <a:spcBef>
                <a:spcPts val="5"/>
              </a:spcBef>
              <a:tabLst/>
            </a:pP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 发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10493743" y="2311907"/>
            <a:ext cx="1423035" cy="1033780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0059" algn="l" rtl="0" eaLnBrk="0">
              <a:lnSpc>
                <a:spcPct val="96000"/>
              </a:lnSpc>
              <a:spcBef>
                <a:spcPts val="5"/>
              </a:spcBef>
              <a:tabLst/>
            </a:pP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售 后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7175982" y="2311907"/>
            <a:ext cx="1423035" cy="1033780"/>
          </a:xfrm>
          <a:prstGeom prst="rect">
            <a:avLst/>
          </a:prstGeom>
          <a:solidFill>
            <a:srgbClr val="5B9BD5">
              <a:alpha val="93725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1330" algn="l" rtl="0" eaLnBrk="0">
              <a:lnSpc>
                <a:spcPct val="96000"/>
              </a:lnSpc>
              <a:spcBef>
                <a:spcPts val="4"/>
              </a:spcBef>
              <a:tabLst/>
            </a:pP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8834627" y="2311907"/>
            <a:ext cx="1422400" cy="1033780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0694" algn="l" rtl="0" eaLnBrk="0">
              <a:lnSpc>
                <a:spcPct val="96000"/>
              </a:lnSpc>
              <a:spcBef>
                <a:spcPts val="5"/>
              </a:spcBef>
              <a:tabLst/>
            </a:pP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物 流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188328" y="171100"/>
            <a:ext cx="4557395" cy="1692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C2M-营销端场景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0509" algn="l" rtl="0" eaLnBrk="0">
              <a:lnSpc>
                <a:spcPts val="2895"/>
              </a:lnSpc>
              <a:spcBef>
                <a:spcPts val="700"/>
              </a:spcBef>
              <a:tabLst/>
            </a:pP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2300" kern="0" spc="-10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个人消费者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165"/>
              </a:lnSpc>
              <a:spcBef>
                <a:spcPts val="4"/>
              </a:spcBef>
              <a:tabLst/>
            </a:pP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2300" kern="0" spc="-10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企业客户（代理商、</a:t>
            </a:r>
            <a:r>
              <a:rPr sz="2300" b="1" kern="0" spc="-5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分销商）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8" name="picture 1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0448" y="1537716"/>
            <a:ext cx="11381549" cy="3284219"/>
          </a:xfrm>
          <a:prstGeom prst="rect">
            <a:avLst/>
          </a:prstGeom>
        </p:spPr>
      </p:pic>
      <p:sp>
        <p:nvSpPr>
          <p:cNvPr id="160" name="textbox 160"/>
          <p:cNvSpPr/>
          <p:nvPr/>
        </p:nvSpPr>
        <p:spPr>
          <a:xfrm>
            <a:off x="4209288" y="5353811"/>
            <a:ext cx="5716904" cy="719455"/>
          </a:xfrm>
          <a:prstGeom prst="rect">
            <a:avLst/>
          </a:prstGeom>
          <a:solidFill>
            <a:srgbClr val="FFF2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8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05560" algn="l" rtl="0" eaLnBrk="0">
              <a:lnSpc>
                <a:spcPct val="95000"/>
              </a:lnSpc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流       程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拉       通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2687028" y="6437642"/>
            <a:ext cx="6918959" cy="391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82"/>
              </a:lnSpc>
              <a:tabLst/>
            </a:pPr>
            <a:r>
              <a:rPr sz="2300" kern="0" spc="80" dirty="0">
                <a:solidFill>
                  <a:srgbClr val="FFC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2300" kern="0" spc="-1060" dirty="0">
                <a:solidFill>
                  <a:srgbClr val="FFC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80" dirty="0">
                <a:solidFill>
                  <a:srgbClr val="FFC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建立C2M用户触点     </a:t>
            </a:r>
            <a:r>
              <a:rPr sz="2300" kern="0" spc="70" dirty="0">
                <a:solidFill>
                  <a:srgbClr val="FFC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2300" kern="0" spc="-1060" dirty="0">
                <a:solidFill>
                  <a:srgbClr val="FFC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70" dirty="0">
                <a:solidFill>
                  <a:srgbClr val="FFC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拉通C2M订单信息桥梁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837813" y="2712013"/>
            <a:ext cx="832485" cy="2066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4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用户选配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9369" algn="l" rtl="0" eaLnBrk="0">
              <a:lnSpc>
                <a:spcPct val="100000"/>
              </a:lnSpc>
              <a:spcBef>
                <a:spcPts val="551"/>
              </a:spcBef>
              <a:tabLst/>
            </a:pP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外观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颜色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功能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9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2564" algn="l" rtl="0" eaLnBrk="0">
              <a:lnSpc>
                <a:spcPts val="646"/>
              </a:lnSpc>
              <a:tabLst/>
            </a:pP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……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2337093" y="3643308"/>
            <a:ext cx="1191894" cy="1135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产品图片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4000"/>
              </a:lnSpc>
              <a:spcBef>
                <a:spcPts val="210"/>
              </a:spcBef>
              <a:tabLst/>
            </a:pP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产品价格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4000"/>
              </a:lnSpc>
              <a:spcBef>
                <a:spcPts val="210"/>
              </a:spcBef>
              <a:tabLst/>
            </a:pP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详细资料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4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3384" algn="l" rtl="0" eaLnBrk="0">
              <a:lnSpc>
                <a:spcPts val="646"/>
              </a:lnSpc>
              <a:tabLst/>
            </a:pP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……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10512552" y="5353811"/>
            <a:ext cx="1312544" cy="719455"/>
          </a:xfrm>
          <a:prstGeom prst="rect">
            <a:avLst/>
          </a:prstGeom>
          <a:solidFill>
            <a:srgbClr val="FFF2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9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1610" algn="l" rtl="0" eaLnBrk="0">
              <a:lnSpc>
                <a:spcPct val="94000"/>
              </a:lnSpc>
              <a:tabLst/>
            </a:pP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售后政策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525780" y="5353811"/>
            <a:ext cx="1312544" cy="719455"/>
          </a:xfrm>
          <a:prstGeom prst="rect">
            <a:avLst/>
          </a:prstGeom>
          <a:solidFill>
            <a:srgbClr val="FFF2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6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3514" algn="l" rtl="0" eaLnBrk="0">
              <a:lnSpc>
                <a:spcPct val="94000"/>
              </a:lnSpc>
              <a:tabLst/>
            </a:pP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研发选配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2238755" y="5353811"/>
            <a:ext cx="1310639" cy="719455"/>
          </a:xfrm>
          <a:prstGeom prst="rect">
            <a:avLst/>
          </a:prstGeom>
          <a:solidFill>
            <a:srgbClr val="FFF2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84785" indent="-1905" algn="l" rtl="0" eaLnBrk="0">
              <a:lnSpc>
                <a:spcPct val="99000"/>
              </a:lnSpc>
              <a:spcBef>
                <a:spcPts val="1"/>
              </a:spcBef>
              <a:tabLst/>
            </a:pP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销售政策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交货周期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4" name="textbox 174"/>
          <p:cNvSpPr/>
          <p:nvPr/>
        </p:nvSpPr>
        <p:spPr>
          <a:xfrm>
            <a:off x="10851338" y="3642121"/>
            <a:ext cx="716915" cy="1136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98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1000"/>
              </a:lnSpc>
              <a:tabLst/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安装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维修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退换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7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5895" algn="l" rtl="0" eaLnBrk="0">
              <a:lnSpc>
                <a:spcPts val="646"/>
              </a:lnSpc>
              <a:tabLst/>
            </a:pP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……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5367045" y="4394110"/>
            <a:ext cx="1352550" cy="356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1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订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单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7421195" y="4397463"/>
            <a:ext cx="1350644" cy="353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视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0" name="picture 1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007522" y="4889410"/>
            <a:ext cx="391832" cy="368325"/>
          </a:xfrm>
          <a:prstGeom prst="rect">
            <a:avLst/>
          </a:prstGeom>
        </p:spPr>
      </p:pic>
      <p:pic>
        <p:nvPicPr>
          <p:cNvPr id="182" name="picture 1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20902" y="4889410"/>
            <a:ext cx="391820" cy="368325"/>
          </a:xfrm>
          <a:prstGeom prst="rect">
            <a:avLst/>
          </a:prstGeom>
        </p:spPr>
      </p:pic>
      <p:pic>
        <p:nvPicPr>
          <p:cNvPr id="184" name="picture 18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745486" y="4889410"/>
            <a:ext cx="391820" cy="368325"/>
          </a:xfrm>
          <a:prstGeom prst="rect">
            <a:avLst/>
          </a:prstGeom>
        </p:spPr>
      </p:pic>
      <p:pic>
        <p:nvPicPr>
          <p:cNvPr id="186" name="picture 18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954444" y="4858232"/>
            <a:ext cx="391819" cy="368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60960" y="833628"/>
            <a:ext cx="12057888" cy="451103"/>
            <a:chOff x="0" y="0"/>
            <a:chExt cx="12057888" cy="451103"/>
          </a:xfrm>
        </p:grpSpPr>
        <p:grpSp>
          <p:nvGrpSpPr>
            <p:cNvPr id="4" name="group 4"/>
            <p:cNvGrpSpPr/>
            <p:nvPr/>
          </p:nvGrpSpPr>
          <p:grpSpPr>
            <a:xfrm rot="21600000">
              <a:off x="0" y="0"/>
              <a:ext cx="12057888" cy="451103"/>
              <a:chOff x="0" y="0"/>
              <a:chExt cx="12057888" cy="451103"/>
            </a:xfrm>
          </p:grpSpPr>
          <p:sp>
            <p:nvSpPr>
              <p:cNvPr id="188" name="path 188"/>
              <p:cNvSpPr/>
              <p:nvPr/>
            </p:nvSpPr>
            <p:spPr>
              <a:xfrm>
                <a:off x="0" y="0"/>
                <a:ext cx="6048755" cy="451103"/>
              </a:xfrm>
              <a:custGeom>
                <a:avLst/>
                <a:gdLst/>
                <a:ahLst/>
                <a:cxnLst/>
                <a:rect l="0" t="0" r="0" b="0"/>
                <a:pathLst>
                  <a:path w="9525" h="710">
                    <a:moveTo>
                      <a:pt x="0" y="0"/>
                    </a:moveTo>
                    <a:lnTo>
                      <a:pt x="9525" y="0"/>
                    </a:lnTo>
                    <a:lnTo>
                      <a:pt x="9525" y="710"/>
                    </a:lnTo>
                    <a:lnTo>
                      <a:pt x="0" y="7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>
                  <a:alpha val="50196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path 190"/>
              <p:cNvSpPr/>
              <p:nvPr/>
            </p:nvSpPr>
            <p:spPr>
              <a:xfrm>
                <a:off x="6048755" y="0"/>
                <a:ext cx="6009132" cy="451103"/>
              </a:xfrm>
              <a:custGeom>
                <a:avLst/>
                <a:gdLst/>
                <a:ahLst/>
                <a:cxnLst/>
                <a:rect l="0" t="0" r="0" b="0"/>
                <a:pathLst>
                  <a:path w="9463" h="710">
                    <a:moveTo>
                      <a:pt x="0" y="0"/>
                    </a:moveTo>
                    <a:lnTo>
                      <a:pt x="9463" y="0"/>
                    </a:lnTo>
                    <a:lnTo>
                      <a:pt x="9463" y="710"/>
                    </a:lnTo>
                    <a:lnTo>
                      <a:pt x="0" y="7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E57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2" name="textbox 192"/>
            <p:cNvSpPr/>
            <p:nvPr/>
          </p:nvSpPr>
          <p:spPr>
            <a:xfrm>
              <a:off x="-12700" y="-12700"/>
              <a:ext cx="12083415" cy="4991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1107439" algn="l" rtl="0" eaLnBrk="0">
                <a:lnSpc>
                  <a:spcPct val="94000"/>
                </a:lnSpc>
                <a:spcBef>
                  <a:spcPts val="4"/>
                </a:spcBef>
                <a:tabLst/>
              </a:pPr>
              <a:r>
                <a:rPr sz="18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C2M线上线下渠道消费者全方位触点             </a:t>
              </a:r>
              <a:r>
                <a:rPr sz="18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</a:t>
              </a:r>
              <a:r>
                <a:rPr sz="1800" b="1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C2M线下渠道客户全方位触点</a:t>
              </a:r>
              <a:endParaRPr sz="18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94" name="textbox 194"/>
          <p:cNvSpPr/>
          <p:nvPr/>
        </p:nvSpPr>
        <p:spPr>
          <a:xfrm>
            <a:off x="4494146" y="1397679"/>
            <a:ext cx="800734" cy="5121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7950" indent="1905" algn="l" rtl="0" eaLnBrk="0">
              <a:lnSpc>
                <a:spcPct val="110000"/>
              </a:lnSpc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商品演示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协助选配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扫码收银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提交订单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订单跟踪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信息反馈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会员档案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635" algn="l" rtl="0" eaLnBrk="0">
              <a:lnSpc>
                <a:spcPct val="110000"/>
              </a:lnSpc>
              <a:spcBef>
                <a:spcPts val="397"/>
              </a:spcBef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协助选配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pos</a:t>
            </a: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收银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提交订单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订单跟踪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信息反馈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会员档案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indent="635" algn="l" rtl="0" eaLnBrk="0">
              <a:lnSpc>
                <a:spcPct val="110000"/>
              </a:lnSpc>
              <a:spcBef>
                <a:spcPts val="2"/>
              </a:spcBef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演示推介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自助选配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扫码支付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提交订单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订单信息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会员档案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96" name="picture 1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312392" y="4380280"/>
            <a:ext cx="1442300" cy="1092631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2808732" y="5010911"/>
            <a:ext cx="1295400" cy="1682495"/>
            <a:chOff x="0" y="0"/>
            <a:chExt cx="1295400" cy="1682495"/>
          </a:xfrm>
        </p:grpSpPr>
        <p:pic>
          <p:nvPicPr>
            <p:cNvPr id="198" name="picture 19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295400" cy="1682495"/>
            </a:xfrm>
            <a:prstGeom prst="rect">
              <a:avLst/>
            </a:prstGeom>
          </p:spPr>
        </p:pic>
        <p:sp>
          <p:nvSpPr>
            <p:cNvPr id="200" name="textbox 200"/>
            <p:cNvSpPr/>
            <p:nvPr/>
          </p:nvSpPr>
          <p:spPr>
            <a:xfrm>
              <a:off x="-12700" y="-12700"/>
              <a:ext cx="1320800" cy="17259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0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18440" algn="l" rtl="0" eaLnBrk="0">
                <a:lnSpc>
                  <a:spcPct val="90000"/>
                </a:lnSpc>
                <a:tabLst/>
              </a:pPr>
              <a:r>
                <a:rPr sz="1500" kern="0" spc="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自助选配</a:t>
              </a:r>
              <a:endParaRPr sz="15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202" name="textbox 202"/>
          <p:cNvSpPr/>
          <p:nvPr/>
        </p:nvSpPr>
        <p:spPr>
          <a:xfrm rot="2220000">
            <a:off x="1157900" y="4699935"/>
            <a:ext cx="2021839" cy="270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27"/>
              </a:lnSpc>
              <a:tabLst/>
            </a:pPr>
            <a:r>
              <a:rPr sz="15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旗舰店、</a:t>
            </a:r>
            <a:r>
              <a:rPr sz="1500" kern="0" spc="-1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5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商城、</a:t>
            </a:r>
            <a:r>
              <a:rPr sz="1500" kern="0" spc="-2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500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微信、</a:t>
            </a:r>
            <a:endParaRPr sz="15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9090659" y="4998720"/>
            <a:ext cx="1351788" cy="1394460"/>
            <a:chOff x="0" y="0"/>
            <a:chExt cx="1351788" cy="1394460"/>
          </a:xfrm>
        </p:grpSpPr>
        <p:pic>
          <p:nvPicPr>
            <p:cNvPr id="204" name="picture 2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351788" cy="1394460"/>
            </a:xfrm>
            <a:prstGeom prst="rect">
              <a:avLst/>
            </a:prstGeom>
          </p:spPr>
        </p:pic>
        <p:sp>
          <p:nvSpPr>
            <p:cNvPr id="206" name="textbox 206"/>
            <p:cNvSpPr/>
            <p:nvPr/>
          </p:nvSpPr>
          <p:spPr>
            <a:xfrm>
              <a:off x="-12700" y="-12700"/>
              <a:ext cx="1377314" cy="14331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08585" algn="l" rtl="0" eaLnBrk="0">
                <a:lnSpc>
                  <a:spcPct val="91000"/>
                </a:lnSpc>
                <a:spcBef>
                  <a:spcPts val="1"/>
                </a:spcBef>
                <a:tabLst/>
              </a:pPr>
              <a:r>
                <a:rPr sz="1500" kern="0" spc="13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代理商</a:t>
              </a:r>
              <a:r>
                <a:rPr sz="1500" kern="0" spc="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CCS</a:t>
              </a:r>
              <a:endParaRPr sz="1500" dirty="0">
                <a:latin typeface="DengXian"/>
                <a:ea typeface="DengXian"/>
                <a:cs typeface="DengXian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2822447" y="3441191"/>
            <a:ext cx="1351788" cy="1379220"/>
            <a:chOff x="0" y="0"/>
            <a:chExt cx="1351788" cy="1379220"/>
          </a:xfrm>
        </p:grpSpPr>
        <p:pic>
          <p:nvPicPr>
            <p:cNvPr id="208" name="picture 20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351788" cy="1379220"/>
            </a:xfrm>
            <a:prstGeom prst="rect">
              <a:avLst/>
            </a:prstGeom>
          </p:spPr>
        </p:pic>
        <p:sp>
          <p:nvSpPr>
            <p:cNvPr id="210" name="textbox 210"/>
            <p:cNvSpPr/>
            <p:nvPr/>
          </p:nvSpPr>
          <p:spPr>
            <a:xfrm>
              <a:off x="-12700" y="-12700"/>
              <a:ext cx="1377314" cy="14224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15265" algn="l" rtl="0" eaLnBrk="0">
                <a:lnSpc>
                  <a:spcPct val="92000"/>
                </a:lnSpc>
                <a:spcBef>
                  <a:spcPts val="6"/>
                </a:spcBef>
                <a:tabLst/>
              </a:pPr>
              <a:r>
                <a:rPr sz="1500" kern="0" spc="6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门店</a:t>
              </a:r>
              <a:r>
                <a:rPr sz="1500" kern="0" spc="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CCS</a:t>
              </a:r>
              <a:endParaRPr sz="15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212" name="textbox 212"/>
          <p:cNvSpPr/>
          <p:nvPr/>
        </p:nvSpPr>
        <p:spPr>
          <a:xfrm>
            <a:off x="10843531" y="1830228"/>
            <a:ext cx="704850" cy="2769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8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108000"/>
              </a:lnSpc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商品选配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提交订单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订单跟踪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信息反馈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110000"/>
              </a:lnSpc>
              <a:spcBef>
                <a:spcPts val="1"/>
              </a:spcBef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商品演示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商品选配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提交订单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在线支付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订单跟踪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信息反馈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4" name="picture 2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283452" y="1589531"/>
            <a:ext cx="1720595" cy="1062228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21600000">
            <a:off x="9090659" y="1647444"/>
            <a:ext cx="1351788" cy="1351788"/>
            <a:chOff x="0" y="0"/>
            <a:chExt cx="1351788" cy="1351788"/>
          </a:xfrm>
        </p:grpSpPr>
        <p:pic>
          <p:nvPicPr>
            <p:cNvPr id="216" name="picture 21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1351788" cy="1351788"/>
            </a:xfrm>
            <a:prstGeom prst="rect">
              <a:avLst/>
            </a:prstGeom>
          </p:spPr>
        </p:pic>
        <p:sp>
          <p:nvSpPr>
            <p:cNvPr id="218" name="textbox 218"/>
            <p:cNvSpPr/>
            <p:nvPr/>
          </p:nvSpPr>
          <p:spPr>
            <a:xfrm>
              <a:off x="-12700" y="-12700"/>
              <a:ext cx="1377314" cy="13950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17804" algn="l" rtl="0" eaLnBrk="0">
                <a:lnSpc>
                  <a:spcPct val="92000"/>
                </a:lnSpc>
                <a:spcBef>
                  <a:spcPts val="4"/>
                </a:spcBef>
                <a:tabLst/>
              </a:pPr>
              <a:r>
                <a:rPr sz="1500" kern="0" spc="6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门店</a:t>
              </a:r>
              <a:r>
                <a:rPr sz="1500" kern="0" spc="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CCS</a:t>
              </a:r>
              <a:endParaRPr sz="15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220" name="textbox 220"/>
          <p:cNvSpPr/>
          <p:nvPr/>
        </p:nvSpPr>
        <p:spPr>
          <a:xfrm>
            <a:off x="7236771" y="5753984"/>
            <a:ext cx="1861820" cy="988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99794" algn="l" rtl="0" eaLnBrk="0">
              <a:lnSpc>
                <a:spcPct val="91000"/>
              </a:lnSpc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采购进货</a:t>
            </a:r>
            <a:endParaRPr sz="15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23"/>
              </a:lnSpc>
              <a:spcBef>
                <a:spcPts val="1"/>
              </a:spcBef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整理制作郎丰利1519</a:t>
            </a:r>
            <a:endParaRPr sz="15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222" name="picture 2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35636" y="2938271"/>
            <a:ext cx="1106423" cy="1581912"/>
          </a:xfrm>
          <a:prstGeom prst="rect">
            <a:avLst/>
          </a:prstGeom>
        </p:spPr>
      </p:pic>
      <p:pic>
        <p:nvPicPr>
          <p:cNvPr id="224" name="picture 2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312405" y="2394877"/>
            <a:ext cx="1442288" cy="1090523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 rot="21600000">
            <a:off x="2941320" y="1511808"/>
            <a:ext cx="1199387" cy="1310639"/>
            <a:chOff x="0" y="0"/>
            <a:chExt cx="1199387" cy="1310639"/>
          </a:xfrm>
        </p:grpSpPr>
        <p:pic>
          <p:nvPicPr>
            <p:cNvPr id="226" name="picture 22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1199387" cy="1310639"/>
            </a:xfrm>
            <a:prstGeom prst="rect">
              <a:avLst/>
            </a:prstGeom>
          </p:spPr>
        </p:pic>
        <p:sp>
          <p:nvSpPr>
            <p:cNvPr id="228" name="textbox 228"/>
            <p:cNvSpPr/>
            <p:nvPr/>
          </p:nvSpPr>
          <p:spPr>
            <a:xfrm>
              <a:off x="-12700" y="-12700"/>
              <a:ext cx="1224914" cy="13531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91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15570" algn="l" rtl="0" eaLnBrk="0">
                <a:lnSpc>
                  <a:spcPct val="90000"/>
                </a:lnSpc>
                <a:tabLst/>
              </a:pPr>
              <a:r>
                <a:rPr sz="1500" kern="0" spc="16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导购</a:t>
              </a:r>
              <a:r>
                <a:rPr sz="1500" kern="0" spc="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MMP</a:t>
              </a:r>
              <a:endParaRPr sz="1500" dirty="0">
                <a:latin typeface="DengXian"/>
                <a:ea typeface="DengXian"/>
                <a:cs typeface="DengXian"/>
              </a:endParaRPr>
            </a:p>
          </p:txBody>
        </p:sp>
      </p:grpSp>
      <p:pic>
        <p:nvPicPr>
          <p:cNvPr id="230" name="picture 2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426708" y="3383279"/>
            <a:ext cx="1434084" cy="1050036"/>
          </a:xfrm>
          <a:prstGeom prst="rect">
            <a:avLst/>
          </a:prstGeom>
        </p:spPr>
      </p:pic>
      <p:sp>
        <p:nvSpPr>
          <p:cNvPr id="232" name="textbox 232"/>
          <p:cNvSpPr/>
          <p:nvPr/>
        </p:nvSpPr>
        <p:spPr>
          <a:xfrm>
            <a:off x="188329" y="169388"/>
            <a:ext cx="4337684" cy="396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6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C2M-构建全渠道全方位触点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4" name="picture 23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426708" y="5187696"/>
            <a:ext cx="1434084" cy="999743"/>
          </a:xfrm>
          <a:prstGeom prst="rect">
            <a:avLst/>
          </a:prstGeom>
        </p:spPr>
      </p:pic>
      <p:sp>
        <p:nvSpPr>
          <p:cNvPr id="236" name="textbox 236"/>
          <p:cNvSpPr/>
          <p:nvPr/>
        </p:nvSpPr>
        <p:spPr>
          <a:xfrm>
            <a:off x="6710943" y="2247870"/>
            <a:ext cx="2240914" cy="646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采购进货</a:t>
            </a:r>
            <a:endParaRPr sz="15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23"/>
              </a:lnSpc>
              <a:spcBef>
                <a:spcPts val="6"/>
              </a:spcBef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旗舰店</a:t>
            </a:r>
            <a:endParaRPr sz="15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238" name="picture 2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176004" y="3247644"/>
            <a:ext cx="1243583" cy="1098804"/>
          </a:xfrm>
          <a:prstGeom prst="rect">
            <a:avLst/>
          </a:prstGeom>
        </p:spPr>
      </p:pic>
      <p:sp>
        <p:nvSpPr>
          <p:cNvPr id="240" name="textbox 240"/>
          <p:cNvSpPr/>
          <p:nvPr/>
        </p:nvSpPr>
        <p:spPr>
          <a:xfrm>
            <a:off x="111252" y="6100571"/>
            <a:ext cx="1728470" cy="584200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55575" indent="-101600" algn="l" rtl="0" eaLnBrk="0">
              <a:lnSpc>
                <a:spcPct val="102000"/>
              </a:lnSpc>
              <a:spcBef>
                <a:spcPts val="2"/>
              </a:spcBef>
              <a:tabLst/>
            </a:pP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建议先在旗舰店、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小天鹅商城试点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2" name="textbox 242"/>
          <p:cNvSpPr/>
          <p:nvPr/>
        </p:nvSpPr>
        <p:spPr>
          <a:xfrm>
            <a:off x="10352531" y="6182867"/>
            <a:ext cx="1839595" cy="544194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54304" indent="20320" algn="l" rtl="0" eaLnBrk="0">
              <a:lnSpc>
                <a:spcPct val="104000"/>
              </a:lnSpc>
              <a:spcBef>
                <a:spcPts val="3"/>
              </a:spcBef>
              <a:tabLst/>
            </a:pPr>
            <a:r>
              <a:rPr sz="14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建议先在分销商客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户(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CCS</a:t>
            </a: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APP</a:t>
            </a: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)试点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4" name="textbox 244"/>
          <p:cNvSpPr/>
          <p:nvPr/>
        </p:nvSpPr>
        <p:spPr>
          <a:xfrm>
            <a:off x="10564784" y="5164855"/>
            <a:ext cx="983614" cy="883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4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商品选配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4000"/>
              </a:lnSpc>
              <a:spcBef>
                <a:spcPts val="299"/>
              </a:spcBef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提交订单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4000"/>
              </a:lnSpc>
              <a:spcBef>
                <a:spcPts val="299"/>
              </a:spcBef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订单跟踪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3000"/>
              </a:lnSpc>
              <a:spcBef>
                <a:spcPts val="314"/>
              </a:spcBef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信息反馈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6" name="textbox 246"/>
          <p:cNvSpPr/>
          <p:nvPr/>
        </p:nvSpPr>
        <p:spPr>
          <a:xfrm rot="2220000">
            <a:off x="1119274" y="4627592"/>
            <a:ext cx="984250" cy="246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7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微商、</a:t>
            </a:r>
            <a:r>
              <a:rPr sz="1500" kern="0" spc="-3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APP</a:t>
            </a:r>
            <a:endParaRPr sz="15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8" name="textbox 248"/>
          <p:cNvSpPr/>
          <p:nvPr/>
        </p:nvSpPr>
        <p:spPr>
          <a:xfrm>
            <a:off x="9119616" y="4346448"/>
            <a:ext cx="1146175" cy="338454"/>
          </a:xfrm>
          <a:prstGeom prst="rect">
            <a:avLst/>
          </a:prstGeom>
          <a:solidFill>
            <a:srgbClr val="DEEB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02870" algn="l" rtl="0" eaLnBrk="0">
              <a:lnSpc>
                <a:spcPct val="79000"/>
              </a:lnSpc>
              <a:spcBef>
                <a:spcPts val="3"/>
              </a:spcBef>
              <a:tabLst/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CCS-APP</a:t>
            </a:r>
            <a:endParaRPr sz="1500" dirty="0">
              <a:latin typeface="DengXian"/>
              <a:ea typeface="DengXian"/>
              <a:cs typeface="DengXian"/>
            </a:endParaRPr>
          </a:p>
        </p:txBody>
      </p:sp>
      <p:sp>
        <p:nvSpPr>
          <p:cNvPr id="250" name="textbox 250"/>
          <p:cNvSpPr/>
          <p:nvPr/>
        </p:nvSpPr>
        <p:spPr>
          <a:xfrm rot="19320000">
            <a:off x="1330953" y="2783928"/>
            <a:ext cx="736600" cy="273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49"/>
              </a:lnSpc>
              <a:tabLst/>
            </a:pP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KA/商超</a:t>
            </a:r>
            <a:endParaRPr sz="1600" dirty="0">
              <a:latin typeface="DengXian"/>
              <a:ea typeface="DengXian"/>
              <a:cs typeface="DengXian"/>
            </a:endParaRPr>
          </a:p>
        </p:txBody>
      </p:sp>
      <p:sp>
        <p:nvSpPr>
          <p:cNvPr id="252" name="textbox 252"/>
          <p:cNvSpPr/>
          <p:nvPr/>
        </p:nvSpPr>
        <p:spPr>
          <a:xfrm>
            <a:off x="1410038" y="3582246"/>
            <a:ext cx="1112519" cy="269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23"/>
              </a:lnSpc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旗舰/专卖店</a:t>
            </a:r>
            <a:endParaRPr sz="1500" dirty="0">
              <a:latin typeface="DengXian"/>
              <a:ea typeface="DengXian"/>
              <a:cs typeface="DengXian"/>
            </a:endParaRPr>
          </a:p>
        </p:txBody>
      </p:sp>
      <p:sp>
        <p:nvSpPr>
          <p:cNvPr id="254" name="textbox 254"/>
          <p:cNvSpPr/>
          <p:nvPr/>
        </p:nvSpPr>
        <p:spPr>
          <a:xfrm>
            <a:off x="4216081" y="1460710"/>
            <a:ext cx="76200" cy="5056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391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39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3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256" name="textbox 256"/>
          <p:cNvSpPr/>
          <p:nvPr/>
        </p:nvSpPr>
        <p:spPr>
          <a:xfrm>
            <a:off x="8124481" y="3946724"/>
            <a:ext cx="829310" cy="233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采购进货</a:t>
            </a:r>
            <a:endParaRPr sz="1500" dirty="0">
              <a:latin typeface="DengXian"/>
              <a:ea typeface="DengXian"/>
              <a:cs typeface="DengXian"/>
            </a:endParaRPr>
          </a:p>
        </p:txBody>
      </p:sp>
      <p:sp>
        <p:nvSpPr>
          <p:cNvPr id="258" name="textbox 258"/>
          <p:cNvSpPr/>
          <p:nvPr/>
        </p:nvSpPr>
        <p:spPr>
          <a:xfrm>
            <a:off x="10564784" y="1893259"/>
            <a:ext cx="76200" cy="2704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399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81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8"/>
              </a:lnSpc>
              <a:spcBef>
                <a:spcPts val="3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260" name="textbox 260"/>
          <p:cNvSpPr/>
          <p:nvPr/>
        </p:nvSpPr>
        <p:spPr>
          <a:xfrm>
            <a:off x="6609062" y="4511647"/>
            <a:ext cx="629284" cy="234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分销商</a:t>
            </a:r>
            <a:endParaRPr sz="15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2" name="textbox 262"/>
          <p:cNvSpPr/>
          <p:nvPr/>
        </p:nvSpPr>
        <p:spPr>
          <a:xfrm>
            <a:off x="6612135" y="6225278"/>
            <a:ext cx="628650" cy="233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代理商</a:t>
            </a:r>
            <a:endParaRPr sz="15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264" name="picture 26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314691" y="3894734"/>
            <a:ext cx="1440002" cy="76200"/>
          </a:xfrm>
          <a:prstGeom prst="rect">
            <a:avLst/>
          </a:prstGeom>
        </p:spPr>
      </p:pic>
      <p:pic>
        <p:nvPicPr>
          <p:cNvPr id="266" name="picture 26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7946491" y="2102878"/>
            <a:ext cx="1344003" cy="76200"/>
          </a:xfrm>
          <a:prstGeom prst="rect">
            <a:avLst/>
          </a:prstGeom>
        </p:spPr>
      </p:pic>
      <p:pic>
        <p:nvPicPr>
          <p:cNvPr id="268" name="picture 26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7946491" y="3815283"/>
            <a:ext cx="1344003" cy="76200"/>
          </a:xfrm>
          <a:prstGeom prst="rect">
            <a:avLst/>
          </a:prstGeom>
        </p:spPr>
      </p:pic>
      <p:pic>
        <p:nvPicPr>
          <p:cNvPr id="270" name="picture 27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7946491" y="5649505"/>
            <a:ext cx="1344003" cy="76200"/>
          </a:xfrm>
          <a:prstGeom prst="rect">
            <a:avLst/>
          </a:prstGeom>
        </p:spPr>
      </p:pic>
      <p:pic>
        <p:nvPicPr>
          <p:cNvPr id="272" name="picture 27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6092190" y="1170457"/>
            <a:ext cx="7619" cy="56639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/>
          <p:cNvGrpSpPr/>
          <p:nvPr/>
        </p:nvGrpSpPr>
        <p:grpSpPr>
          <a:xfrm rot="21600000">
            <a:off x="4118178" y="1801088"/>
            <a:ext cx="3845585" cy="3875151"/>
            <a:chOff x="0" y="0"/>
            <a:chExt cx="3845585" cy="3875151"/>
          </a:xfrm>
        </p:grpSpPr>
        <p:sp>
          <p:nvSpPr>
            <p:cNvPr id="274" name="path 274"/>
            <p:cNvSpPr/>
            <p:nvPr/>
          </p:nvSpPr>
          <p:spPr>
            <a:xfrm>
              <a:off x="968247" y="1013002"/>
              <a:ext cx="1909076" cy="1899005"/>
            </a:xfrm>
            <a:custGeom>
              <a:avLst/>
              <a:gdLst/>
              <a:ahLst/>
              <a:cxnLst/>
              <a:rect l="0" t="0" r="0" b="0"/>
              <a:pathLst>
                <a:path w="3006" h="2990">
                  <a:moveTo>
                    <a:pt x="1652" y="141"/>
                  </a:moveTo>
                  <a:cubicBezTo>
                    <a:pt x="1652" y="0"/>
                    <a:pt x="1652" y="0"/>
                    <a:pt x="1652" y="0"/>
                  </a:cubicBezTo>
                  <a:cubicBezTo>
                    <a:pt x="1980" y="28"/>
                    <a:pt x="2322" y="170"/>
                    <a:pt x="2578" y="425"/>
                  </a:cubicBezTo>
                  <a:cubicBezTo>
                    <a:pt x="2835" y="680"/>
                    <a:pt x="2977" y="1020"/>
                    <a:pt x="3006" y="1346"/>
                  </a:cubicBezTo>
                  <a:cubicBezTo>
                    <a:pt x="2863" y="1346"/>
                    <a:pt x="2863" y="1346"/>
                    <a:pt x="2863" y="1346"/>
                  </a:cubicBezTo>
                  <a:cubicBezTo>
                    <a:pt x="2835" y="1048"/>
                    <a:pt x="2707" y="751"/>
                    <a:pt x="2479" y="524"/>
                  </a:cubicBezTo>
                  <a:cubicBezTo>
                    <a:pt x="2236" y="297"/>
                    <a:pt x="1952" y="170"/>
                    <a:pt x="1652" y="141"/>
                  </a:cubicBezTo>
                  <a:moveTo>
                    <a:pt x="142" y="1629"/>
                  </a:moveTo>
                  <a:cubicBezTo>
                    <a:pt x="0" y="1629"/>
                    <a:pt x="0" y="1629"/>
                    <a:pt x="0" y="1629"/>
                  </a:cubicBezTo>
                  <a:cubicBezTo>
                    <a:pt x="28" y="1970"/>
                    <a:pt x="170" y="2296"/>
                    <a:pt x="427" y="2551"/>
                  </a:cubicBezTo>
                  <a:cubicBezTo>
                    <a:pt x="698" y="2820"/>
                    <a:pt x="1025" y="2962"/>
                    <a:pt x="1367" y="2990"/>
                  </a:cubicBezTo>
                  <a:cubicBezTo>
                    <a:pt x="1367" y="2848"/>
                    <a:pt x="1367" y="2848"/>
                    <a:pt x="1367" y="2848"/>
                  </a:cubicBezTo>
                  <a:cubicBezTo>
                    <a:pt x="1054" y="2820"/>
                    <a:pt x="769" y="2678"/>
                    <a:pt x="541" y="2451"/>
                  </a:cubicBezTo>
                  <a:cubicBezTo>
                    <a:pt x="299" y="2225"/>
                    <a:pt x="170" y="1941"/>
                    <a:pt x="142" y="1629"/>
                  </a:cubicBezTo>
                  <a:moveTo>
                    <a:pt x="142" y="1346"/>
                  </a:moveTo>
                  <a:cubicBezTo>
                    <a:pt x="170" y="1048"/>
                    <a:pt x="299" y="751"/>
                    <a:pt x="541" y="524"/>
                  </a:cubicBezTo>
                  <a:cubicBezTo>
                    <a:pt x="769" y="297"/>
                    <a:pt x="1054" y="170"/>
                    <a:pt x="1367" y="141"/>
                  </a:cubicBezTo>
                  <a:cubicBezTo>
                    <a:pt x="1367" y="0"/>
                    <a:pt x="1367" y="0"/>
                    <a:pt x="1367" y="0"/>
                  </a:cubicBezTo>
                  <a:cubicBezTo>
                    <a:pt x="1025" y="28"/>
                    <a:pt x="698" y="170"/>
                    <a:pt x="427" y="425"/>
                  </a:cubicBezTo>
                  <a:cubicBezTo>
                    <a:pt x="170" y="680"/>
                    <a:pt x="28" y="1020"/>
                    <a:pt x="0" y="1346"/>
                  </a:cubicBezTo>
                  <a:lnTo>
                    <a:pt x="142" y="1346"/>
                  </a:lnTo>
                  <a:close/>
                  <a:moveTo>
                    <a:pt x="2863" y="1629"/>
                  </a:moveTo>
                  <a:cubicBezTo>
                    <a:pt x="2835" y="1941"/>
                    <a:pt x="2707" y="2225"/>
                    <a:pt x="2479" y="2451"/>
                  </a:cubicBezTo>
                  <a:cubicBezTo>
                    <a:pt x="2236" y="2678"/>
                    <a:pt x="1952" y="2820"/>
                    <a:pt x="1652" y="2848"/>
                  </a:cubicBezTo>
                  <a:cubicBezTo>
                    <a:pt x="1652" y="2990"/>
                    <a:pt x="1652" y="2990"/>
                    <a:pt x="1652" y="2990"/>
                  </a:cubicBezTo>
                  <a:cubicBezTo>
                    <a:pt x="1980" y="2962"/>
                    <a:pt x="2322" y="2820"/>
                    <a:pt x="2578" y="2551"/>
                  </a:cubicBezTo>
                  <a:cubicBezTo>
                    <a:pt x="2835" y="2296"/>
                    <a:pt x="2977" y="1970"/>
                    <a:pt x="3006" y="1629"/>
                  </a:cubicBezTo>
                  <a:lnTo>
                    <a:pt x="2863" y="1629"/>
                  </a:lnTo>
                </a:path>
              </a:pathLst>
            </a:custGeom>
            <a:solidFill>
              <a:srgbClr val="BBBCB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6" name="path 276"/>
            <p:cNvSpPr/>
            <p:nvPr/>
          </p:nvSpPr>
          <p:spPr>
            <a:xfrm>
              <a:off x="0" y="0"/>
              <a:ext cx="1836330" cy="1826641"/>
            </a:xfrm>
            <a:custGeom>
              <a:avLst/>
              <a:gdLst/>
              <a:ahLst/>
              <a:cxnLst/>
              <a:rect l="0" t="0" r="0" b="0"/>
              <a:pathLst>
                <a:path w="2891" h="2876">
                  <a:moveTo>
                    <a:pt x="1353" y="2876"/>
                  </a:moveTo>
                  <a:cubicBezTo>
                    <a:pt x="1381" y="2508"/>
                    <a:pt x="1552" y="2125"/>
                    <a:pt x="1837" y="1842"/>
                  </a:cubicBezTo>
                  <a:cubicBezTo>
                    <a:pt x="2136" y="1544"/>
                    <a:pt x="2507" y="1388"/>
                    <a:pt x="2891" y="1360"/>
                  </a:cubicBezTo>
                  <a:cubicBezTo>
                    <a:pt x="2891" y="0"/>
                    <a:pt x="2891" y="0"/>
                    <a:pt x="2891" y="0"/>
                  </a:cubicBezTo>
                  <a:cubicBezTo>
                    <a:pt x="2250" y="28"/>
                    <a:pt x="1623" y="255"/>
                    <a:pt x="1096" y="680"/>
                  </a:cubicBezTo>
                  <a:cubicBezTo>
                    <a:pt x="569" y="580"/>
                    <a:pt x="569" y="580"/>
                    <a:pt x="569" y="580"/>
                  </a:cubicBezTo>
                  <a:cubicBezTo>
                    <a:pt x="683" y="1105"/>
                    <a:pt x="683" y="1105"/>
                    <a:pt x="683" y="1105"/>
                  </a:cubicBezTo>
                  <a:cubicBezTo>
                    <a:pt x="256" y="1615"/>
                    <a:pt x="28" y="2253"/>
                    <a:pt x="0" y="2876"/>
                  </a:cubicBezTo>
                  <a:lnTo>
                    <a:pt x="1353" y="2876"/>
                  </a:lnTo>
                </a:path>
              </a:pathLst>
            </a:custGeom>
            <a:solidFill>
              <a:srgbClr val="9DC3E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78" name="path 278"/>
            <p:cNvSpPr/>
            <p:nvPr/>
          </p:nvSpPr>
          <p:spPr>
            <a:xfrm>
              <a:off x="0" y="0"/>
              <a:ext cx="3845585" cy="3875151"/>
            </a:xfrm>
            <a:custGeom>
              <a:avLst/>
              <a:gdLst/>
              <a:ahLst/>
              <a:cxnLst/>
              <a:rect l="0" t="0" r="0" b="0"/>
              <a:pathLst>
                <a:path w="6056" h="6102">
                  <a:moveTo>
                    <a:pt x="2891" y="4756"/>
                  </a:moveTo>
                  <a:cubicBezTo>
                    <a:pt x="2507" y="4713"/>
                    <a:pt x="2136" y="4558"/>
                    <a:pt x="1837" y="4274"/>
                  </a:cubicBezTo>
                  <a:cubicBezTo>
                    <a:pt x="1552" y="3977"/>
                    <a:pt x="1396" y="3608"/>
                    <a:pt x="1353" y="3226"/>
                  </a:cubicBezTo>
                  <a:cubicBezTo>
                    <a:pt x="0" y="3226"/>
                    <a:pt x="0" y="3226"/>
                    <a:pt x="0" y="3226"/>
                  </a:cubicBezTo>
                  <a:cubicBezTo>
                    <a:pt x="28" y="3863"/>
                    <a:pt x="256" y="4487"/>
                    <a:pt x="683" y="5011"/>
                  </a:cubicBezTo>
                  <a:cubicBezTo>
                    <a:pt x="569" y="5521"/>
                    <a:pt x="569" y="5521"/>
                    <a:pt x="569" y="5521"/>
                  </a:cubicBezTo>
                  <a:cubicBezTo>
                    <a:pt x="1096" y="5422"/>
                    <a:pt x="1096" y="5422"/>
                    <a:pt x="1096" y="5422"/>
                  </a:cubicBezTo>
                  <a:cubicBezTo>
                    <a:pt x="1623" y="5847"/>
                    <a:pt x="2250" y="6074"/>
                    <a:pt x="2891" y="6102"/>
                  </a:cubicBezTo>
                  <a:lnTo>
                    <a:pt x="2891" y="4756"/>
                  </a:lnTo>
                </a:path>
                <a:path w="6056" h="6102">
                  <a:moveTo>
                    <a:pt x="4987" y="708"/>
                  </a:moveTo>
                  <a:cubicBezTo>
                    <a:pt x="4459" y="269"/>
                    <a:pt x="3818" y="42"/>
                    <a:pt x="3177" y="0"/>
                  </a:cubicBezTo>
                  <a:cubicBezTo>
                    <a:pt x="3177" y="1360"/>
                    <a:pt x="3177" y="1360"/>
                    <a:pt x="3177" y="1360"/>
                  </a:cubicBezTo>
                  <a:cubicBezTo>
                    <a:pt x="3547" y="1388"/>
                    <a:pt x="3932" y="1544"/>
                    <a:pt x="4217" y="1842"/>
                  </a:cubicBezTo>
                  <a:cubicBezTo>
                    <a:pt x="4516" y="2125"/>
                    <a:pt x="4673" y="2508"/>
                    <a:pt x="4702" y="2876"/>
                  </a:cubicBezTo>
                  <a:cubicBezTo>
                    <a:pt x="6056" y="2876"/>
                    <a:pt x="6056" y="2876"/>
                    <a:pt x="6056" y="2876"/>
                  </a:cubicBezTo>
                  <a:cubicBezTo>
                    <a:pt x="6027" y="2253"/>
                    <a:pt x="5813" y="1629"/>
                    <a:pt x="5400" y="1119"/>
                  </a:cubicBezTo>
                  <a:cubicBezTo>
                    <a:pt x="5500" y="595"/>
                    <a:pt x="5500" y="595"/>
                    <a:pt x="5500" y="595"/>
                  </a:cubicBezTo>
                  <a:lnTo>
                    <a:pt x="4987" y="708"/>
                  </a:lnTo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0" name="path 280"/>
            <p:cNvSpPr/>
            <p:nvPr/>
          </p:nvSpPr>
          <p:spPr>
            <a:xfrm>
              <a:off x="2017585" y="2048510"/>
              <a:ext cx="1827999" cy="1826640"/>
            </a:xfrm>
            <a:custGeom>
              <a:avLst/>
              <a:gdLst/>
              <a:ahLst/>
              <a:cxnLst/>
              <a:rect l="0" t="0" r="0" b="0"/>
              <a:pathLst>
                <a:path w="2878" h="2876">
                  <a:moveTo>
                    <a:pt x="1524" y="0"/>
                  </a:moveTo>
                  <a:cubicBezTo>
                    <a:pt x="1496" y="382"/>
                    <a:pt x="1325" y="751"/>
                    <a:pt x="1040" y="1048"/>
                  </a:cubicBezTo>
                  <a:cubicBezTo>
                    <a:pt x="755" y="1332"/>
                    <a:pt x="370" y="1487"/>
                    <a:pt x="0" y="1530"/>
                  </a:cubicBezTo>
                  <a:cubicBezTo>
                    <a:pt x="0" y="2876"/>
                    <a:pt x="0" y="2876"/>
                    <a:pt x="0" y="2876"/>
                  </a:cubicBezTo>
                  <a:cubicBezTo>
                    <a:pt x="627" y="2848"/>
                    <a:pt x="1239" y="2635"/>
                    <a:pt x="1752" y="2224"/>
                  </a:cubicBezTo>
                  <a:cubicBezTo>
                    <a:pt x="2294" y="2323"/>
                    <a:pt x="2294" y="2323"/>
                    <a:pt x="2294" y="2323"/>
                  </a:cubicBezTo>
                  <a:cubicBezTo>
                    <a:pt x="2180" y="1799"/>
                    <a:pt x="2180" y="1799"/>
                    <a:pt x="2180" y="1799"/>
                  </a:cubicBezTo>
                  <a:cubicBezTo>
                    <a:pt x="2622" y="1275"/>
                    <a:pt x="2850" y="651"/>
                    <a:pt x="2878" y="0"/>
                  </a:cubicBezTo>
                  <a:lnTo>
                    <a:pt x="1524" y="0"/>
                  </a:lnTo>
                </a:path>
              </a:pathLst>
            </a:custGeom>
            <a:solidFill>
              <a:srgbClr val="9DC3E6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2" name="path 282"/>
            <p:cNvSpPr/>
            <p:nvPr/>
          </p:nvSpPr>
          <p:spPr>
            <a:xfrm>
              <a:off x="652526" y="565784"/>
              <a:ext cx="2618485" cy="2618080"/>
            </a:xfrm>
            <a:custGeom>
              <a:avLst/>
              <a:gdLst/>
              <a:ahLst/>
              <a:cxnLst/>
              <a:rect l="0" t="0" r="0" b="0"/>
              <a:pathLst>
                <a:path w="4123" h="4122">
                  <a:moveTo>
                    <a:pt x="590" y="3501"/>
                  </a:moveTo>
                  <a:cubicBezTo>
                    <a:pt x="578" y="3413"/>
                    <a:pt x="489" y="3349"/>
                    <a:pt x="376" y="3349"/>
                  </a:cubicBezTo>
                  <a:cubicBezTo>
                    <a:pt x="353" y="3349"/>
                    <a:pt x="353" y="3349"/>
                    <a:pt x="353" y="3349"/>
                  </a:cubicBezTo>
                  <a:cubicBezTo>
                    <a:pt x="240" y="3349"/>
                    <a:pt x="151" y="3413"/>
                    <a:pt x="139" y="3501"/>
                  </a:cubicBezTo>
                  <a:cubicBezTo>
                    <a:pt x="139" y="3505"/>
                    <a:pt x="135" y="3505"/>
                    <a:pt x="135" y="3508"/>
                  </a:cubicBezTo>
                  <a:cubicBezTo>
                    <a:pt x="116" y="3512"/>
                    <a:pt x="93" y="3529"/>
                    <a:pt x="93" y="3582"/>
                  </a:cubicBezTo>
                  <a:cubicBezTo>
                    <a:pt x="93" y="3614"/>
                    <a:pt x="93" y="3614"/>
                    <a:pt x="93" y="3614"/>
                  </a:cubicBezTo>
                  <a:cubicBezTo>
                    <a:pt x="93" y="3660"/>
                    <a:pt x="128" y="3671"/>
                    <a:pt x="143" y="3671"/>
                  </a:cubicBezTo>
                  <a:cubicBezTo>
                    <a:pt x="186" y="3671"/>
                    <a:pt x="186" y="3671"/>
                    <a:pt x="186" y="3671"/>
                  </a:cubicBezTo>
                  <a:cubicBezTo>
                    <a:pt x="190" y="3671"/>
                    <a:pt x="194" y="3671"/>
                    <a:pt x="197" y="3671"/>
                  </a:cubicBezTo>
                  <a:cubicBezTo>
                    <a:pt x="201" y="3671"/>
                    <a:pt x="201" y="3671"/>
                    <a:pt x="205" y="3674"/>
                  </a:cubicBezTo>
                  <a:cubicBezTo>
                    <a:pt x="236" y="3724"/>
                    <a:pt x="298" y="3756"/>
                    <a:pt x="364" y="3756"/>
                  </a:cubicBezTo>
                  <a:cubicBezTo>
                    <a:pt x="431" y="3756"/>
                    <a:pt x="493" y="3724"/>
                    <a:pt x="524" y="3674"/>
                  </a:cubicBezTo>
                  <a:cubicBezTo>
                    <a:pt x="528" y="3674"/>
                    <a:pt x="528" y="3671"/>
                    <a:pt x="532" y="3671"/>
                  </a:cubicBezTo>
                  <a:cubicBezTo>
                    <a:pt x="535" y="3667"/>
                    <a:pt x="539" y="3671"/>
                    <a:pt x="543" y="3671"/>
                  </a:cubicBezTo>
                  <a:cubicBezTo>
                    <a:pt x="586" y="3671"/>
                    <a:pt x="586" y="3671"/>
                    <a:pt x="586" y="3671"/>
                  </a:cubicBezTo>
                  <a:cubicBezTo>
                    <a:pt x="601" y="3671"/>
                    <a:pt x="636" y="3660"/>
                    <a:pt x="636" y="3614"/>
                  </a:cubicBezTo>
                  <a:cubicBezTo>
                    <a:pt x="636" y="3582"/>
                    <a:pt x="636" y="3582"/>
                    <a:pt x="636" y="3582"/>
                  </a:cubicBezTo>
                  <a:cubicBezTo>
                    <a:pt x="636" y="3529"/>
                    <a:pt x="613" y="3512"/>
                    <a:pt x="594" y="3508"/>
                  </a:cubicBezTo>
                  <a:cubicBezTo>
                    <a:pt x="594" y="3505"/>
                    <a:pt x="590" y="3505"/>
                    <a:pt x="590" y="3501"/>
                  </a:cubicBezTo>
                  <a:moveTo>
                    <a:pt x="364" y="3416"/>
                  </a:moveTo>
                  <a:cubicBezTo>
                    <a:pt x="295" y="3416"/>
                    <a:pt x="232" y="3452"/>
                    <a:pt x="197" y="3501"/>
                  </a:cubicBezTo>
                  <a:cubicBezTo>
                    <a:pt x="197" y="3505"/>
                    <a:pt x="197" y="3508"/>
                    <a:pt x="194" y="3508"/>
                  </a:cubicBezTo>
                  <a:cubicBezTo>
                    <a:pt x="190" y="3505"/>
                    <a:pt x="190" y="3505"/>
                    <a:pt x="186" y="3505"/>
                  </a:cubicBezTo>
                  <a:cubicBezTo>
                    <a:pt x="186" y="3505"/>
                    <a:pt x="182" y="3505"/>
                    <a:pt x="182" y="3498"/>
                  </a:cubicBezTo>
                  <a:cubicBezTo>
                    <a:pt x="186" y="3434"/>
                    <a:pt x="263" y="3384"/>
                    <a:pt x="353" y="3384"/>
                  </a:cubicBezTo>
                  <a:cubicBezTo>
                    <a:pt x="376" y="3384"/>
                    <a:pt x="376" y="3384"/>
                    <a:pt x="376" y="3384"/>
                  </a:cubicBezTo>
                  <a:cubicBezTo>
                    <a:pt x="462" y="3384"/>
                    <a:pt x="535" y="3434"/>
                    <a:pt x="547" y="3501"/>
                  </a:cubicBezTo>
                  <a:cubicBezTo>
                    <a:pt x="547" y="3501"/>
                    <a:pt x="547" y="3505"/>
                    <a:pt x="543" y="3505"/>
                  </a:cubicBezTo>
                  <a:cubicBezTo>
                    <a:pt x="539" y="3505"/>
                    <a:pt x="539" y="3505"/>
                    <a:pt x="535" y="3508"/>
                  </a:cubicBezTo>
                  <a:cubicBezTo>
                    <a:pt x="532" y="3508"/>
                    <a:pt x="532" y="3505"/>
                    <a:pt x="532" y="3501"/>
                  </a:cubicBezTo>
                  <a:cubicBezTo>
                    <a:pt x="497" y="3452"/>
                    <a:pt x="434" y="3416"/>
                    <a:pt x="364" y="3416"/>
                  </a:cubicBezTo>
                </a:path>
                <a:path w="4123" h="4122">
                  <a:moveTo>
                    <a:pt x="726" y="4105"/>
                  </a:moveTo>
                  <a:cubicBezTo>
                    <a:pt x="601" y="3861"/>
                    <a:pt x="601" y="3861"/>
                    <a:pt x="601" y="3861"/>
                  </a:cubicBezTo>
                  <a:cubicBezTo>
                    <a:pt x="597" y="3854"/>
                    <a:pt x="570" y="3800"/>
                    <a:pt x="520" y="3800"/>
                  </a:cubicBezTo>
                  <a:cubicBezTo>
                    <a:pt x="504" y="3800"/>
                    <a:pt x="229" y="3800"/>
                    <a:pt x="221" y="3800"/>
                  </a:cubicBezTo>
                  <a:cubicBezTo>
                    <a:pt x="221" y="3800"/>
                    <a:pt x="217" y="3800"/>
                    <a:pt x="209" y="3800"/>
                  </a:cubicBezTo>
                  <a:cubicBezTo>
                    <a:pt x="151" y="3800"/>
                    <a:pt x="132" y="3854"/>
                    <a:pt x="128" y="3861"/>
                  </a:cubicBezTo>
                  <a:cubicBezTo>
                    <a:pt x="3" y="4105"/>
                    <a:pt x="3" y="4105"/>
                    <a:pt x="3" y="4105"/>
                  </a:cubicBezTo>
                  <a:cubicBezTo>
                    <a:pt x="0" y="4112"/>
                    <a:pt x="0" y="4122"/>
                    <a:pt x="19" y="4122"/>
                  </a:cubicBezTo>
                  <a:cubicBezTo>
                    <a:pt x="19" y="4122"/>
                    <a:pt x="85" y="4122"/>
                    <a:pt x="112" y="4122"/>
                  </a:cubicBezTo>
                  <a:cubicBezTo>
                    <a:pt x="128" y="4122"/>
                    <a:pt x="135" y="4108"/>
                    <a:pt x="135" y="4108"/>
                  </a:cubicBezTo>
                  <a:cubicBezTo>
                    <a:pt x="186" y="4020"/>
                    <a:pt x="186" y="4020"/>
                    <a:pt x="186" y="4020"/>
                  </a:cubicBezTo>
                  <a:cubicBezTo>
                    <a:pt x="186" y="4020"/>
                    <a:pt x="201" y="3988"/>
                    <a:pt x="201" y="4023"/>
                  </a:cubicBezTo>
                  <a:cubicBezTo>
                    <a:pt x="201" y="4048"/>
                    <a:pt x="201" y="4066"/>
                    <a:pt x="201" y="4101"/>
                  </a:cubicBezTo>
                  <a:cubicBezTo>
                    <a:pt x="201" y="4112"/>
                    <a:pt x="205" y="4122"/>
                    <a:pt x="221" y="4122"/>
                  </a:cubicBezTo>
                  <a:cubicBezTo>
                    <a:pt x="302" y="4122"/>
                    <a:pt x="450" y="4122"/>
                    <a:pt x="528" y="4122"/>
                  </a:cubicBezTo>
                  <a:cubicBezTo>
                    <a:pt x="547" y="4122"/>
                    <a:pt x="547" y="4112"/>
                    <a:pt x="547" y="4094"/>
                  </a:cubicBezTo>
                  <a:cubicBezTo>
                    <a:pt x="547" y="4059"/>
                    <a:pt x="547" y="4048"/>
                    <a:pt x="547" y="4020"/>
                  </a:cubicBezTo>
                  <a:cubicBezTo>
                    <a:pt x="547" y="3999"/>
                    <a:pt x="559" y="4016"/>
                    <a:pt x="559" y="4016"/>
                  </a:cubicBezTo>
                  <a:cubicBezTo>
                    <a:pt x="605" y="4105"/>
                    <a:pt x="605" y="4105"/>
                    <a:pt x="605" y="4105"/>
                  </a:cubicBezTo>
                  <a:cubicBezTo>
                    <a:pt x="605" y="4105"/>
                    <a:pt x="613" y="4122"/>
                    <a:pt x="632" y="4122"/>
                  </a:cubicBezTo>
                  <a:cubicBezTo>
                    <a:pt x="652" y="4122"/>
                    <a:pt x="710" y="4122"/>
                    <a:pt x="710" y="4122"/>
                  </a:cubicBezTo>
                  <a:cubicBezTo>
                    <a:pt x="726" y="4122"/>
                    <a:pt x="730" y="4112"/>
                    <a:pt x="726" y="4105"/>
                  </a:cubicBezTo>
                  <a:moveTo>
                    <a:pt x="516" y="3942"/>
                  </a:moveTo>
                  <a:cubicBezTo>
                    <a:pt x="516" y="3953"/>
                    <a:pt x="508" y="3956"/>
                    <a:pt x="500" y="3956"/>
                  </a:cubicBezTo>
                  <a:cubicBezTo>
                    <a:pt x="407" y="3956"/>
                    <a:pt x="407" y="3956"/>
                    <a:pt x="407" y="3956"/>
                  </a:cubicBezTo>
                  <a:cubicBezTo>
                    <a:pt x="399" y="3956"/>
                    <a:pt x="392" y="3953"/>
                    <a:pt x="392" y="3942"/>
                  </a:cubicBezTo>
                  <a:cubicBezTo>
                    <a:pt x="392" y="3924"/>
                    <a:pt x="392" y="3924"/>
                    <a:pt x="392" y="3924"/>
                  </a:cubicBezTo>
                  <a:cubicBezTo>
                    <a:pt x="392" y="3917"/>
                    <a:pt x="399" y="3910"/>
                    <a:pt x="407" y="3910"/>
                  </a:cubicBezTo>
                  <a:cubicBezTo>
                    <a:pt x="500" y="3910"/>
                    <a:pt x="500" y="3910"/>
                    <a:pt x="500" y="3910"/>
                  </a:cubicBezTo>
                  <a:cubicBezTo>
                    <a:pt x="508" y="3910"/>
                    <a:pt x="516" y="3917"/>
                    <a:pt x="516" y="3924"/>
                  </a:cubicBezTo>
                  <a:lnTo>
                    <a:pt x="516" y="3942"/>
                  </a:lnTo>
                </a:path>
                <a:path w="4123" h="4122">
                  <a:moveTo>
                    <a:pt x="3993" y="706"/>
                  </a:moveTo>
                  <a:cubicBezTo>
                    <a:pt x="3181" y="706"/>
                    <a:pt x="3181" y="706"/>
                    <a:pt x="3181" y="706"/>
                  </a:cubicBezTo>
                  <a:cubicBezTo>
                    <a:pt x="3161" y="706"/>
                    <a:pt x="3151" y="696"/>
                    <a:pt x="3151" y="676"/>
                  </a:cubicBezTo>
                  <a:cubicBezTo>
                    <a:pt x="3151" y="667"/>
                    <a:pt x="3151" y="667"/>
                    <a:pt x="3151" y="667"/>
                  </a:cubicBezTo>
                  <a:cubicBezTo>
                    <a:pt x="3151" y="647"/>
                    <a:pt x="3161" y="626"/>
                    <a:pt x="3181" y="626"/>
                  </a:cubicBezTo>
                  <a:cubicBezTo>
                    <a:pt x="3993" y="626"/>
                    <a:pt x="3993" y="626"/>
                    <a:pt x="3993" y="626"/>
                  </a:cubicBezTo>
                  <a:cubicBezTo>
                    <a:pt x="4015" y="626"/>
                    <a:pt x="4025" y="647"/>
                    <a:pt x="4025" y="667"/>
                  </a:cubicBezTo>
                  <a:cubicBezTo>
                    <a:pt x="4025" y="676"/>
                    <a:pt x="4025" y="676"/>
                    <a:pt x="4025" y="676"/>
                  </a:cubicBezTo>
                  <a:cubicBezTo>
                    <a:pt x="4025" y="696"/>
                    <a:pt x="4015" y="706"/>
                    <a:pt x="3993" y="706"/>
                  </a:cubicBezTo>
                  <a:moveTo>
                    <a:pt x="3859" y="588"/>
                  </a:moveTo>
                  <a:cubicBezTo>
                    <a:pt x="3778" y="588"/>
                    <a:pt x="3778" y="588"/>
                    <a:pt x="3778" y="588"/>
                  </a:cubicBezTo>
                  <a:cubicBezTo>
                    <a:pt x="3757" y="588"/>
                    <a:pt x="3737" y="578"/>
                    <a:pt x="3737" y="549"/>
                  </a:cubicBezTo>
                  <a:cubicBezTo>
                    <a:pt x="3737" y="38"/>
                    <a:pt x="3737" y="38"/>
                    <a:pt x="3737" y="38"/>
                  </a:cubicBezTo>
                  <a:cubicBezTo>
                    <a:pt x="3737" y="19"/>
                    <a:pt x="3757" y="0"/>
                    <a:pt x="3778" y="0"/>
                  </a:cubicBezTo>
                  <a:cubicBezTo>
                    <a:pt x="3859" y="0"/>
                    <a:pt x="3859" y="0"/>
                    <a:pt x="3859" y="0"/>
                  </a:cubicBezTo>
                  <a:cubicBezTo>
                    <a:pt x="3891" y="0"/>
                    <a:pt x="3901" y="19"/>
                    <a:pt x="3901" y="38"/>
                  </a:cubicBezTo>
                  <a:cubicBezTo>
                    <a:pt x="3901" y="549"/>
                    <a:pt x="3901" y="549"/>
                    <a:pt x="3901" y="549"/>
                  </a:cubicBezTo>
                  <a:cubicBezTo>
                    <a:pt x="3901" y="578"/>
                    <a:pt x="3891" y="588"/>
                    <a:pt x="3859" y="588"/>
                  </a:cubicBezTo>
                  <a:moveTo>
                    <a:pt x="3634" y="588"/>
                  </a:moveTo>
                  <a:cubicBezTo>
                    <a:pt x="3552" y="588"/>
                    <a:pt x="3552" y="588"/>
                    <a:pt x="3552" y="588"/>
                  </a:cubicBezTo>
                  <a:cubicBezTo>
                    <a:pt x="3520" y="588"/>
                    <a:pt x="3510" y="578"/>
                    <a:pt x="3510" y="549"/>
                  </a:cubicBezTo>
                  <a:cubicBezTo>
                    <a:pt x="3510" y="226"/>
                    <a:pt x="3510" y="226"/>
                    <a:pt x="3510" y="226"/>
                  </a:cubicBezTo>
                  <a:cubicBezTo>
                    <a:pt x="3510" y="206"/>
                    <a:pt x="3520" y="185"/>
                    <a:pt x="3552" y="185"/>
                  </a:cubicBezTo>
                  <a:cubicBezTo>
                    <a:pt x="3634" y="185"/>
                    <a:pt x="3634" y="185"/>
                    <a:pt x="3634" y="185"/>
                  </a:cubicBezTo>
                  <a:cubicBezTo>
                    <a:pt x="3654" y="185"/>
                    <a:pt x="3674" y="206"/>
                    <a:pt x="3674" y="226"/>
                  </a:cubicBezTo>
                  <a:cubicBezTo>
                    <a:pt x="3674" y="549"/>
                    <a:pt x="3674" y="549"/>
                    <a:pt x="3674" y="549"/>
                  </a:cubicBezTo>
                  <a:cubicBezTo>
                    <a:pt x="3674" y="578"/>
                    <a:pt x="3654" y="588"/>
                    <a:pt x="3634" y="588"/>
                  </a:cubicBezTo>
                  <a:moveTo>
                    <a:pt x="3397" y="588"/>
                  </a:moveTo>
                  <a:cubicBezTo>
                    <a:pt x="3315" y="588"/>
                    <a:pt x="3315" y="588"/>
                    <a:pt x="3315" y="588"/>
                  </a:cubicBezTo>
                  <a:cubicBezTo>
                    <a:pt x="3295" y="588"/>
                    <a:pt x="3275" y="578"/>
                    <a:pt x="3275" y="549"/>
                  </a:cubicBezTo>
                  <a:cubicBezTo>
                    <a:pt x="3275" y="411"/>
                    <a:pt x="3275" y="411"/>
                    <a:pt x="3275" y="411"/>
                  </a:cubicBezTo>
                  <a:cubicBezTo>
                    <a:pt x="3275" y="382"/>
                    <a:pt x="3295" y="373"/>
                    <a:pt x="3315" y="373"/>
                  </a:cubicBezTo>
                  <a:cubicBezTo>
                    <a:pt x="3397" y="373"/>
                    <a:pt x="3397" y="373"/>
                    <a:pt x="3397" y="373"/>
                  </a:cubicBezTo>
                  <a:cubicBezTo>
                    <a:pt x="3418" y="373"/>
                    <a:pt x="3439" y="382"/>
                    <a:pt x="3439" y="411"/>
                  </a:cubicBezTo>
                  <a:cubicBezTo>
                    <a:pt x="3439" y="549"/>
                    <a:pt x="3439" y="549"/>
                    <a:pt x="3439" y="549"/>
                  </a:cubicBezTo>
                  <a:cubicBezTo>
                    <a:pt x="3439" y="578"/>
                    <a:pt x="3418" y="588"/>
                    <a:pt x="3397" y="588"/>
                  </a:cubicBezTo>
                </a:path>
                <a:path w="4123" h="4122">
                  <a:moveTo>
                    <a:pt x="4084" y="3559"/>
                  </a:moveTo>
                  <a:cubicBezTo>
                    <a:pt x="4042" y="3774"/>
                    <a:pt x="3828" y="3964"/>
                    <a:pt x="3773" y="4005"/>
                  </a:cubicBezTo>
                  <a:cubicBezTo>
                    <a:pt x="3704" y="4046"/>
                    <a:pt x="3651" y="3977"/>
                    <a:pt x="3624" y="3938"/>
                  </a:cubicBezTo>
                  <a:cubicBezTo>
                    <a:pt x="3598" y="3883"/>
                    <a:pt x="3529" y="3613"/>
                    <a:pt x="3503" y="3585"/>
                  </a:cubicBezTo>
                  <a:cubicBezTo>
                    <a:pt x="3490" y="3571"/>
                    <a:pt x="3436" y="3613"/>
                    <a:pt x="3436" y="3613"/>
                  </a:cubicBezTo>
                  <a:cubicBezTo>
                    <a:pt x="3409" y="3571"/>
                    <a:pt x="3409" y="3571"/>
                    <a:pt x="3409" y="3571"/>
                  </a:cubicBezTo>
                  <a:cubicBezTo>
                    <a:pt x="3409" y="3571"/>
                    <a:pt x="3517" y="3437"/>
                    <a:pt x="3610" y="3410"/>
                  </a:cubicBezTo>
                  <a:cubicBezTo>
                    <a:pt x="3704" y="3396"/>
                    <a:pt x="3704" y="3559"/>
                    <a:pt x="3718" y="3652"/>
                  </a:cubicBezTo>
                  <a:cubicBezTo>
                    <a:pt x="3747" y="3747"/>
                    <a:pt x="3759" y="3788"/>
                    <a:pt x="3785" y="3788"/>
                  </a:cubicBezTo>
                  <a:cubicBezTo>
                    <a:pt x="3799" y="3788"/>
                    <a:pt x="3840" y="3747"/>
                    <a:pt x="3881" y="3666"/>
                  </a:cubicBezTo>
                  <a:cubicBezTo>
                    <a:pt x="3908" y="3585"/>
                    <a:pt x="3867" y="3532"/>
                    <a:pt x="3799" y="3571"/>
                  </a:cubicBezTo>
                  <a:cubicBezTo>
                    <a:pt x="3828" y="3382"/>
                    <a:pt x="4123" y="3341"/>
                    <a:pt x="4084" y="3559"/>
                  </a:cubicBezTo>
                </a:path>
                <a:path w="4123" h="4122">
                  <a:moveTo>
                    <a:pt x="739" y="579"/>
                  </a:moveTo>
                  <a:cubicBezTo>
                    <a:pt x="723" y="579"/>
                    <a:pt x="706" y="567"/>
                    <a:pt x="690" y="555"/>
                  </a:cubicBezTo>
                  <a:cubicBezTo>
                    <a:pt x="558" y="412"/>
                    <a:pt x="558" y="412"/>
                    <a:pt x="558" y="412"/>
                  </a:cubicBezTo>
                  <a:cubicBezTo>
                    <a:pt x="525" y="412"/>
                    <a:pt x="525" y="412"/>
                    <a:pt x="525" y="412"/>
                  </a:cubicBezTo>
                  <a:cubicBezTo>
                    <a:pt x="525" y="471"/>
                    <a:pt x="525" y="471"/>
                    <a:pt x="525" y="471"/>
                  </a:cubicBezTo>
                  <a:cubicBezTo>
                    <a:pt x="673" y="638"/>
                    <a:pt x="673" y="638"/>
                    <a:pt x="673" y="638"/>
                  </a:cubicBezTo>
                  <a:cubicBezTo>
                    <a:pt x="673" y="650"/>
                    <a:pt x="690" y="650"/>
                    <a:pt x="690" y="662"/>
                  </a:cubicBezTo>
                  <a:cubicBezTo>
                    <a:pt x="690" y="674"/>
                    <a:pt x="673" y="686"/>
                    <a:pt x="640" y="686"/>
                  </a:cubicBezTo>
                  <a:cubicBezTo>
                    <a:pt x="525" y="686"/>
                    <a:pt x="525" y="686"/>
                    <a:pt x="525" y="686"/>
                  </a:cubicBezTo>
                  <a:cubicBezTo>
                    <a:pt x="525" y="805"/>
                    <a:pt x="525" y="805"/>
                    <a:pt x="525" y="805"/>
                  </a:cubicBezTo>
                  <a:cubicBezTo>
                    <a:pt x="525" y="829"/>
                    <a:pt x="508" y="853"/>
                    <a:pt x="459" y="853"/>
                  </a:cubicBezTo>
                  <a:cubicBezTo>
                    <a:pt x="377" y="853"/>
                    <a:pt x="377" y="853"/>
                    <a:pt x="377" y="853"/>
                  </a:cubicBezTo>
                  <a:cubicBezTo>
                    <a:pt x="344" y="853"/>
                    <a:pt x="311" y="829"/>
                    <a:pt x="311" y="805"/>
                  </a:cubicBezTo>
                  <a:cubicBezTo>
                    <a:pt x="311" y="686"/>
                    <a:pt x="311" y="686"/>
                    <a:pt x="311" y="686"/>
                  </a:cubicBezTo>
                  <a:cubicBezTo>
                    <a:pt x="195" y="686"/>
                    <a:pt x="195" y="686"/>
                    <a:pt x="195" y="686"/>
                  </a:cubicBezTo>
                  <a:cubicBezTo>
                    <a:pt x="179" y="686"/>
                    <a:pt x="162" y="674"/>
                    <a:pt x="162" y="662"/>
                  </a:cubicBezTo>
                  <a:cubicBezTo>
                    <a:pt x="162" y="650"/>
                    <a:pt x="162" y="650"/>
                    <a:pt x="162" y="638"/>
                  </a:cubicBezTo>
                  <a:cubicBezTo>
                    <a:pt x="311" y="471"/>
                    <a:pt x="311" y="471"/>
                    <a:pt x="311" y="471"/>
                  </a:cubicBezTo>
                  <a:cubicBezTo>
                    <a:pt x="311" y="412"/>
                    <a:pt x="311" y="412"/>
                    <a:pt x="311" y="412"/>
                  </a:cubicBezTo>
                  <a:cubicBezTo>
                    <a:pt x="278" y="412"/>
                    <a:pt x="278" y="412"/>
                    <a:pt x="278" y="412"/>
                  </a:cubicBezTo>
                  <a:cubicBezTo>
                    <a:pt x="146" y="555"/>
                    <a:pt x="146" y="555"/>
                    <a:pt x="146" y="555"/>
                  </a:cubicBezTo>
                  <a:cubicBezTo>
                    <a:pt x="130" y="567"/>
                    <a:pt x="113" y="579"/>
                    <a:pt x="97" y="579"/>
                  </a:cubicBezTo>
                  <a:cubicBezTo>
                    <a:pt x="64" y="579"/>
                    <a:pt x="47" y="555"/>
                    <a:pt x="47" y="531"/>
                  </a:cubicBezTo>
                  <a:cubicBezTo>
                    <a:pt x="47" y="531"/>
                    <a:pt x="47" y="519"/>
                    <a:pt x="47" y="507"/>
                  </a:cubicBezTo>
                  <a:cubicBezTo>
                    <a:pt x="195" y="352"/>
                    <a:pt x="195" y="352"/>
                    <a:pt x="195" y="352"/>
                  </a:cubicBezTo>
                  <a:cubicBezTo>
                    <a:pt x="228" y="328"/>
                    <a:pt x="261" y="305"/>
                    <a:pt x="311" y="305"/>
                  </a:cubicBezTo>
                  <a:cubicBezTo>
                    <a:pt x="525" y="305"/>
                    <a:pt x="525" y="305"/>
                    <a:pt x="525" y="305"/>
                  </a:cubicBezTo>
                  <a:cubicBezTo>
                    <a:pt x="574" y="305"/>
                    <a:pt x="607" y="328"/>
                    <a:pt x="640" y="352"/>
                  </a:cubicBezTo>
                  <a:cubicBezTo>
                    <a:pt x="789" y="507"/>
                    <a:pt x="789" y="507"/>
                    <a:pt x="789" y="507"/>
                  </a:cubicBezTo>
                  <a:cubicBezTo>
                    <a:pt x="789" y="519"/>
                    <a:pt x="789" y="531"/>
                    <a:pt x="789" y="531"/>
                  </a:cubicBezTo>
                  <a:cubicBezTo>
                    <a:pt x="789" y="555"/>
                    <a:pt x="772" y="579"/>
                    <a:pt x="739" y="579"/>
                  </a:cubicBezTo>
                  <a:moveTo>
                    <a:pt x="426" y="293"/>
                  </a:moveTo>
                  <a:cubicBezTo>
                    <a:pt x="344" y="293"/>
                    <a:pt x="294" y="245"/>
                    <a:pt x="294" y="197"/>
                  </a:cubicBezTo>
                  <a:cubicBezTo>
                    <a:pt x="294" y="138"/>
                    <a:pt x="344" y="102"/>
                    <a:pt x="426" y="102"/>
                  </a:cubicBezTo>
                  <a:cubicBezTo>
                    <a:pt x="492" y="102"/>
                    <a:pt x="558" y="138"/>
                    <a:pt x="558" y="197"/>
                  </a:cubicBezTo>
                  <a:cubicBezTo>
                    <a:pt x="558" y="245"/>
                    <a:pt x="492" y="293"/>
                    <a:pt x="426" y="293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4" name="path 284"/>
            <p:cNvSpPr/>
            <p:nvPr/>
          </p:nvSpPr>
          <p:spPr>
            <a:xfrm>
              <a:off x="1562747" y="1674482"/>
              <a:ext cx="718883" cy="575018"/>
            </a:xfrm>
            <a:custGeom>
              <a:avLst/>
              <a:gdLst/>
              <a:ahLst/>
              <a:cxnLst/>
              <a:rect l="0" t="0" r="0" b="0"/>
              <a:pathLst>
                <a:path w="1132" h="905">
                  <a:moveTo>
                    <a:pt x="1132" y="371"/>
                  </a:moveTo>
                  <a:cubicBezTo>
                    <a:pt x="1132" y="440"/>
                    <a:pt x="1066" y="499"/>
                    <a:pt x="984" y="499"/>
                  </a:cubicBezTo>
                  <a:cubicBezTo>
                    <a:pt x="905" y="499"/>
                    <a:pt x="852" y="440"/>
                    <a:pt x="852" y="371"/>
                  </a:cubicBezTo>
                  <a:cubicBezTo>
                    <a:pt x="852" y="440"/>
                    <a:pt x="786" y="499"/>
                    <a:pt x="705" y="499"/>
                  </a:cubicBezTo>
                  <a:cubicBezTo>
                    <a:pt x="626" y="499"/>
                    <a:pt x="558" y="440"/>
                    <a:pt x="558" y="371"/>
                  </a:cubicBezTo>
                  <a:cubicBezTo>
                    <a:pt x="558" y="440"/>
                    <a:pt x="505" y="499"/>
                    <a:pt x="426" y="499"/>
                  </a:cubicBezTo>
                  <a:cubicBezTo>
                    <a:pt x="345" y="499"/>
                    <a:pt x="279" y="440"/>
                    <a:pt x="279" y="371"/>
                  </a:cubicBezTo>
                  <a:cubicBezTo>
                    <a:pt x="279" y="440"/>
                    <a:pt x="213" y="499"/>
                    <a:pt x="132" y="499"/>
                  </a:cubicBezTo>
                  <a:cubicBezTo>
                    <a:pt x="52" y="499"/>
                    <a:pt x="0" y="440"/>
                    <a:pt x="0" y="371"/>
                  </a:cubicBezTo>
                  <a:cubicBezTo>
                    <a:pt x="92" y="138"/>
                    <a:pt x="92" y="138"/>
                    <a:pt x="92" y="138"/>
                  </a:cubicBezTo>
                  <a:cubicBezTo>
                    <a:pt x="1039" y="138"/>
                    <a:pt x="1039" y="138"/>
                    <a:pt x="1039" y="138"/>
                  </a:cubicBezTo>
                  <a:cubicBezTo>
                    <a:pt x="1132" y="371"/>
                    <a:pt x="1132" y="371"/>
                    <a:pt x="1132" y="371"/>
                  </a:cubicBezTo>
                  <a:moveTo>
                    <a:pt x="958" y="92"/>
                  </a:moveTo>
                  <a:cubicBezTo>
                    <a:pt x="171" y="92"/>
                    <a:pt x="171" y="92"/>
                    <a:pt x="171" y="92"/>
                  </a:cubicBezTo>
                  <a:cubicBezTo>
                    <a:pt x="145" y="92"/>
                    <a:pt x="118" y="80"/>
                    <a:pt x="118" y="46"/>
                  </a:cubicBezTo>
                  <a:cubicBezTo>
                    <a:pt x="118" y="22"/>
                    <a:pt x="145" y="0"/>
                    <a:pt x="171" y="0"/>
                  </a:cubicBezTo>
                  <a:cubicBezTo>
                    <a:pt x="958" y="0"/>
                    <a:pt x="958" y="0"/>
                    <a:pt x="958" y="0"/>
                  </a:cubicBezTo>
                  <a:cubicBezTo>
                    <a:pt x="984" y="0"/>
                    <a:pt x="1013" y="22"/>
                    <a:pt x="1013" y="46"/>
                  </a:cubicBezTo>
                  <a:cubicBezTo>
                    <a:pt x="1013" y="80"/>
                    <a:pt x="984" y="92"/>
                    <a:pt x="958" y="92"/>
                  </a:cubicBezTo>
                  <a:moveTo>
                    <a:pt x="158" y="545"/>
                  </a:moveTo>
                  <a:cubicBezTo>
                    <a:pt x="158" y="545"/>
                    <a:pt x="158" y="545"/>
                    <a:pt x="171" y="545"/>
                  </a:cubicBezTo>
                  <a:cubicBezTo>
                    <a:pt x="171" y="545"/>
                    <a:pt x="171" y="545"/>
                    <a:pt x="184" y="545"/>
                  </a:cubicBezTo>
                  <a:cubicBezTo>
                    <a:pt x="184" y="534"/>
                    <a:pt x="200" y="534"/>
                    <a:pt x="213" y="534"/>
                  </a:cubicBezTo>
                  <a:cubicBezTo>
                    <a:pt x="213" y="765"/>
                    <a:pt x="213" y="765"/>
                    <a:pt x="213" y="765"/>
                  </a:cubicBezTo>
                  <a:cubicBezTo>
                    <a:pt x="918" y="765"/>
                    <a:pt x="918" y="765"/>
                    <a:pt x="918" y="765"/>
                  </a:cubicBezTo>
                  <a:cubicBezTo>
                    <a:pt x="918" y="534"/>
                    <a:pt x="918" y="534"/>
                    <a:pt x="918" y="534"/>
                  </a:cubicBezTo>
                  <a:cubicBezTo>
                    <a:pt x="932" y="534"/>
                    <a:pt x="932" y="534"/>
                    <a:pt x="945" y="545"/>
                  </a:cubicBezTo>
                  <a:cubicBezTo>
                    <a:pt x="945" y="545"/>
                    <a:pt x="945" y="545"/>
                    <a:pt x="958" y="545"/>
                  </a:cubicBezTo>
                  <a:lnTo>
                    <a:pt x="971" y="545"/>
                  </a:lnTo>
                  <a:lnTo>
                    <a:pt x="984" y="545"/>
                  </a:lnTo>
                  <a:cubicBezTo>
                    <a:pt x="1000" y="545"/>
                    <a:pt x="1013" y="545"/>
                    <a:pt x="1026" y="545"/>
                  </a:cubicBezTo>
                  <a:cubicBezTo>
                    <a:pt x="1026" y="859"/>
                    <a:pt x="1026" y="859"/>
                    <a:pt x="1026" y="859"/>
                  </a:cubicBezTo>
                  <a:cubicBezTo>
                    <a:pt x="1026" y="882"/>
                    <a:pt x="1000" y="905"/>
                    <a:pt x="971" y="905"/>
                  </a:cubicBezTo>
                  <a:cubicBezTo>
                    <a:pt x="158" y="905"/>
                    <a:pt x="158" y="905"/>
                    <a:pt x="158" y="905"/>
                  </a:cubicBezTo>
                  <a:cubicBezTo>
                    <a:pt x="118" y="905"/>
                    <a:pt x="105" y="882"/>
                    <a:pt x="105" y="859"/>
                  </a:cubicBezTo>
                  <a:cubicBezTo>
                    <a:pt x="105" y="545"/>
                    <a:pt x="105" y="545"/>
                    <a:pt x="105" y="545"/>
                  </a:cubicBezTo>
                  <a:cubicBezTo>
                    <a:pt x="118" y="545"/>
                    <a:pt x="118" y="545"/>
                    <a:pt x="132" y="545"/>
                  </a:cubicBezTo>
                  <a:cubicBezTo>
                    <a:pt x="145" y="545"/>
                    <a:pt x="145" y="545"/>
                    <a:pt x="158" y="545"/>
                  </a:cubicBezTo>
                </a:path>
              </a:pathLst>
            </a:custGeom>
            <a:solidFill>
              <a:srgbClr val="ED7D3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86" name="textbox 286"/>
          <p:cNvSpPr/>
          <p:nvPr/>
        </p:nvSpPr>
        <p:spPr>
          <a:xfrm>
            <a:off x="417268" y="2148180"/>
            <a:ext cx="4126865" cy="43122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3045" indent="-220345" algn="l" rtl="0" eaLnBrk="0">
              <a:lnSpc>
                <a:spcPct val="127000"/>
              </a:lnSpc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进店、商品体验、支付、物流全流程体验提升，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在线选配等；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032"/>
              </a:spcBef>
              <a:tabLst/>
            </a:pP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AR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能力植入；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231775" indent="-219075" algn="l" rtl="0" eaLnBrk="0">
              <a:lnSpc>
                <a:spcPct val="127000"/>
              </a:lnSpc>
              <a:spcBef>
                <a:spcPts val="1023"/>
              </a:spcBef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触点获取</a:t>
            </a:r>
            <a:r>
              <a:rPr sz="14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：想要的服务、想要的优惠、想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要的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知识、想要的产品；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9704" algn="l" rtl="0" eaLnBrk="0">
              <a:lnSpc>
                <a:spcPct val="94000"/>
              </a:lnSpc>
              <a:spcBef>
                <a:spcPts val="543"/>
              </a:spcBef>
              <a:tabLst/>
            </a:pPr>
            <a:r>
              <a:rPr sz="1800" b="1" kern="0" spc="50" dirty="0">
                <a:solidFill>
                  <a:srgbClr val="605E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3、提升导购主动积极性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4315" indent="-221615" algn="l" rtl="0" eaLnBrk="0">
              <a:lnSpc>
                <a:spcPct val="138000"/>
              </a:lnSpc>
              <a:spcBef>
                <a:spcPts val="430"/>
              </a:spcBef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更了解自己的用户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，用户全景（注册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、购买、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安装、维修、</a:t>
            </a:r>
            <a:r>
              <a:rPr sz="14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回访、权益等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233679" indent="-220979" algn="l" rtl="0" eaLnBrk="0">
              <a:lnSpc>
                <a:spcPct val="130000"/>
              </a:lnSpc>
              <a:spcBef>
                <a:spcPts val="922"/>
              </a:spcBef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营销能力提升</a:t>
            </a:r>
            <a:r>
              <a:rPr sz="14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，借助营销工具助力导购营销转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化（在线1对1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，精准营销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，配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券转化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5000"/>
              </a:lnSpc>
              <a:spcBef>
                <a:spcPts val="922"/>
              </a:spcBef>
              <a:tabLst/>
            </a:pP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快速学习与转化</a:t>
            </a:r>
            <a:r>
              <a:rPr sz="14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，传递消费者；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导购与消费者在线1对1沟通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8" name="textbox 288"/>
          <p:cNvSpPr/>
          <p:nvPr/>
        </p:nvSpPr>
        <p:spPr>
          <a:xfrm>
            <a:off x="8052447" y="2216651"/>
            <a:ext cx="4058284" cy="3907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7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2570" indent="-229870" algn="l" rtl="0" eaLnBrk="0">
              <a:lnSpc>
                <a:spcPct val="126000"/>
              </a:lnSpc>
              <a:tabLst/>
            </a:pP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数字化营销工具</a:t>
            </a:r>
            <a:r>
              <a:rPr sz="14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，短信、优惠券、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H5、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秒杀、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限时抢购等</a:t>
            </a:r>
            <a:r>
              <a:rPr sz="14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，提升线下营销能力；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032"/>
              </a:spcBef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4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门店商城化、分销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线上化等；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5000"/>
              </a:lnSpc>
              <a:spcBef>
                <a:spcPts val="1049"/>
              </a:spcBef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线上传播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，扩大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传播范围及效果跟进。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5725" algn="l" rtl="0" eaLnBrk="0">
              <a:lnSpc>
                <a:spcPct val="94000"/>
              </a:lnSpc>
              <a:spcBef>
                <a:spcPts val="545"/>
              </a:spcBef>
              <a:tabLst/>
            </a:pPr>
            <a:r>
              <a:rPr sz="1800" b="1" kern="0" spc="50" dirty="0">
                <a:solidFill>
                  <a:srgbClr val="605E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4、</a:t>
            </a:r>
            <a:r>
              <a:rPr sz="1800" b="1" kern="0" spc="-440" dirty="0">
                <a:solidFill>
                  <a:srgbClr val="605E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kern="0" spc="50" dirty="0">
                <a:solidFill>
                  <a:srgbClr val="605E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建立会员体系</a:t>
            </a:r>
            <a:r>
              <a:rPr sz="1800" b="1" kern="0" spc="-290" dirty="0">
                <a:solidFill>
                  <a:srgbClr val="605E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kern="0" spc="50" dirty="0">
                <a:solidFill>
                  <a:srgbClr val="605E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800" b="1" kern="0" spc="40" dirty="0">
                <a:solidFill>
                  <a:srgbClr val="605E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支撑门店用户运营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4959" indent="-222884" algn="l" rtl="0" eaLnBrk="0">
              <a:lnSpc>
                <a:spcPct val="127000"/>
              </a:lnSpc>
              <a:spcBef>
                <a:spcPts val="422"/>
              </a:spcBef>
              <a:tabLst/>
            </a:pP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会员体系建设</a:t>
            </a:r>
            <a:r>
              <a:rPr sz="14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，多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场景会员注册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门店专属会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员权益配置；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92075" algn="l" rtl="0" eaLnBrk="0">
              <a:lnSpc>
                <a:spcPct val="96000"/>
              </a:lnSpc>
              <a:spcBef>
                <a:spcPts val="1032"/>
              </a:spcBef>
              <a:tabLst/>
            </a:pP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周边潜在用户挖掘</a:t>
            </a:r>
            <a:r>
              <a:rPr sz="14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，用户引流转化；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311150" indent="-219075" algn="l" rtl="0" eaLnBrk="0">
              <a:lnSpc>
                <a:spcPct val="127000"/>
              </a:lnSpc>
              <a:spcBef>
                <a:spcPts val="6"/>
              </a:spcBef>
              <a:tabLst/>
            </a:pP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到店用户识别</a:t>
            </a:r>
            <a:r>
              <a:rPr sz="14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，历史信息获取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，精准营销与服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务。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0" name="textbox 290"/>
          <p:cNvSpPr/>
          <p:nvPr/>
        </p:nvSpPr>
        <p:spPr>
          <a:xfrm>
            <a:off x="0" y="821435"/>
            <a:ext cx="12192000" cy="410209"/>
          </a:xfrm>
          <a:prstGeom prst="rect">
            <a:avLst/>
          </a:prstGeom>
          <a:solidFill>
            <a:srgbClr val="FFC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002914" algn="l" rtl="0" eaLnBrk="0">
              <a:lnSpc>
                <a:spcPct val="94000"/>
              </a:lnSpc>
              <a:spcBef>
                <a:spcPts val="2"/>
              </a:spcBef>
              <a:tabLst/>
            </a:pPr>
            <a:r>
              <a:rPr sz="18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建立懂消费者、懂门店</a:t>
            </a:r>
            <a:r>
              <a:rPr sz="18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、懂导购的智慧化门店。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2" name="textbox 292"/>
          <p:cNvSpPr/>
          <p:nvPr/>
        </p:nvSpPr>
        <p:spPr>
          <a:xfrm>
            <a:off x="588143" y="1628733"/>
            <a:ext cx="10001884" cy="2832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800" b="1" kern="0" spc="30" dirty="0">
                <a:solidFill>
                  <a:srgbClr val="605E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1、消费者体验提升                                                 </a:t>
            </a:r>
            <a:r>
              <a:rPr sz="1800" b="1" kern="0" spc="20" dirty="0">
                <a:solidFill>
                  <a:srgbClr val="605E5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2、数字化营销助力转化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4" name="textbox 294"/>
          <p:cNvSpPr/>
          <p:nvPr/>
        </p:nvSpPr>
        <p:spPr>
          <a:xfrm>
            <a:off x="181873" y="171100"/>
            <a:ext cx="3557904" cy="394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智慧门店-需求框架说明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" name="table 296"/>
          <p:cNvGraphicFramePr>
            <a:graphicFrameLocks noGrp="1"/>
          </p:cNvGraphicFramePr>
          <p:nvPr/>
        </p:nvGraphicFramePr>
        <p:xfrm>
          <a:off x="1682495" y="2220467"/>
          <a:ext cx="6270625" cy="2987039"/>
        </p:xfrm>
        <a:graphic>
          <a:graphicData uri="http://schemas.openxmlformats.org/drawingml/2006/table">
            <a:tbl>
              <a:tblPr>
                <a:solidFill>
                  <a:srgbClr val="F2F2F2"/>
                </a:solidFill>
              </a:tblPr>
              <a:tblGrid>
                <a:gridCol w="3135629"/>
                <a:gridCol w="3134995"/>
              </a:tblGrid>
              <a:tr h="29870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98" name="rect 298"/>
          <p:cNvSpPr/>
          <p:nvPr/>
        </p:nvSpPr>
        <p:spPr>
          <a:xfrm>
            <a:off x="217931" y="870203"/>
            <a:ext cx="11335511" cy="1060703"/>
          </a:xfrm>
          <a:prstGeom prst="rect">
            <a:avLst/>
          </a:prstGeom>
          <a:solidFill>
            <a:srgbClr val="DEEBF7">
              <a:alpha val="18431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300" name="table 300"/>
          <p:cNvGraphicFramePr>
            <a:graphicFrameLocks noGrp="1"/>
          </p:cNvGraphicFramePr>
          <p:nvPr/>
        </p:nvGraphicFramePr>
        <p:xfrm>
          <a:off x="1490586" y="5409422"/>
          <a:ext cx="10065384" cy="1183639"/>
        </p:xfrm>
        <a:graphic>
          <a:graphicData uri="http://schemas.openxmlformats.org/drawingml/2006/table">
            <a:tbl>
              <a:tblPr/>
              <a:tblGrid>
                <a:gridCol w="10065384"/>
              </a:tblGrid>
              <a:tr h="1177289">
                <a:tc>
                  <a:txBody>
                    <a:bodyPr/>
                    <a:lstStyle/>
                    <a:p>
                      <a:pPr marL="207009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CMS&amp;大数据       </a:t>
                      </a:r>
                      <a:r>
                        <a:rPr sz="1500" kern="0" spc="-50" dirty="0">
                          <a:solidFill>
                            <a:srgbClr val="A4A4A4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整理制</a:t>
                      </a:r>
                      <a:r>
                        <a:rPr sz="1500" kern="0" spc="-60" dirty="0">
                          <a:solidFill>
                            <a:srgbClr val="A4A4A4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作郎丰利1519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02" name="picture 3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6908" y="1030224"/>
            <a:ext cx="10782300" cy="827532"/>
          </a:xfrm>
          <a:prstGeom prst="rect">
            <a:avLst/>
          </a:prstGeom>
        </p:spPr>
      </p:pic>
      <p:sp>
        <p:nvSpPr>
          <p:cNvPr id="304" name="rect 304"/>
          <p:cNvSpPr/>
          <p:nvPr/>
        </p:nvSpPr>
        <p:spPr>
          <a:xfrm>
            <a:off x="8171688" y="2017776"/>
            <a:ext cx="3381755" cy="2401823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06" name="picture 3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03832" y="6152388"/>
            <a:ext cx="9689591" cy="294131"/>
          </a:xfrm>
          <a:prstGeom prst="rect">
            <a:avLst/>
          </a:prstGeom>
        </p:spPr>
      </p:pic>
      <p:pic>
        <p:nvPicPr>
          <p:cNvPr id="308" name="picture 3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03832" y="5785103"/>
            <a:ext cx="9685019" cy="294131"/>
          </a:xfrm>
          <a:prstGeom prst="rect">
            <a:avLst/>
          </a:prstGeom>
        </p:spPr>
      </p:pic>
      <p:graphicFrame>
        <p:nvGraphicFramePr>
          <p:cNvPr id="310" name="table 310"/>
          <p:cNvGraphicFramePr>
            <a:graphicFrameLocks noGrp="1"/>
          </p:cNvGraphicFramePr>
          <p:nvPr/>
        </p:nvGraphicFramePr>
        <p:xfrm>
          <a:off x="1699882" y="5781370"/>
          <a:ext cx="9696450" cy="668019"/>
        </p:xfrm>
        <a:graphic>
          <a:graphicData uri="http://schemas.openxmlformats.org/drawingml/2006/table">
            <a:tbl>
              <a:tblPr/>
              <a:tblGrid>
                <a:gridCol w="9696450"/>
              </a:tblGrid>
              <a:tr h="3340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66209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4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用户主数据C—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MDM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0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50615" algn="l" rtl="0" eaLnBrk="0">
                        <a:lnSpc>
                          <a:spcPts val="1904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运营指标/数据监控/智能分析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12" name="picture 3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359140" y="2173224"/>
            <a:ext cx="3034283" cy="2080260"/>
          </a:xfrm>
          <a:prstGeom prst="rect">
            <a:avLst/>
          </a:prstGeom>
        </p:spPr>
      </p:pic>
      <p:pic>
        <p:nvPicPr>
          <p:cNvPr id="314" name="picture 3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17931" y="2017776"/>
            <a:ext cx="1146047" cy="4543043"/>
          </a:xfrm>
          <a:prstGeom prst="rect">
            <a:avLst/>
          </a:prstGeom>
        </p:spPr>
      </p:pic>
      <p:pic>
        <p:nvPicPr>
          <p:cNvPr id="316" name="picture 3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682495" y="2220467"/>
            <a:ext cx="3034283" cy="1639824"/>
          </a:xfrm>
          <a:prstGeom prst="rect">
            <a:avLst/>
          </a:prstGeom>
        </p:spPr>
      </p:pic>
      <p:pic>
        <p:nvPicPr>
          <p:cNvPr id="318" name="picture 3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919471" y="2220467"/>
            <a:ext cx="3034283" cy="1639824"/>
          </a:xfrm>
          <a:prstGeom prst="rect">
            <a:avLst/>
          </a:prstGeom>
        </p:spPr>
      </p:pic>
      <p:pic>
        <p:nvPicPr>
          <p:cNvPr id="320" name="picture 3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682495" y="3960876"/>
            <a:ext cx="3034283" cy="1234439"/>
          </a:xfrm>
          <a:prstGeom prst="rect">
            <a:avLst/>
          </a:prstGeom>
        </p:spPr>
      </p:pic>
      <p:pic>
        <p:nvPicPr>
          <p:cNvPr id="322" name="picture 3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919471" y="3973067"/>
            <a:ext cx="3034283" cy="1234439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 rot="21600000">
            <a:off x="8171688" y="4498848"/>
            <a:ext cx="3381755" cy="842772"/>
            <a:chOff x="0" y="0"/>
            <a:chExt cx="3381755" cy="842772"/>
          </a:xfrm>
        </p:grpSpPr>
        <p:sp>
          <p:nvSpPr>
            <p:cNvPr id="324" name="rect 324"/>
            <p:cNvSpPr/>
            <p:nvPr/>
          </p:nvSpPr>
          <p:spPr>
            <a:xfrm>
              <a:off x="0" y="0"/>
              <a:ext cx="3381755" cy="842772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326" name="picture 32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66116" y="85343"/>
              <a:ext cx="3055619" cy="614172"/>
            </a:xfrm>
            <a:prstGeom prst="rect">
              <a:avLst/>
            </a:prstGeom>
          </p:spPr>
        </p:pic>
        <p:pic>
          <p:nvPicPr>
            <p:cNvPr id="328" name="picture 32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522565" y="223532"/>
              <a:ext cx="1284871" cy="338480"/>
            </a:xfrm>
            <a:prstGeom prst="rect">
              <a:avLst/>
            </a:prstGeom>
          </p:spPr>
        </p:pic>
        <p:sp>
          <p:nvSpPr>
            <p:cNvPr id="330" name="textbox 330"/>
            <p:cNvSpPr/>
            <p:nvPr/>
          </p:nvSpPr>
          <p:spPr>
            <a:xfrm>
              <a:off x="310775" y="243460"/>
              <a:ext cx="704850" cy="2432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21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5000"/>
                </a:lnSpc>
                <a:tabLst/>
              </a:pPr>
              <a:r>
                <a:rPr sz="15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AR</a:t>
              </a:r>
              <a:r>
                <a:rPr sz="1500" kern="0" spc="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体验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332" name="textbox 332"/>
          <p:cNvSpPr/>
          <p:nvPr/>
        </p:nvSpPr>
        <p:spPr>
          <a:xfrm>
            <a:off x="1017064" y="1093400"/>
            <a:ext cx="7630159" cy="287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800" kern="0" spc="30" baseline="-5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消费者入口：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2400" b="1" kern="0" spc="30" baseline="21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门店大屏幕</a:t>
            </a:r>
            <a:r>
              <a:rPr sz="15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r>
              <a:rPr sz="2400" b="1" kern="0" spc="30" baseline="21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微</a:t>
            </a:r>
            <a:r>
              <a:rPr sz="2400" b="1" kern="0" spc="20" baseline="21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</a:t>
            </a:r>
            <a:r>
              <a:rPr sz="2400" b="1" kern="0" spc="0" baseline="21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APP</a:t>
            </a:r>
            <a:r>
              <a:rPr sz="15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</a:t>
            </a:r>
            <a:r>
              <a:rPr sz="2400" b="1" kern="0" spc="20" baseline="21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二维码</a:t>
            </a:r>
            <a:endParaRPr sz="2400" baseline="217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34" name="picture 33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8558479" y="2932176"/>
            <a:ext cx="1284871" cy="338467"/>
          </a:xfrm>
          <a:prstGeom prst="rect">
            <a:avLst/>
          </a:prstGeom>
        </p:spPr>
      </p:pic>
      <p:graphicFrame>
        <p:nvGraphicFramePr>
          <p:cNvPr id="336" name="table 336"/>
          <p:cNvGraphicFramePr>
            <a:graphicFrameLocks noGrp="1"/>
          </p:cNvGraphicFramePr>
          <p:nvPr/>
        </p:nvGraphicFramePr>
        <p:xfrm>
          <a:off x="8558479" y="2932176"/>
          <a:ext cx="1284605" cy="1122679"/>
        </p:xfrm>
        <a:graphic>
          <a:graphicData uri="http://schemas.openxmlformats.org/drawingml/2006/table">
            <a:tbl>
              <a:tblPr/>
              <a:tblGrid>
                <a:gridCol w="1284605"/>
              </a:tblGrid>
              <a:tr h="3384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0509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在线沟通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89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3050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4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家电定制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8" name="textbox 338"/>
          <p:cNvSpPr/>
          <p:nvPr/>
        </p:nvSpPr>
        <p:spPr>
          <a:xfrm>
            <a:off x="181873" y="171088"/>
            <a:ext cx="2879725" cy="394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智慧门店-应用架构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0" name="picture 3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118582" y="2979687"/>
            <a:ext cx="1284884" cy="338467"/>
          </a:xfrm>
          <a:prstGeom prst="rect">
            <a:avLst/>
          </a:prstGeom>
        </p:spPr>
      </p:pic>
      <p:graphicFrame>
        <p:nvGraphicFramePr>
          <p:cNvPr id="342" name="table 342"/>
          <p:cNvGraphicFramePr>
            <a:graphicFrameLocks noGrp="1"/>
          </p:cNvGraphicFramePr>
          <p:nvPr/>
        </p:nvGraphicFramePr>
        <p:xfrm>
          <a:off x="5118582" y="2979687"/>
          <a:ext cx="1284604" cy="727075"/>
        </p:xfrm>
        <a:graphic>
          <a:graphicData uri="http://schemas.openxmlformats.org/drawingml/2006/table">
            <a:tbl>
              <a:tblPr/>
              <a:tblGrid>
                <a:gridCol w="1284605"/>
              </a:tblGrid>
              <a:tr h="3917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2415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用户画像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2415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用户需求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44" name="picture 34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881898" y="2979687"/>
            <a:ext cx="1284871" cy="338467"/>
          </a:xfrm>
          <a:prstGeom prst="rect">
            <a:avLst/>
          </a:prstGeom>
        </p:spPr>
      </p:pic>
      <p:graphicFrame>
        <p:nvGraphicFramePr>
          <p:cNvPr id="346" name="table 346"/>
          <p:cNvGraphicFramePr>
            <a:graphicFrameLocks noGrp="1"/>
          </p:cNvGraphicFramePr>
          <p:nvPr/>
        </p:nvGraphicFramePr>
        <p:xfrm>
          <a:off x="1881898" y="2979687"/>
          <a:ext cx="1284605" cy="727075"/>
        </p:xfrm>
        <a:graphic>
          <a:graphicData uri="http://schemas.openxmlformats.org/drawingml/2006/table">
            <a:tbl>
              <a:tblPr/>
              <a:tblGrid>
                <a:gridCol w="1284605"/>
              </a:tblGrid>
              <a:tr h="3917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0034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限时特价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875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活动管理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48" name="picture 34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3283102" y="2979687"/>
            <a:ext cx="1284871" cy="338467"/>
          </a:xfrm>
          <a:prstGeom prst="rect">
            <a:avLst/>
          </a:prstGeom>
        </p:spPr>
      </p:pic>
      <p:graphicFrame>
        <p:nvGraphicFramePr>
          <p:cNvPr id="350" name="table 350"/>
          <p:cNvGraphicFramePr>
            <a:graphicFrameLocks noGrp="1"/>
          </p:cNvGraphicFramePr>
          <p:nvPr/>
        </p:nvGraphicFramePr>
        <p:xfrm>
          <a:off x="3283102" y="2979687"/>
          <a:ext cx="1284604" cy="727075"/>
        </p:xfrm>
        <a:graphic>
          <a:graphicData uri="http://schemas.openxmlformats.org/drawingml/2006/table">
            <a:tbl>
              <a:tblPr/>
              <a:tblGrid>
                <a:gridCol w="1284605"/>
              </a:tblGrid>
              <a:tr h="3917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6709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H5游戏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875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活动效果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52" name="picture 35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5118582" y="4349432"/>
            <a:ext cx="1284884" cy="721614"/>
          </a:xfrm>
          <a:prstGeom prst="rect">
            <a:avLst/>
          </a:prstGeom>
        </p:spPr>
      </p:pic>
      <p:graphicFrame>
        <p:nvGraphicFramePr>
          <p:cNvPr id="354" name="table 354"/>
          <p:cNvGraphicFramePr>
            <a:graphicFrameLocks noGrp="1"/>
          </p:cNvGraphicFramePr>
          <p:nvPr/>
        </p:nvGraphicFramePr>
        <p:xfrm>
          <a:off x="1881898" y="4337087"/>
          <a:ext cx="1284605" cy="721360"/>
        </p:xfrm>
        <a:graphic>
          <a:graphicData uri="http://schemas.openxmlformats.org/drawingml/2006/table">
            <a:tbl>
              <a:tblPr/>
              <a:tblGrid>
                <a:gridCol w="1284605"/>
              </a:tblGrid>
              <a:tr h="386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875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会员权益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56" name="picture 35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6519785" y="4349432"/>
            <a:ext cx="1284871" cy="721614"/>
          </a:xfrm>
          <a:prstGeom prst="rect">
            <a:avLst/>
          </a:prstGeom>
        </p:spPr>
      </p:pic>
      <p:graphicFrame>
        <p:nvGraphicFramePr>
          <p:cNvPr id="358" name="table 358"/>
          <p:cNvGraphicFramePr>
            <a:graphicFrameLocks noGrp="1"/>
          </p:cNvGraphicFramePr>
          <p:nvPr/>
        </p:nvGraphicFramePr>
        <p:xfrm>
          <a:off x="3283102" y="4337087"/>
          <a:ext cx="1284604" cy="721360"/>
        </p:xfrm>
        <a:graphic>
          <a:graphicData uri="http://schemas.openxmlformats.org/drawingml/2006/table">
            <a:tbl>
              <a:tblPr/>
              <a:tblGrid>
                <a:gridCol w="1284605"/>
              </a:tblGrid>
              <a:tr h="386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875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会员管理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0" name="group 20"/>
          <p:cNvGrpSpPr/>
          <p:nvPr/>
        </p:nvGrpSpPr>
        <p:grpSpPr>
          <a:xfrm rot="21600000">
            <a:off x="1496682" y="1440357"/>
            <a:ext cx="1284884" cy="338480"/>
            <a:chOff x="0" y="0"/>
            <a:chExt cx="1284884" cy="338480"/>
          </a:xfrm>
        </p:grpSpPr>
        <p:pic>
          <p:nvPicPr>
            <p:cNvPr id="360" name="picture 360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0" y="0"/>
              <a:ext cx="1284884" cy="338480"/>
            </a:xfrm>
            <a:prstGeom prst="rect">
              <a:avLst/>
            </a:prstGeom>
          </p:spPr>
        </p:pic>
        <p:sp>
          <p:nvSpPr>
            <p:cNvPr id="362" name="textbox 362"/>
            <p:cNvSpPr/>
            <p:nvPr/>
          </p:nvSpPr>
          <p:spPr>
            <a:xfrm>
              <a:off x="-12700" y="-12700"/>
              <a:ext cx="1310639" cy="3829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85750" algn="l" rtl="0" eaLnBrk="0">
                <a:lnSpc>
                  <a:spcPct val="96000"/>
                </a:lnSpc>
                <a:spcBef>
                  <a:spcPts val="3"/>
                </a:spcBef>
                <a:tabLst/>
              </a:pP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家电定制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 rot="21600000">
            <a:off x="6395834" y="1440357"/>
            <a:ext cx="1284884" cy="338480"/>
            <a:chOff x="0" y="0"/>
            <a:chExt cx="1284884" cy="338480"/>
          </a:xfrm>
        </p:grpSpPr>
        <p:pic>
          <p:nvPicPr>
            <p:cNvPr id="364" name="picture 364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0" y="0"/>
              <a:ext cx="1284884" cy="338480"/>
            </a:xfrm>
            <a:prstGeom prst="rect">
              <a:avLst/>
            </a:prstGeom>
          </p:spPr>
        </p:pic>
        <p:sp>
          <p:nvSpPr>
            <p:cNvPr id="366" name="textbox 366"/>
            <p:cNvSpPr/>
            <p:nvPr/>
          </p:nvSpPr>
          <p:spPr>
            <a:xfrm>
              <a:off x="-12700" y="-12700"/>
              <a:ext cx="1310639" cy="3822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83209" algn="l" rtl="0" eaLnBrk="0">
                <a:lnSpc>
                  <a:spcPct val="95000"/>
                </a:lnSpc>
                <a:spcBef>
                  <a:spcPts val="2"/>
                </a:spcBef>
                <a:tabLst/>
              </a:pP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在线购买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aphicFrame>
        <p:nvGraphicFramePr>
          <p:cNvPr id="368" name="table 368"/>
          <p:cNvGraphicFramePr>
            <a:graphicFrameLocks noGrp="1"/>
          </p:cNvGraphicFramePr>
          <p:nvPr/>
        </p:nvGraphicFramePr>
        <p:xfrm>
          <a:off x="4762398" y="1440357"/>
          <a:ext cx="1284604" cy="338454"/>
        </p:xfrm>
        <a:graphic>
          <a:graphicData uri="http://schemas.openxmlformats.org/drawingml/2006/table">
            <a:tbl>
              <a:tblPr/>
              <a:tblGrid>
                <a:gridCol w="1284604"/>
              </a:tblGrid>
              <a:tr h="3321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0509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在线咨询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4" name="group 24"/>
          <p:cNvGrpSpPr/>
          <p:nvPr/>
        </p:nvGrpSpPr>
        <p:grpSpPr>
          <a:xfrm rot="21600000">
            <a:off x="9959670" y="3321075"/>
            <a:ext cx="1284884" cy="338480"/>
            <a:chOff x="0" y="0"/>
            <a:chExt cx="1284884" cy="338480"/>
          </a:xfrm>
        </p:grpSpPr>
        <p:pic>
          <p:nvPicPr>
            <p:cNvPr id="370" name="picture 370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0" y="0"/>
              <a:ext cx="1284884" cy="338480"/>
            </a:xfrm>
            <a:prstGeom prst="rect">
              <a:avLst/>
            </a:prstGeom>
          </p:spPr>
        </p:pic>
        <p:sp>
          <p:nvSpPr>
            <p:cNvPr id="372" name="textbox 372"/>
            <p:cNvSpPr/>
            <p:nvPr/>
          </p:nvSpPr>
          <p:spPr>
            <a:xfrm>
              <a:off x="-12700" y="-12700"/>
              <a:ext cx="1310639" cy="3816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85115" algn="l" rtl="0" eaLnBrk="0">
                <a:lnSpc>
                  <a:spcPct val="96000"/>
                </a:lnSpc>
                <a:spcBef>
                  <a:spcPts val="3"/>
                </a:spcBef>
                <a:tabLst/>
              </a:pP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用户筛选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aphicFrame>
        <p:nvGraphicFramePr>
          <p:cNvPr id="374" name="table 374"/>
          <p:cNvGraphicFramePr>
            <a:graphicFrameLocks noGrp="1"/>
          </p:cNvGraphicFramePr>
          <p:nvPr/>
        </p:nvGraphicFramePr>
        <p:xfrm>
          <a:off x="3115602" y="1440357"/>
          <a:ext cx="1284605" cy="338454"/>
        </p:xfrm>
        <a:graphic>
          <a:graphicData uri="http://schemas.openxmlformats.org/drawingml/2006/table">
            <a:tbl>
              <a:tblPr/>
              <a:tblGrid>
                <a:gridCol w="1284605"/>
              </a:tblGrid>
              <a:tr h="3321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0509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我的需求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76" name="table 376"/>
          <p:cNvGraphicFramePr>
            <a:graphicFrameLocks noGrp="1"/>
          </p:cNvGraphicFramePr>
          <p:nvPr/>
        </p:nvGraphicFramePr>
        <p:xfrm>
          <a:off x="8558479" y="2549029"/>
          <a:ext cx="1284605" cy="338454"/>
        </p:xfrm>
        <a:graphic>
          <a:graphicData uri="http://schemas.openxmlformats.org/drawingml/2006/table">
            <a:tbl>
              <a:tblPr/>
              <a:tblGrid>
                <a:gridCol w="1284605"/>
              </a:tblGrid>
              <a:tr h="3321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875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会员注册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6" name="group 26"/>
          <p:cNvGrpSpPr/>
          <p:nvPr/>
        </p:nvGrpSpPr>
        <p:grpSpPr>
          <a:xfrm rot="21600000">
            <a:off x="9959683" y="2549029"/>
            <a:ext cx="1284871" cy="338480"/>
            <a:chOff x="0" y="0"/>
            <a:chExt cx="1284871" cy="338480"/>
          </a:xfrm>
        </p:grpSpPr>
        <p:pic>
          <p:nvPicPr>
            <p:cNvPr id="378" name="picture 378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0" y="0"/>
              <a:ext cx="1284871" cy="338480"/>
            </a:xfrm>
            <a:prstGeom prst="rect">
              <a:avLst/>
            </a:prstGeom>
          </p:spPr>
        </p:pic>
        <p:sp>
          <p:nvSpPr>
            <p:cNvPr id="380" name="textbox 380"/>
            <p:cNvSpPr/>
            <p:nvPr/>
          </p:nvSpPr>
          <p:spPr>
            <a:xfrm>
              <a:off x="-12700" y="-12700"/>
              <a:ext cx="1310639" cy="3816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85115" algn="l" rtl="0" eaLnBrk="0">
                <a:lnSpc>
                  <a:spcPct val="96000"/>
                </a:lnSpc>
                <a:spcBef>
                  <a:spcPts val="3"/>
                </a:spcBef>
                <a:tabLst/>
              </a:pP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用户查询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aphicFrame>
        <p:nvGraphicFramePr>
          <p:cNvPr id="382" name="table 382"/>
          <p:cNvGraphicFramePr>
            <a:graphicFrameLocks noGrp="1"/>
          </p:cNvGraphicFramePr>
          <p:nvPr/>
        </p:nvGraphicFramePr>
        <p:xfrm>
          <a:off x="8558479" y="3321075"/>
          <a:ext cx="1284605" cy="338454"/>
        </p:xfrm>
        <a:graphic>
          <a:graphicData uri="http://schemas.openxmlformats.org/drawingml/2006/table">
            <a:tbl>
              <a:tblPr/>
              <a:tblGrid>
                <a:gridCol w="1284605"/>
              </a:tblGrid>
              <a:tr h="3321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2415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用户需求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84" name="table 384"/>
          <p:cNvGraphicFramePr>
            <a:graphicFrameLocks noGrp="1"/>
          </p:cNvGraphicFramePr>
          <p:nvPr/>
        </p:nvGraphicFramePr>
        <p:xfrm>
          <a:off x="5118582" y="2596553"/>
          <a:ext cx="1284604" cy="338454"/>
        </p:xfrm>
        <a:graphic>
          <a:graphicData uri="http://schemas.openxmlformats.org/drawingml/2006/table">
            <a:tbl>
              <a:tblPr/>
              <a:tblGrid>
                <a:gridCol w="1284604"/>
              </a:tblGrid>
              <a:tr h="3321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2415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用户管理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86" name="table 386"/>
          <p:cNvGraphicFramePr>
            <a:graphicFrameLocks noGrp="1"/>
          </p:cNvGraphicFramePr>
          <p:nvPr/>
        </p:nvGraphicFramePr>
        <p:xfrm>
          <a:off x="1881898" y="4337087"/>
          <a:ext cx="1284604" cy="338454"/>
        </p:xfrm>
        <a:graphic>
          <a:graphicData uri="http://schemas.openxmlformats.org/drawingml/2006/table">
            <a:tbl>
              <a:tblPr/>
              <a:tblGrid>
                <a:gridCol w="1284604"/>
              </a:tblGrid>
              <a:tr h="3321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875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会员注册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88" name="table 388"/>
          <p:cNvGraphicFramePr>
            <a:graphicFrameLocks noGrp="1"/>
          </p:cNvGraphicFramePr>
          <p:nvPr/>
        </p:nvGraphicFramePr>
        <p:xfrm>
          <a:off x="1881898" y="2596553"/>
          <a:ext cx="1284604" cy="338454"/>
        </p:xfrm>
        <a:graphic>
          <a:graphicData uri="http://schemas.openxmlformats.org/drawingml/2006/table">
            <a:tbl>
              <a:tblPr/>
              <a:tblGrid>
                <a:gridCol w="1284604"/>
              </a:tblGrid>
              <a:tr h="3321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87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精准短信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8" name="group 28"/>
          <p:cNvGrpSpPr/>
          <p:nvPr/>
        </p:nvGrpSpPr>
        <p:grpSpPr>
          <a:xfrm rot="21600000">
            <a:off x="9959670" y="3716566"/>
            <a:ext cx="1284884" cy="338467"/>
            <a:chOff x="0" y="0"/>
            <a:chExt cx="1284884" cy="338467"/>
          </a:xfrm>
        </p:grpSpPr>
        <p:pic>
          <p:nvPicPr>
            <p:cNvPr id="390" name="picture 390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0" y="0"/>
              <a:ext cx="1284884" cy="338467"/>
            </a:xfrm>
            <a:prstGeom prst="rect">
              <a:avLst/>
            </a:prstGeom>
          </p:spPr>
        </p:pic>
        <p:sp>
          <p:nvSpPr>
            <p:cNvPr id="392" name="textbox 392"/>
            <p:cNvSpPr/>
            <p:nvPr/>
          </p:nvSpPr>
          <p:spPr>
            <a:xfrm>
              <a:off x="-12700" y="-12700"/>
              <a:ext cx="1310639" cy="3816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85115" algn="l" rtl="0" eaLnBrk="0">
                <a:lnSpc>
                  <a:spcPct val="96000"/>
                </a:lnSpc>
                <a:spcBef>
                  <a:spcPts val="3"/>
                </a:spcBef>
                <a:tabLst/>
              </a:pP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用户推荐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 rot="21600000">
            <a:off x="9582315" y="1440357"/>
            <a:ext cx="1284884" cy="338467"/>
            <a:chOff x="0" y="0"/>
            <a:chExt cx="1284884" cy="338467"/>
          </a:xfrm>
        </p:grpSpPr>
        <p:pic>
          <p:nvPicPr>
            <p:cNvPr id="394" name="picture 394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21600000">
              <a:off x="0" y="0"/>
              <a:ext cx="1284884" cy="338467"/>
            </a:xfrm>
            <a:prstGeom prst="rect">
              <a:avLst/>
            </a:prstGeom>
          </p:spPr>
        </p:pic>
        <p:sp>
          <p:nvSpPr>
            <p:cNvPr id="396" name="textbox 396"/>
            <p:cNvSpPr/>
            <p:nvPr/>
          </p:nvSpPr>
          <p:spPr>
            <a:xfrm>
              <a:off x="-12700" y="-12700"/>
              <a:ext cx="1310639" cy="3835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83209" algn="l" rtl="0" eaLnBrk="0">
                <a:lnSpc>
                  <a:spcPct val="95000"/>
                </a:lnSpc>
                <a:spcBef>
                  <a:spcPts val="6"/>
                </a:spcBef>
                <a:tabLst/>
              </a:pP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在线留言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398" name="picture 39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6519785" y="2596553"/>
            <a:ext cx="1284871" cy="338467"/>
          </a:xfrm>
          <a:prstGeom prst="rect">
            <a:avLst/>
          </a:prstGeom>
        </p:spPr>
      </p:pic>
      <p:pic>
        <p:nvPicPr>
          <p:cNvPr id="400" name="picture 40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6519785" y="2979687"/>
            <a:ext cx="1284871" cy="338467"/>
          </a:xfrm>
          <a:prstGeom prst="rect">
            <a:avLst/>
          </a:prstGeom>
        </p:spPr>
      </p:pic>
      <p:graphicFrame>
        <p:nvGraphicFramePr>
          <p:cNvPr id="402" name="table 402"/>
          <p:cNvGraphicFramePr>
            <a:graphicFrameLocks noGrp="1"/>
          </p:cNvGraphicFramePr>
          <p:nvPr/>
        </p:nvGraphicFramePr>
        <p:xfrm>
          <a:off x="7992427" y="1440357"/>
          <a:ext cx="1284605" cy="338454"/>
        </p:xfrm>
        <a:graphic>
          <a:graphicData uri="http://schemas.openxmlformats.org/drawingml/2006/table">
            <a:tbl>
              <a:tblPr/>
              <a:tblGrid>
                <a:gridCol w="1284605"/>
              </a:tblGrid>
              <a:tr h="3321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87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活动参与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04" name="table 404"/>
          <p:cNvGraphicFramePr>
            <a:graphicFrameLocks noGrp="1"/>
          </p:cNvGraphicFramePr>
          <p:nvPr/>
        </p:nvGraphicFramePr>
        <p:xfrm>
          <a:off x="3283102" y="4337087"/>
          <a:ext cx="1284604" cy="338454"/>
        </p:xfrm>
        <a:graphic>
          <a:graphicData uri="http://schemas.openxmlformats.org/drawingml/2006/table">
            <a:tbl>
              <a:tblPr/>
              <a:tblGrid>
                <a:gridCol w="1284604"/>
              </a:tblGrid>
              <a:tr h="3321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875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会员规则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06" name="table 406"/>
          <p:cNvGraphicFramePr>
            <a:graphicFrameLocks noGrp="1"/>
          </p:cNvGraphicFramePr>
          <p:nvPr/>
        </p:nvGraphicFramePr>
        <p:xfrm>
          <a:off x="3283102" y="2596553"/>
          <a:ext cx="1284604" cy="338454"/>
        </p:xfrm>
        <a:graphic>
          <a:graphicData uri="http://schemas.openxmlformats.org/drawingml/2006/table">
            <a:tbl>
              <a:tblPr/>
              <a:tblGrid>
                <a:gridCol w="1284604"/>
              </a:tblGrid>
              <a:tr h="3321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0509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在线直销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2" name="group 32"/>
          <p:cNvGrpSpPr/>
          <p:nvPr/>
        </p:nvGrpSpPr>
        <p:grpSpPr>
          <a:xfrm rot="21600000">
            <a:off x="9959683" y="2932176"/>
            <a:ext cx="1284871" cy="338467"/>
            <a:chOff x="0" y="0"/>
            <a:chExt cx="1284871" cy="338467"/>
          </a:xfrm>
        </p:grpSpPr>
        <p:pic>
          <p:nvPicPr>
            <p:cNvPr id="408" name="picture 408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0" y="0"/>
              <a:ext cx="1284871" cy="338467"/>
            </a:xfrm>
            <a:prstGeom prst="rect">
              <a:avLst/>
            </a:prstGeom>
          </p:spPr>
        </p:pic>
        <p:sp>
          <p:nvSpPr>
            <p:cNvPr id="410" name="textbox 410"/>
            <p:cNvSpPr/>
            <p:nvPr/>
          </p:nvSpPr>
          <p:spPr>
            <a:xfrm>
              <a:off x="-12700" y="-12700"/>
              <a:ext cx="1310639" cy="3816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90500" algn="l" rtl="0" eaLnBrk="0">
                <a:lnSpc>
                  <a:spcPct val="95000"/>
                </a:lnSpc>
                <a:spcBef>
                  <a:spcPts val="2"/>
                </a:spcBef>
                <a:tabLst/>
              </a:pP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优惠券管理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412" name="picture 41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6519785" y="3368599"/>
            <a:ext cx="1284871" cy="338467"/>
          </a:xfrm>
          <a:prstGeom prst="rect">
            <a:avLst/>
          </a:prstGeom>
        </p:spPr>
      </p:pic>
      <p:sp>
        <p:nvSpPr>
          <p:cNvPr id="414" name="textbox 414"/>
          <p:cNvSpPr/>
          <p:nvPr/>
        </p:nvSpPr>
        <p:spPr>
          <a:xfrm>
            <a:off x="6776640" y="4409843"/>
            <a:ext cx="772159" cy="611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95000"/>
              </a:lnSpc>
              <a:tabLst/>
            </a:pPr>
            <a:r>
              <a:rPr sz="14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内容生成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5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效果监测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6" name="textbox 416"/>
          <p:cNvSpPr/>
          <p:nvPr/>
        </p:nvSpPr>
        <p:spPr>
          <a:xfrm>
            <a:off x="5377297" y="4409655"/>
            <a:ext cx="770255" cy="611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5000"/>
              </a:lnSpc>
              <a:tabLst/>
            </a:pPr>
            <a:r>
              <a:rPr sz="1400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素材管理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2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投放渠道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418" name="table 418"/>
          <p:cNvGraphicFramePr>
            <a:graphicFrameLocks noGrp="1"/>
          </p:cNvGraphicFramePr>
          <p:nvPr/>
        </p:nvGraphicFramePr>
        <p:xfrm>
          <a:off x="272199" y="3179012"/>
          <a:ext cx="991235" cy="415290"/>
        </p:xfrm>
        <a:graphic>
          <a:graphicData uri="http://schemas.openxmlformats.org/drawingml/2006/table">
            <a:tbl>
              <a:tblPr/>
              <a:tblGrid>
                <a:gridCol w="991235"/>
              </a:tblGrid>
              <a:tr h="4089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4184" algn="l" rtl="0" eaLnBrk="0">
                        <a:lnSpc>
                          <a:spcPts val="1778"/>
                        </a:lnSpc>
                        <a:tabLst/>
                      </a:pPr>
                      <a:r>
                        <a:rPr sz="1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IS</a:t>
                      </a:r>
                      <a:endParaRPr sz="1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20" name="table 420"/>
          <p:cNvGraphicFramePr>
            <a:graphicFrameLocks noGrp="1"/>
          </p:cNvGraphicFramePr>
          <p:nvPr/>
        </p:nvGraphicFramePr>
        <p:xfrm>
          <a:off x="272199" y="5365178"/>
          <a:ext cx="991235" cy="415289"/>
        </p:xfrm>
        <a:graphic>
          <a:graphicData uri="http://schemas.openxmlformats.org/drawingml/2006/table">
            <a:tbl>
              <a:tblPr/>
              <a:tblGrid>
                <a:gridCol w="991235"/>
              </a:tblGrid>
              <a:tr h="4089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8110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美的金融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22" name="table 422"/>
          <p:cNvGraphicFramePr>
            <a:graphicFrameLocks noGrp="1"/>
          </p:cNvGraphicFramePr>
          <p:nvPr/>
        </p:nvGraphicFramePr>
        <p:xfrm>
          <a:off x="272199" y="4825809"/>
          <a:ext cx="991235" cy="415289"/>
        </p:xfrm>
        <a:graphic>
          <a:graphicData uri="http://schemas.openxmlformats.org/drawingml/2006/table">
            <a:tbl>
              <a:tblPr/>
              <a:tblGrid>
                <a:gridCol w="991235"/>
              </a:tblGrid>
              <a:tr h="4089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7475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短信平台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24" name="table 424"/>
          <p:cNvGraphicFramePr>
            <a:graphicFrameLocks noGrp="1"/>
          </p:cNvGraphicFramePr>
          <p:nvPr/>
        </p:nvGraphicFramePr>
        <p:xfrm>
          <a:off x="272199" y="2596210"/>
          <a:ext cx="991235" cy="415290"/>
        </p:xfrm>
        <a:graphic>
          <a:graphicData uri="http://schemas.openxmlformats.org/drawingml/2006/table">
            <a:tbl>
              <a:tblPr/>
              <a:tblGrid>
                <a:gridCol w="991235"/>
              </a:tblGrid>
              <a:tr h="4089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4939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选配平台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26" name="table 426"/>
          <p:cNvGraphicFramePr>
            <a:graphicFrameLocks noGrp="1"/>
          </p:cNvGraphicFramePr>
          <p:nvPr/>
        </p:nvGraphicFramePr>
        <p:xfrm>
          <a:off x="272186" y="3758031"/>
          <a:ext cx="991235" cy="415289"/>
        </p:xfrm>
        <a:graphic>
          <a:graphicData uri="http://schemas.openxmlformats.org/drawingml/2006/table">
            <a:tbl>
              <a:tblPr/>
              <a:tblGrid>
                <a:gridCol w="991235"/>
              </a:tblGrid>
              <a:tr h="4089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900" algn="l" rtl="0" eaLnBrk="0">
                        <a:lnSpc>
                          <a:spcPct val="7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CCS</a:t>
                      </a:r>
                      <a:endParaRPr sz="1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28" name="table 428"/>
          <p:cNvGraphicFramePr>
            <a:graphicFrameLocks noGrp="1"/>
          </p:cNvGraphicFramePr>
          <p:nvPr/>
        </p:nvGraphicFramePr>
        <p:xfrm>
          <a:off x="266268" y="4295812"/>
          <a:ext cx="991235" cy="415289"/>
        </p:xfrm>
        <a:graphic>
          <a:graphicData uri="http://schemas.openxmlformats.org/drawingml/2006/table">
            <a:tbl>
              <a:tblPr/>
              <a:tblGrid>
                <a:gridCol w="991235"/>
              </a:tblGrid>
              <a:tr h="4089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884" algn="l" rtl="0" eaLnBrk="0">
                        <a:lnSpc>
                          <a:spcPct val="7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CMDM</a:t>
                      </a:r>
                      <a:endParaRPr sz="1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0" name="textbox 430"/>
          <p:cNvSpPr/>
          <p:nvPr/>
        </p:nvSpPr>
        <p:spPr>
          <a:xfrm>
            <a:off x="1763440" y="4008586"/>
            <a:ext cx="1242694" cy="246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6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会员管理平台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2" name="textbox 432"/>
          <p:cNvSpPr/>
          <p:nvPr/>
        </p:nvSpPr>
        <p:spPr>
          <a:xfrm>
            <a:off x="5002960" y="2268039"/>
            <a:ext cx="1239519" cy="246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用户运营平台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4" name="textbox 434"/>
          <p:cNvSpPr/>
          <p:nvPr/>
        </p:nvSpPr>
        <p:spPr>
          <a:xfrm>
            <a:off x="1763238" y="2268039"/>
            <a:ext cx="1242694" cy="245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活动管理平台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6" name="textbox 436"/>
          <p:cNvSpPr/>
          <p:nvPr/>
        </p:nvSpPr>
        <p:spPr>
          <a:xfrm>
            <a:off x="5018760" y="4020931"/>
            <a:ext cx="1224280" cy="245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8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内容管理平台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8" name="textbox 438"/>
          <p:cNvSpPr/>
          <p:nvPr/>
        </p:nvSpPr>
        <p:spPr>
          <a:xfrm>
            <a:off x="8458239" y="2222351"/>
            <a:ext cx="933450" cy="244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MMP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升级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0" name="textbox 440"/>
          <p:cNvSpPr/>
          <p:nvPr/>
        </p:nvSpPr>
        <p:spPr>
          <a:xfrm>
            <a:off x="6779825" y="2655652"/>
            <a:ext cx="768984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用户标签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2" name="textbox 442"/>
          <p:cNvSpPr/>
          <p:nvPr/>
        </p:nvSpPr>
        <p:spPr>
          <a:xfrm>
            <a:off x="314940" y="2100599"/>
            <a:ext cx="771525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系统对接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4" name="textbox 444"/>
          <p:cNvSpPr/>
          <p:nvPr/>
        </p:nvSpPr>
        <p:spPr>
          <a:xfrm>
            <a:off x="6778701" y="3040284"/>
            <a:ext cx="770255" cy="227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运营指标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6" name="textbox 446"/>
          <p:cNvSpPr/>
          <p:nvPr/>
        </p:nvSpPr>
        <p:spPr>
          <a:xfrm>
            <a:off x="6780012" y="3429196"/>
            <a:ext cx="768984" cy="227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营销模型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8" name="textbox 448"/>
          <p:cNvSpPr/>
          <p:nvPr/>
        </p:nvSpPr>
        <p:spPr>
          <a:xfrm>
            <a:off x="466589" y="5991124"/>
            <a:ext cx="63182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大数据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0" name="textbox 450"/>
          <p:cNvSpPr/>
          <p:nvPr/>
        </p:nvSpPr>
        <p:spPr>
          <a:xfrm>
            <a:off x="10012518" y="4783540"/>
            <a:ext cx="650875" cy="2273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9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AR</a:t>
            </a:r>
            <a:r>
              <a:rPr sz="1400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体验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rect 452"/>
          <p:cNvSpPr/>
          <p:nvPr/>
        </p:nvSpPr>
        <p:spPr>
          <a:xfrm>
            <a:off x="1016127" y="4050410"/>
            <a:ext cx="9664065" cy="1291209"/>
          </a:xfrm>
          <a:prstGeom prst="rect">
            <a:avLst/>
          </a:prstGeom>
          <a:solidFill>
            <a:srgbClr val="D9D9D9">
              <a:alpha val="5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4" name="rect 454"/>
          <p:cNvSpPr/>
          <p:nvPr/>
        </p:nvSpPr>
        <p:spPr>
          <a:xfrm>
            <a:off x="1016508" y="6067044"/>
            <a:ext cx="10529316" cy="406908"/>
          </a:xfrm>
          <a:prstGeom prst="rect">
            <a:avLst/>
          </a:prstGeom>
          <a:solidFill>
            <a:srgbClr val="00AE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6" name="rect 456"/>
          <p:cNvSpPr/>
          <p:nvPr/>
        </p:nvSpPr>
        <p:spPr>
          <a:xfrm>
            <a:off x="1016508" y="5530595"/>
            <a:ext cx="10529316" cy="406908"/>
          </a:xfrm>
          <a:prstGeom prst="rect">
            <a:avLst/>
          </a:prstGeom>
          <a:solidFill>
            <a:srgbClr val="00AE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8" name="textbox 458"/>
          <p:cNvSpPr/>
          <p:nvPr/>
        </p:nvSpPr>
        <p:spPr>
          <a:xfrm>
            <a:off x="1003808" y="5616681"/>
            <a:ext cx="10554969" cy="762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>
                <a:tab pos="4814570" algn="l"/>
              </a:tabLst>
            </a:pP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KM</a:t>
            </a:r>
            <a:r>
              <a:rPr sz="15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知识库                           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4226"/>
              </a:lnSpc>
              <a:tabLst>
                <a:tab pos="4974590" algn="l"/>
              </a:tabLst>
            </a:pP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大数据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                                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0" name="rect 460"/>
          <p:cNvSpPr/>
          <p:nvPr/>
        </p:nvSpPr>
        <p:spPr>
          <a:xfrm>
            <a:off x="1016127" y="3224162"/>
            <a:ext cx="9664065" cy="697635"/>
          </a:xfrm>
          <a:prstGeom prst="rect">
            <a:avLst/>
          </a:prstGeom>
          <a:solidFill>
            <a:srgbClr val="D9D9D9">
              <a:alpha val="5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62" name="picture 4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9777" y="2135123"/>
            <a:ext cx="6852628" cy="948042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 rot="21600000">
            <a:off x="2263139" y="3927538"/>
            <a:ext cx="3339083" cy="1203769"/>
            <a:chOff x="0" y="0"/>
            <a:chExt cx="3339083" cy="1203769"/>
          </a:xfrm>
        </p:grpSpPr>
        <p:pic>
          <p:nvPicPr>
            <p:cNvPr id="464" name="picture 46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339083" cy="1203769"/>
            </a:xfrm>
            <a:prstGeom prst="rect">
              <a:avLst/>
            </a:prstGeom>
          </p:spPr>
        </p:pic>
        <p:sp>
          <p:nvSpPr>
            <p:cNvPr id="466" name="textbox 466"/>
            <p:cNvSpPr/>
            <p:nvPr/>
          </p:nvSpPr>
          <p:spPr>
            <a:xfrm>
              <a:off x="580332" y="28256"/>
              <a:ext cx="1438275" cy="11099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2103"/>
                </a:lnSpc>
                <a:tabLst/>
              </a:pPr>
              <a:r>
                <a:rPr sz="1500" b="1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90%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23"/>
                </a:spcBef>
                <a:tabLst/>
              </a:pP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智慧业务咨询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12700" algn="l" rtl="0" eaLnBrk="0">
                <a:lnSpc>
                  <a:spcPts val="2654"/>
                </a:lnSpc>
                <a:tabLst/>
              </a:pP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智慧营销推广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468" name="picture 4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61532" y="3927538"/>
            <a:ext cx="3339083" cy="1203769"/>
          </a:xfrm>
          <a:prstGeom prst="rect">
            <a:avLst/>
          </a:prstGeom>
        </p:spPr>
      </p:pic>
      <p:sp>
        <p:nvSpPr>
          <p:cNvPr id="470" name="textbox 470"/>
          <p:cNvSpPr/>
          <p:nvPr/>
        </p:nvSpPr>
        <p:spPr>
          <a:xfrm>
            <a:off x="316991" y="813816"/>
            <a:ext cx="11224259" cy="3175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06045" algn="l" rtl="0" eaLnBrk="0">
              <a:lnSpc>
                <a:spcPts val="1771"/>
              </a:lnSpc>
              <a:spcBef>
                <a:spcPts val="2"/>
              </a:spcBef>
              <a:tabLst/>
            </a:pPr>
            <a:r>
              <a:rPr sz="1400" kern="0" spc="40" dirty="0">
                <a:solidFill>
                  <a:srgbClr val="1F4E79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400" kern="0" spc="4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以用户体验为中心</a:t>
            </a:r>
            <a:r>
              <a:rPr sz="1400" kern="0" spc="-2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，依托互联网和物联网技术</a:t>
            </a:r>
            <a:r>
              <a:rPr sz="1400" kern="0" spc="-2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kern="0" spc="-2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融入图片</a:t>
            </a:r>
            <a:r>
              <a:rPr sz="1400" kern="0" spc="-2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，视频</a:t>
            </a:r>
            <a:r>
              <a:rPr sz="1400" kern="0" spc="-2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，动画</a:t>
            </a:r>
            <a:r>
              <a:rPr sz="1400" kern="0" spc="-2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3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，语音等多媒体</a:t>
            </a:r>
            <a:r>
              <a:rPr sz="1400" kern="0" spc="-1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3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，打造全渠道智慧客服平台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72" name="rect 472"/>
          <p:cNvSpPr/>
          <p:nvPr/>
        </p:nvSpPr>
        <p:spPr>
          <a:xfrm>
            <a:off x="5713475" y="1312164"/>
            <a:ext cx="4974335" cy="696467"/>
          </a:xfrm>
          <a:prstGeom prst="rect">
            <a:avLst/>
          </a:prstGeom>
          <a:solidFill>
            <a:srgbClr val="00AE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74" name="textbox 474"/>
          <p:cNvSpPr/>
          <p:nvPr/>
        </p:nvSpPr>
        <p:spPr>
          <a:xfrm>
            <a:off x="1656587" y="3407663"/>
            <a:ext cx="8723630" cy="376554"/>
          </a:xfrm>
          <a:prstGeom prst="rect">
            <a:avLst/>
          </a:prstGeom>
          <a:solidFill>
            <a:srgbClr val="00AE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81330" algn="l" rtl="0" eaLnBrk="0">
              <a:lnSpc>
                <a:spcPts val="2103"/>
              </a:lnSpc>
              <a:spcBef>
                <a:spcPts val="1"/>
              </a:spcBef>
              <a:tabLst/>
            </a:pP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销售咨询              服务咨询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</a:t>
            </a: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备件咨询</a:t>
            </a:r>
            <a:r>
              <a:rPr sz="1500" b="1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</a:t>
            </a: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服务支援         </a:t>
            </a: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VIP</a:t>
            </a:r>
            <a:r>
              <a:rPr sz="1500" b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服务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76" name="rect 476"/>
          <p:cNvSpPr/>
          <p:nvPr/>
        </p:nvSpPr>
        <p:spPr>
          <a:xfrm>
            <a:off x="1016508" y="1312164"/>
            <a:ext cx="4585715" cy="696467"/>
          </a:xfrm>
          <a:prstGeom prst="rect">
            <a:avLst/>
          </a:prstGeom>
          <a:solidFill>
            <a:srgbClr val="00AE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78" name="textbox 478"/>
          <p:cNvSpPr/>
          <p:nvPr/>
        </p:nvSpPr>
        <p:spPr>
          <a:xfrm>
            <a:off x="402281" y="258171"/>
            <a:ext cx="6290945" cy="473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528"/>
              </a:lnSpc>
              <a:tabLst/>
            </a:pP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智慧客服—智能化/知识化/透明化/工具化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36" name="group 36"/>
          <p:cNvGrpSpPr/>
          <p:nvPr/>
        </p:nvGrpSpPr>
        <p:grpSpPr>
          <a:xfrm rot="21600000">
            <a:off x="316991" y="1327403"/>
            <a:ext cx="446531" cy="5417820"/>
            <a:chOff x="0" y="0"/>
            <a:chExt cx="446531" cy="5417820"/>
          </a:xfrm>
        </p:grpSpPr>
        <p:sp>
          <p:nvSpPr>
            <p:cNvPr id="480" name="path 480"/>
            <p:cNvSpPr/>
            <p:nvPr/>
          </p:nvSpPr>
          <p:spPr>
            <a:xfrm>
              <a:off x="0" y="0"/>
              <a:ext cx="446531" cy="5417820"/>
            </a:xfrm>
            <a:custGeom>
              <a:avLst/>
              <a:gdLst/>
              <a:ahLst/>
              <a:cxnLst/>
              <a:rect l="0" t="0" r="0" b="0"/>
              <a:pathLst>
                <a:path w="703" h="8532">
                  <a:moveTo>
                    <a:pt x="0" y="0"/>
                  </a:moveTo>
                  <a:lnTo>
                    <a:pt x="703" y="0"/>
                  </a:lnTo>
                  <a:lnTo>
                    <a:pt x="703" y="1048"/>
                  </a:lnTo>
                  <a:lnTo>
                    <a:pt x="0" y="1048"/>
                  </a:lnTo>
                  <a:lnTo>
                    <a:pt x="0" y="0"/>
                  </a:lnTo>
                  <a:close/>
                </a:path>
                <a:path w="703" h="8532">
                  <a:moveTo>
                    <a:pt x="0" y="1305"/>
                  </a:moveTo>
                  <a:lnTo>
                    <a:pt x="703" y="1305"/>
                  </a:lnTo>
                  <a:lnTo>
                    <a:pt x="703" y="2755"/>
                  </a:lnTo>
                  <a:lnTo>
                    <a:pt x="0" y="2755"/>
                  </a:lnTo>
                  <a:lnTo>
                    <a:pt x="0" y="1305"/>
                  </a:lnTo>
                  <a:close/>
                </a:path>
                <a:path w="703" h="8532">
                  <a:moveTo>
                    <a:pt x="0" y="3012"/>
                  </a:moveTo>
                  <a:lnTo>
                    <a:pt x="703" y="3012"/>
                  </a:lnTo>
                  <a:lnTo>
                    <a:pt x="703" y="4060"/>
                  </a:lnTo>
                  <a:lnTo>
                    <a:pt x="0" y="4060"/>
                  </a:lnTo>
                  <a:lnTo>
                    <a:pt x="0" y="3012"/>
                  </a:lnTo>
                  <a:close/>
                </a:path>
                <a:path w="703" h="8532">
                  <a:moveTo>
                    <a:pt x="0" y="4341"/>
                  </a:moveTo>
                  <a:lnTo>
                    <a:pt x="703" y="4341"/>
                  </a:lnTo>
                  <a:lnTo>
                    <a:pt x="703" y="6297"/>
                  </a:lnTo>
                  <a:lnTo>
                    <a:pt x="0" y="6297"/>
                  </a:lnTo>
                  <a:lnTo>
                    <a:pt x="0" y="4341"/>
                  </a:lnTo>
                  <a:close/>
                </a:path>
                <a:path w="703" h="8532">
                  <a:moveTo>
                    <a:pt x="0" y="6575"/>
                  </a:moveTo>
                  <a:lnTo>
                    <a:pt x="703" y="6575"/>
                  </a:lnTo>
                  <a:lnTo>
                    <a:pt x="703" y="8532"/>
                  </a:lnTo>
                  <a:lnTo>
                    <a:pt x="0" y="8532"/>
                  </a:lnTo>
                  <a:lnTo>
                    <a:pt x="0" y="6575"/>
                  </a:lnTo>
                  <a:close/>
                </a:path>
              </a:pathLst>
            </a:custGeom>
            <a:solidFill>
              <a:srgbClr val="00AEE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82" name="textbox 482"/>
            <p:cNvSpPr/>
            <p:nvPr/>
          </p:nvSpPr>
          <p:spPr>
            <a:xfrm>
              <a:off x="-36269" y="-12700"/>
              <a:ext cx="495934" cy="54438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eaVert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28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80010" algn="l" rtl="0" eaLnBrk="0">
                <a:lnSpc>
                  <a:spcPct val="93000"/>
                </a:lnSpc>
                <a:tabLst/>
              </a:pPr>
              <a:r>
                <a:rPr sz="1800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客</a:t>
              </a:r>
              <a:r>
                <a:rPr sz="1800" kern="0" spc="-1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800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户      渠</a:t>
              </a:r>
              <a:r>
                <a:rPr sz="1800" kern="0" spc="-1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800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道</a:t>
              </a:r>
              <a:r>
                <a:rPr sz="18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</a:t>
              </a:r>
              <a:r>
                <a:rPr sz="1800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业 务 </a:t>
              </a:r>
              <a:r>
                <a:rPr sz="18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智</a:t>
              </a:r>
              <a:r>
                <a:rPr sz="1800" kern="0" spc="-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8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慧 服</a:t>
              </a:r>
              <a:r>
                <a:rPr sz="1800" kern="0" spc="-1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8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务     平</a:t>
              </a:r>
              <a:r>
                <a:rPr sz="1800" kern="0" spc="-1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8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台</a:t>
              </a:r>
              <a:r>
                <a:rPr sz="1800" kern="0" spc="-1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8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</a:t>
              </a:r>
              <a:r>
                <a:rPr sz="1800" kern="0" spc="-1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8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持</a:t>
              </a:r>
              <a:endParaRPr sz="18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484" name="textbox 484"/>
          <p:cNvSpPr/>
          <p:nvPr/>
        </p:nvSpPr>
        <p:spPr>
          <a:xfrm>
            <a:off x="11065764" y="1312164"/>
            <a:ext cx="475615" cy="4029709"/>
          </a:xfrm>
          <a:prstGeom prst="rect">
            <a:avLst/>
          </a:prstGeom>
          <a:solidFill>
            <a:srgbClr val="00AE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336675" algn="l" rtl="0" eaLnBrk="0">
              <a:lnSpc>
                <a:spcPct val="93000"/>
              </a:lnSpc>
              <a:spcBef>
                <a:spcPts val="7"/>
              </a:spcBef>
              <a:tabLst/>
            </a:pP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</a:t>
            </a:r>
            <a:r>
              <a:rPr sz="1800" b="1" kern="0" spc="1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</a:t>
            </a:r>
            <a:r>
              <a:rPr sz="1800" b="1" kern="0" spc="1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8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销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86" name="picture 4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855245" y="2382253"/>
            <a:ext cx="617133" cy="618066"/>
          </a:xfrm>
          <a:prstGeom prst="rect">
            <a:avLst/>
          </a:prstGeom>
        </p:spPr>
      </p:pic>
      <p:sp>
        <p:nvSpPr>
          <p:cNvPr id="488" name="textbox 488"/>
          <p:cNvSpPr/>
          <p:nvPr/>
        </p:nvSpPr>
        <p:spPr>
          <a:xfrm>
            <a:off x="8348471" y="2135123"/>
            <a:ext cx="2339975" cy="299084"/>
          </a:xfrm>
          <a:prstGeom prst="rect">
            <a:avLst/>
          </a:prstGeom>
          <a:solidFill>
            <a:srgbClr val="7F7F7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5715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电话语音服务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90" name="textbox 490"/>
          <p:cNvSpPr/>
          <p:nvPr/>
        </p:nvSpPr>
        <p:spPr>
          <a:xfrm>
            <a:off x="3213873" y="2126004"/>
            <a:ext cx="2447289" cy="292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03"/>
              </a:lnSpc>
              <a:tabLst/>
            </a:pPr>
            <a:r>
              <a:rPr sz="1500" b="1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互联网/移动互联网</a:t>
            </a: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/物联网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92" name="textbox 492"/>
          <p:cNvSpPr/>
          <p:nvPr/>
        </p:nvSpPr>
        <p:spPr>
          <a:xfrm>
            <a:off x="4244892" y="4526454"/>
            <a:ext cx="1144905" cy="541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智慧业务办理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2595"/>
              </a:lnSpc>
              <a:tabLst/>
            </a:pPr>
            <a:r>
              <a:rPr sz="14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智慧数据分析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94" name="picture 49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37213" y="4285967"/>
            <a:ext cx="638749" cy="832909"/>
          </a:xfrm>
          <a:prstGeom prst="rect">
            <a:avLst/>
          </a:prstGeom>
        </p:spPr>
      </p:pic>
      <p:pic>
        <p:nvPicPr>
          <p:cNvPr id="496" name="picture 49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926336" y="4107179"/>
            <a:ext cx="765048" cy="667511"/>
          </a:xfrm>
          <a:prstGeom prst="rect">
            <a:avLst/>
          </a:prstGeom>
        </p:spPr>
      </p:pic>
      <p:pic>
        <p:nvPicPr>
          <p:cNvPr id="498" name="picture 49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922957" y="4104068"/>
            <a:ext cx="772376" cy="674586"/>
          </a:xfrm>
          <a:prstGeom prst="rect">
            <a:avLst/>
          </a:prstGeom>
        </p:spPr>
      </p:pic>
      <p:pic>
        <p:nvPicPr>
          <p:cNvPr id="500" name="picture 50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102095" y="4107179"/>
            <a:ext cx="765047" cy="667511"/>
          </a:xfrm>
          <a:prstGeom prst="rect">
            <a:avLst/>
          </a:prstGeom>
        </p:spPr>
      </p:pic>
      <p:graphicFrame>
        <p:nvGraphicFramePr>
          <p:cNvPr id="502" name="table 502"/>
          <p:cNvGraphicFramePr>
            <a:graphicFrameLocks noGrp="1"/>
          </p:cNvGraphicFramePr>
          <p:nvPr/>
        </p:nvGraphicFramePr>
        <p:xfrm>
          <a:off x="6098743" y="4104068"/>
          <a:ext cx="772160" cy="674370"/>
        </p:xfrm>
        <a:graphic>
          <a:graphicData uri="http://schemas.openxmlformats.org/drawingml/2006/table">
            <a:tbl>
              <a:tblPr/>
              <a:tblGrid>
                <a:gridCol w="772160"/>
              </a:tblGrid>
              <a:tr h="6680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ct val="8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</a:t>
                      </a:r>
                      <a:endParaRPr sz="18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95885" algn="l" rtl="0" eaLnBrk="0">
                        <a:lnSpc>
                          <a:spcPts val="2249"/>
                        </a:lnSpc>
                        <a:tabLst/>
                      </a:pPr>
                      <a:r>
                        <a:rPr sz="18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客服</a:t>
                      </a:r>
                      <a:endParaRPr sz="18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04" name="picture 50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000755" y="2525267"/>
            <a:ext cx="879347" cy="513588"/>
          </a:xfrm>
          <a:prstGeom prst="rect">
            <a:avLst/>
          </a:prstGeom>
        </p:spPr>
      </p:pic>
      <p:pic>
        <p:nvPicPr>
          <p:cNvPr id="506" name="picture 50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066788" y="2514600"/>
            <a:ext cx="627888" cy="481584"/>
          </a:xfrm>
          <a:prstGeom prst="rect">
            <a:avLst/>
          </a:prstGeom>
        </p:spPr>
      </p:pic>
      <p:sp>
        <p:nvSpPr>
          <p:cNvPr id="508" name="textbox 508"/>
          <p:cNvSpPr/>
          <p:nvPr/>
        </p:nvSpPr>
        <p:spPr>
          <a:xfrm>
            <a:off x="6557522" y="1435558"/>
            <a:ext cx="632459" cy="487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6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95000"/>
              </a:lnSpc>
              <a:tabLst/>
            </a:pPr>
            <a:r>
              <a:rPr sz="15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网点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91"/>
              </a:spcBef>
              <a:tabLst/>
            </a:pP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信息员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0" name="textbox 510"/>
          <p:cNvSpPr/>
          <p:nvPr/>
        </p:nvSpPr>
        <p:spPr>
          <a:xfrm>
            <a:off x="2006457" y="4164681"/>
            <a:ext cx="499744" cy="567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5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99000"/>
              </a:lnSpc>
              <a:tabLst/>
            </a:pPr>
            <a:r>
              <a:rPr sz="1800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智慧</a:t>
            </a: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客服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2" name="textbox 512"/>
          <p:cNvSpPr/>
          <p:nvPr/>
        </p:nvSpPr>
        <p:spPr>
          <a:xfrm>
            <a:off x="9589303" y="2454964"/>
            <a:ext cx="502284" cy="554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8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400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marL="28575" algn="l" rtl="0" eaLnBrk="0">
              <a:lnSpc>
                <a:spcPct val="93000"/>
              </a:lnSpc>
              <a:spcBef>
                <a:spcPts val="261"/>
              </a:spcBef>
              <a:tabLst/>
            </a:pPr>
            <a:r>
              <a:rPr sz="1800" b="1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电话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14" name="picture 5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201667" y="2575560"/>
            <a:ext cx="521208" cy="428244"/>
          </a:xfrm>
          <a:prstGeom prst="rect">
            <a:avLst/>
          </a:prstGeom>
        </p:spPr>
      </p:pic>
      <p:pic>
        <p:nvPicPr>
          <p:cNvPr id="516" name="picture 5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8730996" y="4503420"/>
            <a:ext cx="449580" cy="490727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 rot="21600000">
            <a:off x="10149102" y="2050427"/>
            <a:ext cx="467259" cy="467245"/>
            <a:chOff x="0" y="0"/>
            <a:chExt cx="467259" cy="467245"/>
          </a:xfrm>
        </p:grpSpPr>
        <p:pic>
          <p:nvPicPr>
            <p:cNvPr id="518" name="picture 51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467259" cy="467245"/>
            </a:xfrm>
            <a:prstGeom prst="rect">
              <a:avLst/>
            </a:prstGeom>
          </p:spPr>
        </p:pic>
        <p:sp>
          <p:nvSpPr>
            <p:cNvPr id="520" name="textbox 520"/>
            <p:cNvSpPr/>
            <p:nvPr/>
          </p:nvSpPr>
          <p:spPr>
            <a:xfrm>
              <a:off x="-12700" y="-12700"/>
              <a:ext cx="492759" cy="5270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21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9860" algn="l" rtl="0" eaLnBrk="0">
                <a:lnSpc>
                  <a:spcPct val="79000"/>
                </a:lnSpc>
                <a:tabLst/>
              </a:pPr>
              <a:r>
                <a:rPr sz="1400" b="1" kern="0" spc="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50</a:t>
              </a:r>
              <a:endParaRPr sz="1400" dirty="0">
                <a:latin typeface="DengXian"/>
                <a:ea typeface="DengXian"/>
                <a:cs typeface="DengXian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 rot="21600000">
            <a:off x="5979629" y="2050427"/>
            <a:ext cx="467258" cy="467245"/>
            <a:chOff x="0" y="0"/>
            <a:chExt cx="467258" cy="467245"/>
          </a:xfrm>
        </p:grpSpPr>
        <p:pic>
          <p:nvPicPr>
            <p:cNvPr id="522" name="picture 52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0" y="0"/>
              <a:ext cx="467258" cy="467245"/>
            </a:xfrm>
            <a:prstGeom prst="rect">
              <a:avLst/>
            </a:prstGeom>
          </p:spPr>
        </p:pic>
        <p:sp>
          <p:nvSpPr>
            <p:cNvPr id="524" name="textbox 524"/>
            <p:cNvSpPr/>
            <p:nvPr/>
          </p:nvSpPr>
          <p:spPr>
            <a:xfrm>
              <a:off x="-12700" y="-12700"/>
              <a:ext cx="492759" cy="5270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21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9860" algn="l" rtl="0" eaLnBrk="0">
                <a:lnSpc>
                  <a:spcPct val="79000"/>
                </a:lnSpc>
                <a:tabLst/>
              </a:pPr>
              <a:r>
                <a:rPr sz="1400" b="1" kern="0" spc="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50</a:t>
              </a:r>
              <a:endParaRPr sz="1400" dirty="0">
                <a:latin typeface="DengXian"/>
                <a:ea typeface="DengXian"/>
                <a:cs typeface="DengXian"/>
              </a:endParaRPr>
            </a:p>
          </p:txBody>
        </p:sp>
      </p:grpSp>
      <p:pic>
        <p:nvPicPr>
          <p:cNvPr id="526" name="picture 5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8460159" y="1429918"/>
            <a:ext cx="409520" cy="483413"/>
          </a:xfrm>
          <a:prstGeom prst="rect">
            <a:avLst/>
          </a:prstGeom>
        </p:spPr>
      </p:pic>
      <p:sp>
        <p:nvSpPr>
          <p:cNvPr id="528" name="textbox 528"/>
          <p:cNvSpPr/>
          <p:nvPr/>
        </p:nvSpPr>
        <p:spPr>
          <a:xfrm>
            <a:off x="4834403" y="1392007"/>
            <a:ext cx="430530" cy="530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indent="-4444" algn="l" rtl="0" eaLnBrk="0">
              <a:lnSpc>
                <a:spcPct val="111000"/>
              </a:lnSpc>
              <a:tabLst/>
            </a:pPr>
            <a:r>
              <a:rPr sz="15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VIP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0" name="textbox 530"/>
          <p:cNvSpPr/>
          <p:nvPr/>
        </p:nvSpPr>
        <p:spPr>
          <a:xfrm>
            <a:off x="9507832" y="1433533"/>
            <a:ext cx="428625" cy="489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4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270" algn="l" rtl="0" eaLnBrk="0">
              <a:lnSpc>
                <a:spcPct val="101000"/>
              </a:lnSpc>
              <a:tabLst/>
            </a:pP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销售</a:t>
            </a:r>
            <a:r>
              <a:rPr sz="15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公司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2" name="textbox 532"/>
          <p:cNvSpPr/>
          <p:nvPr/>
        </p:nvSpPr>
        <p:spPr>
          <a:xfrm>
            <a:off x="3265833" y="1436166"/>
            <a:ext cx="428625" cy="4870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indent="-2540" algn="l" rtl="0" eaLnBrk="0">
              <a:lnSpc>
                <a:spcPct val="101000"/>
              </a:lnSpc>
              <a:tabLst/>
            </a:pP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企业</a:t>
            </a:r>
            <a:r>
              <a:rPr sz="15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4" name="textbox 534"/>
          <p:cNvSpPr/>
          <p:nvPr/>
        </p:nvSpPr>
        <p:spPr>
          <a:xfrm>
            <a:off x="1886321" y="1436166"/>
            <a:ext cx="428625" cy="4870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indent="-2540" algn="l" rtl="0" eaLnBrk="0">
              <a:lnSpc>
                <a:spcPct val="101000"/>
              </a:lnSpc>
              <a:tabLst/>
            </a:pPr>
            <a:r>
              <a:rPr sz="15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个人</a:t>
            </a:r>
            <a:r>
              <a:rPr sz="15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6" name="textbox 536"/>
          <p:cNvSpPr/>
          <p:nvPr/>
        </p:nvSpPr>
        <p:spPr>
          <a:xfrm>
            <a:off x="7939857" y="1440217"/>
            <a:ext cx="426719" cy="482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indent="-5080" algn="l" rtl="0" eaLnBrk="0">
              <a:lnSpc>
                <a:spcPct val="100000"/>
              </a:lnSpc>
              <a:tabLst/>
            </a:pP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</a:t>
            </a:r>
            <a:r>
              <a:rPr sz="15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师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38" name="picture 53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6595871" y="2535935"/>
            <a:ext cx="406907" cy="425196"/>
          </a:xfrm>
          <a:prstGeom prst="rect">
            <a:avLst/>
          </a:prstGeom>
        </p:spPr>
      </p:pic>
      <p:pic>
        <p:nvPicPr>
          <p:cNvPr id="540" name="picture 54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3863378" y="5186667"/>
            <a:ext cx="345071" cy="481863"/>
          </a:xfrm>
          <a:prstGeom prst="rect">
            <a:avLst/>
          </a:prstGeom>
        </p:spPr>
      </p:pic>
      <p:pic>
        <p:nvPicPr>
          <p:cNvPr id="542" name="picture 54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2355659" y="2992069"/>
            <a:ext cx="345071" cy="481863"/>
          </a:xfrm>
          <a:prstGeom prst="rect">
            <a:avLst/>
          </a:prstGeom>
        </p:spPr>
      </p:pic>
      <p:pic>
        <p:nvPicPr>
          <p:cNvPr id="544" name="picture 54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10610431" y="3384638"/>
            <a:ext cx="481862" cy="345071"/>
          </a:xfrm>
          <a:prstGeom prst="rect">
            <a:avLst/>
          </a:prstGeom>
        </p:spPr>
      </p:pic>
      <p:pic>
        <p:nvPicPr>
          <p:cNvPr id="546" name="picture 54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7540573" y="2992069"/>
            <a:ext cx="345059" cy="481863"/>
          </a:xfrm>
          <a:prstGeom prst="rect">
            <a:avLst/>
          </a:prstGeom>
        </p:spPr>
      </p:pic>
      <p:pic>
        <p:nvPicPr>
          <p:cNvPr id="548" name="picture 54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6102057" y="5794362"/>
            <a:ext cx="345059" cy="481863"/>
          </a:xfrm>
          <a:prstGeom prst="rect">
            <a:avLst/>
          </a:prstGeom>
        </p:spPr>
      </p:pic>
      <p:pic>
        <p:nvPicPr>
          <p:cNvPr id="550" name="picture 55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8676678" y="5186667"/>
            <a:ext cx="345058" cy="481863"/>
          </a:xfrm>
          <a:prstGeom prst="rect">
            <a:avLst/>
          </a:prstGeom>
        </p:spPr>
      </p:pic>
      <p:pic>
        <p:nvPicPr>
          <p:cNvPr id="552" name="picture 55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4040720" y="2992069"/>
            <a:ext cx="345058" cy="481863"/>
          </a:xfrm>
          <a:prstGeom prst="rect">
            <a:avLst/>
          </a:prstGeom>
        </p:spPr>
      </p:pic>
      <p:pic>
        <p:nvPicPr>
          <p:cNvPr id="554" name="picture 55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5779973" y="2992069"/>
            <a:ext cx="345058" cy="481863"/>
          </a:xfrm>
          <a:prstGeom prst="rect">
            <a:avLst/>
          </a:prstGeom>
        </p:spPr>
      </p:pic>
      <p:pic>
        <p:nvPicPr>
          <p:cNvPr id="556" name="picture 55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9365399" y="2992069"/>
            <a:ext cx="345058" cy="481863"/>
          </a:xfrm>
          <a:prstGeom prst="rect">
            <a:avLst/>
          </a:prstGeom>
        </p:spPr>
      </p:pic>
      <p:pic>
        <p:nvPicPr>
          <p:cNvPr id="558" name="picture 55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2066713" y="2556475"/>
            <a:ext cx="392853" cy="417406"/>
          </a:xfrm>
          <a:prstGeom prst="rect">
            <a:avLst/>
          </a:prstGeom>
        </p:spPr>
      </p:pic>
      <p:pic>
        <p:nvPicPr>
          <p:cNvPr id="560" name="picture 56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5375452" y="2574035"/>
            <a:ext cx="403148" cy="385333"/>
          </a:xfrm>
          <a:prstGeom prst="rect">
            <a:avLst/>
          </a:prstGeom>
        </p:spPr>
      </p:pic>
      <p:pic>
        <p:nvPicPr>
          <p:cNvPr id="562" name="picture 56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1117309" y="2567876"/>
            <a:ext cx="328313" cy="441959"/>
          </a:xfrm>
          <a:prstGeom prst="rect">
            <a:avLst/>
          </a:prstGeom>
        </p:spPr>
      </p:pic>
      <p:sp>
        <p:nvSpPr>
          <p:cNvPr id="564" name="path 564"/>
          <p:cNvSpPr/>
          <p:nvPr/>
        </p:nvSpPr>
        <p:spPr>
          <a:xfrm>
            <a:off x="7993380" y="2253995"/>
            <a:ext cx="179831" cy="778764"/>
          </a:xfrm>
          <a:custGeom>
            <a:avLst/>
            <a:gdLst/>
            <a:ahLst/>
            <a:cxnLst/>
            <a:rect l="0" t="0" r="0" b="0"/>
            <a:pathLst>
              <a:path w="283" h="1226">
                <a:moveTo>
                  <a:pt x="283" y="1226"/>
                </a:moveTo>
                <a:lnTo>
                  <a:pt x="0" y="614"/>
                </a:lnTo>
                <a:lnTo>
                  <a:pt x="283" y="0"/>
                </a:lnTo>
                <a:lnTo>
                  <a:pt x="283" y="1226"/>
                </a:lnTo>
              </a:path>
            </a:pathLst>
          </a:custGeom>
          <a:solidFill>
            <a:srgbClr val="00AE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6" name="textbox 566"/>
          <p:cNvSpPr/>
          <p:nvPr/>
        </p:nvSpPr>
        <p:spPr>
          <a:xfrm>
            <a:off x="7734203" y="3955794"/>
            <a:ext cx="445769" cy="292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03"/>
              </a:lnSpc>
              <a:tabLst/>
            </a:pPr>
            <a:r>
              <a:rPr sz="1500" b="1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10%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68" name="picture 56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3011424" y="1476755"/>
            <a:ext cx="249936" cy="368808"/>
          </a:xfrm>
          <a:prstGeom prst="rect">
            <a:avLst/>
          </a:prstGeom>
        </p:spPr>
      </p:pic>
      <p:pic>
        <p:nvPicPr>
          <p:cNvPr id="570" name="picture 57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1412747" y="1476755"/>
            <a:ext cx="249936" cy="368808"/>
          </a:xfrm>
          <a:prstGeom prst="rect">
            <a:avLst/>
          </a:prstGeom>
        </p:spPr>
      </p:pic>
      <p:pic>
        <p:nvPicPr>
          <p:cNvPr id="572" name="picture 57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4506467" y="1476755"/>
            <a:ext cx="249935" cy="368808"/>
          </a:xfrm>
          <a:prstGeom prst="rect">
            <a:avLst/>
          </a:prstGeom>
        </p:spPr>
      </p:pic>
      <p:sp>
        <p:nvSpPr>
          <p:cNvPr id="574" name="textbox 574"/>
          <p:cNvSpPr/>
          <p:nvPr/>
        </p:nvSpPr>
        <p:spPr>
          <a:xfrm>
            <a:off x="5887821" y="2592564"/>
            <a:ext cx="261620" cy="297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indent="-3175" algn="l" rtl="0" eaLnBrk="0">
              <a:lnSpc>
                <a:spcPct val="99000"/>
              </a:lnSpc>
              <a:tabLst/>
            </a:pPr>
            <a:r>
              <a:rPr sz="900" b="1" kern="0" spc="2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论坛</a:t>
            </a:r>
            <a:r>
              <a:rPr sz="900" b="1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官网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6" name="textbox 576"/>
          <p:cNvSpPr/>
          <p:nvPr/>
        </p:nvSpPr>
        <p:spPr>
          <a:xfrm>
            <a:off x="4730744" y="2719213"/>
            <a:ext cx="262254" cy="153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微博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8" name="textbox 578"/>
          <p:cNvSpPr/>
          <p:nvPr/>
        </p:nvSpPr>
        <p:spPr>
          <a:xfrm>
            <a:off x="2578305" y="2633597"/>
            <a:ext cx="257809" cy="1543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900" b="1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邮件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0" name="textbox 580"/>
          <p:cNvSpPr/>
          <p:nvPr/>
        </p:nvSpPr>
        <p:spPr>
          <a:xfrm>
            <a:off x="1461479" y="2726049"/>
            <a:ext cx="271145" cy="144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b="1" kern="0" spc="2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APP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rect 582"/>
          <p:cNvSpPr/>
          <p:nvPr/>
        </p:nvSpPr>
        <p:spPr>
          <a:xfrm>
            <a:off x="1781111" y="5563666"/>
            <a:ext cx="858507" cy="174625"/>
          </a:xfrm>
          <a:prstGeom prst="rect">
            <a:avLst/>
          </a:prstGeom>
          <a:solidFill>
            <a:srgbClr val="DEEB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4" name="rect 584"/>
          <p:cNvSpPr/>
          <p:nvPr/>
        </p:nvSpPr>
        <p:spPr>
          <a:xfrm>
            <a:off x="1781111" y="5765190"/>
            <a:ext cx="858507" cy="181457"/>
          </a:xfrm>
          <a:prstGeom prst="rect">
            <a:avLst/>
          </a:prstGeom>
          <a:solidFill>
            <a:srgbClr val="DEEB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6" name="rect 586"/>
          <p:cNvSpPr/>
          <p:nvPr/>
        </p:nvSpPr>
        <p:spPr>
          <a:xfrm>
            <a:off x="1679447" y="2293620"/>
            <a:ext cx="1054608" cy="2935224"/>
          </a:xfrm>
          <a:prstGeom prst="rect">
            <a:avLst/>
          </a:prstGeom>
          <a:solidFill>
            <a:srgbClr val="DEEB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88" name="picture 5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19300" y="4476699"/>
            <a:ext cx="935558" cy="343217"/>
          </a:xfrm>
          <a:prstGeom prst="rect">
            <a:avLst/>
          </a:prstGeom>
        </p:spPr>
      </p:pic>
      <p:pic>
        <p:nvPicPr>
          <p:cNvPr id="590" name="picture 5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25650" y="2565349"/>
            <a:ext cx="929208" cy="1592579"/>
          </a:xfrm>
          <a:prstGeom prst="rect">
            <a:avLst/>
          </a:prstGeom>
        </p:spPr>
      </p:pic>
      <p:pic>
        <p:nvPicPr>
          <p:cNvPr id="592" name="picture 5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75701" y="2134819"/>
            <a:ext cx="1063739" cy="3926357"/>
          </a:xfrm>
          <a:prstGeom prst="rect">
            <a:avLst/>
          </a:prstGeom>
        </p:spPr>
      </p:pic>
      <p:sp>
        <p:nvSpPr>
          <p:cNvPr id="594" name="rect 594"/>
          <p:cNvSpPr/>
          <p:nvPr/>
        </p:nvSpPr>
        <p:spPr>
          <a:xfrm>
            <a:off x="3405644" y="2048255"/>
            <a:ext cx="2347455" cy="4110723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596" name="table 596"/>
          <p:cNvGraphicFramePr>
            <a:graphicFrameLocks noGrp="1"/>
          </p:cNvGraphicFramePr>
          <p:nvPr/>
        </p:nvGraphicFramePr>
        <p:xfrm>
          <a:off x="4351705" y="5398566"/>
          <a:ext cx="1130934" cy="200025"/>
        </p:xfrm>
        <a:graphic>
          <a:graphicData uri="http://schemas.openxmlformats.org/drawingml/2006/table">
            <a:tbl>
              <a:tblPr/>
              <a:tblGrid>
                <a:gridCol w="1130934"/>
              </a:tblGrid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240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咨询讨论类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98" name="picture 5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236440" y="5341416"/>
            <a:ext cx="1363129" cy="747712"/>
          </a:xfrm>
          <a:prstGeom prst="rect">
            <a:avLst/>
          </a:prstGeom>
        </p:spPr>
      </p:pic>
      <p:grpSp>
        <p:nvGrpSpPr>
          <p:cNvPr id="42" name="group 42"/>
          <p:cNvGrpSpPr/>
          <p:nvPr/>
        </p:nvGrpSpPr>
        <p:grpSpPr>
          <a:xfrm rot="21600000">
            <a:off x="3512531" y="3232510"/>
            <a:ext cx="277296" cy="574786"/>
            <a:chOff x="0" y="0"/>
            <a:chExt cx="277296" cy="574786"/>
          </a:xfrm>
        </p:grpSpPr>
        <p:pic>
          <p:nvPicPr>
            <p:cNvPr id="600" name="picture 6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277296" cy="560698"/>
            </a:xfrm>
            <a:prstGeom prst="rect">
              <a:avLst/>
            </a:prstGeom>
          </p:spPr>
        </p:pic>
        <p:sp>
          <p:nvSpPr>
            <p:cNvPr id="602" name="textbox 602"/>
            <p:cNvSpPr/>
            <p:nvPr/>
          </p:nvSpPr>
          <p:spPr>
            <a:xfrm>
              <a:off x="-24596" y="-12700"/>
              <a:ext cx="314959" cy="6007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eaVert" wrap="square" lIns="0" tIns="0" rIns="0" bIns="0"/>
            <a:lstStyle/>
            <a:p>
              <a:pPr algn="l" rtl="0" eaLnBrk="0">
                <a:lnSpc>
                  <a:spcPct val="119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49530" algn="l" rtl="0" eaLnBrk="0">
                <a:lnSpc>
                  <a:spcPct val="92000"/>
                </a:lnSpc>
                <a:tabLst/>
              </a:pPr>
              <a:r>
                <a:rPr sz="900" kern="0" spc="1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网页自助</a:t>
              </a:r>
              <a:endParaRPr sz="9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 rot="21600000">
            <a:off x="3519296" y="3912819"/>
            <a:ext cx="274358" cy="574791"/>
            <a:chOff x="0" y="0"/>
            <a:chExt cx="274358" cy="574791"/>
          </a:xfrm>
        </p:grpSpPr>
        <p:pic>
          <p:nvPicPr>
            <p:cNvPr id="604" name="picture 60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74358" cy="573252"/>
            </a:xfrm>
            <a:prstGeom prst="rect">
              <a:avLst/>
            </a:prstGeom>
          </p:spPr>
        </p:pic>
        <p:sp>
          <p:nvSpPr>
            <p:cNvPr id="606" name="textbox 606"/>
            <p:cNvSpPr/>
            <p:nvPr/>
          </p:nvSpPr>
          <p:spPr>
            <a:xfrm>
              <a:off x="-25042" y="-12700"/>
              <a:ext cx="312420" cy="6007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eaVert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43180" algn="l" rtl="0" eaLnBrk="0">
                <a:lnSpc>
                  <a:spcPct val="93000"/>
                </a:lnSpc>
                <a:spcBef>
                  <a:spcPts val="1"/>
                </a:spcBef>
                <a:tabLst/>
              </a:pPr>
              <a:r>
                <a:rPr sz="900" kern="0" spc="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微信自助</a:t>
              </a:r>
              <a:endParaRPr sz="9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aphicFrame>
        <p:nvGraphicFramePr>
          <p:cNvPr id="608" name="table 608"/>
          <p:cNvGraphicFramePr>
            <a:graphicFrameLocks noGrp="1"/>
          </p:cNvGraphicFramePr>
          <p:nvPr/>
        </p:nvGraphicFramePr>
        <p:xfrm>
          <a:off x="4008373" y="3071787"/>
          <a:ext cx="1664334" cy="2161539"/>
        </p:xfrm>
        <a:graphic>
          <a:graphicData uri="http://schemas.openxmlformats.org/drawingml/2006/table">
            <a:tbl>
              <a:tblPr/>
              <a:tblGrid>
                <a:gridCol w="1664334"/>
              </a:tblGrid>
              <a:tr h="21551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385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85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85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857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10" name="picture 6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457612" y="3078734"/>
            <a:ext cx="596163" cy="2179497"/>
          </a:xfrm>
          <a:prstGeom prst="rect">
            <a:avLst/>
          </a:prstGeom>
        </p:spPr>
      </p:pic>
      <p:sp>
        <p:nvSpPr>
          <p:cNvPr id="612" name="rect 612"/>
          <p:cNvSpPr/>
          <p:nvPr/>
        </p:nvSpPr>
        <p:spPr>
          <a:xfrm>
            <a:off x="4061459" y="3153155"/>
            <a:ext cx="140208" cy="2016251"/>
          </a:xfrm>
          <a:prstGeom prst="rect">
            <a:avLst/>
          </a:prstGeom>
          <a:solidFill>
            <a:srgbClr val="D2827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4" name="rect 614"/>
          <p:cNvSpPr/>
          <p:nvPr/>
        </p:nvSpPr>
        <p:spPr>
          <a:xfrm>
            <a:off x="4035552" y="2447544"/>
            <a:ext cx="166115" cy="554735"/>
          </a:xfrm>
          <a:prstGeom prst="rect">
            <a:avLst/>
          </a:prstGeom>
          <a:solidFill>
            <a:srgbClr val="D2827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6" name="rect 616"/>
          <p:cNvSpPr/>
          <p:nvPr/>
        </p:nvSpPr>
        <p:spPr>
          <a:xfrm>
            <a:off x="4061459" y="5341620"/>
            <a:ext cx="140208" cy="737615"/>
          </a:xfrm>
          <a:prstGeom prst="rect">
            <a:avLst/>
          </a:prstGeom>
          <a:solidFill>
            <a:srgbClr val="D2827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18" name="textbox 618"/>
          <p:cNvSpPr/>
          <p:nvPr/>
        </p:nvSpPr>
        <p:spPr>
          <a:xfrm>
            <a:off x="4036152" y="2434844"/>
            <a:ext cx="167639" cy="3657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18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17"/>
              </a:lnSpc>
              <a:tabLst>
                <a:tab pos="79375" algn="l"/>
              </a:tabLst>
            </a:pP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kern="0" spc="0" baseline="-2399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0" baseline="-2399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助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0" baseline="-2399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语</a:t>
            </a:r>
            <a:r>
              <a:rPr sz="900" kern="0" spc="-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0" baseline="-2399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音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用</a:t>
            </a:r>
            <a:r>
              <a:rPr sz="900" kern="0" spc="-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户</a:t>
            </a:r>
            <a:r>
              <a:rPr sz="900" kern="0" spc="-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 助 服</a:t>
            </a:r>
            <a:r>
              <a:rPr sz="900" kern="0" spc="-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务        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社</a:t>
            </a:r>
            <a:r>
              <a:rPr sz="900" kern="0" spc="-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 网</a:t>
            </a:r>
            <a:r>
              <a:rPr sz="900" kern="0" spc="-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站     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20" name="picture 6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502596" y="5315064"/>
            <a:ext cx="305650" cy="748029"/>
          </a:xfrm>
          <a:prstGeom prst="rect">
            <a:avLst/>
          </a:prstGeom>
        </p:spPr>
      </p:pic>
      <p:pic>
        <p:nvPicPr>
          <p:cNvPr id="622" name="picture 6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777703" y="5656719"/>
            <a:ext cx="324751" cy="132080"/>
          </a:xfrm>
          <a:prstGeom prst="rect">
            <a:avLst/>
          </a:prstGeom>
        </p:spPr>
      </p:pic>
      <p:sp>
        <p:nvSpPr>
          <p:cNvPr id="624" name="rect 624"/>
          <p:cNvSpPr/>
          <p:nvPr/>
        </p:nvSpPr>
        <p:spPr>
          <a:xfrm>
            <a:off x="6180594" y="2048255"/>
            <a:ext cx="1857400" cy="4110723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26" name="picture 6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879911" y="5523979"/>
            <a:ext cx="4103153" cy="864222"/>
          </a:xfrm>
          <a:prstGeom prst="rect">
            <a:avLst/>
          </a:prstGeom>
        </p:spPr>
      </p:pic>
      <p:sp>
        <p:nvSpPr>
          <p:cNvPr id="628" name="textbox 628"/>
          <p:cNvSpPr/>
          <p:nvPr/>
        </p:nvSpPr>
        <p:spPr>
          <a:xfrm>
            <a:off x="1778507" y="5341620"/>
            <a:ext cx="861694" cy="181610"/>
          </a:xfrm>
          <a:prstGeom prst="rect">
            <a:avLst/>
          </a:prstGeom>
          <a:solidFill>
            <a:srgbClr val="DEEB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5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6070" algn="l" rtl="0" eaLnBrk="0">
              <a:lnSpc>
                <a:spcPct val="97000"/>
              </a:lnSpc>
              <a:tabLst/>
            </a:pP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门店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30" name="textbox 630"/>
          <p:cNvSpPr/>
          <p:nvPr/>
        </p:nvSpPr>
        <p:spPr>
          <a:xfrm>
            <a:off x="8467344" y="5227320"/>
            <a:ext cx="1022985" cy="297179"/>
          </a:xfrm>
          <a:prstGeom prst="rect">
            <a:avLst/>
          </a:prstGeom>
          <a:solidFill>
            <a:srgbClr val="8497B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42570" algn="l" rtl="0" eaLnBrk="0">
              <a:lnSpc>
                <a:spcPct val="97000"/>
              </a:lnSpc>
              <a:spcBef>
                <a:spcPts val="2"/>
              </a:spcBef>
              <a:tabLst/>
            </a:pPr>
            <a:r>
              <a:rPr sz="10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用户评价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32" name="picture 6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73404" y="5210974"/>
            <a:ext cx="10074630" cy="1366673"/>
          </a:xfrm>
          <a:prstGeom prst="rect">
            <a:avLst/>
          </a:prstGeom>
        </p:spPr>
      </p:pic>
      <p:pic>
        <p:nvPicPr>
          <p:cNvPr id="634" name="picture 6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3502596" y="2360764"/>
            <a:ext cx="305650" cy="657402"/>
          </a:xfrm>
          <a:prstGeom prst="rect">
            <a:avLst/>
          </a:prstGeom>
        </p:spPr>
      </p:pic>
      <p:pic>
        <p:nvPicPr>
          <p:cNvPr id="636" name="picture 63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3777551" y="2668816"/>
            <a:ext cx="299021" cy="132003"/>
          </a:xfrm>
          <a:prstGeom prst="rect">
            <a:avLst/>
          </a:prstGeom>
        </p:spPr>
      </p:pic>
      <p:pic>
        <p:nvPicPr>
          <p:cNvPr id="638" name="picture 63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4230090" y="3173679"/>
            <a:ext cx="1384300" cy="1980425"/>
          </a:xfrm>
          <a:prstGeom prst="rect">
            <a:avLst/>
          </a:prstGeom>
        </p:spPr>
      </p:pic>
      <p:pic>
        <p:nvPicPr>
          <p:cNvPr id="640" name="picture 64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8448078" y="2030526"/>
            <a:ext cx="981926" cy="1297304"/>
          </a:xfrm>
          <a:prstGeom prst="rect">
            <a:avLst/>
          </a:prstGeom>
        </p:spPr>
      </p:pic>
      <p:sp>
        <p:nvSpPr>
          <p:cNvPr id="642" name="path 642"/>
          <p:cNvSpPr/>
          <p:nvPr/>
        </p:nvSpPr>
        <p:spPr>
          <a:xfrm>
            <a:off x="7972044" y="2569464"/>
            <a:ext cx="176783" cy="269747"/>
          </a:xfrm>
          <a:custGeom>
            <a:avLst/>
            <a:gdLst/>
            <a:ahLst/>
            <a:cxnLst/>
            <a:rect l="0" t="0" r="0" b="0"/>
            <a:pathLst>
              <a:path w="278" h="424">
                <a:moveTo>
                  <a:pt x="0" y="213"/>
                </a:moveTo>
                <a:lnTo>
                  <a:pt x="139" y="0"/>
                </a:lnTo>
                <a:lnTo>
                  <a:pt x="139" y="105"/>
                </a:lnTo>
                <a:lnTo>
                  <a:pt x="278" y="105"/>
                </a:lnTo>
                <a:lnTo>
                  <a:pt x="278" y="319"/>
                </a:lnTo>
                <a:lnTo>
                  <a:pt x="139" y="319"/>
                </a:lnTo>
                <a:lnTo>
                  <a:pt x="139" y="424"/>
                </a:lnTo>
                <a:lnTo>
                  <a:pt x="0" y="213"/>
                </a:lnTo>
              </a:path>
            </a:pathLst>
          </a:custGeom>
          <a:solidFill>
            <a:srgbClr val="96969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44" name="picture 64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5653087" y="2532214"/>
            <a:ext cx="388226" cy="132079"/>
          </a:xfrm>
          <a:prstGeom prst="rect">
            <a:avLst/>
          </a:prstGeom>
        </p:spPr>
      </p:pic>
      <p:graphicFrame>
        <p:nvGraphicFramePr>
          <p:cNvPr id="646" name="table 646"/>
          <p:cNvGraphicFramePr>
            <a:graphicFrameLocks noGrp="1"/>
          </p:cNvGraphicFramePr>
          <p:nvPr/>
        </p:nvGraphicFramePr>
        <p:xfrm>
          <a:off x="6565303" y="2487345"/>
          <a:ext cx="1133475" cy="254000"/>
        </p:xfrm>
        <a:graphic>
          <a:graphicData uri="http://schemas.openxmlformats.org/drawingml/2006/table">
            <a:tbl>
              <a:tblPr/>
              <a:tblGrid>
                <a:gridCol w="1133475"/>
              </a:tblGrid>
              <a:tr h="244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082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咨询在线解答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48" name="textbox 648"/>
          <p:cNvSpPr/>
          <p:nvPr/>
        </p:nvSpPr>
        <p:spPr>
          <a:xfrm>
            <a:off x="6277355" y="2377440"/>
            <a:ext cx="182879" cy="721359"/>
          </a:xfrm>
          <a:prstGeom prst="rect">
            <a:avLst/>
          </a:prstGeom>
          <a:solidFill>
            <a:srgbClr val="FFC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67310" algn="l" rtl="0" eaLnBrk="0">
              <a:lnSpc>
                <a:spcPct val="94000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 话</a:t>
            </a:r>
            <a:r>
              <a:rPr sz="9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坐 席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46" name="group 46"/>
          <p:cNvGrpSpPr/>
          <p:nvPr/>
        </p:nvGrpSpPr>
        <p:grpSpPr>
          <a:xfrm rot="21600000">
            <a:off x="6514630" y="2374836"/>
            <a:ext cx="1297913" cy="733425"/>
            <a:chOff x="0" y="0"/>
            <a:chExt cx="1297913" cy="733425"/>
          </a:xfrm>
        </p:grpSpPr>
        <p:pic>
          <p:nvPicPr>
            <p:cNvPr id="650" name="picture 650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0" y="0"/>
              <a:ext cx="1297913" cy="733425"/>
            </a:xfrm>
            <a:prstGeom prst="rect">
              <a:avLst/>
            </a:prstGeom>
          </p:spPr>
        </p:pic>
        <p:sp>
          <p:nvSpPr>
            <p:cNvPr id="652" name="textbox 652"/>
            <p:cNvSpPr/>
            <p:nvPr/>
          </p:nvSpPr>
          <p:spPr>
            <a:xfrm>
              <a:off x="-12700" y="-12700"/>
              <a:ext cx="1323339" cy="7715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19075" algn="l" rtl="0" eaLnBrk="0">
                <a:lnSpc>
                  <a:spcPct val="94000"/>
                </a:lnSpc>
                <a:spcBef>
                  <a:spcPts val="2"/>
                </a:spcBef>
                <a:tabLst/>
              </a:pP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引导互联网渠道</a:t>
              </a:r>
              <a:endParaRPr sz="9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654" name="picture 65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4575530" y="1740331"/>
            <a:ext cx="6180442" cy="969518"/>
          </a:xfrm>
          <a:prstGeom prst="rect">
            <a:avLst/>
          </a:prstGeom>
        </p:spPr>
      </p:pic>
      <p:sp>
        <p:nvSpPr>
          <p:cNvPr id="656" name="textbox 656"/>
          <p:cNvSpPr/>
          <p:nvPr/>
        </p:nvSpPr>
        <p:spPr>
          <a:xfrm>
            <a:off x="6277355" y="3229355"/>
            <a:ext cx="182879" cy="1066800"/>
          </a:xfrm>
          <a:prstGeom prst="rect">
            <a:avLst/>
          </a:prstGeom>
          <a:solidFill>
            <a:srgbClr val="FFC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87325" algn="l" rtl="0" eaLnBrk="0">
              <a:lnSpc>
                <a:spcPct val="93000"/>
              </a:lnSpc>
              <a:spcBef>
                <a:spcPts val="2"/>
              </a:spcBef>
              <a:tabLst/>
            </a:pPr>
            <a:r>
              <a:rPr sz="900" kern="0" spc="1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多媒体座席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658" name="table 658"/>
          <p:cNvGraphicFramePr>
            <a:graphicFrameLocks noGrp="1"/>
          </p:cNvGraphicFramePr>
          <p:nvPr/>
        </p:nvGraphicFramePr>
        <p:xfrm>
          <a:off x="4350639" y="3240570"/>
          <a:ext cx="1132840" cy="220345"/>
        </p:xfrm>
        <a:graphic>
          <a:graphicData uri="http://schemas.openxmlformats.org/drawingml/2006/table">
            <a:tbl>
              <a:tblPr/>
              <a:tblGrid>
                <a:gridCol w="1132840"/>
              </a:tblGrid>
              <a:tr h="2139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8929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产品购买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60" name="table 660"/>
          <p:cNvGraphicFramePr>
            <a:graphicFrameLocks noGrp="1"/>
          </p:cNvGraphicFramePr>
          <p:nvPr/>
        </p:nvGraphicFramePr>
        <p:xfrm>
          <a:off x="4350639" y="3458895"/>
          <a:ext cx="1132840" cy="220345"/>
        </p:xfrm>
        <a:graphic>
          <a:graphicData uri="http://schemas.openxmlformats.org/drawingml/2006/table">
            <a:tbl>
              <a:tblPr/>
              <a:tblGrid>
                <a:gridCol w="1132840"/>
              </a:tblGrid>
              <a:tr h="2108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884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自助报装报修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62" name="table 662"/>
          <p:cNvGraphicFramePr>
            <a:graphicFrameLocks noGrp="1"/>
          </p:cNvGraphicFramePr>
          <p:nvPr/>
        </p:nvGraphicFramePr>
        <p:xfrm>
          <a:off x="4350639" y="3670033"/>
          <a:ext cx="1132840" cy="220345"/>
        </p:xfrm>
        <a:graphic>
          <a:graphicData uri="http://schemas.openxmlformats.org/drawingml/2006/table">
            <a:tbl>
              <a:tblPr/>
              <a:tblGrid>
                <a:gridCol w="1132840"/>
              </a:tblGrid>
              <a:tr h="2108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9860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产品及使用说明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64" name="table 664"/>
          <p:cNvGraphicFramePr>
            <a:graphicFrameLocks noGrp="1"/>
          </p:cNvGraphicFramePr>
          <p:nvPr/>
        </p:nvGraphicFramePr>
        <p:xfrm>
          <a:off x="4350639" y="3938955"/>
          <a:ext cx="1132840" cy="220345"/>
        </p:xfrm>
        <a:graphic>
          <a:graphicData uri="http://schemas.openxmlformats.org/drawingml/2006/table">
            <a:tbl>
              <a:tblPr/>
              <a:tblGrid>
                <a:gridCol w="1132840"/>
              </a:tblGrid>
              <a:tr h="2108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8929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在线坐席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66" name="picture 66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5464111" y="3709428"/>
            <a:ext cx="854493" cy="385254"/>
          </a:xfrm>
          <a:prstGeom prst="rect">
            <a:avLst/>
          </a:prstGeom>
        </p:spPr>
      </p:pic>
      <p:sp>
        <p:nvSpPr>
          <p:cNvPr id="668" name="textbox 668"/>
          <p:cNvSpPr/>
          <p:nvPr/>
        </p:nvSpPr>
        <p:spPr>
          <a:xfrm>
            <a:off x="6277355" y="4424171"/>
            <a:ext cx="182879" cy="713740"/>
          </a:xfrm>
          <a:prstGeom prst="rect">
            <a:avLst/>
          </a:prstGeom>
          <a:solidFill>
            <a:srgbClr val="FFC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85089" algn="l" rtl="0" eaLnBrk="0">
              <a:lnSpc>
                <a:spcPct val="93000"/>
              </a:lnSpc>
              <a:tabLst/>
            </a:pPr>
            <a:r>
              <a:rPr sz="900" kern="0" spc="1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舆情坐席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70" name="picture 67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5463057" y="4727206"/>
            <a:ext cx="855548" cy="1029500"/>
          </a:xfrm>
          <a:prstGeom prst="rect">
            <a:avLst/>
          </a:prstGeom>
        </p:spPr>
      </p:pic>
      <p:pic>
        <p:nvPicPr>
          <p:cNvPr id="672" name="picture 67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3495180" y="4608614"/>
            <a:ext cx="299300" cy="576580"/>
          </a:xfrm>
          <a:prstGeom prst="rect">
            <a:avLst/>
          </a:prstGeom>
        </p:spPr>
      </p:pic>
      <p:grpSp>
        <p:nvGrpSpPr>
          <p:cNvPr id="48" name="group 48"/>
          <p:cNvGrpSpPr/>
          <p:nvPr/>
        </p:nvGrpSpPr>
        <p:grpSpPr>
          <a:xfrm rot="21600000">
            <a:off x="3449040" y="2264841"/>
            <a:ext cx="2247900" cy="3015120"/>
            <a:chOff x="0" y="0"/>
            <a:chExt cx="2247900" cy="3015120"/>
          </a:xfrm>
        </p:grpSpPr>
        <p:pic>
          <p:nvPicPr>
            <p:cNvPr id="674" name="picture 674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21600000">
              <a:off x="0" y="0"/>
              <a:ext cx="2247900" cy="3015120"/>
            </a:xfrm>
            <a:prstGeom prst="rect">
              <a:avLst/>
            </a:prstGeom>
          </p:spPr>
        </p:pic>
        <p:sp>
          <p:nvSpPr>
            <p:cNvPr id="676" name="textbox 676"/>
            <p:cNvSpPr/>
            <p:nvPr/>
          </p:nvSpPr>
          <p:spPr>
            <a:xfrm>
              <a:off x="-12700" y="-12700"/>
              <a:ext cx="2273300" cy="30778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86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98830" algn="l" rtl="0" eaLnBrk="0">
                <a:lnSpc>
                  <a:spcPct val="85000"/>
                </a:lnSpc>
                <a:tabLst/>
              </a:pPr>
              <a:r>
                <a:rPr sz="3200" b="1" kern="0" spc="-280" dirty="0">
                  <a:solidFill>
                    <a:srgbClr val="7F7F7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自助</a:t>
              </a:r>
              <a:endParaRPr sz="32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678" name="textbox 678"/>
          <p:cNvSpPr/>
          <p:nvPr/>
        </p:nvSpPr>
        <p:spPr>
          <a:xfrm>
            <a:off x="4115901" y="2059926"/>
            <a:ext cx="3383915" cy="292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103"/>
              </a:lnSpc>
              <a:tabLst/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</a:t>
            </a:r>
            <a:r>
              <a:rPr sz="1500" b="1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/智能</a:t>
            </a: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</a:t>
            </a: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</a:t>
            </a: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人人交互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0" name="textbox 680"/>
          <p:cNvSpPr/>
          <p:nvPr/>
        </p:nvSpPr>
        <p:spPr>
          <a:xfrm>
            <a:off x="6675607" y="5183892"/>
            <a:ext cx="835025" cy="245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社交推广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82" name="picture 68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6513435" y="4414240"/>
            <a:ext cx="1302970" cy="732587"/>
          </a:xfrm>
          <a:prstGeom prst="rect">
            <a:avLst/>
          </a:prstGeom>
        </p:spPr>
      </p:pic>
      <p:pic>
        <p:nvPicPr>
          <p:cNvPr id="684" name="picture 68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6514630" y="3219183"/>
            <a:ext cx="1297913" cy="1087183"/>
          </a:xfrm>
          <a:prstGeom prst="rect">
            <a:avLst/>
          </a:prstGeom>
        </p:spPr>
      </p:pic>
      <p:graphicFrame>
        <p:nvGraphicFramePr>
          <p:cNvPr id="686" name="table 686"/>
          <p:cNvGraphicFramePr>
            <a:graphicFrameLocks noGrp="1"/>
          </p:cNvGraphicFramePr>
          <p:nvPr/>
        </p:nvGraphicFramePr>
        <p:xfrm>
          <a:off x="6575882" y="3631095"/>
          <a:ext cx="1133475" cy="254000"/>
        </p:xfrm>
        <a:graphic>
          <a:graphicData uri="http://schemas.openxmlformats.org/drawingml/2006/table">
            <a:tbl>
              <a:tblPr/>
              <a:tblGrid>
                <a:gridCol w="1133475"/>
              </a:tblGrid>
              <a:tr h="244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0495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投诉抱怨即时答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88" name="table 688"/>
          <p:cNvGraphicFramePr>
            <a:graphicFrameLocks noGrp="1"/>
          </p:cNvGraphicFramePr>
          <p:nvPr/>
        </p:nvGraphicFramePr>
        <p:xfrm>
          <a:off x="6575882" y="3974731"/>
          <a:ext cx="1133475" cy="254000"/>
        </p:xfrm>
        <a:graphic>
          <a:graphicData uri="http://schemas.openxmlformats.org/drawingml/2006/table">
            <a:tbl>
              <a:tblPr/>
              <a:tblGrid>
                <a:gridCol w="1133475"/>
              </a:tblGrid>
              <a:tr h="244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0820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用户建议收集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90" name="table 690"/>
          <p:cNvGraphicFramePr>
            <a:graphicFrameLocks noGrp="1"/>
          </p:cNvGraphicFramePr>
          <p:nvPr/>
        </p:nvGraphicFramePr>
        <p:xfrm>
          <a:off x="6580123" y="4517491"/>
          <a:ext cx="1130934" cy="481329"/>
        </p:xfrm>
        <a:graphic>
          <a:graphicData uri="http://schemas.openxmlformats.org/drawingml/2006/table">
            <a:tbl>
              <a:tblPr/>
              <a:tblGrid>
                <a:gridCol w="1130935"/>
              </a:tblGrid>
              <a:tr h="2406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8929" algn="l" rtl="0" eaLnBrk="0">
                        <a:lnSpc>
                          <a:spcPct val="9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咨询解答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8295" algn="l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投诉处理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92" name="table 692"/>
          <p:cNvGraphicFramePr>
            <a:graphicFrameLocks noGrp="1"/>
          </p:cNvGraphicFramePr>
          <p:nvPr/>
        </p:nvGraphicFramePr>
        <p:xfrm>
          <a:off x="6575882" y="3287445"/>
          <a:ext cx="1133475" cy="254000"/>
        </p:xfrm>
        <a:graphic>
          <a:graphicData uri="http://schemas.openxmlformats.org/drawingml/2006/table">
            <a:tbl>
              <a:tblPr/>
              <a:tblGrid>
                <a:gridCol w="1133475"/>
              </a:tblGrid>
              <a:tr h="244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082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咨询在线解答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50" name="group 50"/>
          <p:cNvGrpSpPr/>
          <p:nvPr/>
        </p:nvGrpSpPr>
        <p:grpSpPr>
          <a:xfrm rot="21600000">
            <a:off x="6172568" y="2041258"/>
            <a:ext cx="1828533" cy="3228505"/>
            <a:chOff x="0" y="0"/>
            <a:chExt cx="1828533" cy="3228505"/>
          </a:xfrm>
        </p:grpSpPr>
        <p:pic>
          <p:nvPicPr>
            <p:cNvPr id="694" name="picture 694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0" y="0"/>
              <a:ext cx="1828533" cy="3228505"/>
            </a:xfrm>
            <a:prstGeom prst="rect">
              <a:avLst/>
            </a:prstGeom>
          </p:spPr>
        </p:pic>
        <p:sp>
          <p:nvSpPr>
            <p:cNvPr id="696" name="textbox 696"/>
            <p:cNvSpPr/>
            <p:nvPr/>
          </p:nvSpPr>
          <p:spPr>
            <a:xfrm>
              <a:off x="-12700" y="-12700"/>
              <a:ext cx="1854200" cy="32886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62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542290" algn="l" rtl="0" eaLnBrk="0">
                <a:lnSpc>
                  <a:spcPct val="86000"/>
                </a:lnSpc>
                <a:tabLst/>
              </a:pPr>
              <a:r>
                <a:rPr sz="3200" b="1" kern="0" spc="-100" dirty="0">
                  <a:solidFill>
                    <a:srgbClr val="7F7F7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帮助</a:t>
              </a:r>
              <a:endParaRPr sz="32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698" name="textbox 698"/>
          <p:cNvSpPr/>
          <p:nvPr/>
        </p:nvSpPr>
        <p:spPr>
          <a:xfrm>
            <a:off x="316991" y="813816"/>
            <a:ext cx="11224259" cy="31750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06045" algn="l" rtl="0" eaLnBrk="0">
              <a:lnSpc>
                <a:spcPts val="1904"/>
              </a:lnSpc>
              <a:spcBef>
                <a:spcPts val="1"/>
              </a:spcBef>
              <a:tabLst/>
            </a:pPr>
            <a:r>
              <a:rPr sz="1400" kern="0" spc="50" dirty="0">
                <a:solidFill>
                  <a:srgbClr val="1F4E79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400" kern="0" spc="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引入</a:t>
            </a:r>
            <a:r>
              <a:rPr sz="1400" kern="0" spc="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400" kern="0" spc="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/智能/拟人化机器人技术</a:t>
            </a:r>
            <a:r>
              <a:rPr sz="1400" kern="0" spc="-2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5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，通过</a:t>
            </a:r>
            <a:r>
              <a:rPr sz="1400" kern="0" spc="4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富媒体</a:t>
            </a:r>
            <a:r>
              <a:rPr sz="1400" kern="0" spc="-2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，让用户不用等待不用排队</a:t>
            </a:r>
            <a:r>
              <a:rPr sz="1400" kern="0" spc="-19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，让服务过程透明</a:t>
            </a:r>
            <a:r>
              <a:rPr sz="1400" kern="0" spc="-2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，信息透明</a:t>
            </a:r>
            <a:r>
              <a:rPr sz="1400" kern="0" spc="-20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1F4E7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，提高用户体验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00" name="picture 70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317779" y="2641091"/>
            <a:ext cx="790168" cy="2672207"/>
          </a:xfrm>
          <a:prstGeom prst="rect">
            <a:avLst/>
          </a:prstGeom>
        </p:spPr>
      </p:pic>
      <p:sp>
        <p:nvSpPr>
          <p:cNvPr id="702" name="textbox 702"/>
          <p:cNvSpPr/>
          <p:nvPr/>
        </p:nvSpPr>
        <p:spPr>
          <a:xfrm>
            <a:off x="3591115" y="5425276"/>
            <a:ext cx="154939" cy="564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794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舆情监控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704" name="table 704"/>
          <p:cNvGraphicFramePr>
            <a:graphicFrameLocks noGrp="1"/>
          </p:cNvGraphicFramePr>
          <p:nvPr/>
        </p:nvGraphicFramePr>
        <p:xfrm>
          <a:off x="4351705" y="5611291"/>
          <a:ext cx="1130934" cy="200025"/>
        </p:xfrm>
        <a:graphic>
          <a:graphicData uri="http://schemas.openxmlformats.org/drawingml/2006/table">
            <a:tbl>
              <a:tblPr/>
              <a:tblGrid>
                <a:gridCol w="1130934"/>
              </a:tblGrid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7970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购买意向类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06" name="table 706"/>
          <p:cNvGraphicFramePr>
            <a:graphicFrameLocks noGrp="1"/>
          </p:cNvGraphicFramePr>
          <p:nvPr/>
        </p:nvGraphicFramePr>
        <p:xfrm>
          <a:off x="4351705" y="5839891"/>
          <a:ext cx="1130934" cy="201294"/>
        </p:xfrm>
        <a:graphic>
          <a:graphicData uri="http://schemas.openxmlformats.org/drawingml/2006/table">
            <a:tbl>
              <a:tblPr/>
              <a:tblGrid>
                <a:gridCol w="1130934"/>
              </a:tblGrid>
              <a:tr h="1917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8295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抱怨信息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52" name="group 52"/>
          <p:cNvGrpSpPr/>
          <p:nvPr/>
        </p:nvGrpSpPr>
        <p:grpSpPr>
          <a:xfrm rot="21600000">
            <a:off x="3435032" y="5327916"/>
            <a:ext cx="2247900" cy="898792"/>
            <a:chOff x="0" y="0"/>
            <a:chExt cx="2247900" cy="898792"/>
          </a:xfrm>
        </p:grpSpPr>
        <p:pic>
          <p:nvPicPr>
            <p:cNvPr id="708" name="picture 708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 rot="21600000">
              <a:off x="0" y="0"/>
              <a:ext cx="2247900" cy="898792"/>
            </a:xfrm>
            <a:prstGeom prst="rect">
              <a:avLst/>
            </a:prstGeom>
          </p:spPr>
        </p:pic>
        <p:sp>
          <p:nvSpPr>
            <p:cNvPr id="710" name="textbox 710"/>
            <p:cNvSpPr/>
            <p:nvPr/>
          </p:nvSpPr>
          <p:spPr>
            <a:xfrm>
              <a:off x="-12700" y="-12700"/>
              <a:ext cx="2273300" cy="9613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6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55650" algn="l" rtl="0" eaLnBrk="0">
                <a:lnSpc>
                  <a:spcPct val="85000"/>
                </a:lnSpc>
                <a:spcBef>
                  <a:spcPts val="2"/>
                </a:spcBef>
                <a:tabLst/>
              </a:pPr>
              <a:r>
                <a:rPr sz="3200" b="1" kern="0" spc="-110" dirty="0">
                  <a:solidFill>
                    <a:srgbClr val="7F7F7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互助</a:t>
              </a:r>
              <a:endParaRPr sz="32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712" name="textbox 712"/>
          <p:cNvSpPr/>
          <p:nvPr/>
        </p:nvSpPr>
        <p:spPr>
          <a:xfrm>
            <a:off x="402294" y="326797"/>
            <a:ext cx="5471795" cy="396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4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6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智慧客服—让用户不用</a:t>
            </a: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等待不用排队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14" name="textbox 714"/>
          <p:cNvSpPr/>
          <p:nvPr/>
        </p:nvSpPr>
        <p:spPr>
          <a:xfrm>
            <a:off x="2971800" y="1280159"/>
            <a:ext cx="4836159" cy="329565"/>
          </a:xfrm>
          <a:prstGeom prst="rect">
            <a:avLst/>
          </a:prstGeom>
          <a:solidFill>
            <a:srgbClr val="D0CEC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240914" algn="l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交互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16" name="textbox 716"/>
          <p:cNvSpPr/>
          <p:nvPr/>
        </p:nvSpPr>
        <p:spPr>
          <a:xfrm>
            <a:off x="1923073" y="2315380"/>
            <a:ext cx="567690" cy="2442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4930" algn="l" rtl="0" eaLnBrk="0">
              <a:lnSpc>
                <a:spcPts val="1411"/>
              </a:lnSpc>
              <a:tabLst/>
            </a:pP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online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33019" algn="l" rtl="0" eaLnBrk="0">
              <a:lnSpc>
                <a:spcPct val="96000"/>
              </a:lnSpc>
              <a:spcBef>
                <a:spcPts val="1419"/>
              </a:spcBef>
              <a:tabLst/>
            </a:pP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400热线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51129" algn="l" rtl="0" eaLnBrk="0">
              <a:lnSpc>
                <a:spcPct val="96000"/>
              </a:lnSpc>
              <a:spcBef>
                <a:spcPts val="1273"/>
              </a:spcBef>
              <a:tabLst/>
            </a:pP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微信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58114" algn="l" rtl="0" eaLnBrk="0">
              <a:lnSpc>
                <a:spcPct val="97000"/>
              </a:lnSpc>
              <a:spcBef>
                <a:spcPts val="1223"/>
              </a:spcBef>
              <a:tabLst/>
            </a:pP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官网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52400" algn="l" rtl="0" eaLnBrk="0">
              <a:lnSpc>
                <a:spcPct val="96000"/>
              </a:lnSpc>
              <a:spcBef>
                <a:spcPts val="1411"/>
              </a:spcBef>
              <a:tabLst/>
            </a:pP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微博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56845" algn="l" rtl="0" eaLnBrk="0">
              <a:lnSpc>
                <a:spcPct val="88000"/>
              </a:lnSpc>
              <a:spcBef>
                <a:spcPts val="1398"/>
              </a:spcBef>
              <a:tabLst/>
            </a:pP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APP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社交媒体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18" name="textbox 718"/>
          <p:cNvSpPr/>
          <p:nvPr/>
        </p:nvSpPr>
        <p:spPr>
          <a:xfrm>
            <a:off x="630448" y="2699255"/>
            <a:ext cx="370204" cy="2574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6994" algn="l" rtl="0" eaLnBrk="0">
              <a:lnSpc>
                <a:spcPct val="101000"/>
              </a:lnSpc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发布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息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86994" algn="l" rtl="0" eaLnBrk="0">
              <a:lnSpc>
                <a:spcPct val="87000"/>
              </a:lnSpc>
              <a:spcBef>
                <a:spcPts val="1331"/>
              </a:spcBef>
              <a:tabLst/>
            </a:pP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博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86994" algn="l" rtl="0" eaLnBrk="0">
              <a:lnSpc>
                <a:spcPts val="2558"/>
              </a:lnSpc>
              <a:tabLst/>
            </a:pP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2234"/>
              </a:lnSpc>
              <a:tabLst/>
            </a:pPr>
            <a:r>
              <a:rPr sz="1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H5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6994" algn="l" rtl="0" eaLnBrk="0">
              <a:lnSpc>
                <a:spcPct val="96000"/>
              </a:lnSpc>
              <a:spcBef>
                <a:spcPts val="309"/>
              </a:spcBef>
              <a:tabLst/>
            </a:pP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91439" indent="-8889" algn="l" rtl="0" eaLnBrk="0">
              <a:lnSpc>
                <a:spcPct val="99000"/>
              </a:lnSpc>
              <a:spcBef>
                <a:spcPts val="778"/>
              </a:spcBef>
              <a:tabLst/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机的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78105" algn="l" rtl="0" eaLnBrk="0">
              <a:lnSpc>
                <a:spcPct val="94000"/>
              </a:lnSpc>
              <a:spcBef>
                <a:spcPts val="273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师推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3000"/>
              </a:lnSpc>
              <a:spcBef>
                <a:spcPts val="120"/>
              </a:spcBef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荐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27940" algn="l" rtl="0" eaLnBrk="0">
              <a:lnSpc>
                <a:spcPct val="94000"/>
              </a:lnSpc>
              <a:spcBef>
                <a:spcPts val="322"/>
              </a:spcBef>
              <a:tabLst/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展渠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56514" algn="l" rtl="0" eaLnBrk="0">
              <a:lnSpc>
                <a:spcPts val="323"/>
              </a:lnSpc>
              <a:spcBef>
                <a:spcPts val="6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……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20" name="textbox 720"/>
          <p:cNvSpPr/>
          <p:nvPr/>
        </p:nvSpPr>
        <p:spPr>
          <a:xfrm>
            <a:off x="352044" y="1280159"/>
            <a:ext cx="2576195" cy="329565"/>
          </a:xfrm>
          <a:prstGeom prst="rect">
            <a:avLst/>
          </a:prstGeom>
          <a:solidFill>
            <a:srgbClr val="D0CEC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758190" algn="l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用户服务需求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722" name="table 722"/>
          <p:cNvGraphicFramePr>
            <a:graphicFrameLocks noGrp="1"/>
          </p:cNvGraphicFramePr>
          <p:nvPr/>
        </p:nvGraphicFramePr>
        <p:xfrm>
          <a:off x="4236440" y="2438666"/>
          <a:ext cx="1384300" cy="573404"/>
        </p:xfrm>
        <a:graphic>
          <a:graphicData uri="http://schemas.openxmlformats.org/drawingml/2006/table">
            <a:tbl>
              <a:tblPr/>
              <a:tblGrid>
                <a:gridCol w="1384300"/>
              </a:tblGrid>
              <a:tr h="5543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D282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282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282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282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24" name="path 724"/>
          <p:cNvSpPr/>
          <p:nvPr/>
        </p:nvSpPr>
        <p:spPr>
          <a:xfrm>
            <a:off x="10208869" y="2293416"/>
            <a:ext cx="1018438" cy="756666"/>
          </a:xfrm>
          <a:custGeom>
            <a:avLst/>
            <a:gdLst/>
            <a:ahLst/>
            <a:cxnLst/>
            <a:rect l="0" t="0" r="0" b="0"/>
            <a:pathLst>
              <a:path w="1603" h="1191">
                <a:moveTo>
                  <a:pt x="0" y="120"/>
                </a:moveTo>
                <a:cubicBezTo>
                  <a:pt x="0" y="184"/>
                  <a:pt x="179" y="238"/>
                  <a:pt x="400" y="238"/>
                </a:cubicBezTo>
                <a:cubicBezTo>
                  <a:pt x="622" y="238"/>
                  <a:pt x="801" y="184"/>
                  <a:pt x="801" y="119"/>
                </a:cubicBezTo>
                <a:cubicBezTo>
                  <a:pt x="801" y="53"/>
                  <a:pt x="981" y="0"/>
                  <a:pt x="1202" y="0"/>
                </a:cubicBezTo>
                <a:cubicBezTo>
                  <a:pt x="1423" y="0"/>
                  <a:pt x="1603" y="53"/>
                  <a:pt x="1603" y="120"/>
                </a:cubicBezTo>
                <a:lnTo>
                  <a:pt x="1603" y="1073"/>
                </a:lnTo>
                <a:cubicBezTo>
                  <a:pt x="1603" y="1006"/>
                  <a:pt x="1423" y="953"/>
                  <a:pt x="1202" y="953"/>
                </a:cubicBezTo>
                <a:cubicBezTo>
                  <a:pt x="981" y="953"/>
                  <a:pt x="801" y="1006"/>
                  <a:pt x="801" y="1072"/>
                </a:cubicBezTo>
                <a:cubicBezTo>
                  <a:pt x="801" y="1138"/>
                  <a:pt x="622" y="1191"/>
                  <a:pt x="400" y="1191"/>
                </a:cubicBezTo>
                <a:cubicBezTo>
                  <a:pt x="179" y="1191"/>
                  <a:pt x="0" y="1138"/>
                  <a:pt x="0" y="1073"/>
                </a:cubicBezTo>
                <a:lnTo>
                  <a:pt x="0" y="120"/>
                </a:lnTo>
              </a:path>
            </a:pathLst>
          </a:cu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26" name="textbox 726"/>
          <p:cNvSpPr/>
          <p:nvPr/>
        </p:nvSpPr>
        <p:spPr>
          <a:xfrm>
            <a:off x="431873" y="2698168"/>
            <a:ext cx="297179" cy="2576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1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9225" indent="-136525" algn="l" rtl="0" eaLnBrk="0">
              <a:lnSpc>
                <a:spcPct val="102000"/>
              </a:lnSpc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精准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49225" algn="l" rtl="0" eaLnBrk="0">
              <a:lnSpc>
                <a:spcPct val="203000"/>
              </a:lnSpc>
              <a:spcBef>
                <a:spcPts val="168"/>
              </a:spcBef>
              <a:tabLst/>
            </a:pP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微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短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301"/>
              </a:spcBef>
              <a:tabLst/>
            </a:pP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微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41909" algn="l" rtl="0" eaLnBrk="0">
              <a:lnSpc>
                <a:spcPct val="94000"/>
              </a:lnSpc>
              <a:spcBef>
                <a:spcPts val="776"/>
              </a:spcBef>
              <a:tabLst/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有契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marL="33655" indent="134620" algn="l" rtl="0" eaLnBrk="0">
              <a:lnSpc>
                <a:spcPct val="111000"/>
              </a:lnSpc>
              <a:spcBef>
                <a:spcPts val="15"/>
              </a:spcBef>
              <a:tabLst/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呼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</a:t>
            </a:r>
            <a:endParaRPr sz="9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9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8904" indent="-22225" algn="l" rtl="0" eaLnBrk="0">
              <a:lnSpc>
                <a:spcPct val="99000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扩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道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28" name="picture 72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10290047" y="4480559"/>
            <a:ext cx="886968" cy="729996"/>
          </a:xfrm>
          <a:prstGeom prst="rect">
            <a:avLst/>
          </a:prstGeom>
        </p:spPr>
      </p:pic>
      <p:grpSp>
        <p:nvGrpSpPr>
          <p:cNvPr id="54" name="group 54"/>
          <p:cNvGrpSpPr/>
          <p:nvPr/>
        </p:nvGrpSpPr>
        <p:grpSpPr>
          <a:xfrm rot="21600000">
            <a:off x="7952231" y="1280159"/>
            <a:ext cx="1815084" cy="316992"/>
            <a:chOff x="0" y="0"/>
            <a:chExt cx="1815084" cy="316992"/>
          </a:xfrm>
        </p:grpSpPr>
        <p:sp>
          <p:nvSpPr>
            <p:cNvPr id="730" name="path 730"/>
            <p:cNvSpPr/>
            <p:nvPr/>
          </p:nvSpPr>
          <p:spPr>
            <a:xfrm>
              <a:off x="0" y="0"/>
              <a:ext cx="1815084" cy="316992"/>
            </a:xfrm>
            <a:custGeom>
              <a:avLst/>
              <a:gdLst/>
              <a:ahLst/>
              <a:cxnLst/>
              <a:rect l="0" t="0" r="0" b="0"/>
              <a:pathLst>
                <a:path w="2858" h="499">
                  <a:moveTo>
                    <a:pt x="0" y="0"/>
                  </a:moveTo>
                  <a:lnTo>
                    <a:pt x="2611" y="0"/>
                  </a:lnTo>
                  <a:lnTo>
                    <a:pt x="2858" y="249"/>
                  </a:lnTo>
                  <a:lnTo>
                    <a:pt x="2611" y="499"/>
                  </a:lnTo>
                  <a:lnTo>
                    <a:pt x="0" y="499"/>
                  </a:lnTo>
                  <a:lnTo>
                    <a:pt x="247" y="249"/>
                  </a:lnTo>
                  <a:lnTo>
                    <a:pt x="0" y="0"/>
                  </a:lnTo>
                </a:path>
              </a:pathLst>
            </a:custGeom>
            <a:solidFill>
              <a:srgbClr val="D0CEC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732" name="textbox 732"/>
            <p:cNvSpPr/>
            <p:nvPr/>
          </p:nvSpPr>
          <p:spPr>
            <a:xfrm>
              <a:off x="-12700" y="-12700"/>
              <a:ext cx="1840864" cy="3619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744219" algn="l" rtl="0" eaLnBrk="0">
                <a:lnSpc>
                  <a:spcPct val="91000"/>
                </a:lnSpc>
                <a:spcBef>
                  <a:spcPts val="2"/>
                </a:spcBef>
                <a:tabLst/>
              </a:pPr>
              <a:r>
                <a:rPr sz="1400" b="1" kern="0" spc="-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交付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aphicFrame>
        <p:nvGraphicFramePr>
          <p:cNvPr id="734" name="table 734"/>
          <p:cNvGraphicFramePr>
            <a:graphicFrameLocks noGrp="1"/>
          </p:cNvGraphicFramePr>
          <p:nvPr/>
        </p:nvGraphicFramePr>
        <p:xfrm>
          <a:off x="4351705" y="2498788"/>
          <a:ext cx="1130934" cy="429895"/>
        </p:xfrm>
        <a:graphic>
          <a:graphicData uri="http://schemas.openxmlformats.org/drawingml/2006/table">
            <a:tbl>
              <a:tblPr/>
              <a:tblGrid>
                <a:gridCol w="1130935"/>
              </a:tblGrid>
              <a:tr h="215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7659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信息播报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39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1764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互联网路径指引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36" name="table 736"/>
          <p:cNvGraphicFramePr>
            <a:graphicFrameLocks noGrp="1"/>
          </p:cNvGraphicFramePr>
          <p:nvPr/>
        </p:nvGraphicFramePr>
        <p:xfrm>
          <a:off x="8458555" y="3488804"/>
          <a:ext cx="1040765" cy="415289"/>
        </p:xfrm>
        <a:graphic>
          <a:graphicData uri="http://schemas.openxmlformats.org/drawingml/2006/table">
            <a:tbl>
              <a:tblPr>
                <a:solidFill>
                  <a:srgbClr val="D9D9D9"/>
                </a:solidFill>
              </a:tblPr>
              <a:tblGrid>
                <a:gridCol w="137160"/>
                <a:gridCol w="766444"/>
                <a:gridCol w="137160"/>
              </a:tblGrid>
              <a:tr h="4152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740" algn="l" rtl="0" eaLnBrk="0">
                        <a:lnSpc>
                          <a:spcPct val="9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服务商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738" name="textbox 738"/>
          <p:cNvSpPr/>
          <p:nvPr/>
        </p:nvSpPr>
        <p:spPr>
          <a:xfrm>
            <a:off x="10064496" y="1281683"/>
            <a:ext cx="1226819" cy="315595"/>
          </a:xfrm>
          <a:prstGeom prst="rect">
            <a:avLst/>
          </a:prstGeom>
          <a:solidFill>
            <a:srgbClr val="D0CEC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83819" algn="l" rtl="0" eaLnBrk="0">
              <a:lnSpc>
                <a:spcPct val="91000"/>
              </a:lnSpc>
              <a:spcBef>
                <a:spcPts val="3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用户主动关怀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56" name="group 56"/>
          <p:cNvGrpSpPr/>
          <p:nvPr/>
        </p:nvGrpSpPr>
        <p:grpSpPr>
          <a:xfrm rot="21600000">
            <a:off x="1719300" y="4144911"/>
            <a:ext cx="935558" cy="343217"/>
            <a:chOff x="0" y="0"/>
            <a:chExt cx="935558" cy="343217"/>
          </a:xfrm>
        </p:grpSpPr>
        <p:pic>
          <p:nvPicPr>
            <p:cNvPr id="740" name="picture 740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 rot="21600000">
              <a:off x="0" y="0"/>
              <a:ext cx="935558" cy="343217"/>
            </a:xfrm>
            <a:prstGeom prst="rect">
              <a:avLst/>
            </a:prstGeom>
          </p:spPr>
        </p:pic>
        <p:sp>
          <p:nvSpPr>
            <p:cNvPr id="742" name="textbox 742"/>
            <p:cNvSpPr/>
            <p:nvPr/>
          </p:nvSpPr>
          <p:spPr>
            <a:xfrm>
              <a:off x="-12700" y="-12700"/>
              <a:ext cx="961389" cy="3829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marL="295275" algn="l" rtl="0" eaLnBrk="0">
                <a:lnSpc>
                  <a:spcPct val="96000"/>
                </a:lnSpc>
                <a:spcBef>
                  <a:spcPts val="5"/>
                </a:spcBef>
                <a:tabLst/>
              </a:pPr>
              <a:r>
                <a:rPr sz="10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物联网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 rot="21600000">
            <a:off x="1720735" y="4817211"/>
            <a:ext cx="935558" cy="343217"/>
            <a:chOff x="0" y="0"/>
            <a:chExt cx="935558" cy="343217"/>
          </a:xfrm>
        </p:grpSpPr>
        <p:pic>
          <p:nvPicPr>
            <p:cNvPr id="744" name="picture 744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 rot="21600000">
              <a:off x="0" y="0"/>
              <a:ext cx="935558" cy="343217"/>
            </a:xfrm>
            <a:prstGeom prst="rect">
              <a:avLst/>
            </a:prstGeom>
          </p:spPr>
        </p:pic>
        <p:sp>
          <p:nvSpPr>
            <p:cNvPr id="746" name="textbox 746"/>
            <p:cNvSpPr/>
            <p:nvPr/>
          </p:nvSpPr>
          <p:spPr>
            <a:xfrm>
              <a:off x="-12700" y="-12700"/>
              <a:ext cx="961389" cy="3829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marL="371475" algn="l" rtl="0" eaLnBrk="0">
                <a:lnSpc>
                  <a:spcPct val="96000"/>
                </a:lnSpc>
                <a:spcBef>
                  <a:spcPts val="5"/>
                </a:spcBef>
                <a:tabLst/>
              </a:pPr>
              <a:r>
                <a:rPr sz="10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电商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748" name="path 748"/>
          <p:cNvSpPr/>
          <p:nvPr/>
        </p:nvSpPr>
        <p:spPr>
          <a:xfrm>
            <a:off x="10328147" y="4065155"/>
            <a:ext cx="779196" cy="238125"/>
          </a:xfrm>
          <a:custGeom>
            <a:avLst/>
            <a:gdLst/>
            <a:ahLst/>
            <a:cxnLst/>
            <a:rect l="0" t="0" r="0" b="0"/>
            <a:pathLst>
              <a:path w="1227" h="375">
                <a:moveTo>
                  <a:pt x="0" y="61"/>
                </a:moveTo>
                <a:moveTo>
                  <a:pt x="0" y="61"/>
                </a:moveTo>
                <a:cubicBezTo>
                  <a:pt x="0" y="27"/>
                  <a:pt x="275" y="0"/>
                  <a:pt x="613" y="0"/>
                </a:cubicBezTo>
                <a:cubicBezTo>
                  <a:pt x="952" y="0"/>
                  <a:pt x="1227" y="27"/>
                  <a:pt x="1226" y="61"/>
                </a:cubicBezTo>
                <a:lnTo>
                  <a:pt x="1226" y="313"/>
                </a:lnTo>
                <a:cubicBezTo>
                  <a:pt x="1227" y="347"/>
                  <a:pt x="952" y="375"/>
                  <a:pt x="613" y="375"/>
                </a:cubicBezTo>
                <a:cubicBezTo>
                  <a:pt x="275" y="375"/>
                  <a:pt x="0" y="347"/>
                  <a:pt x="0" y="313"/>
                </a:cubicBezTo>
                <a:lnTo>
                  <a:pt x="0" y="61"/>
                </a:lnTo>
              </a:path>
            </a:pathLst>
          </a:custGeom>
          <a:solidFill>
            <a:srgbClr val="C55A1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50" name="picture 75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10324604" y="3928274"/>
            <a:ext cx="786969" cy="378816"/>
          </a:xfrm>
          <a:prstGeom prst="rect">
            <a:avLst/>
          </a:prstGeom>
        </p:spPr>
      </p:pic>
      <p:pic>
        <p:nvPicPr>
          <p:cNvPr id="752" name="picture 75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10324604" y="3777119"/>
            <a:ext cx="790778" cy="393089"/>
          </a:xfrm>
          <a:prstGeom prst="rect">
            <a:avLst/>
          </a:prstGeom>
        </p:spPr>
      </p:pic>
      <p:sp>
        <p:nvSpPr>
          <p:cNvPr id="754" name="textbox 754"/>
          <p:cNvSpPr/>
          <p:nvPr/>
        </p:nvSpPr>
        <p:spPr>
          <a:xfrm>
            <a:off x="8467344" y="4646675"/>
            <a:ext cx="1022985" cy="295909"/>
          </a:xfrm>
          <a:prstGeom prst="rect">
            <a:avLst/>
          </a:pr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79095" algn="l" rtl="0" eaLnBrk="0">
              <a:lnSpc>
                <a:spcPct val="96000"/>
              </a:lnSpc>
              <a:spcBef>
                <a:spcPts val="4"/>
              </a:spcBef>
              <a:tabLst/>
            </a:pP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交付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56" name="textbox 756"/>
          <p:cNvSpPr/>
          <p:nvPr/>
        </p:nvSpPr>
        <p:spPr>
          <a:xfrm>
            <a:off x="1143000" y="3776471"/>
            <a:ext cx="471169" cy="619125"/>
          </a:xfrm>
          <a:prstGeom prst="rect">
            <a:avLst/>
          </a:prstGeom>
          <a:solidFill>
            <a:srgbClr val="FFC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9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4939" algn="l" rtl="0" eaLnBrk="0">
              <a:lnSpc>
                <a:spcPct val="81000"/>
              </a:lnSpc>
              <a:tabLst/>
            </a:pPr>
            <a:r>
              <a:rPr sz="13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154304" algn="l" rtl="0" eaLnBrk="0">
              <a:lnSpc>
                <a:spcPts val="1600"/>
              </a:lnSpc>
              <a:tabLst/>
            </a:pPr>
            <a:r>
              <a:rPr sz="1300" b="1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户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758" name="table 758"/>
          <p:cNvGraphicFramePr>
            <a:graphicFrameLocks noGrp="1"/>
          </p:cNvGraphicFramePr>
          <p:nvPr/>
        </p:nvGraphicFramePr>
        <p:xfrm>
          <a:off x="6585839" y="5422277"/>
          <a:ext cx="1112519" cy="254000"/>
        </p:xfrm>
        <a:graphic>
          <a:graphicData uri="http://schemas.openxmlformats.org/drawingml/2006/table">
            <a:tbl>
              <a:tblPr/>
              <a:tblGrid>
                <a:gridCol w="1112519"/>
              </a:tblGrid>
              <a:tr h="244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9389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推广总量指标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60" name="table 760"/>
          <p:cNvGraphicFramePr>
            <a:graphicFrameLocks noGrp="1"/>
          </p:cNvGraphicFramePr>
          <p:nvPr/>
        </p:nvGraphicFramePr>
        <p:xfrm>
          <a:off x="6585839" y="5756478"/>
          <a:ext cx="1112519" cy="254000"/>
        </p:xfrm>
        <a:graphic>
          <a:graphicData uri="http://schemas.openxmlformats.org/drawingml/2006/table">
            <a:tbl>
              <a:tblPr/>
              <a:tblGrid>
                <a:gridCol w="1112519"/>
              </a:tblGrid>
              <a:tr h="244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12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分享总量指标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62" name="textbox 762"/>
          <p:cNvSpPr/>
          <p:nvPr/>
        </p:nvSpPr>
        <p:spPr>
          <a:xfrm>
            <a:off x="10231117" y="2507814"/>
            <a:ext cx="950594" cy="335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1790" indent="-339090" algn="l" rtl="0" eaLnBrk="0">
              <a:lnSpc>
                <a:spcPct val="102000"/>
              </a:lnSpc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交互数据沉淀、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分析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764" name="table 764"/>
          <p:cNvGraphicFramePr>
            <a:graphicFrameLocks noGrp="1"/>
          </p:cNvGraphicFramePr>
          <p:nvPr/>
        </p:nvGraphicFramePr>
        <p:xfrm>
          <a:off x="4350639" y="4707039"/>
          <a:ext cx="1132840" cy="220345"/>
        </p:xfrm>
        <a:graphic>
          <a:graphicData uri="http://schemas.openxmlformats.org/drawingml/2006/table">
            <a:tbl>
              <a:tblPr/>
              <a:tblGrid>
                <a:gridCol w="1132840"/>
              </a:tblGrid>
              <a:tr h="2139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020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服务评价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66" name="table 766"/>
          <p:cNvGraphicFramePr>
            <a:graphicFrameLocks noGrp="1"/>
          </p:cNvGraphicFramePr>
          <p:nvPr/>
        </p:nvGraphicFramePr>
        <p:xfrm>
          <a:off x="4350639" y="4419002"/>
          <a:ext cx="1132840" cy="220345"/>
        </p:xfrm>
        <a:graphic>
          <a:graphicData uri="http://schemas.openxmlformats.org/drawingml/2006/table">
            <a:tbl>
              <a:tblPr/>
              <a:tblGrid>
                <a:gridCol w="1132840"/>
              </a:tblGrid>
              <a:tr h="2108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265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自助查询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68" name="table 768"/>
          <p:cNvGraphicFramePr>
            <a:graphicFrameLocks noGrp="1"/>
          </p:cNvGraphicFramePr>
          <p:nvPr/>
        </p:nvGraphicFramePr>
        <p:xfrm>
          <a:off x="4350639" y="4910239"/>
          <a:ext cx="1132840" cy="220345"/>
        </p:xfrm>
        <a:graphic>
          <a:graphicData uri="http://schemas.openxmlformats.org/drawingml/2006/table">
            <a:tbl>
              <a:tblPr/>
              <a:tblGrid>
                <a:gridCol w="1132840"/>
              </a:tblGrid>
              <a:tr h="2139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26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自我管理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70" name="table 770"/>
          <p:cNvGraphicFramePr>
            <a:graphicFrameLocks noGrp="1"/>
          </p:cNvGraphicFramePr>
          <p:nvPr/>
        </p:nvGraphicFramePr>
        <p:xfrm>
          <a:off x="4350639" y="4150093"/>
          <a:ext cx="1132840" cy="220345"/>
        </p:xfrm>
        <a:graphic>
          <a:graphicData uri="http://schemas.openxmlformats.org/drawingml/2006/table">
            <a:tbl>
              <a:tblPr/>
              <a:tblGrid>
                <a:gridCol w="1132840"/>
              </a:tblGrid>
              <a:tr h="2139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1129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服务政策及收费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72" name="textbox 772"/>
          <p:cNvSpPr/>
          <p:nvPr/>
        </p:nvSpPr>
        <p:spPr>
          <a:xfrm>
            <a:off x="10351007" y="4757928"/>
            <a:ext cx="818514" cy="287020"/>
          </a:xfrm>
          <a:prstGeom prst="rect">
            <a:avLst/>
          </a:prstGeom>
          <a:solidFill>
            <a:srgbClr val="FFFFFF">
              <a:alpha val="7607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04139" algn="l" rtl="0" eaLnBrk="0">
              <a:lnSpc>
                <a:spcPct val="91000"/>
              </a:lnSpc>
              <a:spcBef>
                <a:spcPts val="2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用户视图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74" name="picture 774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1093558" y="3177209"/>
            <a:ext cx="340779" cy="599922"/>
          </a:xfrm>
          <a:prstGeom prst="rect">
            <a:avLst/>
          </a:prstGeom>
        </p:spPr>
      </p:pic>
      <p:pic>
        <p:nvPicPr>
          <p:cNvPr id="776" name="picture 77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1364741" y="4394669"/>
            <a:ext cx="314769" cy="642645"/>
          </a:xfrm>
          <a:prstGeom prst="rect">
            <a:avLst/>
          </a:prstGeom>
        </p:spPr>
      </p:pic>
      <p:pic>
        <p:nvPicPr>
          <p:cNvPr id="778" name="picture 77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10324604" y="3773309"/>
            <a:ext cx="790778" cy="245744"/>
          </a:xfrm>
          <a:prstGeom prst="rect">
            <a:avLst/>
          </a:prstGeom>
        </p:spPr>
      </p:pic>
      <p:sp>
        <p:nvSpPr>
          <p:cNvPr id="780" name="textbox 780"/>
          <p:cNvSpPr/>
          <p:nvPr/>
        </p:nvSpPr>
        <p:spPr>
          <a:xfrm>
            <a:off x="1997590" y="5569484"/>
            <a:ext cx="429894" cy="376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74930" algn="l" rtl="0" eaLnBrk="0">
              <a:lnSpc>
                <a:spcPct val="119000"/>
              </a:lnSpc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网点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工程师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82" name="picture 782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2720339" y="4049941"/>
            <a:ext cx="725944" cy="132079"/>
          </a:xfrm>
          <a:prstGeom prst="rect">
            <a:avLst/>
          </a:prstGeom>
        </p:spPr>
      </p:pic>
      <p:sp>
        <p:nvSpPr>
          <p:cNvPr id="784" name="textbox 784"/>
          <p:cNvSpPr/>
          <p:nvPr/>
        </p:nvSpPr>
        <p:spPr>
          <a:xfrm>
            <a:off x="10628502" y="3215459"/>
            <a:ext cx="332740" cy="432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2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68000"/>
              </a:lnSpc>
              <a:tabLst/>
            </a:pPr>
            <a:r>
              <a:rPr sz="3900" kern="0" spc="-2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+</a:t>
            </a:r>
            <a:endParaRPr sz="3900" dirty="0">
              <a:latin typeface="DengXian"/>
              <a:ea typeface="DengXian"/>
              <a:cs typeface="DengXian"/>
            </a:endParaRPr>
          </a:p>
        </p:txBody>
      </p:sp>
      <p:sp>
        <p:nvSpPr>
          <p:cNvPr id="786" name="textbox 786"/>
          <p:cNvSpPr/>
          <p:nvPr/>
        </p:nvSpPr>
        <p:spPr>
          <a:xfrm>
            <a:off x="10658112" y="3720413"/>
            <a:ext cx="154304" cy="622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27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9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大数据平台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8" name="textbox 788"/>
          <p:cNvSpPr/>
          <p:nvPr/>
        </p:nvSpPr>
        <p:spPr>
          <a:xfrm>
            <a:off x="3591018" y="2427946"/>
            <a:ext cx="154939" cy="569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01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9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自助语音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90" name="picture 79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8942209" y="3895204"/>
            <a:ext cx="76200" cy="750887"/>
          </a:xfrm>
          <a:prstGeom prst="rect">
            <a:avLst/>
          </a:prstGeom>
        </p:spPr>
      </p:pic>
      <p:sp>
        <p:nvSpPr>
          <p:cNvPr id="792" name="path 792"/>
          <p:cNvSpPr/>
          <p:nvPr/>
        </p:nvSpPr>
        <p:spPr>
          <a:xfrm>
            <a:off x="10064496" y="4104132"/>
            <a:ext cx="231647" cy="236220"/>
          </a:xfrm>
          <a:custGeom>
            <a:avLst/>
            <a:gdLst/>
            <a:ahLst/>
            <a:cxnLst/>
            <a:rect l="0" t="0" r="0" b="0"/>
            <a:pathLst>
              <a:path w="364" h="372">
                <a:moveTo>
                  <a:pt x="364" y="187"/>
                </a:moveTo>
                <a:lnTo>
                  <a:pt x="182" y="372"/>
                </a:lnTo>
                <a:lnTo>
                  <a:pt x="182" y="280"/>
                </a:lnTo>
                <a:lnTo>
                  <a:pt x="0" y="280"/>
                </a:lnTo>
                <a:lnTo>
                  <a:pt x="0" y="93"/>
                </a:lnTo>
                <a:lnTo>
                  <a:pt x="182" y="93"/>
                </a:lnTo>
                <a:lnTo>
                  <a:pt x="182" y="0"/>
                </a:lnTo>
                <a:lnTo>
                  <a:pt x="364" y="187"/>
                </a:lnTo>
              </a:path>
            </a:pathLst>
          </a:custGeom>
          <a:solidFill>
            <a:srgbClr val="96969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94" name="textbox 794"/>
          <p:cNvSpPr/>
          <p:nvPr/>
        </p:nvSpPr>
        <p:spPr>
          <a:xfrm>
            <a:off x="3609985" y="4709776"/>
            <a:ext cx="107950" cy="426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1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75" indent="-15875" algn="l" rtl="0" eaLnBrk="0">
              <a:lnSpc>
                <a:spcPct val="108000"/>
              </a:lnSpc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endParaRPr sz="8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96" name="picture 79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8942209" y="4942941"/>
            <a:ext cx="76200" cy="2841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" name="picture 7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6492" y="44195"/>
            <a:ext cx="6691883" cy="6797040"/>
          </a:xfrm>
          <a:prstGeom prst="rect">
            <a:avLst/>
          </a:prstGeom>
        </p:spPr>
      </p:pic>
      <p:pic>
        <p:nvPicPr>
          <p:cNvPr id="800" name="picture 8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67574" y="4077849"/>
            <a:ext cx="4520555" cy="2697749"/>
          </a:xfrm>
          <a:prstGeom prst="rect">
            <a:avLst/>
          </a:prstGeom>
        </p:spPr>
      </p:pic>
      <p:pic>
        <p:nvPicPr>
          <p:cNvPr id="802" name="picture 8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062954" y="2164117"/>
            <a:ext cx="4501367" cy="1678855"/>
          </a:xfrm>
          <a:prstGeom prst="rect">
            <a:avLst/>
          </a:prstGeom>
        </p:spPr>
      </p:pic>
      <p:sp>
        <p:nvSpPr>
          <p:cNvPr id="804" name="textbox 804"/>
          <p:cNvSpPr/>
          <p:nvPr/>
        </p:nvSpPr>
        <p:spPr>
          <a:xfrm>
            <a:off x="7057644" y="1197864"/>
            <a:ext cx="4474845" cy="913130"/>
          </a:xfrm>
          <a:prstGeom prst="rect">
            <a:avLst/>
          </a:pr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97509" indent="-291465" algn="l" rtl="0" eaLnBrk="0">
              <a:lnSpc>
                <a:spcPct val="105000"/>
              </a:lnSpc>
              <a:spcBef>
                <a:spcPts val="1"/>
              </a:spcBef>
              <a:tabLst/>
            </a:pP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通过整合数据和贯通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IT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</a:t>
            </a:r>
            <a:r>
              <a:rPr sz="13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，利用现代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IT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r>
              <a:rPr sz="13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，以及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数据挖掘等信息化手段</a:t>
            </a:r>
            <a:r>
              <a:rPr sz="13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，为服务一线提供唾手可得/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即需即用的长枪短炮/武器库</a:t>
            </a:r>
            <a:r>
              <a:rPr sz="13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，最大化一线的战斗力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生产力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6" name="textbox 806"/>
          <p:cNvSpPr/>
          <p:nvPr/>
        </p:nvSpPr>
        <p:spPr>
          <a:xfrm>
            <a:off x="7072398" y="329174"/>
            <a:ext cx="3070860" cy="800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智慧客服—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3000"/>
              </a:lnSpc>
              <a:spcBef>
                <a:spcPts val="299"/>
              </a:spcBef>
              <a:tabLst/>
            </a:pP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武装一线服务工程师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textbox 808"/>
          <p:cNvSpPr/>
          <p:nvPr/>
        </p:nvSpPr>
        <p:spPr>
          <a:xfrm>
            <a:off x="702563" y="5510783"/>
            <a:ext cx="9743440" cy="327659"/>
          </a:xfrm>
          <a:prstGeom prst="rect">
            <a:avLst/>
          </a:prstGeom>
          <a:solidFill>
            <a:srgbClr val="E7E8E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99694" algn="l" rtl="0" eaLnBrk="0">
              <a:lnSpc>
                <a:spcPct val="91000"/>
              </a:lnSpc>
              <a:spcBef>
                <a:spcPts val="4"/>
              </a:spcBef>
              <a:tabLst/>
            </a:pP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评价岗位                  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工程师                        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评价频次          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每天                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评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价办法           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系统查询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0" name="rect 810"/>
          <p:cNvSpPr/>
          <p:nvPr/>
        </p:nvSpPr>
        <p:spPr>
          <a:xfrm>
            <a:off x="702563" y="4180332"/>
            <a:ext cx="9742931" cy="891539"/>
          </a:xfrm>
          <a:prstGeom prst="rect">
            <a:avLst/>
          </a:prstGeom>
          <a:solidFill>
            <a:srgbClr val="E7E8E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12" name="picture 8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2614" y="6153975"/>
            <a:ext cx="9743440" cy="25400"/>
          </a:xfrm>
          <a:prstGeom prst="rect">
            <a:avLst/>
          </a:prstGeom>
        </p:spPr>
      </p:pic>
      <p:pic>
        <p:nvPicPr>
          <p:cNvPr id="814" name="picture 8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410671" y="4533834"/>
            <a:ext cx="4141317" cy="2161729"/>
          </a:xfrm>
          <a:prstGeom prst="rect">
            <a:avLst/>
          </a:prstGeom>
        </p:spPr>
      </p:pic>
      <p:grpSp>
        <p:nvGrpSpPr>
          <p:cNvPr id="60" name="group 60"/>
          <p:cNvGrpSpPr/>
          <p:nvPr/>
        </p:nvGrpSpPr>
        <p:grpSpPr>
          <a:xfrm rot="21600000">
            <a:off x="702563" y="2723388"/>
            <a:ext cx="9742931" cy="845820"/>
            <a:chOff x="0" y="0"/>
            <a:chExt cx="9742931" cy="845820"/>
          </a:xfrm>
        </p:grpSpPr>
        <p:sp>
          <p:nvSpPr>
            <p:cNvPr id="816" name="path 816"/>
            <p:cNvSpPr/>
            <p:nvPr/>
          </p:nvSpPr>
          <p:spPr>
            <a:xfrm>
              <a:off x="0" y="0"/>
              <a:ext cx="9742931" cy="406907"/>
            </a:xfrm>
            <a:custGeom>
              <a:avLst/>
              <a:gdLst/>
              <a:ahLst/>
              <a:cxnLst/>
              <a:rect l="0" t="0" r="0" b="0"/>
              <a:pathLst>
                <a:path w="15343" h="640">
                  <a:moveTo>
                    <a:pt x="0" y="0"/>
                  </a:moveTo>
                  <a:lnTo>
                    <a:pt x="2428" y="0"/>
                  </a:lnTo>
                  <a:lnTo>
                    <a:pt x="2428" y="640"/>
                  </a:lnTo>
                  <a:lnTo>
                    <a:pt x="0" y="640"/>
                  </a:lnTo>
                  <a:lnTo>
                    <a:pt x="0" y="0"/>
                  </a:lnTo>
                  <a:close/>
                </a:path>
                <a:path w="15343" h="640">
                  <a:moveTo>
                    <a:pt x="2428" y="0"/>
                  </a:moveTo>
                  <a:lnTo>
                    <a:pt x="8083" y="0"/>
                  </a:lnTo>
                  <a:lnTo>
                    <a:pt x="8083" y="640"/>
                  </a:lnTo>
                  <a:lnTo>
                    <a:pt x="2428" y="640"/>
                  </a:lnTo>
                  <a:lnTo>
                    <a:pt x="2428" y="0"/>
                  </a:lnTo>
                  <a:close/>
                </a:path>
                <a:path w="15343" h="640">
                  <a:moveTo>
                    <a:pt x="8083" y="0"/>
                  </a:moveTo>
                  <a:lnTo>
                    <a:pt x="9803" y="0"/>
                  </a:lnTo>
                  <a:lnTo>
                    <a:pt x="9803" y="640"/>
                  </a:lnTo>
                  <a:lnTo>
                    <a:pt x="8083" y="640"/>
                  </a:lnTo>
                  <a:lnTo>
                    <a:pt x="8083" y="0"/>
                  </a:lnTo>
                  <a:close/>
                </a:path>
                <a:path w="15343" h="640">
                  <a:moveTo>
                    <a:pt x="9804" y="0"/>
                  </a:moveTo>
                  <a:lnTo>
                    <a:pt x="15343" y="0"/>
                  </a:lnTo>
                  <a:lnTo>
                    <a:pt x="15343" y="640"/>
                  </a:lnTo>
                  <a:lnTo>
                    <a:pt x="9804" y="640"/>
                  </a:lnTo>
                  <a:lnTo>
                    <a:pt x="9804" y="0"/>
                  </a:lnTo>
                  <a:close/>
                </a:path>
              </a:pathLst>
            </a:custGeom>
            <a:solidFill>
              <a:srgbClr val="0093D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818" name="path 818"/>
            <p:cNvSpPr/>
            <p:nvPr/>
          </p:nvSpPr>
          <p:spPr>
            <a:xfrm>
              <a:off x="0" y="406907"/>
              <a:ext cx="9742931" cy="438912"/>
            </a:xfrm>
            <a:custGeom>
              <a:avLst/>
              <a:gdLst/>
              <a:ahLst/>
              <a:cxnLst/>
              <a:rect l="0" t="0" r="0" b="0"/>
              <a:pathLst>
                <a:path w="15343" h="691">
                  <a:moveTo>
                    <a:pt x="0" y="0"/>
                  </a:moveTo>
                  <a:lnTo>
                    <a:pt x="2428" y="0"/>
                  </a:lnTo>
                  <a:lnTo>
                    <a:pt x="2428" y="691"/>
                  </a:lnTo>
                  <a:lnTo>
                    <a:pt x="0" y="691"/>
                  </a:lnTo>
                  <a:lnTo>
                    <a:pt x="0" y="0"/>
                  </a:lnTo>
                  <a:close/>
                </a:path>
                <a:path w="15343" h="691">
                  <a:moveTo>
                    <a:pt x="2428" y="0"/>
                  </a:moveTo>
                  <a:lnTo>
                    <a:pt x="8083" y="0"/>
                  </a:lnTo>
                  <a:lnTo>
                    <a:pt x="8083" y="691"/>
                  </a:lnTo>
                  <a:lnTo>
                    <a:pt x="2428" y="691"/>
                  </a:lnTo>
                  <a:lnTo>
                    <a:pt x="2428" y="0"/>
                  </a:lnTo>
                  <a:close/>
                </a:path>
                <a:path w="15343" h="691">
                  <a:moveTo>
                    <a:pt x="8083" y="0"/>
                  </a:moveTo>
                  <a:lnTo>
                    <a:pt x="9803" y="0"/>
                  </a:lnTo>
                  <a:lnTo>
                    <a:pt x="9803" y="691"/>
                  </a:lnTo>
                  <a:lnTo>
                    <a:pt x="8083" y="691"/>
                  </a:lnTo>
                  <a:lnTo>
                    <a:pt x="8083" y="0"/>
                  </a:lnTo>
                  <a:close/>
                </a:path>
                <a:path w="15343" h="691">
                  <a:moveTo>
                    <a:pt x="9804" y="0"/>
                  </a:moveTo>
                  <a:lnTo>
                    <a:pt x="15343" y="0"/>
                  </a:lnTo>
                  <a:lnTo>
                    <a:pt x="15343" y="691"/>
                  </a:lnTo>
                  <a:lnTo>
                    <a:pt x="9804" y="691"/>
                  </a:lnTo>
                  <a:lnTo>
                    <a:pt x="9804" y="0"/>
                  </a:lnTo>
                  <a:close/>
                </a:path>
              </a:pathLst>
            </a:custGeom>
            <a:solidFill>
              <a:srgbClr val="E7E8E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820" name="table 820"/>
          <p:cNvGraphicFramePr>
            <a:graphicFrameLocks noGrp="1"/>
          </p:cNvGraphicFramePr>
          <p:nvPr/>
        </p:nvGraphicFramePr>
        <p:xfrm>
          <a:off x="702614" y="2711005"/>
          <a:ext cx="9743439" cy="431800"/>
        </p:xfrm>
        <a:graphic>
          <a:graphicData uri="http://schemas.openxmlformats.org/drawingml/2006/table">
            <a:tbl>
              <a:tblPr/>
              <a:tblGrid>
                <a:gridCol w="1148080"/>
                <a:gridCol w="2979420"/>
                <a:gridCol w="5615940"/>
              </a:tblGrid>
              <a:tr h="431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694" algn="l" rtl="0" eaLnBrk="0">
                        <a:lnSpc>
                          <a:spcPct val="91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节点名称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3394" algn="l" rtl="0" eaLnBrk="0">
                        <a:lnSpc>
                          <a:spcPct val="91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服务备件订单申请时间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04900" algn="l" rtl="0" eaLnBrk="0">
                        <a:lnSpc>
                          <a:spcPct val="91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节点活动描述      工程师在第一次上门判断出所需备件后及时申请备</a:t>
                      </a:r>
                      <a:r>
                        <a:rPr sz="11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件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30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22" name="textbox 822"/>
          <p:cNvSpPr/>
          <p:nvPr/>
        </p:nvSpPr>
        <p:spPr>
          <a:xfrm>
            <a:off x="702563" y="790955"/>
            <a:ext cx="10822305" cy="299084"/>
          </a:xfrm>
          <a:prstGeom prst="rect">
            <a:avLst/>
          </a:pr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05410" algn="l" rtl="0" eaLnBrk="0">
              <a:lnSpc>
                <a:spcPts val="1833"/>
              </a:lnSpc>
              <a:spcBef>
                <a:spcPts val="2"/>
              </a:spcBef>
              <a:tabLst/>
            </a:pP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通过数据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状态监控平台</a:t>
            </a:r>
            <a:r>
              <a:rPr sz="13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，从宏观到微观</a:t>
            </a:r>
            <a:r>
              <a:rPr sz="13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，逐层分解</a:t>
            </a:r>
            <a:r>
              <a:rPr sz="13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，发现问题</a:t>
            </a:r>
            <a:r>
              <a:rPr sz="13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，解决问题</a:t>
            </a:r>
            <a:r>
              <a:rPr sz="13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，挖掘商业机会。短期</a:t>
            </a:r>
            <a:r>
              <a:rPr sz="13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：及时关闭问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题；长期：流程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标准优化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24" name="picture 8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72966" y="1668807"/>
            <a:ext cx="9466729" cy="255977"/>
          </a:xfrm>
          <a:prstGeom prst="rect">
            <a:avLst/>
          </a:prstGeom>
        </p:spPr>
      </p:pic>
      <p:sp>
        <p:nvSpPr>
          <p:cNvPr id="826" name="textbox 826"/>
          <p:cNvSpPr/>
          <p:nvPr/>
        </p:nvSpPr>
        <p:spPr>
          <a:xfrm>
            <a:off x="2332713" y="4293174"/>
            <a:ext cx="3390900" cy="682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92000"/>
              </a:lnSpc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、上门工程师根据故障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判断出该机型需要的维修备件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ct val="92000"/>
              </a:lnSpc>
              <a:spcBef>
                <a:spcPts val="105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、通过手持终端现场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申请备件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12700" indent="2540" algn="l" rtl="0" eaLnBrk="0">
              <a:lnSpc>
                <a:spcPct val="96000"/>
              </a:lnSpc>
              <a:spcBef>
                <a:spcPts val="106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、如果无法现场申请</a:t>
            </a:r>
            <a:r>
              <a:rPr sz="11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，则在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小时内电话通知网点信息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员在工单中申请对应的备件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8" name="textbox 828"/>
          <p:cNvSpPr/>
          <p:nvPr/>
        </p:nvSpPr>
        <p:spPr>
          <a:xfrm>
            <a:off x="610079" y="320488"/>
            <a:ext cx="5470525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5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智慧客服—服务管理数字化</a:t>
            </a:r>
            <a:r>
              <a:rPr sz="2600" b="1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6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，透明化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0" name="textbox 830"/>
          <p:cNvSpPr/>
          <p:nvPr/>
        </p:nvSpPr>
        <p:spPr>
          <a:xfrm>
            <a:off x="2333555" y="3243799"/>
            <a:ext cx="6737984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26"/>
              </a:lnSpc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个小时内在工单中申请备件                                           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KPI                  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备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件申请时间－上门时间＜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小时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32" name="picture 8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969865" y="1875549"/>
            <a:ext cx="433451" cy="433450"/>
          </a:xfrm>
          <a:prstGeom prst="rect">
            <a:avLst/>
          </a:prstGeom>
        </p:spPr>
      </p:pic>
      <p:pic>
        <p:nvPicPr>
          <p:cNvPr id="834" name="picture 8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959244" y="1997089"/>
            <a:ext cx="292544" cy="255977"/>
          </a:xfrm>
          <a:prstGeom prst="rect">
            <a:avLst/>
          </a:prstGeom>
        </p:spPr>
      </p:pic>
      <p:pic>
        <p:nvPicPr>
          <p:cNvPr id="836" name="picture 8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510973" y="1997089"/>
            <a:ext cx="306354" cy="255977"/>
          </a:xfrm>
          <a:prstGeom prst="rect">
            <a:avLst/>
          </a:prstGeom>
        </p:spPr>
      </p:pic>
      <p:sp>
        <p:nvSpPr>
          <p:cNvPr id="838" name="textbox 838"/>
          <p:cNvSpPr/>
          <p:nvPr/>
        </p:nvSpPr>
        <p:spPr>
          <a:xfrm>
            <a:off x="4442759" y="1950224"/>
            <a:ext cx="1744979" cy="697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5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20394" algn="l" rtl="0" eaLnBrk="0">
              <a:lnSpc>
                <a:spcPts val="1780"/>
              </a:lnSpc>
              <a:spcBef>
                <a:spcPts val="1"/>
              </a:spcBef>
              <a:tabLst>
                <a:tab pos="670559" algn="l"/>
                <a:tab pos="1536700" algn="l"/>
              </a:tabLst>
            </a:pPr>
            <a:r>
              <a:rPr sz="2300" kern="0" spc="0" dirty="0">
                <a:solidFill>
                  <a:srgbClr val="44546A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3600" b="1" kern="0" spc="-70" baseline="-17126" dirty="0">
                <a:solidFill>
                  <a:srgbClr val="44546A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2300" b="1" kern="0" spc="100" dirty="0">
                <a:solidFill>
                  <a:srgbClr val="44546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2300" b="1" strike="sngStrike" kern="0" spc="0" dirty="0">
                <a:solidFill>
                  <a:srgbClr val="44546A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2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409"/>
              </a:lnSpc>
              <a:spcBef>
                <a:spcPts val="602"/>
              </a:spcBef>
              <a:tabLst/>
            </a:pPr>
            <a:r>
              <a:rPr sz="1600" b="1" kern="0" spc="10" baseline="-12547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工单备件</a:t>
            </a:r>
            <a:r>
              <a:rPr sz="1000" b="1" kern="0" spc="8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800" kern="0" spc="10" baseline="7257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备件出货</a:t>
            </a: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800" kern="0" spc="10" baseline="59548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备件接收</a:t>
            </a:r>
            <a:endParaRPr sz="800" baseline="59548" dirty="0">
              <a:latin typeface="Microsoft YaHei"/>
              <a:ea typeface="Microsoft YaHei"/>
              <a:cs typeface="Microsoft YaHei"/>
            </a:endParaRPr>
          </a:p>
          <a:p>
            <a:pPr marL="354329" algn="l" rtl="0" eaLnBrk="0">
              <a:lnSpc>
                <a:spcPct val="96000"/>
              </a:lnSpc>
              <a:spcBef>
                <a:spcPts val="234"/>
              </a:spcBef>
              <a:tabLst/>
            </a:pPr>
            <a:r>
              <a:rPr sz="1000" b="1" kern="0" spc="6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下达时间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0" name="textbox 840"/>
          <p:cNvSpPr/>
          <p:nvPr/>
        </p:nvSpPr>
        <p:spPr>
          <a:xfrm>
            <a:off x="4647676" y="2008743"/>
            <a:ext cx="299720" cy="99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第一次上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42" name="picture 8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297330" y="2117788"/>
            <a:ext cx="232714" cy="14579"/>
          </a:xfrm>
          <a:prstGeom prst="rect">
            <a:avLst/>
          </a:prstGeom>
        </p:spPr>
      </p:pic>
      <p:pic>
        <p:nvPicPr>
          <p:cNvPr id="844" name="picture 8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916944" y="1962924"/>
            <a:ext cx="146379" cy="140919"/>
          </a:xfrm>
          <a:prstGeom prst="rect">
            <a:avLst/>
          </a:prstGeom>
        </p:spPr>
      </p:pic>
      <p:sp>
        <p:nvSpPr>
          <p:cNvPr id="846" name="textbox 846"/>
          <p:cNvSpPr/>
          <p:nvPr/>
        </p:nvSpPr>
        <p:spPr>
          <a:xfrm>
            <a:off x="4447628" y="2090658"/>
            <a:ext cx="225425" cy="99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门时间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8" name="textbox 848"/>
          <p:cNvSpPr/>
          <p:nvPr/>
        </p:nvSpPr>
        <p:spPr>
          <a:xfrm>
            <a:off x="4442759" y="2008263"/>
            <a:ext cx="229870" cy="100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服务商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0" name="textbox 850"/>
          <p:cNvSpPr/>
          <p:nvPr/>
        </p:nvSpPr>
        <p:spPr>
          <a:xfrm>
            <a:off x="2333555" y="5126929"/>
            <a:ext cx="2614295" cy="347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92000"/>
              </a:lnSpc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、可以根据机器故障正确判断出所需备件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2000"/>
              </a:lnSpc>
              <a:spcBef>
                <a:spcPts val="106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、需配备终端手持</a:t>
            </a:r>
            <a:r>
              <a:rPr sz="11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，可以现场申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请备件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2" name="textbox 852"/>
          <p:cNvSpPr/>
          <p:nvPr/>
        </p:nvSpPr>
        <p:spPr>
          <a:xfrm>
            <a:off x="3164961" y="1154953"/>
            <a:ext cx="2274570" cy="334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53564" indent="-2540" algn="l" rtl="0" eaLnBrk="0">
              <a:lnSpc>
                <a:spcPct val="100000"/>
              </a:lnSpc>
              <a:tabLst/>
            </a:pP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录入退货申请</a:t>
            </a:r>
            <a:r>
              <a:rPr sz="500" kern="0" spc="1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7000"/>
              </a:lnSpc>
              <a:spcBef>
                <a:spcPts val="5"/>
              </a:spcBef>
              <a:tabLst/>
            </a:pP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派单接收时间         </a:t>
            </a: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服务商与用户确认</a:t>
            </a:r>
            <a:endParaRPr sz="500" dirty="0">
              <a:latin typeface="Microsoft YaHei"/>
              <a:ea typeface="Microsoft YaHei"/>
              <a:cs typeface="Microsoft YaHei"/>
            </a:endParaRPr>
          </a:p>
          <a:p>
            <a:pPr marL="864869" algn="l" rtl="0" eaLnBrk="0">
              <a:lnSpc>
                <a:spcPct val="97000"/>
              </a:lnSpc>
              <a:spcBef>
                <a:spcPts val="62"/>
              </a:spcBef>
              <a:tabLst/>
            </a:pP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上门时间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4" name="textbox 854"/>
          <p:cNvSpPr/>
          <p:nvPr/>
        </p:nvSpPr>
        <p:spPr>
          <a:xfrm>
            <a:off x="789877" y="3794552"/>
            <a:ext cx="3409950" cy="178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7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1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节点编号</a:t>
            </a:r>
            <a:r>
              <a:rPr sz="11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P08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操作人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6" name="textbox 856"/>
          <p:cNvSpPr/>
          <p:nvPr/>
        </p:nvSpPr>
        <p:spPr>
          <a:xfrm>
            <a:off x="789877" y="3156891"/>
            <a:ext cx="1280794" cy="387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-635" algn="l" rtl="0" eaLnBrk="0">
              <a:lnSpc>
                <a:spcPct val="108000"/>
              </a:lnSpc>
              <a:tabLst/>
            </a:pP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节点量化标准（不同</a:t>
            </a:r>
            <a:r>
              <a:rPr sz="11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类型不同标准）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8" name="textbox 858"/>
          <p:cNvSpPr/>
          <p:nvPr/>
        </p:nvSpPr>
        <p:spPr>
          <a:xfrm>
            <a:off x="788895" y="5922651"/>
            <a:ext cx="3103879" cy="178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1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机制保障</a:t>
            </a:r>
            <a:r>
              <a:rPr sz="11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激励</a:t>
            </a:r>
            <a:r>
              <a:rPr sz="11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，升迁</a:t>
            </a:r>
            <a:r>
              <a:rPr sz="1100" kern="0" spc="-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淘汰等标准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textbox 860"/>
          <p:cNvSpPr/>
          <p:nvPr/>
        </p:nvSpPr>
        <p:spPr>
          <a:xfrm>
            <a:off x="4955203" y="3627051"/>
            <a:ext cx="723900" cy="513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905" algn="l" rtl="0" eaLnBrk="0">
              <a:lnSpc>
                <a:spcPct val="97000"/>
              </a:lnSpc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上门工程师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或服务商信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息员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62" name="picture 86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816614" y="1394931"/>
            <a:ext cx="672756" cy="330972"/>
          </a:xfrm>
          <a:prstGeom prst="rect">
            <a:avLst/>
          </a:prstGeom>
        </p:spPr>
      </p:pic>
      <p:sp>
        <p:nvSpPr>
          <p:cNvPr id="864" name="textbox 864"/>
          <p:cNvSpPr/>
          <p:nvPr/>
        </p:nvSpPr>
        <p:spPr>
          <a:xfrm>
            <a:off x="5922582" y="3793429"/>
            <a:ext cx="1534794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责任部门</a:t>
            </a: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备件部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6" name="textbox 866"/>
          <p:cNvSpPr/>
          <p:nvPr/>
        </p:nvSpPr>
        <p:spPr>
          <a:xfrm>
            <a:off x="6228582" y="2267127"/>
            <a:ext cx="1101089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indent="-4444" algn="l" rtl="0" eaLnBrk="0">
              <a:lnSpc>
                <a:spcPct val="103000"/>
              </a:lnSpc>
              <a:tabLst/>
            </a:pPr>
            <a:r>
              <a:rPr sz="500" kern="0" spc="4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服务商二次预约上  服务商第</a:t>
            </a: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二次上</a:t>
            </a:r>
            <a:r>
              <a:rPr sz="500" kern="0" spc="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门时间</a:t>
            </a:r>
            <a:r>
              <a:rPr sz="500" kern="0" spc="1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</a:t>
            </a:r>
            <a:r>
              <a:rPr sz="500" kern="0" spc="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门时间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textbox 868"/>
          <p:cNvSpPr/>
          <p:nvPr/>
        </p:nvSpPr>
        <p:spPr>
          <a:xfrm>
            <a:off x="789877" y="4545055"/>
            <a:ext cx="861694" cy="179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3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节点操作标准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0" name="textbox 870"/>
          <p:cNvSpPr/>
          <p:nvPr/>
        </p:nvSpPr>
        <p:spPr>
          <a:xfrm>
            <a:off x="789877" y="5212012"/>
            <a:ext cx="861694" cy="178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8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节点资源要求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2" name="textbox 872"/>
          <p:cNvSpPr/>
          <p:nvPr/>
        </p:nvSpPr>
        <p:spPr>
          <a:xfrm>
            <a:off x="5928055" y="4545757"/>
            <a:ext cx="716280" cy="178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1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附件及编码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4" name="textbox 874"/>
          <p:cNvSpPr/>
          <p:nvPr/>
        </p:nvSpPr>
        <p:spPr>
          <a:xfrm>
            <a:off x="3591123" y="2008263"/>
            <a:ext cx="572769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3000"/>
              </a:lnSpc>
              <a:tabLst/>
            </a:pP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服务商第一次联系</a:t>
            </a: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用户时间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76" name="picture 87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400125" y="1373370"/>
            <a:ext cx="294100" cy="268166"/>
          </a:xfrm>
          <a:prstGeom prst="rect">
            <a:avLst/>
          </a:prstGeom>
        </p:spPr>
      </p:pic>
      <p:pic>
        <p:nvPicPr>
          <p:cNvPr id="878" name="picture 87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844714" y="1373370"/>
            <a:ext cx="294100" cy="268166"/>
          </a:xfrm>
          <a:prstGeom prst="rect">
            <a:avLst/>
          </a:prstGeom>
        </p:spPr>
      </p:pic>
      <p:pic>
        <p:nvPicPr>
          <p:cNvPr id="880" name="picture 88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2805922" y="1660377"/>
            <a:ext cx="292544" cy="268166"/>
          </a:xfrm>
          <a:prstGeom prst="rect">
            <a:avLst/>
          </a:prstGeom>
        </p:spPr>
      </p:pic>
      <p:pic>
        <p:nvPicPr>
          <p:cNvPr id="882" name="picture 88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5955484" y="1373370"/>
            <a:ext cx="292544" cy="268166"/>
          </a:xfrm>
          <a:prstGeom prst="rect">
            <a:avLst/>
          </a:prstGeom>
        </p:spPr>
      </p:pic>
      <p:pic>
        <p:nvPicPr>
          <p:cNvPr id="884" name="picture 88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5510908" y="1373370"/>
            <a:ext cx="292544" cy="268166"/>
          </a:xfrm>
          <a:prstGeom prst="rect">
            <a:avLst/>
          </a:prstGeom>
        </p:spPr>
      </p:pic>
      <p:pic>
        <p:nvPicPr>
          <p:cNvPr id="886" name="picture 88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1192704" y="1663984"/>
            <a:ext cx="293144" cy="265661"/>
          </a:xfrm>
          <a:prstGeom prst="rect">
            <a:avLst/>
          </a:prstGeom>
        </p:spPr>
      </p:pic>
      <p:pic>
        <p:nvPicPr>
          <p:cNvPr id="888" name="picture 88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1873680" y="1668807"/>
            <a:ext cx="294100" cy="255977"/>
          </a:xfrm>
          <a:prstGeom prst="rect">
            <a:avLst/>
          </a:prstGeom>
        </p:spPr>
      </p:pic>
      <p:pic>
        <p:nvPicPr>
          <p:cNvPr id="890" name="picture 89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6405686" y="1997089"/>
            <a:ext cx="292544" cy="255977"/>
          </a:xfrm>
          <a:prstGeom prst="rect">
            <a:avLst/>
          </a:prstGeom>
        </p:spPr>
      </p:pic>
      <p:pic>
        <p:nvPicPr>
          <p:cNvPr id="892" name="picture 89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6852142" y="1997089"/>
            <a:ext cx="292544" cy="255977"/>
          </a:xfrm>
          <a:prstGeom prst="rect">
            <a:avLst/>
          </a:prstGeom>
        </p:spPr>
      </p:pic>
      <p:pic>
        <p:nvPicPr>
          <p:cNvPr id="894" name="picture 89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3278642" y="1668807"/>
            <a:ext cx="292544" cy="255977"/>
          </a:xfrm>
          <a:prstGeom prst="rect">
            <a:avLst/>
          </a:prstGeom>
        </p:spPr>
      </p:pic>
      <p:sp>
        <p:nvSpPr>
          <p:cNvPr id="896" name="textbox 896"/>
          <p:cNvSpPr/>
          <p:nvPr/>
        </p:nvSpPr>
        <p:spPr>
          <a:xfrm>
            <a:off x="2229045" y="1306758"/>
            <a:ext cx="504825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8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indent="-2540" algn="l" rtl="0" eaLnBrk="0">
              <a:lnSpc>
                <a:spcPct val="103000"/>
              </a:lnSpc>
              <a:tabLst/>
            </a:pP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坐席与用户预约</a:t>
            </a: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时间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98" name="textbox 898"/>
          <p:cNvSpPr/>
          <p:nvPr/>
        </p:nvSpPr>
        <p:spPr>
          <a:xfrm>
            <a:off x="9378212" y="1293422"/>
            <a:ext cx="435609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905" algn="l" rtl="0" eaLnBrk="0">
              <a:lnSpc>
                <a:spcPct val="103000"/>
              </a:lnSpc>
              <a:tabLst/>
            </a:pP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财务开始审核</a:t>
            </a:r>
            <a:r>
              <a:rPr sz="500" kern="0" spc="1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0" name="textbox 900"/>
          <p:cNvSpPr/>
          <p:nvPr/>
        </p:nvSpPr>
        <p:spPr>
          <a:xfrm>
            <a:off x="10314199" y="1293560"/>
            <a:ext cx="435609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905" algn="l" rtl="0" eaLnBrk="0">
              <a:lnSpc>
                <a:spcPct val="103000"/>
              </a:lnSpc>
              <a:tabLst/>
            </a:pP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服务工单结单</a:t>
            </a:r>
            <a:r>
              <a:rPr sz="500" kern="0" spc="1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2" name="textbox 902"/>
          <p:cNvSpPr/>
          <p:nvPr/>
        </p:nvSpPr>
        <p:spPr>
          <a:xfrm>
            <a:off x="7250919" y="2019515"/>
            <a:ext cx="435609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905" algn="l" rtl="0" eaLnBrk="0">
              <a:lnSpc>
                <a:spcPct val="103000"/>
              </a:lnSpc>
              <a:tabLst/>
            </a:pP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服务工单关闭</a:t>
            </a:r>
            <a:r>
              <a:rPr sz="500" kern="0" spc="1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4" name="textbox 904"/>
          <p:cNvSpPr/>
          <p:nvPr/>
        </p:nvSpPr>
        <p:spPr>
          <a:xfrm>
            <a:off x="9888449" y="2008265"/>
            <a:ext cx="435609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905" algn="l" rtl="0" eaLnBrk="0">
              <a:lnSpc>
                <a:spcPct val="103000"/>
              </a:lnSpc>
              <a:tabLst/>
            </a:pP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财务确认完成</a:t>
            </a:r>
            <a:r>
              <a:rPr sz="500" kern="0" spc="1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6" name="textbox 906"/>
          <p:cNvSpPr/>
          <p:nvPr/>
        </p:nvSpPr>
        <p:spPr>
          <a:xfrm>
            <a:off x="6772081" y="1147447"/>
            <a:ext cx="43624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9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indent="-2540" algn="l" rtl="0" eaLnBrk="0">
              <a:lnSpc>
                <a:spcPct val="102000"/>
              </a:lnSpc>
              <a:tabLst/>
            </a:pP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退货机器接收</a:t>
            </a:r>
            <a:r>
              <a:rPr sz="500" kern="0" spc="1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8" name="textbox 908"/>
          <p:cNvSpPr/>
          <p:nvPr/>
        </p:nvSpPr>
        <p:spPr>
          <a:xfrm>
            <a:off x="6314386" y="1147447"/>
            <a:ext cx="43624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9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indent="-2540" algn="l" rtl="0" eaLnBrk="0">
              <a:lnSpc>
                <a:spcPct val="102000"/>
              </a:lnSpc>
              <a:tabLst/>
            </a:pP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退货机器出运</a:t>
            </a:r>
            <a:r>
              <a:rPr sz="500" kern="0" spc="1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0" name="textbox 910"/>
          <p:cNvSpPr/>
          <p:nvPr/>
        </p:nvSpPr>
        <p:spPr>
          <a:xfrm>
            <a:off x="8527125" y="1293421"/>
            <a:ext cx="434975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270" algn="l" rtl="0" eaLnBrk="0">
              <a:lnSpc>
                <a:spcPct val="103000"/>
              </a:lnSpc>
              <a:tabLst/>
            </a:pP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工单开始审核</a:t>
            </a:r>
            <a:r>
              <a:rPr sz="500" kern="0" spc="1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2" name="textbox 912"/>
          <p:cNvSpPr/>
          <p:nvPr/>
        </p:nvSpPr>
        <p:spPr>
          <a:xfrm>
            <a:off x="9037361" y="2008127"/>
            <a:ext cx="434975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270" algn="l" rtl="0" eaLnBrk="0">
              <a:lnSpc>
                <a:spcPct val="103000"/>
              </a:lnSpc>
              <a:tabLst/>
            </a:pP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工单审核完毕</a:t>
            </a:r>
            <a:r>
              <a:rPr sz="500" kern="0" spc="1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4" name="textbox 914"/>
          <p:cNvSpPr/>
          <p:nvPr/>
        </p:nvSpPr>
        <p:spPr>
          <a:xfrm>
            <a:off x="1805518" y="2019584"/>
            <a:ext cx="435609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8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905" algn="l" rtl="0" eaLnBrk="0">
              <a:lnSpc>
                <a:spcPct val="103000"/>
              </a:lnSpc>
              <a:tabLst/>
            </a:pP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用户来电登记</a:t>
            </a:r>
            <a:r>
              <a:rPr sz="500" kern="0" spc="1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16" name="picture 91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7075119" y="1509420"/>
            <a:ext cx="270751" cy="209689"/>
          </a:xfrm>
          <a:prstGeom prst="rect">
            <a:avLst/>
          </a:prstGeom>
        </p:spPr>
      </p:pic>
      <p:sp>
        <p:nvSpPr>
          <p:cNvPr id="918" name="textbox 918"/>
          <p:cNvSpPr/>
          <p:nvPr/>
        </p:nvSpPr>
        <p:spPr>
          <a:xfrm>
            <a:off x="5927963" y="1147447"/>
            <a:ext cx="36766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9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indent="-3175" algn="l" rtl="0" eaLnBrk="0">
              <a:lnSpc>
                <a:spcPct val="102000"/>
              </a:lnSpc>
              <a:tabLst/>
            </a:pP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退货批准时</a:t>
            </a:r>
            <a:r>
              <a:rPr sz="500" kern="0" spc="1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500" kern="0" spc="-1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间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0" name="textbox 920"/>
          <p:cNvSpPr/>
          <p:nvPr/>
        </p:nvSpPr>
        <p:spPr>
          <a:xfrm>
            <a:off x="5465630" y="2349728"/>
            <a:ext cx="584834" cy="105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27"/>
              </a:lnSpc>
              <a:tabLst/>
            </a:pPr>
            <a:r>
              <a:rPr sz="800" kern="0" spc="-10" baseline="7195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</a:t>
            </a:r>
            <a:r>
              <a:rPr sz="500" kern="0" spc="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</a:t>
            </a:r>
            <a:r>
              <a:rPr sz="800" kern="0" spc="-10" baseline="-5826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800" baseline="-5826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2" name="textbox 922"/>
          <p:cNvSpPr/>
          <p:nvPr/>
        </p:nvSpPr>
        <p:spPr>
          <a:xfrm>
            <a:off x="5475881" y="1147104"/>
            <a:ext cx="299084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indent="-2540" algn="l" rtl="0" eaLnBrk="0">
              <a:lnSpc>
                <a:spcPct val="103000"/>
              </a:lnSpc>
              <a:tabLst/>
            </a:pP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退货审批</a:t>
            </a:r>
            <a:r>
              <a:rPr sz="500" kern="0" spc="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4" name="textbox 924"/>
          <p:cNvSpPr/>
          <p:nvPr/>
        </p:nvSpPr>
        <p:spPr>
          <a:xfrm>
            <a:off x="8189374" y="2019927"/>
            <a:ext cx="29654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102000"/>
              </a:lnSpc>
              <a:tabLst/>
            </a:pP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回访完成</a:t>
            </a:r>
            <a:r>
              <a:rPr sz="500" kern="0" spc="1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6" name="textbox 926"/>
          <p:cNvSpPr/>
          <p:nvPr/>
        </p:nvSpPr>
        <p:spPr>
          <a:xfrm>
            <a:off x="7677272" y="1294107"/>
            <a:ext cx="29654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102000"/>
              </a:lnSpc>
              <a:tabLst/>
            </a:pP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回访开始</a:t>
            </a:r>
            <a:r>
              <a:rPr sz="500" kern="0" spc="1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500" kern="0" spc="2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8" name="textbox 928"/>
          <p:cNvSpPr/>
          <p:nvPr/>
        </p:nvSpPr>
        <p:spPr>
          <a:xfrm>
            <a:off x="1063978" y="1354510"/>
            <a:ext cx="435609" cy="100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用户来电时间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30" name="picture 93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7080212" y="1988273"/>
            <a:ext cx="146811" cy="140461"/>
          </a:xfrm>
          <a:prstGeom prst="rect">
            <a:avLst/>
          </a:prstGeom>
        </p:spPr>
      </p:pic>
      <p:sp>
        <p:nvSpPr>
          <p:cNvPr id="932" name="textbox 932"/>
          <p:cNvSpPr/>
          <p:nvPr/>
        </p:nvSpPr>
        <p:spPr>
          <a:xfrm>
            <a:off x="2754142" y="2081689"/>
            <a:ext cx="299084" cy="99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500" kern="0" spc="30" dirty="0">
                <a:solidFill>
                  <a:srgbClr val="44546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派单时间</a:t>
            </a:r>
            <a:endParaRPr sz="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34" name="picture 93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6191630" y="2117788"/>
            <a:ext cx="681037" cy="14579"/>
          </a:xfrm>
          <a:prstGeom prst="rect">
            <a:avLst/>
          </a:prstGeom>
        </p:spPr>
      </p:pic>
      <p:pic>
        <p:nvPicPr>
          <p:cNvPr id="936" name="picture 93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7245895" y="1892020"/>
            <a:ext cx="82385" cy="79209"/>
          </a:xfrm>
          <a:prstGeom prst="rect">
            <a:avLst/>
          </a:prstGeom>
        </p:spPr>
      </p:pic>
      <p:pic>
        <p:nvPicPr>
          <p:cNvPr id="938" name="picture 93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6623773" y="1508162"/>
            <a:ext cx="241389" cy="14541"/>
          </a:xfrm>
          <a:prstGeom prst="rect">
            <a:avLst/>
          </a:prstGeom>
        </p:spPr>
      </p:pic>
      <p:pic>
        <p:nvPicPr>
          <p:cNvPr id="940" name="picture 94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5745873" y="1508302"/>
            <a:ext cx="241388" cy="14402"/>
          </a:xfrm>
          <a:prstGeom prst="rect">
            <a:avLst/>
          </a:prstGeom>
        </p:spPr>
      </p:pic>
      <p:pic>
        <p:nvPicPr>
          <p:cNvPr id="942" name="picture 94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6216853" y="1508277"/>
            <a:ext cx="190613" cy="14427"/>
          </a:xfrm>
          <a:prstGeom prst="rect">
            <a:avLst/>
          </a:prstGeom>
        </p:spPr>
      </p:pic>
      <p:pic>
        <p:nvPicPr>
          <p:cNvPr id="944" name="picture 94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4816043" y="1866303"/>
            <a:ext cx="45465" cy="44310"/>
          </a:xfrm>
          <a:prstGeom prst="rect">
            <a:avLst/>
          </a:prstGeom>
        </p:spPr>
      </p:pic>
      <p:pic>
        <p:nvPicPr>
          <p:cNvPr id="946" name="picture 94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4880254" y="1927783"/>
            <a:ext cx="17957" cy="179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picture 9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5175" y="781811"/>
            <a:ext cx="11724131" cy="6076188"/>
          </a:xfrm>
          <a:prstGeom prst="rect">
            <a:avLst/>
          </a:prstGeom>
        </p:spPr>
      </p:pic>
      <p:sp>
        <p:nvSpPr>
          <p:cNvPr id="950" name="textbox 950"/>
          <p:cNvSpPr/>
          <p:nvPr/>
        </p:nvSpPr>
        <p:spPr>
          <a:xfrm>
            <a:off x="981455" y="257679"/>
            <a:ext cx="4416425" cy="394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数字化2.0-营销总体项</a:t>
            </a:r>
            <a:r>
              <a:rPr sz="26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目计划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rect 952"/>
          <p:cNvSpPr/>
          <p:nvPr/>
        </p:nvSpPr>
        <p:spPr>
          <a:xfrm>
            <a:off x="333756" y="1752600"/>
            <a:ext cx="11521440" cy="4853940"/>
          </a:xfrm>
          <a:prstGeom prst="rect">
            <a:avLst/>
          </a:prstGeom>
          <a:solidFill>
            <a:srgbClr val="C6C6C6">
              <a:alpha val="6509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54" name="textbox 954"/>
          <p:cNvSpPr/>
          <p:nvPr/>
        </p:nvSpPr>
        <p:spPr>
          <a:xfrm>
            <a:off x="460254" y="1022580"/>
            <a:ext cx="2954020" cy="4422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4200" b="1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目录</a:t>
            </a:r>
            <a:endParaRPr sz="4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32740" algn="l" rtl="0" eaLnBrk="0">
              <a:lnSpc>
                <a:spcPts val="3883"/>
              </a:lnSpc>
              <a:spcBef>
                <a:spcPts val="967"/>
              </a:spcBef>
              <a:tabLst>
                <a:tab pos="621665" algn="l"/>
              </a:tabLst>
            </a:pPr>
            <a:r>
              <a:rPr sz="3200" kern="0" spc="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200" kern="0" spc="19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kern="0" spc="-1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方案概览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marL="332740" algn="l" rtl="0" eaLnBrk="0">
              <a:lnSpc>
                <a:spcPts val="3883"/>
              </a:lnSpc>
              <a:spcBef>
                <a:spcPts val="572"/>
              </a:spcBef>
              <a:tabLst>
                <a:tab pos="621665" algn="l"/>
              </a:tabLst>
            </a:pPr>
            <a:r>
              <a:rPr sz="3200" kern="0" spc="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200" kern="0" spc="21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kern="0" spc="-2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营销领域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marL="332740" algn="l" rtl="0" eaLnBrk="0">
              <a:lnSpc>
                <a:spcPts val="3870"/>
              </a:lnSpc>
              <a:spcBef>
                <a:spcPts val="572"/>
              </a:spcBef>
              <a:tabLst>
                <a:tab pos="621665" algn="l"/>
              </a:tabLst>
            </a:pP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2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研发领域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marL="332740" algn="l" rtl="0" eaLnBrk="0">
              <a:lnSpc>
                <a:spcPts val="3883"/>
              </a:lnSpc>
              <a:spcBef>
                <a:spcPts val="584"/>
              </a:spcBef>
              <a:tabLst>
                <a:tab pos="621665" algn="l"/>
              </a:tabLst>
            </a:pPr>
            <a:r>
              <a:rPr sz="3200" kern="0" spc="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200" kern="0" spc="19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kern="0" spc="-1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供应链领域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marL="332740" algn="l" rtl="0" eaLnBrk="0">
              <a:lnSpc>
                <a:spcPct val="100000"/>
              </a:lnSpc>
              <a:spcBef>
                <a:spcPts val="587"/>
              </a:spcBef>
              <a:tabLst>
                <a:tab pos="621665" algn="l"/>
              </a:tabLst>
            </a:pPr>
            <a:r>
              <a:rPr sz="3200" kern="0" spc="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200" kern="0" spc="19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kern="0" spc="-1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数据领域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56" name="picture 9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93130" y="4942727"/>
            <a:ext cx="288994" cy="450994"/>
          </a:xfrm>
          <a:prstGeom prst="rect">
            <a:avLst/>
          </a:prstGeom>
        </p:spPr>
      </p:pic>
      <p:pic>
        <p:nvPicPr>
          <p:cNvPr id="958" name="picture 9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93130" y="4376942"/>
            <a:ext cx="288994" cy="450994"/>
          </a:xfrm>
          <a:prstGeom prst="rect">
            <a:avLst/>
          </a:prstGeom>
        </p:spPr>
      </p:pic>
      <p:pic>
        <p:nvPicPr>
          <p:cNvPr id="960" name="picture 9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93130" y="3811157"/>
            <a:ext cx="288994" cy="450994"/>
          </a:xfrm>
          <a:prstGeom prst="rect">
            <a:avLst/>
          </a:prstGeom>
        </p:spPr>
      </p:pic>
      <p:pic>
        <p:nvPicPr>
          <p:cNvPr id="962" name="picture 9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93130" y="3245372"/>
            <a:ext cx="288994" cy="450994"/>
          </a:xfrm>
          <a:prstGeom prst="rect">
            <a:avLst/>
          </a:prstGeom>
        </p:spPr>
      </p:pic>
      <p:pic>
        <p:nvPicPr>
          <p:cNvPr id="964" name="picture 9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93130" y="2679587"/>
            <a:ext cx="288994" cy="4509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textbox 966"/>
          <p:cNvSpPr/>
          <p:nvPr/>
        </p:nvSpPr>
        <p:spPr>
          <a:xfrm>
            <a:off x="418592" y="-12700"/>
            <a:ext cx="11193144" cy="1320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1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9105" algn="l" rtl="0" eaLnBrk="0">
              <a:lnSpc>
                <a:spcPts val="3528"/>
              </a:lnSpc>
              <a:tabLst>
                <a:tab pos="575309" algn="l"/>
              </a:tabLst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6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数字化2.0-研发业务规划（</a:t>
            </a:r>
            <a:r>
              <a:rPr sz="2600" b="1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6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</a:t>
            </a:r>
            <a:r>
              <a:rPr sz="26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3）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877"/>
              </a:lnSpc>
              <a:tabLst/>
            </a:pP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面向研发业务8大L3功能、</a:t>
            </a:r>
            <a:r>
              <a:rPr sz="23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50个L4子功能进行软件化、</a:t>
            </a:r>
            <a:r>
              <a:rPr sz="2300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数字化能力构建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和提升；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62" name="group 62"/>
          <p:cNvGrpSpPr/>
          <p:nvPr/>
        </p:nvGrpSpPr>
        <p:grpSpPr>
          <a:xfrm rot="21600000">
            <a:off x="431292" y="0"/>
            <a:ext cx="446531" cy="755903"/>
            <a:chOff x="0" y="0"/>
            <a:chExt cx="446531" cy="755903"/>
          </a:xfrm>
        </p:grpSpPr>
        <p:sp>
          <p:nvSpPr>
            <p:cNvPr id="968" name="path 968"/>
            <p:cNvSpPr/>
            <p:nvPr/>
          </p:nvSpPr>
          <p:spPr>
            <a:xfrm>
              <a:off x="0" y="0"/>
              <a:ext cx="216408" cy="755903"/>
            </a:xfrm>
            <a:custGeom>
              <a:avLst/>
              <a:gdLst/>
              <a:ahLst/>
              <a:cxnLst/>
              <a:rect l="0" t="0" r="0" b="0"/>
              <a:pathLst>
                <a:path w="340" h="1190">
                  <a:moveTo>
                    <a:pt x="0" y="0"/>
                  </a:moveTo>
                  <a:lnTo>
                    <a:pt x="340" y="0"/>
                  </a:lnTo>
                  <a:lnTo>
                    <a:pt x="340" y="1190"/>
                  </a:lnTo>
                  <a:lnTo>
                    <a:pt x="0" y="1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70" name="path 970"/>
            <p:cNvSpPr/>
            <p:nvPr/>
          </p:nvSpPr>
          <p:spPr>
            <a:xfrm>
              <a:off x="231647" y="147828"/>
              <a:ext cx="214884" cy="605027"/>
            </a:xfrm>
            <a:custGeom>
              <a:avLst/>
              <a:gdLst/>
              <a:ahLst/>
              <a:cxnLst/>
              <a:rect l="0" t="0" r="0" b="0"/>
              <a:pathLst>
                <a:path w="338" h="952">
                  <a:moveTo>
                    <a:pt x="0" y="0"/>
                  </a:moveTo>
                  <a:lnTo>
                    <a:pt x="338" y="0"/>
                  </a:lnTo>
                  <a:lnTo>
                    <a:pt x="338" y="952"/>
                  </a:lnTo>
                  <a:lnTo>
                    <a:pt x="0" y="9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8DE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972" name="picture 9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59511" y="3857917"/>
            <a:ext cx="1323048" cy="77317"/>
          </a:xfrm>
          <a:prstGeom prst="rect">
            <a:avLst/>
          </a:prstGeom>
        </p:spPr>
      </p:pic>
      <p:pic>
        <p:nvPicPr>
          <p:cNvPr id="974" name="picture 9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59511" y="4315688"/>
            <a:ext cx="1323048" cy="77304"/>
          </a:xfrm>
          <a:prstGeom prst="rect">
            <a:avLst/>
          </a:prstGeom>
        </p:spPr>
      </p:pic>
      <p:pic>
        <p:nvPicPr>
          <p:cNvPr id="976" name="picture 9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9511" y="2579852"/>
            <a:ext cx="1323048" cy="77317"/>
          </a:xfrm>
          <a:prstGeom prst="rect">
            <a:avLst/>
          </a:prstGeom>
        </p:spPr>
      </p:pic>
      <p:pic>
        <p:nvPicPr>
          <p:cNvPr id="978" name="picture 97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59511" y="4740719"/>
            <a:ext cx="1323048" cy="77317"/>
          </a:xfrm>
          <a:prstGeom prst="rect">
            <a:avLst/>
          </a:prstGeom>
        </p:spPr>
      </p:pic>
      <p:pic>
        <p:nvPicPr>
          <p:cNvPr id="980" name="picture 98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59511" y="3004883"/>
            <a:ext cx="1323048" cy="77317"/>
          </a:xfrm>
          <a:prstGeom prst="rect">
            <a:avLst/>
          </a:prstGeom>
        </p:spPr>
      </p:pic>
      <p:pic>
        <p:nvPicPr>
          <p:cNvPr id="982" name="picture 98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59511" y="3447389"/>
            <a:ext cx="1323048" cy="77317"/>
          </a:xfrm>
          <a:prstGeom prst="rect">
            <a:avLst/>
          </a:prstGeom>
        </p:spPr>
      </p:pic>
      <p:pic>
        <p:nvPicPr>
          <p:cNvPr id="984" name="picture 98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59473" y="2503627"/>
            <a:ext cx="1323124" cy="3455479"/>
          </a:xfrm>
          <a:prstGeom prst="rect">
            <a:avLst/>
          </a:prstGeom>
        </p:spPr>
      </p:pic>
      <p:pic>
        <p:nvPicPr>
          <p:cNvPr id="986" name="picture 98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729619" y="3449192"/>
            <a:ext cx="1321168" cy="76250"/>
          </a:xfrm>
          <a:prstGeom prst="rect">
            <a:avLst/>
          </a:prstGeom>
        </p:spPr>
      </p:pic>
      <p:pic>
        <p:nvPicPr>
          <p:cNvPr id="988" name="picture 98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729619" y="4317479"/>
            <a:ext cx="1321168" cy="76250"/>
          </a:xfrm>
          <a:prstGeom prst="rect">
            <a:avLst/>
          </a:prstGeom>
        </p:spPr>
      </p:pic>
      <p:pic>
        <p:nvPicPr>
          <p:cNvPr id="990" name="picture 99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729619" y="4742522"/>
            <a:ext cx="1321168" cy="76251"/>
          </a:xfrm>
          <a:prstGeom prst="rect">
            <a:avLst/>
          </a:prstGeom>
        </p:spPr>
      </p:pic>
      <p:pic>
        <p:nvPicPr>
          <p:cNvPr id="992" name="picture 99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729619" y="2581643"/>
            <a:ext cx="1321168" cy="76263"/>
          </a:xfrm>
          <a:prstGeom prst="rect">
            <a:avLst/>
          </a:prstGeom>
        </p:spPr>
      </p:pic>
      <p:pic>
        <p:nvPicPr>
          <p:cNvPr id="994" name="picture 99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729619" y="3859720"/>
            <a:ext cx="1321168" cy="76250"/>
          </a:xfrm>
          <a:prstGeom prst="rect">
            <a:avLst/>
          </a:prstGeom>
        </p:spPr>
      </p:pic>
      <p:pic>
        <p:nvPicPr>
          <p:cNvPr id="996" name="picture 99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729619" y="3006687"/>
            <a:ext cx="1321168" cy="76250"/>
          </a:xfrm>
          <a:prstGeom prst="rect">
            <a:avLst/>
          </a:prstGeom>
        </p:spPr>
      </p:pic>
      <p:pic>
        <p:nvPicPr>
          <p:cNvPr id="998" name="picture 99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4729594" y="2506268"/>
            <a:ext cx="1321219" cy="3453562"/>
          </a:xfrm>
          <a:prstGeom prst="rect">
            <a:avLst/>
          </a:prstGeom>
        </p:spPr>
      </p:pic>
      <p:sp>
        <p:nvSpPr>
          <p:cNvPr id="1000" name="rect 1000"/>
          <p:cNvSpPr/>
          <p:nvPr/>
        </p:nvSpPr>
        <p:spPr>
          <a:xfrm>
            <a:off x="7523505" y="4672634"/>
            <a:ext cx="1314170" cy="432041"/>
          </a:xfrm>
          <a:prstGeom prst="rect">
            <a:avLst/>
          </a:prstGeom>
          <a:solidFill>
            <a:srgbClr val="FFC000">
              <a:alpha val="9686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02" name="picture 100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7519720" y="3008376"/>
            <a:ext cx="1321155" cy="76250"/>
          </a:xfrm>
          <a:prstGeom prst="rect">
            <a:avLst/>
          </a:prstGeom>
        </p:spPr>
      </p:pic>
      <p:pic>
        <p:nvPicPr>
          <p:cNvPr id="1004" name="picture 100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7519720" y="3450869"/>
            <a:ext cx="1321155" cy="76263"/>
          </a:xfrm>
          <a:prstGeom prst="rect">
            <a:avLst/>
          </a:prstGeom>
        </p:spPr>
      </p:pic>
      <p:pic>
        <p:nvPicPr>
          <p:cNvPr id="1006" name="picture 100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7519720" y="4319168"/>
            <a:ext cx="1321155" cy="76250"/>
          </a:xfrm>
          <a:prstGeom prst="rect">
            <a:avLst/>
          </a:prstGeom>
        </p:spPr>
      </p:pic>
      <p:pic>
        <p:nvPicPr>
          <p:cNvPr id="1008" name="picture 100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7519720" y="3789832"/>
            <a:ext cx="1321155" cy="432041"/>
          </a:xfrm>
          <a:prstGeom prst="rect">
            <a:avLst/>
          </a:prstGeom>
        </p:spPr>
      </p:pic>
      <p:pic>
        <p:nvPicPr>
          <p:cNvPr id="1010" name="picture 101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7519720" y="4744199"/>
            <a:ext cx="1321155" cy="76263"/>
          </a:xfrm>
          <a:prstGeom prst="rect">
            <a:avLst/>
          </a:prstGeom>
        </p:spPr>
      </p:pic>
      <p:pic>
        <p:nvPicPr>
          <p:cNvPr id="1012" name="picture 101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7519720" y="2583332"/>
            <a:ext cx="1321155" cy="76250"/>
          </a:xfrm>
          <a:prstGeom prst="rect">
            <a:avLst/>
          </a:prstGeom>
        </p:spPr>
      </p:pic>
      <p:pic>
        <p:nvPicPr>
          <p:cNvPr id="1014" name="picture 101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7519695" y="2507945"/>
            <a:ext cx="1321206" cy="2600540"/>
          </a:xfrm>
          <a:prstGeom prst="rect">
            <a:avLst/>
          </a:prstGeom>
        </p:spPr>
      </p:pic>
      <p:sp>
        <p:nvSpPr>
          <p:cNvPr id="1016" name="path 1016"/>
          <p:cNvSpPr/>
          <p:nvPr/>
        </p:nvSpPr>
        <p:spPr>
          <a:xfrm>
            <a:off x="1941385" y="2510078"/>
            <a:ext cx="1313878" cy="2167877"/>
          </a:xfrm>
          <a:custGeom>
            <a:avLst/>
            <a:gdLst/>
            <a:ahLst/>
            <a:cxnLst/>
            <a:rect l="0" t="0" r="0" b="0"/>
            <a:pathLst>
              <a:path w="2069" h="3413">
                <a:moveTo>
                  <a:pt x="0" y="2846"/>
                </a:moveTo>
                <a:moveTo>
                  <a:pt x="0" y="2846"/>
                </a:moveTo>
                <a:cubicBezTo>
                  <a:pt x="0" y="2784"/>
                  <a:pt x="463" y="2733"/>
                  <a:pt x="1034" y="2733"/>
                </a:cubicBezTo>
                <a:cubicBezTo>
                  <a:pt x="1605" y="2733"/>
                  <a:pt x="2068" y="2784"/>
                  <a:pt x="2069" y="2846"/>
                </a:cubicBezTo>
                <a:lnTo>
                  <a:pt x="2069" y="3299"/>
                </a:lnTo>
                <a:cubicBezTo>
                  <a:pt x="2068" y="3363"/>
                  <a:pt x="1605" y="3413"/>
                  <a:pt x="1034" y="3413"/>
                </a:cubicBezTo>
                <a:cubicBezTo>
                  <a:pt x="463" y="3413"/>
                  <a:pt x="0" y="3363"/>
                  <a:pt x="0" y="3299"/>
                </a:cubicBezTo>
                <a:lnTo>
                  <a:pt x="0" y="2846"/>
                </a:lnTo>
              </a:path>
              <a:path w="2069" h="3413">
                <a:moveTo>
                  <a:pt x="0" y="2126"/>
                </a:moveTo>
                <a:moveTo>
                  <a:pt x="0" y="2126"/>
                </a:moveTo>
                <a:cubicBezTo>
                  <a:pt x="0" y="2063"/>
                  <a:pt x="463" y="2012"/>
                  <a:pt x="1034" y="2012"/>
                </a:cubicBezTo>
                <a:cubicBezTo>
                  <a:pt x="1605" y="2012"/>
                  <a:pt x="2068" y="2063"/>
                  <a:pt x="2069" y="2126"/>
                </a:cubicBezTo>
                <a:lnTo>
                  <a:pt x="2069" y="2579"/>
                </a:lnTo>
                <a:cubicBezTo>
                  <a:pt x="2068" y="2642"/>
                  <a:pt x="1605" y="2693"/>
                  <a:pt x="1034" y="2693"/>
                </a:cubicBezTo>
                <a:cubicBezTo>
                  <a:pt x="463" y="2693"/>
                  <a:pt x="0" y="2642"/>
                  <a:pt x="0" y="2579"/>
                </a:cubicBezTo>
                <a:lnTo>
                  <a:pt x="0" y="2126"/>
                </a:lnTo>
              </a:path>
              <a:path w="2069" h="3413">
                <a:moveTo>
                  <a:pt x="0" y="1480"/>
                </a:moveTo>
                <a:moveTo>
                  <a:pt x="0" y="1480"/>
                </a:moveTo>
                <a:cubicBezTo>
                  <a:pt x="0" y="1416"/>
                  <a:pt x="463" y="1366"/>
                  <a:pt x="1034" y="1366"/>
                </a:cubicBezTo>
                <a:cubicBezTo>
                  <a:pt x="1605" y="1366"/>
                  <a:pt x="2068" y="1416"/>
                  <a:pt x="2069" y="1480"/>
                </a:cubicBezTo>
                <a:lnTo>
                  <a:pt x="2069" y="1934"/>
                </a:lnTo>
                <a:cubicBezTo>
                  <a:pt x="2068" y="1995"/>
                  <a:pt x="1605" y="2046"/>
                  <a:pt x="1034" y="2046"/>
                </a:cubicBezTo>
                <a:cubicBezTo>
                  <a:pt x="463" y="2046"/>
                  <a:pt x="0" y="1995"/>
                  <a:pt x="0" y="1934"/>
                </a:cubicBezTo>
                <a:lnTo>
                  <a:pt x="0" y="1480"/>
                </a:lnTo>
              </a:path>
              <a:path w="2069" h="3413">
                <a:moveTo>
                  <a:pt x="0" y="782"/>
                </a:moveTo>
                <a:moveTo>
                  <a:pt x="0" y="782"/>
                </a:moveTo>
                <a:cubicBezTo>
                  <a:pt x="0" y="720"/>
                  <a:pt x="463" y="669"/>
                  <a:pt x="1034" y="669"/>
                </a:cubicBezTo>
                <a:cubicBezTo>
                  <a:pt x="1605" y="669"/>
                  <a:pt x="2068" y="720"/>
                  <a:pt x="2069" y="782"/>
                </a:cubicBezTo>
                <a:lnTo>
                  <a:pt x="2069" y="1235"/>
                </a:lnTo>
                <a:cubicBezTo>
                  <a:pt x="2068" y="1298"/>
                  <a:pt x="1605" y="1349"/>
                  <a:pt x="1034" y="1349"/>
                </a:cubicBezTo>
                <a:cubicBezTo>
                  <a:pt x="463" y="1349"/>
                  <a:pt x="0" y="1298"/>
                  <a:pt x="0" y="1235"/>
                </a:cubicBezTo>
                <a:lnTo>
                  <a:pt x="0" y="782"/>
                </a:lnTo>
              </a:path>
              <a:path w="2069" h="3413">
                <a:moveTo>
                  <a:pt x="0" y="112"/>
                </a:moveTo>
                <a:moveTo>
                  <a:pt x="0" y="112"/>
                </a:moveTo>
                <a:cubicBezTo>
                  <a:pt x="0" y="50"/>
                  <a:pt x="463" y="0"/>
                  <a:pt x="1034" y="0"/>
                </a:cubicBezTo>
                <a:cubicBezTo>
                  <a:pt x="1605" y="0"/>
                  <a:pt x="2068" y="50"/>
                  <a:pt x="2069" y="112"/>
                </a:cubicBezTo>
                <a:lnTo>
                  <a:pt x="2069" y="566"/>
                </a:lnTo>
                <a:cubicBezTo>
                  <a:pt x="2068" y="629"/>
                  <a:pt x="1605" y="680"/>
                  <a:pt x="1034" y="680"/>
                </a:cubicBezTo>
                <a:cubicBezTo>
                  <a:pt x="463" y="680"/>
                  <a:pt x="0" y="629"/>
                  <a:pt x="0" y="566"/>
                </a:cubicBezTo>
                <a:lnTo>
                  <a:pt x="0" y="112"/>
                </a:lnTo>
              </a:path>
            </a:pathLst>
          </a:custGeom>
          <a:solidFill>
            <a:srgbClr val="92D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18" name="picture 101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1936661" y="3859606"/>
            <a:ext cx="1323048" cy="77317"/>
          </a:xfrm>
          <a:prstGeom prst="rect">
            <a:avLst/>
          </a:prstGeom>
        </p:spPr>
      </p:pic>
      <p:pic>
        <p:nvPicPr>
          <p:cNvPr id="1020" name="picture 102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1936661" y="4317364"/>
            <a:ext cx="1323048" cy="77317"/>
          </a:xfrm>
          <a:prstGeom prst="rect">
            <a:avLst/>
          </a:prstGeom>
        </p:spPr>
      </p:pic>
      <p:pic>
        <p:nvPicPr>
          <p:cNvPr id="1022" name="picture 102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1936661" y="2581541"/>
            <a:ext cx="1323048" cy="77317"/>
          </a:xfrm>
          <a:prstGeom prst="rect">
            <a:avLst/>
          </a:prstGeom>
        </p:spPr>
      </p:pic>
      <p:pic>
        <p:nvPicPr>
          <p:cNvPr id="1024" name="picture 102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1936661" y="3449078"/>
            <a:ext cx="1323048" cy="77317"/>
          </a:xfrm>
          <a:prstGeom prst="rect">
            <a:avLst/>
          </a:prstGeom>
        </p:spPr>
      </p:pic>
      <p:pic>
        <p:nvPicPr>
          <p:cNvPr id="1026" name="picture 102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1936661" y="3006572"/>
            <a:ext cx="1323048" cy="77317"/>
          </a:xfrm>
          <a:prstGeom prst="rect">
            <a:avLst/>
          </a:prstGeom>
        </p:spPr>
      </p:pic>
      <p:pic>
        <p:nvPicPr>
          <p:cNvPr id="1028" name="picture 10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1936622" y="2505316"/>
            <a:ext cx="1323111" cy="2177402"/>
          </a:xfrm>
          <a:prstGeom prst="rect">
            <a:avLst/>
          </a:prstGeom>
        </p:spPr>
      </p:pic>
      <p:pic>
        <p:nvPicPr>
          <p:cNvPr id="1030" name="picture 103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10393833" y="3450869"/>
            <a:ext cx="1321167" cy="76263"/>
          </a:xfrm>
          <a:prstGeom prst="rect">
            <a:avLst/>
          </a:prstGeom>
        </p:spPr>
      </p:pic>
      <p:pic>
        <p:nvPicPr>
          <p:cNvPr id="1032" name="picture 103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10393833" y="3861396"/>
            <a:ext cx="1321167" cy="76263"/>
          </a:xfrm>
          <a:prstGeom prst="rect">
            <a:avLst/>
          </a:prstGeom>
        </p:spPr>
      </p:pic>
      <p:pic>
        <p:nvPicPr>
          <p:cNvPr id="1034" name="picture 1034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10393833" y="3008376"/>
            <a:ext cx="1321167" cy="76250"/>
          </a:xfrm>
          <a:prstGeom prst="rect">
            <a:avLst/>
          </a:prstGeom>
        </p:spPr>
      </p:pic>
      <p:pic>
        <p:nvPicPr>
          <p:cNvPr id="1036" name="picture 103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10393833" y="4278706"/>
            <a:ext cx="1321167" cy="76250"/>
          </a:xfrm>
          <a:prstGeom prst="rect">
            <a:avLst/>
          </a:prstGeom>
        </p:spPr>
      </p:pic>
      <p:pic>
        <p:nvPicPr>
          <p:cNvPr id="1038" name="picture 1038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10393833" y="2583332"/>
            <a:ext cx="1321167" cy="76250"/>
          </a:xfrm>
          <a:prstGeom prst="rect">
            <a:avLst/>
          </a:prstGeom>
        </p:spPr>
      </p:pic>
      <p:pic>
        <p:nvPicPr>
          <p:cNvPr id="1040" name="picture 104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10393807" y="2507945"/>
            <a:ext cx="1321218" cy="2135047"/>
          </a:xfrm>
          <a:prstGeom prst="rect">
            <a:avLst/>
          </a:prstGeom>
        </p:spPr>
      </p:pic>
      <p:pic>
        <p:nvPicPr>
          <p:cNvPr id="1042" name="picture 1042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8916047" y="3450869"/>
            <a:ext cx="1321168" cy="76263"/>
          </a:xfrm>
          <a:prstGeom prst="rect">
            <a:avLst/>
          </a:prstGeom>
        </p:spPr>
      </p:pic>
      <p:sp>
        <p:nvSpPr>
          <p:cNvPr id="1044" name="rect 1044"/>
          <p:cNvSpPr/>
          <p:nvPr/>
        </p:nvSpPr>
        <p:spPr>
          <a:xfrm>
            <a:off x="8919831" y="3789832"/>
            <a:ext cx="1313828" cy="432041"/>
          </a:xfrm>
          <a:prstGeom prst="rect">
            <a:avLst/>
          </a:prstGeom>
          <a:solidFill>
            <a:srgbClr val="00B0F0">
              <a:alpha val="9647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46" name="picture 104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8916047" y="3861396"/>
            <a:ext cx="1321168" cy="76263"/>
          </a:xfrm>
          <a:prstGeom prst="rect">
            <a:avLst/>
          </a:prstGeom>
        </p:spPr>
      </p:pic>
      <p:pic>
        <p:nvPicPr>
          <p:cNvPr id="1048" name="picture 104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8916047" y="3008376"/>
            <a:ext cx="1321168" cy="76250"/>
          </a:xfrm>
          <a:prstGeom prst="rect">
            <a:avLst/>
          </a:prstGeom>
        </p:spPr>
      </p:pic>
      <p:pic>
        <p:nvPicPr>
          <p:cNvPr id="1050" name="picture 105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8916047" y="2583332"/>
            <a:ext cx="1321168" cy="76250"/>
          </a:xfrm>
          <a:prstGeom prst="rect">
            <a:avLst/>
          </a:prstGeom>
        </p:spPr>
      </p:pic>
      <p:pic>
        <p:nvPicPr>
          <p:cNvPr id="1052" name="picture 1052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8916021" y="2507945"/>
            <a:ext cx="1321220" cy="1717738"/>
          </a:xfrm>
          <a:prstGeom prst="rect">
            <a:avLst/>
          </a:prstGeom>
        </p:spPr>
      </p:pic>
      <p:pic>
        <p:nvPicPr>
          <p:cNvPr id="1054" name="picture 1054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6124663" y="4317479"/>
            <a:ext cx="1321168" cy="76250"/>
          </a:xfrm>
          <a:prstGeom prst="rect">
            <a:avLst/>
          </a:prstGeom>
        </p:spPr>
      </p:pic>
      <p:pic>
        <p:nvPicPr>
          <p:cNvPr id="1056" name="picture 1056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6124663" y="4742522"/>
            <a:ext cx="1321168" cy="76251"/>
          </a:xfrm>
          <a:prstGeom prst="rect">
            <a:avLst/>
          </a:prstGeom>
        </p:spPr>
      </p:pic>
      <p:pic>
        <p:nvPicPr>
          <p:cNvPr id="1058" name="picture 1058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6124651" y="4242091"/>
            <a:ext cx="1321206" cy="1717738"/>
          </a:xfrm>
          <a:prstGeom prst="rect">
            <a:avLst/>
          </a:prstGeom>
        </p:spPr>
      </p:pic>
      <p:pic>
        <p:nvPicPr>
          <p:cNvPr id="1060" name="picture 1060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3333927" y="4726317"/>
            <a:ext cx="1321168" cy="76250"/>
          </a:xfrm>
          <a:prstGeom prst="rect">
            <a:avLst/>
          </a:prstGeom>
        </p:spPr>
      </p:pic>
      <p:pic>
        <p:nvPicPr>
          <p:cNvPr id="1062" name="picture 1062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3333927" y="5151361"/>
            <a:ext cx="1321168" cy="76250"/>
          </a:xfrm>
          <a:prstGeom prst="rect">
            <a:avLst/>
          </a:prstGeom>
        </p:spPr>
      </p:pic>
      <p:pic>
        <p:nvPicPr>
          <p:cNvPr id="1064" name="picture 1064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3333902" y="4650943"/>
            <a:ext cx="1321218" cy="1307210"/>
          </a:xfrm>
          <a:prstGeom prst="rect">
            <a:avLst/>
          </a:prstGeom>
        </p:spPr>
      </p:pic>
      <p:pic>
        <p:nvPicPr>
          <p:cNvPr id="1066" name="picture 1066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6124663" y="2581643"/>
            <a:ext cx="1321168" cy="76263"/>
          </a:xfrm>
          <a:prstGeom prst="rect">
            <a:avLst/>
          </a:prstGeom>
        </p:spPr>
      </p:pic>
      <p:pic>
        <p:nvPicPr>
          <p:cNvPr id="1068" name="picture 1068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6124663" y="3006687"/>
            <a:ext cx="1321168" cy="76250"/>
          </a:xfrm>
          <a:prstGeom prst="rect">
            <a:avLst/>
          </a:prstGeom>
        </p:spPr>
      </p:pic>
      <p:pic>
        <p:nvPicPr>
          <p:cNvPr id="1070" name="picture 1070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6124663" y="3449192"/>
            <a:ext cx="1321168" cy="76250"/>
          </a:xfrm>
          <a:prstGeom prst="rect">
            <a:avLst/>
          </a:prstGeom>
        </p:spPr>
      </p:pic>
      <p:pic>
        <p:nvPicPr>
          <p:cNvPr id="1072" name="picture 1072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6124651" y="2506268"/>
            <a:ext cx="1321206" cy="1307211"/>
          </a:xfrm>
          <a:prstGeom prst="rect">
            <a:avLst/>
          </a:prstGeom>
        </p:spPr>
      </p:pic>
      <p:sp>
        <p:nvSpPr>
          <p:cNvPr id="1074" name="path 1074"/>
          <p:cNvSpPr/>
          <p:nvPr/>
        </p:nvSpPr>
        <p:spPr>
          <a:xfrm>
            <a:off x="3337559" y="2510078"/>
            <a:ext cx="1313751" cy="857085"/>
          </a:xfrm>
          <a:custGeom>
            <a:avLst/>
            <a:gdLst/>
            <a:ahLst/>
            <a:cxnLst/>
            <a:rect l="0" t="0" r="0" b="0"/>
            <a:pathLst>
              <a:path w="2068" h="1349">
                <a:moveTo>
                  <a:pt x="0" y="782"/>
                </a:moveTo>
                <a:moveTo>
                  <a:pt x="0" y="782"/>
                </a:moveTo>
                <a:cubicBezTo>
                  <a:pt x="0" y="720"/>
                  <a:pt x="463" y="669"/>
                  <a:pt x="1034" y="669"/>
                </a:cubicBezTo>
                <a:cubicBezTo>
                  <a:pt x="1605" y="669"/>
                  <a:pt x="2068" y="720"/>
                  <a:pt x="2068" y="782"/>
                </a:cubicBezTo>
                <a:lnTo>
                  <a:pt x="2068" y="1235"/>
                </a:lnTo>
                <a:cubicBezTo>
                  <a:pt x="2068" y="1298"/>
                  <a:pt x="1605" y="1349"/>
                  <a:pt x="1034" y="1349"/>
                </a:cubicBezTo>
                <a:cubicBezTo>
                  <a:pt x="463" y="1349"/>
                  <a:pt x="0" y="1298"/>
                  <a:pt x="0" y="1235"/>
                </a:cubicBezTo>
                <a:lnTo>
                  <a:pt x="0" y="782"/>
                </a:lnTo>
              </a:path>
              <a:path w="2068" h="1349">
                <a:moveTo>
                  <a:pt x="0" y="112"/>
                </a:moveTo>
                <a:moveTo>
                  <a:pt x="0" y="112"/>
                </a:moveTo>
                <a:cubicBezTo>
                  <a:pt x="0" y="50"/>
                  <a:pt x="463" y="0"/>
                  <a:pt x="1034" y="0"/>
                </a:cubicBezTo>
                <a:cubicBezTo>
                  <a:pt x="1605" y="0"/>
                  <a:pt x="2068" y="50"/>
                  <a:pt x="2068" y="112"/>
                </a:cubicBezTo>
                <a:lnTo>
                  <a:pt x="2068" y="566"/>
                </a:lnTo>
                <a:cubicBezTo>
                  <a:pt x="2068" y="629"/>
                  <a:pt x="1605" y="680"/>
                  <a:pt x="1034" y="680"/>
                </a:cubicBezTo>
                <a:cubicBezTo>
                  <a:pt x="463" y="680"/>
                  <a:pt x="0" y="629"/>
                  <a:pt x="0" y="566"/>
                </a:cubicBezTo>
                <a:lnTo>
                  <a:pt x="0" y="112"/>
                </a:lnTo>
              </a:path>
            </a:pathLst>
          </a:cu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76" name="picture 1076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3333927" y="2581643"/>
            <a:ext cx="1321168" cy="76263"/>
          </a:xfrm>
          <a:prstGeom prst="rect">
            <a:avLst/>
          </a:prstGeom>
        </p:spPr>
      </p:pic>
      <p:pic>
        <p:nvPicPr>
          <p:cNvPr id="1078" name="picture 1078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 rot="21600000">
            <a:off x="3333927" y="3006687"/>
            <a:ext cx="1321168" cy="76250"/>
          </a:xfrm>
          <a:prstGeom prst="rect">
            <a:avLst/>
          </a:prstGeom>
        </p:spPr>
      </p:pic>
      <p:pic>
        <p:nvPicPr>
          <p:cNvPr id="1080" name="picture 1080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 rot="21600000">
            <a:off x="3333902" y="2506268"/>
            <a:ext cx="1321218" cy="864704"/>
          </a:xfrm>
          <a:prstGeom prst="rect">
            <a:avLst/>
          </a:prstGeom>
        </p:spPr>
      </p:pic>
      <p:grpSp>
        <p:nvGrpSpPr>
          <p:cNvPr id="64" name="group 64"/>
          <p:cNvGrpSpPr/>
          <p:nvPr/>
        </p:nvGrpSpPr>
        <p:grpSpPr>
          <a:xfrm rot="21600000">
            <a:off x="3333902" y="3373805"/>
            <a:ext cx="1321218" cy="850201"/>
            <a:chOff x="0" y="0"/>
            <a:chExt cx="1321218" cy="850201"/>
          </a:xfrm>
        </p:grpSpPr>
        <p:pic>
          <p:nvPicPr>
            <p:cNvPr id="1082" name="picture 1082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 rot="21600000">
              <a:off x="0" y="0"/>
              <a:ext cx="1321218" cy="850201"/>
            </a:xfrm>
            <a:prstGeom prst="rect">
              <a:avLst/>
            </a:prstGeom>
          </p:spPr>
        </p:pic>
        <p:sp>
          <p:nvSpPr>
            <p:cNvPr id="1084" name="textbox 1084"/>
            <p:cNvSpPr/>
            <p:nvPr/>
          </p:nvSpPr>
          <p:spPr>
            <a:xfrm>
              <a:off x="-12700" y="-12700"/>
              <a:ext cx="1346835" cy="8877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32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12090" algn="l" rtl="0" eaLnBrk="0">
                <a:lnSpc>
                  <a:spcPct val="96000"/>
                </a:lnSpc>
                <a:tabLst/>
              </a:pPr>
              <a:r>
                <a:rPr sz="10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研究成果管理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363220" algn="l" rtl="0" eaLnBrk="0">
                <a:lnSpc>
                  <a:spcPct val="96000"/>
                </a:lnSpc>
                <a:spcBef>
                  <a:spcPts val="1"/>
                </a:spcBef>
                <a:tabLst/>
              </a:pPr>
              <a:r>
                <a:rPr sz="1000" b="1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专利管理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086" name="textbox 1086"/>
          <p:cNvSpPr/>
          <p:nvPr/>
        </p:nvSpPr>
        <p:spPr>
          <a:xfrm>
            <a:off x="358994" y="6475972"/>
            <a:ext cx="4596129" cy="231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22"/>
              </a:lnSpc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黑体字：深度实施     斜体字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：浅度实施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白体字：未规划实施</a:t>
            </a:r>
            <a:endParaRPr sz="1300" dirty="0">
              <a:latin typeface="DengXian"/>
              <a:ea typeface="DengXian"/>
              <a:cs typeface="DengXian"/>
            </a:endParaRPr>
          </a:p>
        </p:txBody>
      </p:sp>
      <p:sp>
        <p:nvSpPr>
          <p:cNvPr id="1088" name="textbox 1088"/>
          <p:cNvSpPr/>
          <p:nvPr/>
        </p:nvSpPr>
        <p:spPr>
          <a:xfrm>
            <a:off x="640133" y="4877642"/>
            <a:ext cx="880744" cy="1009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9225" algn="l" rtl="0" eaLnBrk="0">
              <a:lnSpc>
                <a:spcPct val="97000"/>
              </a:lnSpc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结项管理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indent="635" algn="l" rtl="0" eaLnBrk="0">
              <a:lnSpc>
                <a:spcPct val="232000"/>
              </a:lnSpc>
              <a:spcBef>
                <a:spcPts val="1"/>
              </a:spcBef>
              <a:tabLst/>
            </a:pPr>
            <a:r>
              <a:rPr sz="1100" i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绩效监控管理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i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项目资源管理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textbox 1090"/>
          <p:cNvSpPr/>
          <p:nvPr/>
        </p:nvSpPr>
        <p:spPr>
          <a:xfrm>
            <a:off x="6306609" y="4879467"/>
            <a:ext cx="878205" cy="1008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6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3670" algn="l" rtl="0" eaLnBrk="0">
              <a:lnSpc>
                <a:spcPct val="97000"/>
              </a:lnSpc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问题管理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330"/>
              </a:spcBef>
              <a:tabLst/>
            </a:pPr>
            <a:r>
              <a:rPr sz="1100" i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设计质量管理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0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知识雷区管理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2" name="textbox 1092"/>
          <p:cNvSpPr/>
          <p:nvPr/>
        </p:nvSpPr>
        <p:spPr>
          <a:xfrm>
            <a:off x="459473" y="1768055"/>
            <a:ext cx="1323339" cy="515619"/>
          </a:xfrm>
          <a:prstGeom prst="rect">
            <a:avLst/>
          </a:prstGeom>
          <a:solidFill>
            <a:srgbClr val="FAFA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ct val="90000"/>
              </a:lnSpc>
              <a:spcBef>
                <a:spcPts val="5"/>
              </a:spcBef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研发项目管理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4" name="textbox 1094"/>
          <p:cNvSpPr/>
          <p:nvPr/>
        </p:nvSpPr>
        <p:spPr>
          <a:xfrm>
            <a:off x="1936622" y="1769745"/>
            <a:ext cx="1323339" cy="515619"/>
          </a:xfrm>
          <a:prstGeom prst="rect">
            <a:avLst/>
          </a:prstGeom>
          <a:solidFill>
            <a:srgbClr val="92D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58775" algn="l" rtl="0" eaLnBrk="0">
              <a:lnSpc>
                <a:spcPct val="82000"/>
              </a:lnSpc>
              <a:spcBef>
                <a:spcPts val="2"/>
              </a:spcBef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技术规划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358140" algn="l" rtl="0" eaLnBrk="0">
              <a:lnSpc>
                <a:spcPts val="1562"/>
              </a:lnSpc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产品企划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66" name="group 66"/>
          <p:cNvGrpSpPr/>
          <p:nvPr/>
        </p:nvGrpSpPr>
        <p:grpSpPr>
          <a:xfrm rot="21600000">
            <a:off x="10393807" y="1772373"/>
            <a:ext cx="1321218" cy="513371"/>
            <a:chOff x="0" y="0"/>
            <a:chExt cx="1321218" cy="513371"/>
          </a:xfrm>
        </p:grpSpPr>
        <p:pic>
          <p:nvPicPr>
            <p:cNvPr id="1096" name="picture 1096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 rot="21600000">
              <a:off x="0" y="0"/>
              <a:ext cx="1321218" cy="513371"/>
            </a:xfrm>
            <a:prstGeom prst="rect">
              <a:avLst/>
            </a:prstGeom>
          </p:spPr>
        </p:pic>
        <p:sp>
          <p:nvSpPr>
            <p:cNvPr id="1098" name="textbox 1098"/>
            <p:cNvSpPr/>
            <p:nvPr/>
          </p:nvSpPr>
          <p:spPr>
            <a:xfrm>
              <a:off x="-12700" y="-12700"/>
              <a:ext cx="1346835" cy="5556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23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0175" algn="l" rtl="0" eaLnBrk="0">
                <a:lnSpc>
                  <a:spcPct val="91000"/>
                </a:lnSpc>
                <a:tabLst/>
              </a:pPr>
              <a:r>
                <a:rPr sz="12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订单选配管理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 rot="21600000">
            <a:off x="7519695" y="1772373"/>
            <a:ext cx="1321206" cy="513371"/>
            <a:chOff x="0" y="0"/>
            <a:chExt cx="1321206" cy="513371"/>
          </a:xfrm>
        </p:grpSpPr>
        <p:pic>
          <p:nvPicPr>
            <p:cNvPr id="1100" name="picture 1100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 rot="21600000">
              <a:off x="0" y="0"/>
              <a:ext cx="1321206" cy="513371"/>
            </a:xfrm>
            <a:prstGeom prst="rect">
              <a:avLst/>
            </a:prstGeom>
          </p:spPr>
        </p:pic>
        <p:sp>
          <p:nvSpPr>
            <p:cNvPr id="1102" name="textbox 1102"/>
            <p:cNvSpPr/>
            <p:nvPr/>
          </p:nvSpPr>
          <p:spPr>
            <a:xfrm>
              <a:off x="-12700" y="-12700"/>
              <a:ext cx="1346835" cy="5549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32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8904" algn="l" rtl="0" eaLnBrk="0">
                <a:lnSpc>
                  <a:spcPct val="91000"/>
                </a:lnSpc>
                <a:tabLst/>
              </a:pPr>
              <a:r>
                <a:rPr sz="12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产品数据管理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 rot="21600000">
            <a:off x="4729594" y="1770697"/>
            <a:ext cx="1321219" cy="513359"/>
            <a:chOff x="0" y="0"/>
            <a:chExt cx="1321219" cy="513359"/>
          </a:xfrm>
        </p:grpSpPr>
        <p:pic>
          <p:nvPicPr>
            <p:cNvPr id="1104" name="picture 1104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 rot="21600000">
              <a:off x="0" y="0"/>
              <a:ext cx="1321219" cy="513359"/>
            </a:xfrm>
            <a:prstGeom prst="rect">
              <a:avLst/>
            </a:prstGeom>
          </p:spPr>
        </p:pic>
        <p:sp>
          <p:nvSpPr>
            <p:cNvPr id="1106" name="textbox 1106"/>
            <p:cNvSpPr/>
            <p:nvPr/>
          </p:nvSpPr>
          <p:spPr>
            <a:xfrm>
              <a:off x="-12700" y="-12700"/>
              <a:ext cx="1346835" cy="5549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32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8904" algn="l" rtl="0" eaLnBrk="0">
                <a:lnSpc>
                  <a:spcPct val="91000"/>
                </a:lnSpc>
                <a:tabLst/>
              </a:pPr>
              <a:r>
                <a:rPr sz="12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产品开发管理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 rot="21600000">
            <a:off x="3333902" y="1770697"/>
            <a:ext cx="1321218" cy="513359"/>
            <a:chOff x="0" y="0"/>
            <a:chExt cx="1321218" cy="513359"/>
          </a:xfrm>
        </p:grpSpPr>
        <p:pic>
          <p:nvPicPr>
            <p:cNvPr id="1108" name="picture 1108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 rot="21600000">
              <a:off x="0" y="0"/>
              <a:ext cx="1321218" cy="513359"/>
            </a:xfrm>
            <a:prstGeom prst="rect">
              <a:avLst/>
            </a:prstGeom>
          </p:spPr>
        </p:pic>
        <p:sp>
          <p:nvSpPr>
            <p:cNvPr id="1110" name="textbox 1110"/>
            <p:cNvSpPr/>
            <p:nvPr/>
          </p:nvSpPr>
          <p:spPr>
            <a:xfrm>
              <a:off x="-12700" y="-12700"/>
              <a:ext cx="1346835" cy="5549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9539" algn="l" rtl="0" eaLnBrk="0">
                <a:lnSpc>
                  <a:spcPct val="90000"/>
                </a:lnSpc>
                <a:spcBef>
                  <a:spcPts val="2"/>
                </a:spcBef>
                <a:tabLst/>
              </a:pPr>
              <a:r>
                <a:rPr sz="12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技术研究管理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74" name="group 74"/>
          <p:cNvGrpSpPr/>
          <p:nvPr/>
        </p:nvGrpSpPr>
        <p:grpSpPr>
          <a:xfrm rot="21600000">
            <a:off x="6124651" y="1770697"/>
            <a:ext cx="1321206" cy="513359"/>
            <a:chOff x="0" y="0"/>
            <a:chExt cx="1321206" cy="513359"/>
          </a:xfrm>
        </p:grpSpPr>
        <p:pic>
          <p:nvPicPr>
            <p:cNvPr id="1112" name="picture 1112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 rot="21600000">
              <a:off x="0" y="0"/>
              <a:ext cx="1321206" cy="513359"/>
            </a:xfrm>
            <a:prstGeom prst="rect">
              <a:avLst/>
            </a:prstGeom>
          </p:spPr>
        </p:pic>
        <p:sp>
          <p:nvSpPr>
            <p:cNvPr id="1114" name="textbox 1114"/>
            <p:cNvSpPr/>
            <p:nvPr/>
          </p:nvSpPr>
          <p:spPr>
            <a:xfrm>
              <a:off x="-12700" y="-12700"/>
              <a:ext cx="1346835" cy="5556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69570" algn="l" rtl="0" eaLnBrk="0">
                <a:lnSpc>
                  <a:spcPct val="90000"/>
                </a:lnSpc>
                <a:spcBef>
                  <a:spcPts val="1"/>
                </a:spcBef>
                <a:tabLst/>
              </a:pPr>
              <a:r>
                <a:rPr sz="12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验证管理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116" name="textbox 1116"/>
          <p:cNvSpPr/>
          <p:nvPr/>
        </p:nvSpPr>
        <p:spPr>
          <a:xfrm>
            <a:off x="8919831" y="1775459"/>
            <a:ext cx="1314450" cy="506730"/>
          </a:xfrm>
          <a:prstGeom prst="rect">
            <a:avLst/>
          </a:prstGeom>
          <a:solidFill>
            <a:srgbClr val="00B0F0">
              <a:alpha val="9607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8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ct val="90000"/>
              </a:lnSpc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研发支持模块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8" name="textbox 1118"/>
          <p:cNvSpPr/>
          <p:nvPr/>
        </p:nvSpPr>
        <p:spPr>
          <a:xfrm>
            <a:off x="5041449" y="4878787"/>
            <a:ext cx="607059" cy="1009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100" i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退市管理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6830" indent="635" algn="l" rtl="0" eaLnBrk="0">
              <a:lnSpc>
                <a:spcPct val="255000"/>
              </a:lnSpc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认证管理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模具管理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0" name="textbox 1120"/>
          <p:cNvSpPr/>
          <p:nvPr/>
        </p:nvSpPr>
        <p:spPr>
          <a:xfrm>
            <a:off x="3651247" y="5288441"/>
            <a:ext cx="621030" cy="605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变更管理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1100" i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合规管理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2" name="textbox 1122"/>
          <p:cNvSpPr/>
          <p:nvPr/>
        </p:nvSpPr>
        <p:spPr>
          <a:xfrm>
            <a:off x="4866148" y="3151964"/>
            <a:ext cx="975994" cy="173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0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数字化工艺管理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4" name="textbox 1124"/>
          <p:cNvSpPr/>
          <p:nvPr/>
        </p:nvSpPr>
        <p:spPr>
          <a:xfrm>
            <a:off x="3438447" y="4855300"/>
            <a:ext cx="974725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供应商发放平台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6" name="textbox 1126"/>
          <p:cNvSpPr/>
          <p:nvPr/>
        </p:nvSpPr>
        <p:spPr>
          <a:xfrm>
            <a:off x="4910596" y="2709960"/>
            <a:ext cx="879475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9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100" i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产品规划管理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8" name="textbox 1128"/>
          <p:cNvSpPr/>
          <p:nvPr/>
        </p:nvSpPr>
        <p:spPr>
          <a:xfrm>
            <a:off x="647439" y="3150819"/>
            <a:ext cx="83883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3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进度计划管理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0" name="textbox 1130"/>
          <p:cNvSpPr/>
          <p:nvPr/>
        </p:nvSpPr>
        <p:spPr>
          <a:xfrm>
            <a:off x="9103184" y="4002559"/>
            <a:ext cx="838835" cy="173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技术标准管理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2" name="textbox 1132"/>
          <p:cNvSpPr/>
          <p:nvPr/>
        </p:nvSpPr>
        <p:spPr>
          <a:xfrm>
            <a:off x="6310132" y="3152645"/>
            <a:ext cx="840739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虚拟验证管理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4" name="textbox 1134"/>
          <p:cNvSpPr/>
          <p:nvPr/>
        </p:nvSpPr>
        <p:spPr>
          <a:xfrm>
            <a:off x="10582859" y="2711105"/>
            <a:ext cx="836930" cy="173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配置方案管理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6" name="textbox 1136"/>
          <p:cNvSpPr/>
          <p:nvPr/>
        </p:nvSpPr>
        <p:spPr>
          <a:xfrm>
            <a:off x="3521323" y="3152509"/>
            <a:ext cx="83883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2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课题研究管理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8" name="textbox 1138"/>
          <p:cNvSpPr/>
          <p:nvPr/>
        </p:nvSpPr>
        <p:spPr>
          <a:xfrm>
            <a:off x="6310689" y="3583182"/>
            <a:ext cx="84010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8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样机样品管理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0" name="textbox 1140"/>
          <p:cNvSpPr/>
          <p:nvPr/>
        </p:nvSpPr>
        <p:spPr>
          <a:xfrm>
            <a:off x="7706735" y="4881564"/>
            <a:ext cx="838835" cy="172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设计工具管理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2" name="textbox 1142"/>
          <p:cNvSpPr/>
          <p:nvPr/>
        </p:nvSpPr>
        <p:spPr>
          <a:xfrm>
            <a:off x="4932153" y="4001685"/>
            <a:ext cx="837564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工业设计管理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4" name="textbox 1144"/>
          <p:cNvSpPr/>
          <p:nvPr/>
        </p:nvSpPr>
        <p:spPr>
          <a:xfrm>
            <a:off x="647575" y="3582049"/>
            <a:ext cx="838835" cy="172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技术评审管理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6" name="textbox 1146"/>
          <p:cNvSpPr/>
          <p:nvPr/>
        </p:nvSpPr>
        <p:spPr>
          <a:xfrm>
            <a:off x="652467" y="3999997"/>
            <a:ext cx="83375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阶段决策管理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textbox 1148"/>
          <p:cNvSpPr/>
          <p:nvPr/>
        </p:nvSpPr>
        <p:spPr>
          <a:xfrm>
            <a:off x="2159874" y="2708873"/>
            <a:ext cx="744219" cy="175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100" i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技术库管理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0" name="textbox 1150"/>
          <p:cNvSpPr/>
          <p:nvPr/>
        </p:nvSpPr>
        <p:spPr>
          <a:xfrm>
            <a:off x="9211492" y="3585278"/>
            <a:ext cx="744219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100" i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模块化管理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2" name="textbox 1152"/>
          <p:cNvSpPr/>
          <p:nvPr/>
        </p:nvSpPr>
        <p:spPr>
          <a:xfrm>
            <a:off x="9179582" y="3154456"/>
            <a:ext cx="742950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100" i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优选件管理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4" name="textbox 1154"/>
          <p:cNvSpPr/>
          <p:nvPr/>
        </p:nvSpPr>
        <p:spPr>
          <a:xfrm>
            <a:off x="7748911" y="3154456"/>
            <a:ext cx="702944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零部件管理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6" name="textbox 1156"/>
          <p:cNvSpPr/>
          <p:nvPr/>
        </p:nvSpPr>
        <p:spPr>
          <a:xfrm>
            <a:off x="4997386" y="4447684"/>
            <a:ext cx="703580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爆炸图管理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8" name="textbox 1158"/>
          <p:cNvSpPr/>
          <p:nvPr/>
        </p:nvSpPr>
        <p:spPr>
          <a:xfrm>
            <a:off x="10661956" y="3585550"/>
            <a:ext cx="704215" cy="172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外销印刷品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0" name="textbox 1160"/>
          <p:cNvSpPr/>
          <p:nvPr/>
        </p:nvSpPr>
        <p:spPr>
          <a:xfrm>
            <a:off x="6398081" y="4447413"/>
            <a:ext cx="698500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2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印刷品管理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2" name="textbox 1162"/>
          <p:cNvSpPr/>
          <p:nvPr/>
        </p:nvSpPr>
        <p:spPr>
          <a:xfrm>
            <a:off x="7831277" y="3585550"/>
            <a:ext cx="629284" cy="172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BOM</a:t>
            </a:r>
            <a:r>
              <a:rPr sz="10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4" name="textbox 1164"/>
          <p:cNvSpPr/>
          <p:nvPr/>
        </p:nvSpPr>
        <p:spPr>
          <a:xfrm>
            <a:off x="2270704" y="3150978"/>
            <a:ext cx="607694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100" i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平台规划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6" name="textbox 1166"/>
          <p:cNvSpPr/>
          <p:nvPr/>
        </p:nvSpPr>
        <p:spPr>
          <a:xfrm>
            <a:off x="2249044" y="4447548"/>
            <a:ext cx="610234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9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100" i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产品型谱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8" name="textbox 1168"/>
          <p:cNvSpPr/>
          <p:nvPr/>
        </p:nvSpPr>
        <p:spPr>
          <a:xfrm>
            <a:off x="5060858" y="3583181"/>
            <a:ext cx="607059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7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100" i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软件管理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70" name="textbox 1170"/>
          <p:cNvSpPr/>
          <p:nvPr/>
        </p:nvSpPr>
        <p:spPr>
          <a:xfrm>
            <a:off x="2269639" y="3582502"/>
            <a:ext cx="60705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2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100" i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创意管理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72" name="textbox 1172"/>
          <p:cNvSpPr/>
          <p:nvPr/>
        </p:nvSpPr>
        <p:spPr>
          <a:xfrm>
            <a:off x="9171668" y="2711105"/>
            <a:ext cx="60705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100" i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竞品管理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74" name="textbox 1174"/>
          <p:cNvSpPr/>
          <p:nvPr/>
        </p:nvSpPr>
        <p:spPr>
          <a:xfrm>
            <a:off x="10719870" y="4421364"/>
            <a:ext cx="593725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C2M选配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76" name="textbox 1176"/>
          <p:cNvSpPr/>
          <p:nvPr/>
        </p:nvSpPr>
        <p:spPr>
          <a:xfrm>
            <a:off x="770771" y="2707455"/>
            <a:ext cx="566419" cy="173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立项管理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78" name="textbox 1178"/>
          <p:cNvSpPr/>
          <p:nvPr/>
        </p:nvSpPr>
        <p:spPr>
          <a:xfrm>
            <a:off x="7828695" y="2711377"/>
            <a:ext cx="567690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0" name="textbox 1180"/>
          <p:cNvSpPr/>
          <p:nvPr/>
        </p:nvSpPr>
        <p:spPr>
          <a:xfrm>
            <a:off x="10731125" y="4003375"/>
            <a:ext cx="56705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报价管理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2" name="textbox 1182"/>
          <p:cNvSpPr/>
          <p:nvPr/>
        </p:nvSpPr>
        <p:spPr>
          <a:xfrm>
            <a:off x="10772808" y="3154048"/>
            <a:ext cx="56705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制单管理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4" name="textbox 1184"/>
          <p:cNvSpPr/>
          <p:nvPr/>
        </p:nvSpPr>
        <p:spPr>
          <a:xfrm>
            <a:off x="777634" y="4446144"/>
            <a:ext cx="567690" cy="172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支撑管理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6" name="textbox 1186"/>
          <p:cNvSpPr/>
          <p:nvPr/>
        </p:nvSpPr>
        <p:spPr>
          <a:xfrm>
            <a:off x="7837337" y="4449374"/>
            <a:ext cx="56705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文档管理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8" name="textbox 1188"/>
          <p:cNvSpPr/>
          <p:nvPr/>
        </p:nvSpPr>
        <p:spPr>
          <a:xfrm>
            <a:off x="3642210" y="2710368"/>
            <a:ext cx="568325" cy="172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情报管理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0" name="textbox 1190"/>
          <p:cNvSpPr/>
          <p:nvPr/>
        </p:nvSpPr>
        <p:spPr>
          <a:xfrm>
            <a:off x="6434008" y="2710368"/>
            <a:ext cx="567690" cy="172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测试管理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2" name="textbox 1192"/>
          <p:cNvSpPr/>
          <p:nvPr/>
        </p:nvSpPr>
        <p:spPr>
          <a:xfrm>
            <a:off x="7863530" y="4003103"/>
            <a:ext cx="561340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3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图纸管理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4" name="textbox 1194"/>
          <p:cNvSpPr/>
          <p:nvPr/>
        </p:nvSpPr>
        <p:spPr>
          <a:xfrm>
            <a:off x="2275585" y="4001685"/>
            <a:ext cx="566419" cy="172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需求管理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textbox 1196"/>
          <p:cNvSpPr/>
          <p:nvPr/>
        </p:nvSpPr>
        <p:spPr>
          <a:xfrm>
            <a:off x="418592" y="-12700"/>
            <a:ext cx="9951719" cy="1435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1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9105" algn="l" rtl="0" eaLnBrk="0">
              <a:lnSpc>
                <a:spcPts val="3528"/>
              </a:lnSpc>
              <a:tabLst>
                <a:tab pos="575309" algn="l"/>
              </a:tabLst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6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数字化2.0-研发业务规划（</a:t>
            </a:r>
            <a:r>
              <a:rPr sz="2600" b="1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6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</a:t>
            </a:r>
            <a:r>
              <a:rPr sz="26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3）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3370" algn="l" rtl="0" eaLnBrk="0">
              <a:lnSpc>
                <a:spcPts val="1909"/>
              </a:lnSpc>
              <a:spcBef>
                <a:spcPts val="458"/>
              </a:spcBef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500" kern="0" spc="-2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面向研发业务8大L3功能、</a:t>
            </a:r>
            <a:r>
              <a:rPr sz="15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50个L4子功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能进行软件化、</a:t>
            </a:r>
            <a:r>
              <a:rPr sz="1500" kern="0" spc="-3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数字化能力构建和提升；</a:t>
            </a:r>
            <a:r>
              <a:rPr sz="15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郎丰利整理制作。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ts val="1909"/>
              </a:lnSpc>
              <a:spcBef>
                <a:spcPts val="10"/>
              </a:spcBef>
              <a:tabLst/>
            </a:pP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500" kern="0" spc="-2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实现数字化企划、</a:t>
            </a:r>
            <a:r>
              <a:rPr sz="1500" kern="0" spc="-3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平台化模块、</a:t>
            </a:r>
            <a:r>
              <a:rPr sz="1500" kern="0" spc="-3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数字化工艺及仿真验证</a:t>
            </a:r>
            <a:r>
              <a:rPr sz="15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，满足C2M大批量个性化多样化消费者定制需求。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76" name="group 76"/>
          <p:cNvGrpSpPr/>
          <p:nvPr/>
        </p:nvGrpSpPr>
        <p:grpSpPr>
          <a:xfrm rot="21600000">
            <a:off x="431292" y="0"/>
            <a:ext cx="446531" cy="755903"/>
            <a:chOff x="0" y="0"/>
            <a:chExt cx="446531" cy="755903"/>
          </a:xfrm>
        </p:grpSpPr>
        <p:sp>
          <p:nvSpPr>
            <p:cNvPr id="1198" name="path 1198"/>
            <p:cNvSpPr/>
            <p:nvPr/>
          </p:nvSpPr>
          <p:spPr>
            <a:xfrm>
              <a:off x="0" y="0"/>
              <a:ext cx="216408" cy="755903"/>
            </a:xfrm>
            <a:custGeom>
              <a:avLst/>
              <a:gdLst/>
              <a:ahLst/>
              <a:cxnLst/>
              <a:rect l="0" t="0" r="0" b="0"/>
              <a:pathLst>
                <a:path w="340" h="1190">
                  <a:moveTo>
                    <a:pt x="0" y="0"/>
                  </a:moveTo>
                  <a:lnTo>
                    <a:pt x="340" y="0"/>
                  </a:lnTo>
                  <a:lnTo>
                    <a:pt x="340" y="1190"/>
                  </a:lnTo>
                  <a:lnTo>
                    <a:pt x="0" y="1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00" name="path 1200"/>
            <p:cNvSpPr/>
            <p:nvPr/>
          </p:nvSpPr>
          <p:spPr>
            <a:xfrm>
              <a:off x="231647" y="147828"/>
              <a:ext cx="214884" cy="605027"/>
            </a:xfrm>
            <a:custGeom>
              <a:avLst/>
              <a:gdLst/>
              <a:ahLst/>
              <a:cxnLst/>
              <a:rect l="0" t="0" r="0" b="0"/>
              <a:pathLst>
                <a:path w="338" h="952">
                  <a:moveTo>
                    <a:pt x="0" y="0"/>
                  </a:moveTo>
                  <a:lnTo>
                    <a:pt x="338" y="0"/>
                  </a:lnTo>
                  <a:lnTo>
                    <a:pt x="338" y="952"/>
                  </a:lnTo>
                  <a:lnTo>
                    <a:pt x="0" y="9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8DE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1202" name="picture 12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729619" y="5185016"/>
            <a:ext cx="1321168" cy="76263"/>
          </a:xfrm>
          <a:prstGeom prst="rect">
            <a:avLst/>
          </a:prstGeom>
        </p:spPr>
      </p:pic>
      <p:pic>
        <p:nvPicPr>
          <p:cNvPr id="1204" name="picture 12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729619" y="5595543"/>
            <a:ext cx="1321168" cy="76263"/>
          </a:xfrm>
          <a:prstGeom prst="rect">
            <a:avLst/>
          </a:prstGeom>
        </p:spPr>
      </p:pic>
      <p:pic>
        <p:nvPicPr>
          <p:cNvPr id="1206" name="picture 12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729619" y="4742522"/>
            <a:ext cx="1321168" cy="76251"/>
          </a:xfrm>
          <a:prstGeom prst="rect">
            <a:avLst/>
          </a:prstGeom>
        </p:spPr>
      </p:pic>
      <p:pic>
        <p:nvPicPr>
          <p:cNvPr id="1208" name="picture 12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333927" y="2581643"/>
            <a:ext cx="1321168" cy="76263"/>
          </a:xfrm>
          <a:prstGeom prst="rect">
            <a:avLst/>
          </a:prstGeom>
        </p:spPr>
      </p:pic>
      <p:pic>
        <p:nvPicPr>
          <p:cNvPr id="1210" name="picture 12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333927" y="3449192"/>
            <a:ext cx="1321168" cy="76250"/>
          </a:xfrm>
          <a:prstGeom prst="rect">
            <a:avLst/>
          </a:prstGeom>
        </p:spPr>
      </p:pic>
      <p:pic>
        <p:nvPicPr>
          <p:cNvPr id="1212" name="picture 12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333927" y="4726317"/>
            <a:ext cx="1321168" cy="76250"/>
          </a:xfrm>
          <a:prstGeom prst="rect">
            <a:avLst/>
          </a:prstGeom>
        </p:spPr>
      </p:pic>
      <p:pic>
        <p:nvPicPr>
          <p:cNvPr id="1214" name="picture 12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333927" y="5151361"/>
            <a:ext cx="1321168" cy="76250"/>
          </a:xfrm>
          <a:prstGeom prst="rect">
            <a:avLst/>
          </a:prstGeom>
        </p:spPr>
      </p:pic>
      <p:pic>
        <p:nvPicPr>
          <p:cNvPr id="1216" name="picture 12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333927" y="5593867"/>
            <a:ext cx="1321168" cy="76250"/>
          </a:xfrm>
          <a:prstGeom prst="rect">
            <a:avLst/>
          </a:prstGeom>
        </p:spPr>
      </p:pic>
      <p:pic>
        <p:nvPicPr>
          <p:cNvPr id="1218" name="picture 12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333927" y="3859720"/>
            <a:ext cx="1321168" cy="76250"/>
          </a:xfrm>
          <a:prstGeom prst="rect">
            <a:avLst/>
          </a:prstGeom>
        </p:spPr>
      </p:pic>
      <p:pic>
        <p:nvPicPr>
          <p:cNvPr id="1220" name="picture 12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729619" y="2581643"/>
            <a:ext cx="1321168" cy="76263"/>
          </a:xfrm>
          <a:prstGeom prst="rect">
            <a:avLst/>
          </a:prstGeom>
        </p:spPr>
      </p:pic>
      <p:pic>
        <p:nvPicPr>
          <p:cNvPr id="1222" name="picture 12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729619" y="3449192"/>
            <a:ext cx="1321168" cy="76250"/>
          </a:xfrm>
          <a:prstGeom prst="rect">
            <a:avLst/>
          </a:prstGeom>
        </p:spPr>
      </p:pic>
      <p:pic>
        <p:nvPicPr>
          <p:cNvPr id="1224" name="picture 12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729619" y="4317479"/>
            <a:ext cx="1321168" cy="76250"/>
          </a:xfrm>
          <a:prstGeom prst="rect">
            <a:avLst/>
          </a:prstGeom>
        </p:spPr>
      </p:pic>
      <p:pic>
        <p:nvPicPr>
          <p:cNvPr id="1226" name="picture 12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3333902" y="2506268"/>
            <a:ext cx="2725788" cy="3453562"/>
          </a:xfrm>
          <a:prstGeom prst="rect">
            <a:avLst/>
          </a:prstGeom>
        </p:spPr>
      </p:pic>
      <p:pic>
        <p:nvPicPr>
          <p:cNvPr id="1228" name="picture 12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115761" y="2506268"/>
            <a:ext cx="2725141" cy="3453562"/>
          </a:xfrm>
          <a:prstGeom prst="rect">
            <a:avLst/>
          </a:prstGeom>
        </p:spPr>
      </p:pic>
      <p:pic>
        <p:nvPicPr>
          <p:cNvPr id="1230" name="picture 123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8907131" y="2507945"/>
            <a:ext cx="2816783" cy="2143937"/>
          </a:xfrm>
          <a:prstGeom prst="rect">
            <a:avLst/>
          </a:prstGeom>
        </p:spPr>
      </p:pic>
      <p:pic>
        <p:nvPicPr>
          <p:cNvPr id="1232" name="picture 123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6124663" y="3377615"/>
            <a:ext cx="1321168" cy="432054"/>
          </a:xfrm>
          <a:prstGeom prst="rect">
            <a:avLst/>
          </a:prstGeom>
        </p:spPr>
      </p:pic>
      <p:sp>
        <p:nvSpPr>
          <p:cNvPr id="1234" name="path 1234"/>
          <p:cNvSpPr/>
          <p:nvPr/>
        </p:nvSpPr>
        <p:spPr>
          <a:xfrm>
            <a:off x="7523505" y="4247591"/>
            <a:ext cx="1314170" cy="857084"/>
          </a:xfrm>
          <a:custGeom>
            <a:avLst/>
            <a:gdLst/>
            <a:ahLst/>
            <a:cxnLst/>
            <a:rect l="0" t="0" r="0" b="0"/>
            <a:pathLst>
              <a:path w="2069" h="1349">
                <a:moveTo>
                  <a:pt x="0" y="782"/>
                </a:moveTo>
                <a:moveTo>
                  <a:pt x="0" y="782"/>
                </a:moveTo>
                <a:cubicBezTo>
                  <a:pt x="0" y="720"/>
                  <a:pt x="463" y="669"/>
                  <a:pt x="1034" y="669"/>
                </a:cubicBezTo>
                <a:cubicBezTo>
                  <a:pt x="1605" y="669"/>
                  <a:pt x="2068" y="720"/>
                  <a:pt x="2069" y="782"/>
                </a:cubicBezTo>
                <a:lnTo>
                  <a:pt x="2069" y="1235"/>
                </a:lnTo>
                <a:cubicBezTo>
                  <a:pt x="2068" y="1298"/>
                  <a:pt x="1605" y="1349"/>
                  <a:pt x="1034" y="1349"/>
                </a:cubicBezTo>
                <a:cubicBezTo>
                  <a:pt x="463" y="1349"/>
                  <a:pt x="0" y="1298"/>
                  <a:pt x="0" y="1235"/>
                </a:cubicBezTo>
                <a:lnTo>
                  <a:pt x="0" y="782"/>
                </a:lnTo>
              </a:path>
              <a:path w="2069" h="1349">
                <a:moveTo>
                  <a:pt x="0" y="112"/>
                </a:moveTo>
                <a:moveTo>
                  <a:pt x="0" y="112"/>
                </a:moveTo>
                <a:cubicBezTo>
                  <a:pt x="0" y="50"/>
                  <a:pt x="463" y="0"/>
                  <a:pt x="1034" y="0"/>
                </a:cubicBezTo>
                <a:cubicBezTo>
                  <a:pt x="1605" y="0"/>
                  <a:pt x="2068" y="50"/>
                  <a:pt x="2069" y="112"/>
                </a:cubicBezTo>
                <a:lnTo>
                  <a:pt x="2069" y="566"/>
                </a:lnTo>
                <a:cubicBezTo>
                  <a:pt x="2068" y="629"/>
                  <a:pt x="1605" y="680"/>
                  <a:pt x="1034" y="680"/>
                </a:cubicBezTo>
                <a:cubicBezTo>
                  <a:pt x="463" y="680"/>
                  <a:pt x="0" y="629"/>
                  <a:pt x="0" y="566"/>
                </a:cubicBezTo>
                <a:lnTo>
                  <a:pt x="0" y="112"/>
                </a:lnTo>
              </a:path>
            </a:pathLst>
          </a:cu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236" name="picture 123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7519720" y="4319168"/>
            <a:ext cx="1321155" cy="76250"/>
          </a:xfrm>
          <a:prstGeom prst="rect">
            <a:avLst/>
          </a:prstGeom>
        </p:spPr>
      </p:pic>
      <p:pic>
        <p:nvPicPr>
          <p:cNvPr id="1238" name="picture 123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7519720" y="4744199"/>
            <a:ext cx="1321155" cy="76263"/>
          </a:xfrm>
          <a:prstGeom prst="rect">
            <a:avLst/>
          </a:prstGeom>
        </p:spPr>
      </p:pic>
      <p:pic>
        <p:nvPicPr>
          <p:cNvPr id="1240" name="picture 124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6124663" y="4245901"/>
            <a:ext cx="1321168" cy="1710118"/>
          </a:xfrm>
          <a:prstGeom prst="rect">
            <a:avLst/>
          </a:prstGeom>
        </p:spPr>
      </p:pic>
      <p:pic>
        <p:nvPicPr>
          <p:cNvPr id="1242" name="picture 124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6124663" y="4742522"/>
            <a:ext cx="1321168" cy="76251"/>
          </a:xfrm>
          <a:prstGeom prst="rect">
            <a:avLst/>
          </a:prstGeom>
        </p:spPr>
      </p:pic>
      <p:pic>
        <p:nvPicPr>
          <p:cNvPr id="1244" name="picture 124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6124663" y="4317479"/>
            <a:ext cx="1321168" cy="76250"/>
          </a:xfrm>
          <a:prstGeom prst="rect">
            <a:avLst/>
          </a:prstGeom>
        </p:spPr>
      </p:pic>
      <p:pic>
        <p:nvPicPr>
          <p:cNvPr id="1246" name="picture 124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7519720" y="3379304"/>
            <a:ext cx="1321155" cy="842569"/>
          </a:xfrm>
          <a:prstGeom prst="rect">
            <a:avLst/>
          </a:prstGeom>
        </p:spPr>
      </p:pic>
      <p:sp>
        <p:nvSpPr>
          <p:cNvPr id="1248" name="rect 1248"/>
          <p:cNvSpPr/>
          <p:nvPr/>
        </p:nvSpPr>
        <p:spPr>
          <a:xfrm>
            <a:off x="8919831" y="3789832"/>
            <a:ext cx="1313828" cy="432041"/>
          </a:xfrm>
          <a:prstGeom prst="rect">
            <a:avLst/>
          </a:prstGeom>
          <a:solidFill>
            <a:srgbClr val="D9D9D9">
              <a:alpha val="9647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250" name="picture 125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8916047" y="3861396"/>
            <a:ext cx="1321168" cy="76263"/>
          </a:xfrm>
          <a:prstGeom prst="rect">
            <a:avLst/>
          </a:prstGeom>
        </p:spPr>
      </p:pic>
      <p:sp>
        <p:nvSpPr>
          <p:cNvPr id="1252" name="path 1252"/>
          <p:cNvSpPr/>
          <p:nvPr/>
        </p:nvSpPr>
        <p:spPr>
          <a:xfrm>
            <a:off x="8919831" y="2511755"/>
            <a:ext cx="1313828" cy="857097"/>
          </a:xfrm>
          <a:custGeom>
            <a:avLst/>
            <a:gdLst/>
            <a:ahLst/>
            <a:cxnLst/>
            <a:rect l="0" t="0" r="0" b="0"/>
            <a:pathLst>
              <a:path w="2069" h="1349">
                <a:moveTo>
                  <a:pt x="0" y="782"/>
                </a:moveTo>
                <a:moveTo>
                  <a:pt x="0" y="782"/>
                </a:moveTo>
                <a:cubicBezTo>
                  <a:pt x="0" y="720"/>
                  <a:pt x="463" y="669"/>
                  <a:pt x="1034" y="669"/>
                </a:cubicBezTo>
                <a:cubicBezTo>
                  <a:pt x="1605" y="669"/>
                  <a:pt x="2068" y="720"/>
                  <a:pt x="2069" y="782"/>
                </a:cubicBezTo>
                <a:lnTo>
                  <a:pt x="2069" y="1235"/>
                </a:lnTo>
                <a:cubicBezTo>
                  <a:pt x="2068" y="1298"/>
                  <a:pt x="1605" y="1349"/>
                  <a:pt x="1034" y="1349"/>
                </a:cubicBezTo>
                <a:cubicBezTo>
                  <a:pt x="463" y="1349"/>
                  <a:pt x="0" y="1298"/>
                  <a:pt x="0" y="1235"/>
                </a:cubicBezTo>
                <a:lnTo>
                  <a:pt x="0" y="782"/>
                </a:lnTo>
              </a:path>
              <a:path w="2069" h="1349">
                <a:moveTo>
                  <a:pt x="0" y="112"/>
                </a:moveTo>
                <a:moveTo>
                  <a:pt x="0" y="112"/>
                </a:moveTo>
                <a:cubicBezTo>
                  <a:pt x="0" y="50"/>
                  <a:pt x="463" y="0"/>
                  <a:pt x="1034" y="0"/>
                </a:cubicBezTo>
                <a:cubicBezTo>
                  <a:pt x="1605" y="0"/>
                  <a:pt x="2068" y="50"/>
                  <a:pt x="2069" y="112"/>
                </a:cubicBezTo>
                <a:lnTo>
                  <a:pt x="2069" y="566"/>
                </a:lnTo>
                <a:cubicBezTo>
                  <a:pt x="2068" y="629"/>
                  <a:pt x="1605" y="680"/>
                  <a:pt x="1034" y="680"/>
                </a:cubicBezTo>
                <a:cubicBezTo>
                  <a:pt x="463" y="680"/>
                  <a:pt x="0" y="629"/>
                  <a:pt x="0" y="566"/>
                </a:cubicBezTo>
                <a:lnTo>
                  <a:pt x="0" y="112"/>
                </a:lnTo>
              </a:path>
            </a:pathLst>
          </a:cu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54" name="path 1254"/>
          <p:cNvSpPr/>
          <p:nvPr/>
        </p:nvSpPr>
        <p:spPr>
          <a:xfrm>
            <a:off x="10397617" y="2511755"/>
            <a:ext cx="1314322" cy="857097"/>
          </a:xfrm>
          <a:custGeom>
            <a:avLst/>
            <a:gdLst/>
            <a:ahLst/>
            <a:cxnLst/>
            <a:rect l="0" t="0" r="0" b="0"/>
            <a:pathLst>
              <a:path w="2069" h="1349">
                <a:moveTo>
                  <a:pt x="0" y="782"/>
                </a:moveTo>
                <a:moveTo>
                  <a:pt x="0" y="782"/>
                </a:moveTo>
                <a:cubicBezTo>
                  <a:pt x="0" y="720"/>
                  <a:pt x="463" y="669"/>
                  <a:pt x="1034" y="669"/>
                </a:cubicBezTo>
                <a:cubicBezTo>
                  <a:pt x="1605" y="669"/>
                  <a:pt x="2068" y="720"/>
                  <a:pt x="2069" y="782"/>
                </a:cubicBezTo>
                <a:lnTo>
                  <a:pt x="2069" y="1235"/>
                </a:lnTo>
                <a:cubicBezTo>
                  <a:pt x="2068" y="1298"/>
                  <a:pt x="1605" y="1349"/>
                  <a:pt x="1034" y="1349"/>
                </a:cubicBezTo>
                <a:cubicBezTo>
                  <a:pt x="463" y="1349"/>
                  <a:pt x="0" y="1298"/>
                  <a:pt x="0" y="1235"/>
                </a:cubicBezTo>
                <a:lnTo>
                  <a:pt x="0" y="782"/>
                </a:lnTo>
              </a:path>
              <a:path w="2069" h="1349">
                <a:moveTo>
                  <a:pt x="0" y="112"/>
                </a:moveTo>
                <a:moveTo>
                  <a:pt x="0" y="112"/>
                </a:moveTo>
                <a:cubicBezTo>
                  <a:pt x="0" y="50"/>
                  <a:pt x="463" y="0"/>
                  <a:pt x="1034" y="0"/>
                </a:cubicBezTo>
                <a:cubicBezTo>
                  <a:pt x="1605" y="0"/>
                  <a:pt x="2068" y="50"/>
                  <a:pt x="2069" y="112"/>
                </a:cubicBezTo>
                <a:lnTo>
                  <a:pt x="2069" y="566"/>
                </a:lnTo>
                <a:cubicBezTo>
                  <a:pt x="2068" y="629"/>
                  <a:pt x="1605" y="680"/>
                  <a:pt x="1034" y="680"/>
                </a:cubicBezTo>
                <a:cubicBezTo>
                  <a:pt x="463" y="680"/>
                  <a:pt x="0" y="629"/>
                  <a:pt x="0" y="566"/>
                </a:cubicBezTo>
                <a:lnTo>
                  <a:pt x="0" y="112"/>
                </a:lnTo>
              </a:path>
            </a:pathLst>
          </a:cu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256" name="picture 125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8907220" y="3448659"/>
            <a:ext cx="1338822" cy="87362"/>
          </a:xfrm>
          <a:prstGeom prst="rect">
            <a:avLst/>
          </a:prstGeom>
        </p:spPr>
      </p:pic>
      <p:sp>
        <p:nvSpPr>
          <p:cNvPr id="1258" name="textbox 1258"/>
          <p:cNvSpPr/>
          <p:nvPr/>
        </p:nvSpPr>
        <p:spPr>
          <a:xfrm>
            <a:off x="4716919" y="3583181"/>
            <a:ext cx="1346835" cy="714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7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6234" algn="l" rtl="0" eaLnBrk="0">
              <a:lnSpc>
                <a:spcPct val="89000"/>
              </a:lnSpc>
              <a:tabLst/>
            </a:pPr>
            <a:r>
              <a:rPr sz="1100" i="1" kern="0" spc="5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软件管理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3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42290" indent="-529590" algn="l" rtl="0" eaLnBrk="0">
              <a:lnSpc>
                <a:spcPct val="92000"/>
              </a:lnSpc>
              <a:tabLst>
                <a:tab pos="207645" algn="l"/>
              </a:tabLst>
            </a:pPr>
            <a:r>
              <a:rPr sz="1400" kern="0" spc="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i="1" kern="0" spc="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工业设计管</a:t>
            </a:r>
            <a:r>
              <a:rPr sz="1400" kern="0" spc="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400" i="1" kern="0" spc="30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理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60" name="picture 126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3254971" y="3811358"/>
            <a:ext cx="6385153" cy="202336"/>
          </a:xfrm>
          <a:prstGeom prst="rect">
            <a:avLst/>
          </a:prstGeom>
        </p:spPr>
      </p:pic>
      <p:pic>
        <p:nvPicPr>
          <p:cNvPr id="1262" name="picture 126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10385006" y="4276496"/>
            <a:ext cx="1338820" cy="87363"/>
          </a:xfrm>
          <a:prstGeom prst="rect">
            <a:avLst/>
          </a:prstGeom>
        </p:spPr>
      </p:pic>
      <p:sp>
        <p:nvSpPr>
          <p:cNvPr id="1264" name="path 1264"/>
          <p:cNvSpPr/>
          <p:nvPr/>
        </p:nvSpPr>
        <p:spPr>
          <a:xfrm>
            <a:off x="10397617" y="3379304"/>
            <a:ext cx="1314322" cy="842569"/>
          </a:xfrm>
          <a:custGeom>
            <a:avLst/>
            <a:gdLst/>
            <a:ahLst/>
            <a:cxnLst/>
            <a:rect l="0" t="0" r="0" b="0"/>
            <a:pathLst>
              <a:path w="2069" h="1326">
                <a:moveTo>
                  <a:pt x="0" y="759"/>
                </a:moveTo>
                <a:moveTo>
                  <a:pt x="0" y="759"/>
                </a:moveTo>
                <a:cubicBezTo>
                  <a:pt x="0" y="697"/>
                  <a:pt x="463" y="646"/>
                  <a:pt x="1034" y="646"/>
                </a:cubicBezTo>
                <a:cubicBezTo>
                  <a:pt x="1605" y="646"/>
                  <a:pt x="2068" y="697"/>
                  <a:pt x="2069" y="759"/>
                </a:cubicBezTo>
                <a:lnTo>
                  <a:pt x="2069" y="1213"/>
                </a:lnTo>
                <a:cubicBezTo>
                  <a:pt x="2068" y="1276"/>
                  <a:pt x="1605" y="1326"/>
                  <a:pt x="1034" y="1326"/>
                </a:cubicBezTo>
                <a:cubicBezTo>
                  <a:pt x="463" y="1326"/>
                  <a:pt x="0" y="1276"/>
                  <a:pt x="0" y="1213"/>
                </a:cubicBezTo>
                <a:lnTo>
                  <a:pt x="0" y="759"/>
                </a:lnTo>
              </a:path>
              <a:path w="2069" h="1326">
                <a:moveTo>
                  <a:pt x="0" y="114"/>
                </a:moveTo>
                <a:moveTo>
                  <a:pt x="0" y="114"/>
                </a:moveTo>
                <a:cubicBezTo>
                  <a:pt x="0" y="50"/>
                  <a:pt x="463" y="0"/>
                  <a:pt x="1034" y="0"/>
                </a:cubicBezTo>
                <a:cubicBezTo>
                  <a:pt x="1605" y="0"/>
                  <a:pt x="2068" y="50"/>
                  <a:pt x="2069" y="114"/>
                </a:cubicBezTo>
                <a:lnTo>
                  <a:pt x="2069" y="567"/>
                </a:lnTo>
                <a:cubicBezTo>
                  <a:pt x="2068" y="629"/>
                  <a:pt x="1605" y="680"/>
                  <a:pt x="1034" y="680"/>
                </a:cubicBezTo>
                <a:cubicBezTo>
                  <a:pt x="463" y="680"/>
                  <a:pt x="0" y="629"/>
                  <a:pt x="0" y="567"/>
                </a:cubicBezTo>
                <a:lnTo>
                  <a:pt x="0" y="114"/>
                </a:lnTo>
              </a:path>
            </a:pathLst>
          </a:custGeom>
          <a:solidFill>
            <a:srgbClr val="D9D9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266" name="picture 126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10393833" y="3861396"/>
            <a:ext cx="1321167" cy="76263"/>
          </a:xfrm>
          <a:prstGeom prst="rect">
            <a:avLst/>
          </a:prstGeom>
        </p:spPr>
      </p:pic>
      <p:pic>
        <p:nvPicPr>
          <p:cNvPr id="1268" name="picture 126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10393833" y="3450869"/>
            <a:ext cx="1321167" cy="76263"/>
          </a:xfrm>
          <a:prstGeom prst="rect">
            <a:avLst/>
          </a:prstGeom>
        </p:spPr>
      </p:pic>
      <p:pic>
        <p:nvPicPr>
          <p:cNvPr id="1270" name="picture 127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10083520" y="4248696"/>
            <a:ext cx="302920" cy="386308"/>
          </a:xfrm>
          <a:prstGeom prst="rect">
            <a:avLst/>
          </a:prstGeom>
        </p:spPr>
      </p:pic>
      <p:pic>
        <p:nvPicPr>
          <p:cNvPr id="1272" name="picture 127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10246157" y="3396170"/>
            <a:ext cx="302919" cy="386295"/>
          </a:xfrm>
          <a:prstGeom prst="rect">
            <a:avLst/>
          </a:prstGeom>
        </p:spPr>
      </p:pic>
      <p:sp>
        <p:nvSpPr>
          <p:cNvPr id="1274" name="textbox 1274"/>
          <p:cNvSpPr/>
          <p:nvPr/>
        </p:nvSpPr>
        <p:spPr>
          <a:xfrm>
            <a:off x="9103184" y="2711105"/>
            <a:ext cx="2316479" cy="1881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8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000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配置方案管理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8900" algn="l" rtl="0" eaLnBrk="0">
              <a:lnSpc>
                <a:spcPct val="88000"/>
              </a:lnSpc>
              <a:spcBef>
                <a:spcPts val="331"/>
              </a:spcBef>
              <a:tabLst/>
            </a:pPr>
            <a:r>
              <a:rPr sz="1100" i="1" kern="0" spc="3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优选件管理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0960" algn="l" rtl="0" eaLnBrk="0">
              <a:lnSpc>
                <a:spcPct val="97000"/>
              </a:lnSpc>
              <a:spcBef>
                <a:spcPts val="309"/>
              </a:spcBef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平台化模块化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305"/>
              </a:spcBef>
              <a:tabLst/>
            </a:pPr>
            <a:r>
              <a:rPr sz="1000" b="1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技术标准管理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622425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C2M选配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76" name="textbox 1276"/>
          <p:cNvSpPr/>
          <p:nvPr/>
        </p:nvSpPr>
        <p:spPr>
          <a:xfrm>
            <a:off x="10158768" y="4312056"/>
            <a:ext cx="168910" cy="297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8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7000"/>
              </a:lnSpc>
              <a:tabLst/>
            </a:pPr>
            <a:r>
              <a:rPr sz="2300" kern="0" spc="-2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78" name="textbox 1278"/>
          <p:cNvSpPr/>
          <p:nvPr/>
        </p:nvSpPr>
        <p:spPr>
          <a:xfrm>
            <a:off x="10310723" y="3459530"/>
            <a:ext cx="179070" cy="296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2300" kern="0" spc="-2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1280" name="picture 128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4783048" y="3329266"/>
            <a:ext cx="6334874" cy="1548041"/>
          </a:xfrm>
          <a:prstGeom prst="rect">
            <a:avLst/>
          </a:prstGeom>
        </p:spPr>
      </p:pic>
      <p:pic>
        <p:nvPicPr>
          <p:cNvPr id="1282" name="picture 128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7454786" y="2956305"/>
            <a:ext cx="302919" cy="386295"/>
          </a:xfrm>
          <a:prstGeom prst="rect">
            <a:avLst/>
          </a:prstGeom>
        </p:spPr>
      </p:pic>
      <p:sp>
        <p:nvSpPr>
          <p:cNvPr id="1284" name="rect 1284"/>
          <p:cNvSpPr/>
          <p:nvPr/>
        </p:nvSpPr>
        <p:spPr>
          <a:xfrm>
            <a:off x="7523505" y="2511755"/>
            <a:ext cx="1314170" cy="432053"/>
          </a:xfrm>
          <a:prstGeom prst="rect">
            <a:avLst/>
          </a:prstGeom>
          <a:solidFill>
            <a:srgbClr val="D9D9D9">
              <a:alpha val="98431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86" name="textbox 1286"/>
          <p:cNvSpPr/>
          <p:nvPr/>
        </p:nvSpPr>
        <p:spPr>
          <a:xfrm>
            <a:off x="6103137" y="2711377"/>
            <a:ext cx="2750820" cy="3176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37995" algn="l" rtl="0" eaLnBrk="0">
              <a:lnSpc>
                <a:spcPct val="97000"/>
              </a:lnSpc>
              <a:tabLst/>
            </a:pPr>
            <a:r>
              <a:rPr sz="1000" b="1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1000"/>
              </a:lnSpc>
              <a:spcBef>
                <a:spcPts val="1247"/>
              </a:spcBef>
              <a:tabLst>
                <a:tab pos="248284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600" b="1" kern="0" spc="10" baseline="-3255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工艺仿真验证</a:t>
            </a: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r>
              <a:rPr sz="3600" kern="0" spc="10" baseline="8681" dirty="0">
                <a:solidFill>
                  <a:srgbClr val="D9D9D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</a:t>
            </a:r>
            <a:r>
              <a:rPr sz="2300" kern="0" spc="10" dirty="0">
                <a:solidFill>
                  <a:srgbClr val="D9D9D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600" b="1" kern="0" spc="10" baseline="-3255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零部件管理</a:t>
            </a:r>
            <a:r>
              <a:rPr sz="1000" b="1" kern="0" spc="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40535" algn="l" rtl="0" eaLnBrk="0">
              <a:lnSpc>
                <a:spcPct val="96000"/>
              </a:lnSpc>
              <a:spcBef>
                <a:spcPts val="304"/>
              </a:spcBef>
              <a:tabLst/>
            </a:pPr>
            <a:r>
              <a:rPr sz="1000" b="1" kern="0" spc="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BOM</a:t>
            </a:r>
            <a:r>
              <a:rPr sz="1000" b="1" kern="0" spc="10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72920" algn="l" rtl="0" eaLnBrk="0">
              <a:lnSpc>
                <a:spcPct val="96000"/>
              </a:lnSpc>
              <a:spcBef>
                <a:spcPts val="305"/>
              </a:spcBef>
              <a:tabLst/>
            </a:pPr>
            <a:r>
              <a:rPr sz="1000" b="1" kern="0" spc="5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图纸管理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7340" algn="l" rtl="0" eaLnBrk="0">
              <a:lnSpc>
                <a:spcPct val="96000"/>
              </a:lnSpc>
              <a:spcBef>
                <a:spcPts val="307"/>
              </a:spcBef>
              <a:tabLst/>
            </a:pPr>
            <a:r>
              <a:rPr sz="1000" b="1" kern="0" spc="5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印刷品管理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56870" algn="l" rtl="0" eaLnBrk="0">
              <a:lnSpc>
                <a:spcPct val="97000"/>
              </a:lnSpc>
              <a:spcBef>
                <a:spcPts val="307"/>
              </a:spcBef>
              <a:tabLst/>
            </a:pPr>
            <a:r>
              <a:rPr sz="1000" b="1" kern="0" spc="5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问题管理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5900" algn="l" rtl="0" eaLnBrk="0">
              <a:lnSpc>
                <a:spcPct val="88000"/>
              </a:lnSpc>
              <a:spcBef>
                <a:spcPts val="330"/>
              </a:spcBef>
              <a:tabLst/>
            </a:pPr>
            <a:r>
              <a:rPr sz="1100" i="1" kern="0" spc="2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设计质量管理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219709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000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知识雷区管理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88" name="picture 128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459511" y="4315688"/>
            <a:ext cx="1323048" cy="77304"/>
          </a:xfrm>
          <a:prstGeom prst="rect">
            <a:avLst/>
          </a:prstGeom>
        </p:spPr>
      </p:pic>
      <p:pic>
        <p:nvPicPr>
          <p:cNvPr id="1290" name="picture 1290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459511" y="4740719"/>
            <a:ext cx="1323048" cy="77317"/>
          </a:xfrm>
          <a:prstGeom prst="rect">
            <a:avLst/>
          </a:prstGeom>
        </p:spPr>
      </p:pic>
      <p:pic>
        <p:nvPicPr>
          <p:cNvPr id="1292" name="picture 1292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459511" y="2579852"/>
            <a:ext cx="1323048" cy="77317"/>
          </a:xfrm>
          <a:prstGeom prst="rect">
            <a:avLst/>
          </a:prstGeom>
        </p:spPr>
      </p:pic>
      <p:pic>
        <p:nvPicPr>
          <p:cNvPr id="1294" name="picture 1294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459473" y="2503627"/>
            <a:ext cx="1485722" cy="3455479"/>
          </a:xfrm>
          <a:prstGeom prst="rect">
            <a:avLst/>
          </a:prstGeom>
        </p:spPr>
      </p:pic>
      <p:pic>
        <p:nvPicPr>
          <p:cNvPr id="1296" name="picture 1296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1936622" y="1769745"/>
            <a:ext cx="9778403" cy="516000"/>
          </a:xfrm>
          <a:prstGeom prst="rect">
            <a:avLst/>
          </a:prstGeom>
        </p:spPr>
      </p:pic>
      <p:sp>
        <p:nvSpPr>
          <p:cNvPr id="1298" name="textbox 1298"/>
          <p:cNvSpPr/>
          <p:nvPr/>
        </p:nvSpPr>
        <p:spPr>
          <a:xfrm>
            <a:off x="446811" y="2707455"/>
            <a:ext cx="1439544" cy="1504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6550" algn="l" rtl="0" eaLnBrk="0">
              <a:lnSpc>
                <a:spcPct val="97000"/>
              </a:lnSpc>
              <a:tabLst/>
            </a:pPr>
            <a:r>
              <a:rPr sz="1000" b="1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立项管理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9000"/>
              </a:lnSpc>
              <a:spcBef>
                <a:spcPts val="1303"/>
              </a:spcBef>
              <a:tabLst>
                <a:tab pos="212725" algn="l"/>
              </a:tabLst>
            </a:pPr>
            <a:r>
              <a:rPr sz="1000" kern="0" spc="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600" b="1" kern="0" spc="20" baseline="-6511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进度计划管理</a:t>
            </a:r>
            <a:r>
              <a:rPr sz="1000" b="1" kern="0" spc="3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3600" kern="0" spc="20" baseline="5787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3600" baseline="5787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3359" algn="l" rtl="0" eaLnBrk="0">
              <a:lnSpc>
                <a:spcPct val="96000"/>
              </a:lnSpc>
              <a:spcBef>
                <a:spcPts val="304"/>
              </a:spcBef>
              <a:tabLst/>
            </a:pPr>
            <a:r>
              <a:rPr sz="1000" b="1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技术评审管理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7"/>
              </a:spcBef>
              <a:tabLst>
                <a:tab pos="217804" algn="l"/>
              </a:tabLst>
            </a:pPr>
            <a:r>
              <a:rPr sz="1000" kern="0" spc="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600" b="1" kern="0" spc="10" baseline="-6511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阶段决策管理</a:t>
            </a:r>
            <a:r>
              <a:rPr sz="1000" b="1" kern="0" spc="2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3600" kern="0" spc="10" baseline="7234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</a:t>
            </a:r>
            <a:endParaRPr sz="3600" baseline="7234" dirty="0">
              <a:latin typeface="DengXian"/>
              <a:ea typeface="DengXian"/>
              <a:cs typeface="DengXian"/>
            </a:endParaRPr>
          </a:p>
        </p:txBody>
      </p:sp>
      <p:pic>
        <p:nvPicPr>
          <p:cNvPr id="1300" name="picture 1300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1936622" y="4241139"/>
            <a:ext cx="1323111" cy="441579"/>
          </a:xfrm>
          <a:prstGeom prst="rect">
            <a:avLst/>
          </a:prstGeom>
        </p:spPr>
      </p:pic>
      <p:pic>
        <p:nvPicPr>
          <p:cNvPr id="1302" name="picture 1302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1928685" y="3372853"/>
            <a:ext cx="1338986" cy="860044"/>
          </a:xfrm>
          <a:prstGeom prst="rect">
            <a:avLst/>
          </a:prstGeom>
        </p:spPr>
      </p:pic>
      <p:pic>
        <p:nvPicPr>
          <p:cNvPr id="1304" name="picture 1304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1936622" y="2505316"/>
            <a:ext cx="1323111" cy="866610"/>
          </a:xfrm>
          <a:prstGeom prst="rect">
            <a:avLst/>
          </a:prstGeom>
        </p:spPr>
      </p:pic>
      <p:sp>
        <p:nvSpPr>
          <p:cNvPr id="1306" name="textbox 1306"/>
          <p:cNvSpPr/>
          <p:nvPr/>
        </p:nvSpPr>
        <p:spPr>
          <a:xfrm>
            <a:off x="2159874" y="2708873"/>
            <a:ext cx="749934" cy="1912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100" i="1" kern="0" spc="3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技术库管理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0960" algn="l" rtl="0" eaLnBrk="0">
              <a:lnSpc>
                <a:spcPct val="97000"/>
              </a:lnSpc>
              <a:spcBef>
                <a:spcPts val="311"/>
              </a:spcBef>
              <a:tabLst/>
            </a:pPr>
            <a:r>
              <a:rPr sz="1000" b="1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平台化企划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1920" algn="l" rtl="0" eaLnBrk="0">
              <a:lnSpc>
                <a:spcPct val="89000"/>
              </a:lnSpc>
              <a:spcBef>
                <a:spcPts val="341"/>
              </a:spcBef>
              <a:tabLst/>
            </a:pPr>
            <a:r>
              <a:rPr sz="1100" i="1" kern="0" spc="5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创意管理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8419" algn="l" rtl="0" eaLnBrk="0">
              <a:lnSpc>
                <a:spcPct val="96000"/>
              </a:lnSpc>
              <a:spcBef>
                <a:spcPts val="305"/>
              </a:spcBef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数字化企划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01600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1100" i="1" kern="0" spc="5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产品型谱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08" name="picture 1308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2572067" y="3377615"/>
            <a:ext cx="19050" cy="361950"/>
          </a:xfrm>
          <a:prstGeom prst="rect">
            <a:avLst/>
          </a:prstGeom>
        </p:spPr>
      </p:pic>
      <p:sp>
        <p:nvSpPr>
          <p:cNvPr id="1310" name="textbox 1310"/>
          <p:cNvSpPr/>
          <p:nvPr/>
        </p:nvSpPr>
        <p:spPr>
          <a:xfrm>
            <a:off x="3438575" y="1936000"/>
            <a:ext cx="7997825" cy="193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2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技术研究管理          产品开发管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理                验证管理            产品数据管理          研发支持模块            订单选配管理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12" name="textbox 1312"/>
          <p:cNvSpPr/>
          <p:nvPr/>
        </p:nvSpPr>
        <p:spPr>
          <a:xfrm>
            <a:off x="640133" y="4877642"/>
            <a:ext cx="880744" cy="1009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9225" algn="l" rtl="0" eaLnBrk="0">
              <a:lnSpc>
                <a:spcPct val="97000"/>
              </a:lnSpc>
              <a:tabLst/>
            </a:pPr>
            <a:r>
              <a:rPr sz="1000" b="1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结项管理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indent="635" algn="l" rtl="0" eaLnBrk="0">
              <a:lnSpc>
                <a:spcPct val="232000"/>
              </a:lnSpc>
              <a:spcBef>
                <a:spcPts val="1"/>
              </a:spcBef>
              <a:tabLst/>
            </a:pPr>
            <a:r>
              <a:rPr sz="1100" i="1" kern="0" spc="1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绩效监控管理</a:t>
            </a:r>
            <a:r>
              <a:rPr sz="1100" kern="0" spc="4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i="1" kern="0" spc="2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项目资源管理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14" name="textbox 1314"/>
          <p:cNvSpPr/>
          <p:nvPr/>
        </p:nvSpPr>
        <p:spPr>
          <a:xfrm>
            <a:off x="3321227" y="2710368"/>
            <a:ext cx="1339850" cy="655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3375" algn="l" rtl="0" eaLnBrk="0">
              <a:lnSpc>
                <a:spcPct val="96000"/>
              </a:lnSpc>
              <a:tabLst/>
            </a:pPr>
            <a:r>
              <a:rPr sz="1000" b="1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情报管理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3"/>
              </a:spcBef>
              <a:tabLst>
                <a:tab pos="212725" algn="l"/>
              </a:tabLst>
            </a:pPr>
            <a:r>
              <a:rPr sz="1000" kern="0" spc="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600" kern="0" spc="0" baseline="-6511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课题研究管理</a:t>
            </a:r>
            <a:r>
              <a:rPr sz="1000" kern="0" spc="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3600" kern="0" spc="0" baseline="7234" dirty="0">
                <a:solidFill>
                  <a:srgbClr val="D9D9D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endParaRPr sz="3600" baseline="7234" dirty="0">
              <a:latin typeface="DengXian"/>
              <a:ea typeface="DengXian"/>
              <a:cs typeface="DengXian"/>
            </a:endParaRPr>
          </a:p>
        </p:txBody>
      </p:sp>
      <p:sp>
        <p:nvSpPr>
          <p:cNvPr id="1316" name="textbox 1316"/>
          <p:cNvSpPr/>
          <p:nvPr/>
        </p:nvSpPr>
        <p:spPr>
          <a:xfrm>
            <a:off x="459473" y="1768055"/>
            <a:ext cx="1323339" cy="515619"/>
          </a:xfrm>
          <a:prstGeom prst="rect">
            <a:avLst/>
          </a:prstGeom>
          <a:solidFill>
            <a:srgbClr val="FAFA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ct val="90000"/>
              </a:lnSpc>
              <a:spcBef>
                <a:spcPts val="5"/>
              </a:spcBef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研发项目管理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18" name="rect 1318"/>
          <p:cNvSpPr/>
          <p:nvPr/>
        </p:nvSpPr>
        <p:spPr>
          <a:xfrm>
            <a:off x="6128003" y="2510078"/>
            <a:ext cx="1314044" cy="432041"/>
          </a:xfrm>
          <a:prstGeom prst="rect">
            <a:avLst/>
          </a:prstGeom>
          <a:solidFill>
            <a:srgbClr val="D9D9D9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0" name="textbox 1320"/>
          <p:cNvSpPr/>
          <p:nvPr/>
        </p:nvSpPr>
        <p:spPr>
          <a:xfrm>
            <a:off x="4908595" y="2709960"/>
            <a:ext cx="975994" cy="615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9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8000"/>
              </a:lnSpc>
              <a:tabLst/>
            </a:pPr>
            <a:r>
              <a:rPr sz="1100" i="1" kern="0" spc="2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产品规划管理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数字化工艺管理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22" name="textbox 1322"/>
          <p:cNvSpPr/>
          <p:nvPr/>
        </p:nvSpPr>
        <p:spPr>
          <a:xfrm>
            <a:off x="6434008" y="2710368"/>
            <a:ext cx="567690" cy="172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测试管理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24" name="picture 1324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 rot="21600000">
            <a:off x="5333936" y="2703334"/>
            <a:ext cx="1522056" cy="238125"/>
          </a:xfrm>
          <a:prstGeom prst="rect">
            <a:avLst/>
          </a:prstGeom>
        </p:spPr>
      </p:pic>
      <p:sp>
        <p:nvSpPr>
          <p:cNvPr id="1326" name="textbox 1326"/>
          <p:cNvSpPr/>
          <p:nvPr/>
        </p:nvSpPr>
        <p:spPr>
          <a:xfrm>
            <a:off x="2282151" y="1844903"/>
            <a:ext cx="633730" cy="374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35" algn="l" rtl="0" eaLnBrk="0">
              <a:lnSpc>
                <a:spcPct val="95000"/>
              </a:lnSpc>
              <a:tabLst/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技术规划</a:t>
            </a: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产品企划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28" name="textbox 1328"/>
          <p:cNvSpPr/>
          <p:nvPr/>
        </p:nvSpPr>
        <p:spPr>
          <a:xfrm>
            <a:off x="3438447" y="4855300"/>
            <a:ext cx="974725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000" b="1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供应商发放平台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30" name="textbox 1330"/>
          <p:cNvSpPr/>
          <p:nvPr/>
        </p:nvSpPr>
        <p:spPr>
          <a:xfrm>
            <a:off x="3520644" y="3583318"/>
            <a:ext cx="839469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1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研究成果管理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32" name="textbox 1332"/>
          <p:cNvSpPr/>
          <p:nvPr/>
        </p:nvSpPr>
        <p:spPr>
          <a:xfrm>
            <a:off x="6310688" y="3583181"/>
            <a:ext cx="84010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8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000" b="1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样机样品管理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34" name="textbox 1334"/>
          <p:cNvSpPr/>
          <p:nvPr/>
        </p:nvSpPr>
        <p:spPr>
          <a:xfrm>
            <a:off x="7706735" y="4881564"/>
            <a:ext cx="838835" cy="172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设计工具管理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36" name="picture 1336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 rot="21600000">
            <a:off x="6124663" y="2581643"/>
            <a:ext cx="1321168" cy="76263"/>
          </a:xfrm>
          <a:prstGeom prst="rect">
            <a:avLst/>
          </a:prstGeom>
        </p:spPr>
      </p:pic>
      <p:pic>
        <p:nvPicPr>
          <p:cNvPr id="1338" name="picture 1338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 rot="21600000">
            <a:off x="8916047" y="3008376"/>
            <a:ext cx="1321168" cy="76250"/>
          </a:xfrm>
          <a:prstGeom prst="rect">
            <a:avLst/>
          </a:prstGeom>
        </p:spPr>
      </p:pic>
      <p:pic>
        <p:nvPicPr>
          <p:cNvPr id="1340" name="picture 1340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 rot="21600000">
            <a:off x="8916047" y="2583332"/>
            <a:ext cx="1321168" cy="76250"/>
          </a:xfrm>
          <a:prstGeom prst="rect">
            <a:avLst/>
          </a:prstGeom>
        </p:spPr>
      </p:pic>
      <p:pic>
        <p:nvPicPr>
          <p:cNvPr id="1342" name="picture 1342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1600000">
            <a:off x="10393833" y="2583332"/>
            <a:ext cx="1321167" cy="76250"/>
          </a:xfrm>
          <a:prstGeom prst="rect">
            <a:avLst/>
          </a:prstGeom>
        </p:spPr>
      </p:pic>
      <p:pic>
        <p:nvPicPr>
          <p:cNvPr id="1344" name="picture 1344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 rot="21600000">
            <a:off x="10393833" y="3008376"/>
            <a:ext cx="1321167" cy="76250"/>
          </a:xfrm>
          <a:prstGeom prst="rect">
            <a:avLst/>
          </a:prstGeom>
        </p:spPr>
      </p:pic>
      <p:pic>
        <p:nvPicPr>
          <p:cNvPr id="1346" name="picture 1346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 rot="21600000">
            <a:off x="7519720" y="2583332"/>
            <a:ext cx="1321155" cy="76250"/>
          </a:xfrm>
          <a:prstGeom prst="rect">
            <a:avLst/>
          </a:prstGeom>
        </p:spPr>
      </p:pic>
      <p:sp>
        <p:nvSpPr>
          <p:cNvPr id="1348" name="textbox 1348"/>
          <p:cNvSpPr/>
          <p:nvPr/>
        </p:nvSpPr>
        <p:spPr>
          <a:xfrm>
            <a:off x="4997386" y="4447685"/>
            <a:ext cx="703580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爆炸图管理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50" name="textbox 1350"/>
          <p:cNvSpPr/>
          <p:nvPr/>
        </p:nvSpPr>
        <p:spPr>
          <a:xfrm>
            <a:off x="10661956" y="3585550"/>
            <a:ext cx="704215" cy="172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外销印刷品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52" name="textbox 1352"/>
          <p:cNvSpPr/>
          <p:nvPr/>
        </p:nvSpPr>
        <p:spPr>
          <a:xfrm>
            <a:off x="5041449" y="4878787"/>
            <a:ext cx="60705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100" i="1" kern="0" spc="5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退市管理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54" name="textbox 1354"/>
          <p:cNvSpPr/>
          <p:nvPr/>
        </p:nvSpPr>
        <p:spPr>
          <a:xfrm>
            <a:off x="3664399" y="5720618"/>
            <a:ext cx="607694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100" i="1" kern="0" spc="5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合规管理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56" name="textbox 1356"/>
          <p:cNvSpPr/>
          <p:nvPr/>
        </p:nvSpPr>
        <p:spPr>
          <a:xfrm>
            <a:off x="9228628" y="2711105"/>
            <a:ext cx="60705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100" i="1" kern="0" spc="5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竞品管理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58" name="textbox 1358"/>
          <p:cNvSpPr/>
          <p:nvPr/>
        </p:nvSpPr>
        <p:spPr>
          <a:xfrm>
            <a:off x="3671944" y="4001958"/>
            <a:ext cx="565784" cy="172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专利管理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60" name="textbox 1360"/>
          <p:cNvSpPr/>
          <p:nvPr/>
        </p:nvSpPr>
        <p:spPr>
          <a:xfrm>
            <a:off x="3651247" y="5288441"/>
            <a:ext cx="567690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变更管理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62" name="textbox 1362"/>
          <p:cNvSpPr/>
          <p:nvPr/>
        </p:nvSpPr>
        <p:spPr>
          <a:xfrm>
            <a:off x="10731125" y="4003375"/>
            <a:ext cx="56705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6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报价管理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64" name="textbox 1364"/>
          <p:cNvSpPr/>
          <p:nvPr/>
        </p:nvSpPr>
        <p:spPr>
          <a:xfrm>
            <a:off x="5065869" y="5715632"/>
            <a:ext cx="567690" cy="172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模具管理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66" name="textbox 1366"/>
          <p:cNvSpPr/>
          <p:nvPr/>
        </p:nvSpPr>
        <p:spPr>
          <a:xfrm>
            <a:off x="10772808" y="3154048"/>
            <a:ext cx="56705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9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000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制单管理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68" name="textbox 1368"/>
          <p:cNvSpPr/>
          <p:nvPr/>
        </p:nvSpPr>
        <p:spPr>
          <a:xfrm>
            <a:off x="777634" y="4446144"/>
            <a:ext cx="567690" cy="172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支撑管理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70" name="textbox 1370"/>
          <p:cNvSpPr/>
          <p:nvPr/>
        </p:nvSpPr>
        <p:spPr>
          <a:xfrm>
            <a:off x="7837337" y="4449374"/>
            <a:ext cx="56705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文档管理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72" name="textbox 1372"/>
          <p:cNvSpPr/>
          <p:nvPr/>
        </p:nvSpPr>
        <p:spPr>
          <a:xfrm>
            <a:off x="5066821" y="5312051"/>
            <a:ext cx="566419" cy="172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60" dirty="0">
                <a:solidFill>
                  <a:srgbClr val="B4C7E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认证管理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74" name="picture 1374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 rot="21600000">
            <a:off x="2515120" y="3716909"/>
            <a:ext cx="127000" cy="12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rect 1376"/>
          <p:cNvSpPr/>
          <p:nvPr/>
        </p:nvSpPr>
        <p:spPr>
          <a:xfrm>
            <a:off x="8922702" y="2903054"/>
            <a:ext cx="3037675" cy="2092616"/>
          </a:xfrm>
          <a:prstGeom prst="rect">
            <a:avLst/>
          </a:prstGeom>
          <a:solidFill>
            <a:srgbClr val="EDED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78" name="group 78"/>
          <p:cNvGrpSpPr/>
          <p:nvPr/>
        </p:nvGrpSpPr>
        <p:grpSpPr>
          <a:xfrm rot="21600000">
            <a:off x="6185915" y="4884420"/>
            <a:ext cx="5821680" cy="1929435"/>
            <a:chOff x="0" y="0"/>
            <a:chExt cx="5821680" cy="1929435"/>
          </a:xfrm>
        </p:grpSpPr>
        <p:sp>
          <p:nvSpPr>
            <p:cNvPr id="1378" name="path 1378"/>
            <p:cNvSpPr/>
            <p:nvPr/>
          </p:nvSpPr>
          <p:spPr>
            <a:xfrm>
              <a:off x="0" y="0"/>
              <a:ext cx="5821680" cy="1929435"/>
            </a:xfrm>
            <a:custGeom>
              <a:avLst/>
              <a:gdLst/>
              <a:ahLst/>
              <a:cxnLst/>
              <a:rect l="0" t="0" r="0" b="0"/>
              <a:pathLst>
                <a:path w="9168" h="3038">
                  <a:moveTo>
                    <a:pt x="0" y="827"/>
                  </a:moveTo>
                  <a:cubicBezTo>
                    <a:pt x="0" y="583"/>
                    <a:pt x="198" y="385"/>
                    <a:pt x="441" y="383"/>
                  </a:cubicBezTo>
                  <a:lnTo>
                    <a:pt x="1528" y="383"/>
                  </a:lnTo>
                  <a:lnTo>
                    <a:pt x="3888" y="0"/>
                  </a:lnTo>
                  <a:lnTo>
                    <a:pt x="3820" y="383"/>
                  </a:lnTo>
                  <a:lnTo>
                    <a:pt x="8724" y="383"/>
                  </a:lnTo>
                  <a:cubicBezTo>
                    <a:pt x="8969" y="385"/>
                    <a:pt x="9167" y="583"/>
                    <a:pt x="9167" y="827"/>
                  </a:cubicBezTo>
                  <a:lnTo>
                    <a:pt x="9168" y="827"/>
                  </a:lnTo>
                  <a:lnTo>
                    <a:pt x="9168" y="1490"/>
                  </a:lnTo>
                  <a:lnTo>
                    <a:pt x="9168" y="2596"/>
                  </a:lnTo>
                  <a:cubicBezTo>
                    <a:pt x="9167" y="2840"/>
                    <a:pt x="8969" y="3038"/>
                    <a:pt x="8724" y="3038"/>
                  </a:cubicBezTo>
                  <a:lnTo>
                    <a:pt x="3820" y="3038"/>
                  </a:lnTo>
                  <a:lnTo>
                    <a:pt x="1528" y="3038"/>
                  </a:lnTo>
                  <a:lnTo>
                    <a:pt x="441" y="3038"/>
                  </a:lnTo>
                  <a:cubicBezTo>
                    <a:pt x="198" y="3038"/>
                    <a:pt x="0" y="2840"/>
                    <a:pt x="0" y="2596"/>
                  </a:cubicBezTo>
                  <a:lnTo>
                    <a:pt x="0" y="1490"/>
                  </a:lnTo>
                  <a:lnTo>
                    <a:pt x="0" y="827"/>
                  </a:lnTo>
                  <a:lnTo>
                    <a:pt x="0" y="827"/>
                  </a:lnTo>
                </a:path>
              </a:pathLst>
            </a:custGeom>
            <a:solidFill>
              <a:srgbClr val="53535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0" name="textbox 1380"/>
            <p:cNvSpPr/>
            <p:nvPr/>
          </p:nvSpPr>
          <p:spPr>
            <a:xfrm>
              <a:off x="-12700" y="-12700"/>
              <a:ext cx="5847715" cy="19729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93980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4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产品开发：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901064" indent="-302259" algn="l" rtl="0" eaLnBrk="0">
                <a:lnSpc>
                  <a:spcPct val="104000"/>
                </a:lnSpc>
                <a:spcBef>
                  <a:spcPts val="26"/>
                </a:spcBef>
                <a:tabLst/>
              </a:pPr>
              <a:r>
                <a:rPr sz="1400" kern="0" spc="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•    </a:t>
              </a:r>
              <a:r>
                <a:rPr sz="1400" kern="0" spc="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继续深入推进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IPD</a:t>
              </a:r>
              <a:r>
                <a:rPr sz="1400" kern="0" spc="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开</a:t>
              </a: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发</a:t>
              </a:r>
              <a:r>
                <a:rPr sz="1400" kern="0" spc="-20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，推进产品参数化、标准化、模块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</a:t>
              </a: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化及平台化设计能力；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904239" indent="-305434" algn="l" rtl="0" eaLnBrk="0">
                <a:lnSpc>
                  <a:spcPct val="108000"/>
                </a:lnSpc>
                <a:spcBef>
                  <a:spcPts val="4"/>
                </a:spcBef>
                <a:tabLst/>
              </a:pP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•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</a:t>
              </a: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以主销机型（波轮</a:t>
              </a: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和滚筒）</a:t>
              </a:r>
              <a:r>
                <a:rPr sz="1400" kern="0" spc="-2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为试点推动“C2M”大规模、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</a:t>
              </a: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多样化产品定制需求的业务模式；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900430" indent="-301625" algn="l" rtl="0" eaLnBrk="0">
                <a:lnSpc>
                  <a:spcPct val="100000"/>
                </a:lnSpc>
                <a:spcBef>
                  <a:spcPts val="160"/>
                </a:spcBef>
                <a:tabLst/>
              </a:pP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•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</a:t>
              </a: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以支撑“C2M” 选配模式为主</a:t>
              </a:r>
              <a:r>
                <a:rPr sz="1400" kern="0" spc="-1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，对现有产品进行</a:t>
              </a:r>
              <a:r>
                <a:rPr sz="1400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平台化、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</a:t>
              </a: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模块化设计；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382" name="textbox 1382"/>
          <p:cNvSpPr/>
          <p:nvPr/>
        </p:nvSpPr>
        <p:spPr>
          <a:xfrm>
            <a:off x="418592" y="-12700"/>
            <a:ext cx="8840469" cy="12725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59105" algn="l" rtl="0" eaLnBrk="0">
              <a:lnSpc>
                <a:spcPct val="93000"/>
              </a:lnSpc>
              <a:spcBef>
                <a:spcPts val="3"/>
              </a:spcBef>
              <a:tabLst>
                <a:tab pos="575309" algn="l"/>
              </a:tabLst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数字化2.0-研发高阶业</a:t>
            </a:r>
            <a:r>
              <a:rPr sz="26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务目标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879"/>
              </a:lnSpc>
              <a:spcBef>
                <a:spcPts val="4"/>
              </a:spcBef>
              <a:tabLst/>
            </a:pP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明确洗衣机三大业务领域需求</a:t>
            </a:r>
            <a:r>
              <a:rPr sz="2300" kern="0" spc="-3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准确定位业务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价值和项目目标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80" name="group 80"/>
          <p:cNvGrpSpPr/>
          <p:nvPr/>
        </p:nvGrpSpPr>
        <p:grpSpPr>
          <a:xfrm rot="21600000">
            <a:off x="431292" y="0"/>
            <a:ext cx="446531" cy="755903"/>
            <a:chOff x="0" y="0"/>
            <a:chExt cx="446531" cy="755903"/>
          </a:xfrm>
        </p:grpSpPr>
        <p:sp>
          <p:nvSpPr>
            <p:cNvPr id="1384" name="path 1384"/>
            <p:cNvSpPr/>
            <p:nvPr/>
          </p:nvSpPr>
          <p:spPr>
            <a:xfrm>
              <a:off x="0" y="0"/>
              <a:ext cx="216408" cy="755903"/>
            </a:xfrm>
            <a:custGeom>
              <a:avLst/>
              <a:gdLst/>
              <a:ahLst/>
              <a:cxnLst/>
              <a:rect l="0" t="0" r="0" b="0"/>
              <a:pathLst>
                <a:path w="340" h="1190">
                  <a:moveTo>
                    <a:pt x="0" y="0"/>
                  </a:moveTo>
                  <a:lnTo>
                    <a:pt x="340" y="0"/>
                  </a:lnTo>
                  <a:lnTo>
                    <a:pt x="340" y="1190"/>
                  </a:lnTo>
                  <a:lnTo>
                    <a:pt x="0" y="1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6" name="path 1386"/>
            <p:cNvSpPr/>
            <p:nvPr/>
          </p:nvSpPr>
          <p:spPr>
            <a:xfrm>
              <a:off x="231647" y="147828"/>
              <a:ext cx="214884" cy="605027"/>
            </a:xfrm>
            <a:custGeom>
              <a:avLst/>
              <a:gdLst/>
              <a:ahLst/>
              <a:cxnLst/>
              <a:rect l="0" t="0" r="0" b="0"/>
              <a:pathLst>
                <a:path w="338" h="952">
                  <a:moveTo>
                    <a:pt x="0" y="0"/>
                  </a:moveTo>
                  <a:lnTo>
                    <a:pt x="338" y="0"/>
                  </a:lnTo>
                  <a:lnTo>
                    <a:pt x="338" y="952"/>
                  </a:lnTo>
                  <a:lnTo>
                    <a:pt x="0" y="9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8DE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2" name="group 82"/>
          <p:cNvGrpSpPr/>
          <p:nvPr/>
        </p:nvGrpSpPr>
        <p:grpSpPr>
          <a:xfrm rot="21600000">
            <a:off x="160985" y="4520183"/>
            <a:ext cx="5886246" cy="1789176"/>
            <a:chOff x="0" y="0"/>
            <a:chExt cx="5886246" cy="1789176"/>
          </a:xfrm>
        </p:grpSpPr>
        <p:sp>
          <p:nvSpPr>
            <p:cNvPr id="1388" name="path 1388"/>
            <p:cNvSpPr/>
            <p:nvPr/>
          </p:nvSpPr>
          <p:spPr>
            <a:xfrm>
              <a:off x="0" y="0"/>
              <a:ext cx="5886246" cy="1789176"/>
            </a:xfrm>
            <a:custGeom>
              <a:avLst/>
              <a:gdLst/>
              <a:ahLst/>
              <a:cxnLst/>
              <a:rect l="0" t="0" r="0" b="0"/>
              <a:pathLst>
                <a:path w="9269" h="2817">
                  <a:moveTo>
                    <a:pt x="0" y="1116"/>
                  </a:moveTo>
                  <a:cubicBezTo>
                    <a:pt x="0" y="928"/>
                    <a:pt x="152" y="776"/>
                    <a:pt x="339" y="775"/>
                  </a:cubicBezTo>
                  <a:lnTo>
                    <a:pt x="1544" y="775"/>
                  </a:lnTo>
                  <a:lnTo>
                    <a:pt x="3980" y="0"/>
                  </a:lnTo>
                  <a:lnTo>
                    <a:pt x="3862" y="775"/>
                  </a:lnTo>
                  <a:lnTo>
                    <a:pt x="8928" y="775"/>
                  </a:lnTo>
                  <a:cubicBezTo>
                    <a:pt x="9117" y="776"/>
                    <a:pt x="9269" y="928"/>
                    <a:pt x="9269" y="1116"/>
                  </a:cubicBezTo>
                  <a:lnTo>
                    <a:pt x="9269" y="1116"/>
                  </a:lnTo>
                  <a:lnTo>
                    <a:pt x="9269" y="1627"/>
                  </a:lnTo>
                  <a:lnTo>
                    <a:pt x="9269" y="2476"/>
                  </a:lnTo>
                  <a:cubicBezTo>
                    <a:pt x="9269" y="2665"/>
                    <a:pt x="9117" y="2817"/>
                    <a:pt x="8928" y="2817"/>
                  </a:cubicBezTo>
                  <a:lnTo>
                    <a:pt x="3862" y="2817"/>
                  </a:lnTo>
                  <a:lnTo>
                    <a:pt x="1544" y="2817"/>
                  </a:lnTo>
                  <a:lnTo>
                    <a:pt x="339" y="2817"/>
                  </a:lnTo>
                  <a:cubicBezTo>
                    <a:pt x="152" y="2817"/>
                    <a:pt x="0" y="2665"/>
                    <a:pt x="0" y="2476"/>
                  </a:cubicBezTo>
                  <a:lnTo>
                    <a:pt x="0" y="1627"/>
                  </a:lnTo>
                  <a:lnTo>
                    <a:pt x="0" y="1116"/>
                  </a:lnTo>
                  <a:lnTo>
                    <a:pt x="0" y="1116"/>
                  </a:lnTo>
                </a:path>
              </a:pathLst>
            </a:custGeom>
            <a:solidFill>
              <a:srgbClr val="7F7F7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90" name="textbox 1390"/>
            <p:cNvSpPr/>
            <p:nvPr/>
          </p:nvSpPr>
          <p:spPr>
            <a:xfrm>
              <a:off x="-12700" y="-12700"/>
              <a:ext cx="5911850" cy="18357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49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92710" algn="l" rtl="0" eaLnBrk="0">
                <a:lnSpc>
                  <a:spcPct val="95000"/>
                </a:lnSpc>
                <a:tabLst/>
              </a:pPr>
              <a:r>
                <a:rPr sz="14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数字化产品企划：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597534" algn="l" rtl="0" eaLnBrk="0">
                <a:lnSpc>
                  <a:spcPct val="96000"/>
                </a:lnSpc>
                <a:spcBef>
                  <a:spcPts val="148"/>
                </a:spcBef>
                <a:tabLst/>
              </a:pP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•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</a:t>
              </a: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实现产品“需求R-概念C”的数字化</a:t>
              </a: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软件平台支撑；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597534" algn="l" rtl="0" eaLnBrk="0">
                <a:lnSpc>
                  <a:spcPct val="96000"/>
                </a:lnSpc>
                <a:spcBef>
                  <a:spcPts val="147"/>
                </a:spcBef>
                <a:tabLst/>
              </a:pP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•</a:t>
              </a:r>
              <a:r>
                <a:rPr sz="1400" kern="0" spc="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</a:t>
              </a: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基于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CDOC</a:t>
              </a: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的方法论</a:t>
              </a:r>
              <a:r>
                <a:rPr sz="1400" kern="0" spc="-1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，未来目标支撑平台化企划开发</a:t>
              </a: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；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899160" indent="-301625" algn="l" rtl="0" eaLnBrk="0">
                <a:lnSpc>
                  <a:spcPct val="100000"/>
                </a:lnSpc>
                <a:spcBef>
                  <a:spcPts val="160"/>
                </a:spcBef>
                <a:tabLst/>
              </a:pP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•    </a:t>
              </a: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实现产品生命周期数据分析透视</a:t>
              </a:r>
              <a:r>
                <a:rPr sz="1400" kern="0" spc="-1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，反向支撑产品数字化企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</a:t>
              </a:r>
              <a:r>
                <a:rPr sz="1400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划。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392" name="rect 1392"/>
          <p:cNvSpPr/>
          <p:nvPr/>
        </p:nvSpPr>
        <p:spPr>
          <a:xfrm>
            <a:off x="4225849" y="2657855"/>
            <a:ext cx="3724858" cy="1070000"/>
          </a:xfrm>
          <a:prstGeom prst="rect">
            <a:avLst/>
          </a:prstGeom>
          <a:solidFill>
            <a:srgbClr val="EBEE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94" name="picture 13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26697" y="3367163"/>
            <a:ext cx="3626231" cy="309269"/>
          </a:xfrm>
          <a:prstGeom prst="rect">
            <a:avLst/>
          </a:prstGeom>
        </p:spPr>
      </p:pic>
      <p:pic>
        <p:nvPicPr>
          <p:cNvPr id="1396" name="picture 13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07131" y="3366604"/>
            <a:ext cx="1338987" cy="457454"/>
          </a:xfrm>
          <a:prstGeom prst="rect">
            <a:avLst/>
          </a:prstGeom>
        </p:spPr>
      </p:pic>
      <p:grpSp>
        <p:nvGrpSpPr>
          <p:cNvPr id="84" name="group 84"/>
          <p:cNvGrpSpPr/>
          <p:nvPr/>
        </p:nvGrpSpPr>
        <p:grpSpPr>
          <a:xfrm rot="21600000">
            <a:off x="10083520" y="4248696"/>
            <a:ext cx="302920" cy="386308"/>
            <a:chOff x="0" y="0"/>
            <a:chExt cx="302920" cy="386308"/>
          </a:xfrm>
        </p:grpSpPr>
        <p:pic>
          <p:nvPicPr>
            <p:cNvPr id="1398" name="picture 139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302920" cy="386308"/>
            </a:xfrm>
            <a:prstGeom prst="rect">
              <a:avLst/>
            </a:prstGeom>
          </p:spPr>
        </p:pic>
        <p:sp>
          <p:nvSpPr>
            <p:cNvPr id="1400" name="textbox 1400"/>
            <p:cNvSpPr/>
            <p:nvPr/>
          </p:nvSpPr>
          <p:spPr>
            <a:xfrm>
              <a:off x="-12700" y="-12700"/>
              <a:ext cx="328929" cy="4679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8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00330" algn="l" rtl="0" eaLnBrk="0">
                <a:lnSpc>
                  <a:spcPct val="77000"/>
                </a:lnSpc>
                <a:spcBef>
                  <a:spcPts val="2"/>
                </a:spcBef>
                <a:tabLst/>
              </a:pPr>
              <a:r>
                <a:rPr sz="2300" kern="0" spc="-2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5</a:t>
              </a:r>
              <a:endParaRPr sz="2300" dirty="0">
                <a:latin typeface="DengXian"/>
                <a:ea typeface="DengXian"/>
                <a:cs typeface="DengXian"/>
              </a:endParaRPr>
            </a:p>
          </p:txBody>
        </p:sp>
      </p:grpSp>
      <p:pic>
        <p:nvPicPr>
          <p:cNvPr id="1402" name="picture 14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384917" y="4194442"/>
            <a:ext cx="1338998" cy="457441"/>
          </a:xfrm>
          <a:prstGeom prst="rect">
            <a:avLst/>
          </a:prstGeom>
        </p:spPr>
      </p:pic>
      <p:sp>
        <p:nvSpPr>
          <p:cNvPr id="1404" name="rect 1404"/>
          <p:cNvSpPr/>
          <p:nvPr/>
        </p:nvSpPr>
        <p:spPr>
          <a:xfrm>
            <a:off x="923543" y="2410650"/>
            <a:ext cx="3037649" cy="2091562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406" name="picture 14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254971" y="3811358"/>
            <a:ext cx="6385153" cy="202336"/>
          </a:xfrm>
          <a:prstGeom prst="rect">
            <a:avLst/>
          </a:prstGeom>
        </p:spPr>
      </p:pic>
      <p:grpSp>
        <p:nvGrpSpPr>
          <p:cNvPr id="86" name="group 86"/>
          <p:cNvGrpSpPr/>
          <p:nvPr/>
        </p:nvGrpSpPr>
        <p:grpSpPr>
          <a:xfrm rot="21600000">
            <a:off x="4720704" y="2922409"/>
            <a:ext cx="1338986" cy="457453"/>
            <a:chOff x="0" y="0"/>
            <a:chExt cx="1338986" cy="457453"/>
          </a:xfrm>
        </p:grpSpPr>
        <p:pic>
          <p:nvPicPr>
            <p:cNvPr id="1408" name="picture 140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1338986" cy="457453"/>
            </a:xfrm>
            <a:prstGeom prst="rect">
              <a:avLst/>
            </a:prstGeom>
          </p:spPr>
        </p:pic>
        <p:sp>
          <p:nvSpPr>
            <p:cNvPr id="1410" name="textbox 1410"/>
            <p:cNvSpPr/>
            <p:nvPr/>
          </p:nvSpPr>
          <p:spPr>
            <a:xfrm>
              <a:off x="-12700" y="-12700"/>
              <a:ext cx="1364614" cy="4965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6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12725" algn="l" rtl="0" eaLnBrk="0">
                <a:lnSpc>
                  <a:spcPct val="96000"/>
                </a:lnSpc>
                <a:tabLst/>
              </a:pPr>
              <a:r>
                <a:rPr sz="1000" b="1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数字化工艺管理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8" name="group 88"/>
          <p:cNvGrpSpPr/>
          <p:nvPr/>
        </p:nvGrpSpPr>
        <p:grpSpPr>
          <a:xfrm rot="21600000">
            <a:off x="6115761" y="2922409"/>
            <a:ext cx="1338986" cy="457453"/>
            <a:chOff x="0" y="0"/>
            <a:chExt cx="1338986" cy="457453"/>
          </a:xfrm>
        </p:grpSpPr>
        <p:pic>
          <p:nvPicPr>
            <p:cNvPr id="1412" name="picture 141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1338986" cy="457453"/>
            </a:xfrm>
            <a:prstGeom prst="rect">
              <a:avLst/>
            </a:prstGeom>
          </p:spPr>
        </p:pic>
        <p:sp>
          <p:nvSpPr>
            <p:cNvPr id="1414" name="textbox 1414"/>
            <p:cNvSpPr/>
            <p:nvPr/>
          </p:nvSpPr>
          <p:spPr>
            <a:xfrm>
              <a:off x="-12700" y="-12700"/>
              <a:ext cx="1364614" cy="4959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6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48284" algn="l" rtl="0" eaLnBrk="0">
                <a:lnSpc>
                  <a:spcPct val="96000"/>
                </a:lnSpc>
                <a:tabLst/>
              </a:pPr>
              <a:r>
                <a:rPr sz="1000" b="1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工艺仿真验证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 rot="21600000">
            <a:off x="10246157" y="3396170"/>
            <a:ext cx="302919" cy="386295"/>
            <a:chOff x="0" y="0"/>
            <a:chExt cx="302919" cy="386295"/>
          </a:xfrm>
        </p:grpSpPr>
        <p:pic>
          <p:nvPicPr>
            <p:cNvPr id="1416" name="picture 141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302919" cy="386295"/>
            </a:xfrm>
            <a:prstGeom prst="rect">
              <a:avLst/>
            </a:prstGeom>
          </p:spPr>
        </p:pic>
        <p:sp>
          <p:nvSpPr>
            <p:cNvPr id="1418" name="textbox 1418"/>
            <p:cNvSpPr/>
            <p:nvPr/>
          </p:nvSpPr>
          <p:spPr>
            <a:xfrm>
              <a:off x="-12700" y="-12700"/>
              <a:ext cx="328929" cy="4705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8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89535" algn="l" rtl="0" eaLnBrk="0">
                <a:lnSpc>
                  <a:spcPct val="77000"/>
                </a:lnSpc>
                <a:spcBef>
                  <a:spcPts val="1"/>
                </a:spcBef>
                <a:tabLst/>
              </a:pPr>
              <a:r>
                <a:rPr sz="2300" kern="0" spc="-2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4</a:t>
              </a:r>
              <a:endParaRPr sz="2300" dirty="0">
                <a:latin typeface="DengXian"/>
                <a:ea typeface="DengXian"/>
                <a:cs typeface="DengXian"/>
              </a:endParaRPr>
            </a:p>
          </p:txBody>
        </p:sp>
      </p:grpSp>
      <p:pic>
        <p:nvPicPr>
          <p:cNvPr id="1420" name="picture 14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783048" y="3329266"/>
            <a:ext cx="6334874" cy="1548041"/>
          </a:xfrm>
          <a:prstGeom prst="rect">
            <a:avLst/>
          </a:prstGeom>
        </p:spPr>
      </p:pic>
      <p:sp>
        <p:nvSpPr>
          <p:cNvPr id="1422" name="textbox 1422"/>
          <p:cNvSpPr/>
          <p:nvPr/>
        </p:nvSpPr>
        <p:spPr>
          <a:xfrm>
            <a:off x="5260848" y="1268755"/>
            <a:ext cx="6369050" cy="1233805"/>
          </a:xfrm>
          <a:prstGeom prst="rect">
            <a:avLst/>
          </a:prstGeom>
          <a:solidFill>
            <a:srgbClr val="1F4E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75564" algn="l" rtl="0" eaLnBrk="0">
              <a:lnSpc>
                <a:spcPct val="95000"/>
              </a:lnSpc>
              <a:spcBef>
                <a:spcPts val="6"/>
              </a:spcBef>
              <a:tabLst/>
            </a:pPr>
            <a:r>
              <a:rPr sz="1400" b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数字化工艺：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580390" algn="l" rtl="0" eaLnBrk="0">
              <a:lnSpc>
                <a:spcPct val="96000"/>
              </a:lnSpc>
              <a:spcBef>
                <a:spcPts val="148"/>
              </a:spcBef>
              <a:tabLst/>
            </a:pPr>
            <a:r>
              <a:rPr sz="14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400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实现产品工艺过程管理</a:t>
            </a:r>
            <a:r>
              <a:rPr sz="1400" kern="0" spc="-2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，支撑数字化智能制造</a:t>
            </a:r>
            <a:r>
              <a:rPr sz="1400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580390" algn="l" rtl="0" eaLnBrk="0">
              <a:lnSpc>
                <a:spcPct val="96000"/>
              </a:lnSpc>
              <a:spcBef>
                <a:spcPts val="147"/>
              </a:spcBef>
              <a:tabLst/>
            </a:pP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</a:t>
            </a: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构建产品</a:t>
            </a:r>
            <a:r>
              <a:rPr sz="14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工艺装配仿真、</a:t>
            </a:r>
            <a:r>
              <a:rPr sz="1400" kern="0" spc="-3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工厂仿真、人机仿真验证的能力；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580390" algn="l" rtl="0" eaLnBrk="0">
              <a:lnSpc>
                <a:spcPct val="95000"/>
              </a:lnSpc>
              <a:spcBef>
                <a:spcPts val="164"/>
              </a:spcBef>
              <a:tabLst/>
            </a:pPr>
            <a:r>
              <a:rPr sz="14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</a:t>
            </a:r>
            <a:r>
              <a:rPr sz="1400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由研发负责-工艺仿真</a:t>
            </a:r>
            <a:r>
              <a:rPr sz="1400" kern="0" spc="-2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kern="0" spc="-2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由制造负责工艺管理的试</a:t>
            </a:r>
            <a:r>
              <a:rPr sz="14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点实施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92" name="group 92"/>
          <p:cNvGrpSpPr/>
          <p:nvPr/>
        </p:nvGrpSpPr>
        <p:grpSpPr>
          <a:xfrm rot="21600000">
            <a:off x="1928685" y="3775443"/>
            <a:ext cx="1338986" cy="457453"/>
            <a:chOff x="0" y="0"/>
            <a:chExt cx="1338986" cy="457453"/>
          </a:xfrm>
        </p:grpSpPr>
        <p:pic>
          <p:nvPicPr>
            <p:cNvPr id="1424" name="picture 142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1338986" cy="457453"/>
            </a:xfrm>
            <a:prstGeom prst="rect">
              <a:avLst/>
            </a:prstGeom>
          </p:spPr>
        </p:pic>
        <p:sp>
          <p:nvSpPr>
            <p:cNvPr id="1426" name="textbox 1426"/>
            <p:cNvSpPr/>
            <p:nvPr/>
          </p:nvSpPr>
          <p:spPr>
            <a:xfrm>
              <a:off x="-12700" y="-12700"/>
              <a:ext cx="1364614" cy="4965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6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02259" algn="l" rtl="0" eaLnBrk="0">
                <a:lnSpc>
                  <a:spcPct val="96000"/>
                </a:lnSpc>
                <a:spcBef>
                  <a:spcPts val="4"/>
                </a:spcBef>
                <a:tabLst/>
              </a:pPr>
              <a:r>
                <a:rPr sz="1000" b="1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数字化企划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1428" name="picture 142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936622" y="2930347"/>
            <a:ext cx="1323111" cy="441579"/>
          </a:xfrm>
          <a:prstGeom prst="rect">
            <a:avLst/>
          </a:prstGeom>
        </p:spPr>
      </p:pic>
      <p:pic>
        <p:nvPicPr>
          <p:cNvPr id="1430" name="picture 14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333936" y="2703334"/>
            <a:ext cx="1522056" cy="238125"/>
          </a:xfrm>
          <a:prstGeom prst="rect">
            <a:avLst/>
          </a:prstGeom>
        </p:spPr>
      </p:pic>
      <p:pic>
        <p:nvPicPr>
          <p:cNvPr id="1432" name="picture 143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642275" y="2961335"/>
            <a:ext cx="302920" cy="386308"/>
          </a:xfrm>
          <a:prstGeom prst="rect">
            <a:avLst/>
          </a:prstGeom>
        </p:spPr>
      </p:pic>
      <p:pic>
        <p:nvPicPr>
          <p:cNvPr id="1434" name="picture 143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624076" y="3798189"/>
            <a:ext cx="302920" cy="386308"/>
          </a:xfrm>
          <a:prstGeom prst="rect">
            <a:avLst/>
          </a:prstGeom>
        </p:spPr>
      </p:pic>
      <p:sp>
        <p:nvSpPr>
          <p:cNvPr id="1436" name="textbox 1436"/>
          <p:cNvSpPr/>
          <p:nvPr/>
        </p:nvSpPr>
        <p:spPr>
          <a:xfrm>
            <a:off x="1705089" y="3021660"/>
            <a:ext cx="180975" cy="1136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8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78000"/>
              </a:lnSpc>
              <a:tabLst/>
            </a:pPr>
            <a:r>
              <a:rPr sz="2300" kern="0" spc="-2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0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spcBef>
                <a:spcPts val="5"/>
              </a:spcBef>
              <a:tabLst/>
            </a:pPr>
            <a:r>
              <a:rPr sz="2300" kern="0" spc="-2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94" name="group 94"/>
          <p:cNvGrpSpPr/>
          <p:nvPr/>
        </p:nvGrpSpPr>
        <p:grpSpPr>
          <a:xfrm rot="21600000">
            <a:off x="4417110" y="2948762"/>
            <a:ext cx="302920" cy="386308"/>
            <a:chOff x="0" y="0"/>
            <a:chExt cx="302920" cy="386308"/>
          </a:xfrm>
        </p:grpSpPr>
        <p:pic>
          <p:nvPicPr>
            <p:cNvPr id="1438" name="picture 1438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302920" cy="386308"/>
            </a:xfrm>
            <a:prstGeom prst="rect">
              <a:avLst/>
            </a:prstGeom>
          </p:spPr>
        </p:pic>
        <p:sp>
          <p:nvSpPr>
            <p:cNvPr id="1440" name="textbox 1440"/>
            <p:cNvSpPr/>
            <p:nvPr/>
          </p:nvSpPr>
          <p:spPr>
            <a:xfrm>
              <a:off x="-12700" y="-12700"/>
              <a:ext cx="328929" cy="4705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99694" algn="l" rtl="0" eaLnBrk="0">
                <a:lnSpc>
                  <a:spcPct val="78000"/>
                </a:lnSpc>
                <a:spcBef>
                  <a:spcPts val="3"/>
                </a:spcBef>
                <a:tabLst/>
              </a:pPr>
              <a:r>
                <a:rPr sz="2300" kern="0" spc="-2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2</a:t>
              </a:r>
              <a:endParaRPr sz="2300" dirty="0">
                <a:latin typeface="DengXian"/>
                <a:ea typeface="DengXian"/>
                <a:cs typeface="DengXian"/>
              </a:endParaRPr>
            </a:p>
          </p:txBody>
        </p:sp>
      </p:grpSp>
      <p:grpSp>
        <p:nvGrpSpPr>
          <p:cNvPr id="96" name="group 96"/>
          <p:cNvGrpSpPr/>
          <p:nvPr/>
        </p:nvGrpSpPr>
        <p:grpSpPr>
          <a:xfrm rot="21600000">
            <a:off x="7454786" y="2956305"/>
            <a:ext cx="302919" cy="386295"/>
            <a:chOff x="0" y="0"/>
            <a:chExt cx="302919" cy="386295"/>
          </a:xfrm>
        </p:grpSpPr>
        <p:pic>
          <p:nvPicPr>
            <p:cNvPr id="1442" name="picture 1442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0" y="0"/>
              <a:ext cx="302919" cy="386295"/>
            </a:xfrm>
            <a:prstGeom prst="rect">
              <a:avLst/>
            </a:prstGeom>
          </p:spPr>
        </p:pic>
        <p:sp>
          <p:nvSpPr>
            <p:cNvPr id="1444" name="textbox 1444"/>
            <p:cNvSpPr/>
            <p:nvPr/>
          </p:nvSpPr>
          <p:spPr>
            <a:xfrm>
              <a:off x="-12700" y="-12700"/>
              <a:ext cx="328929" cy="4679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95885" algn="l" rtl="0" eaLnBrk="0">
                <a:lnSpc>
                  <a:spcPct val="78000"/>
                </a:lnSpc>
                <a:spcBef>
                  <a:spcPts val="5"/>
                </a:spcBef>
                <a:tabLst/>
              </a:pPr>
              <a:r>
                <a:rPr sz="2300" kern="0" spc="-2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3</a:t>
              </a:r>
              <a:endParaRPr sz="23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1446" name="textbox 1446"/>
          <p:cNvSpPr/>
          <p:nvPr/>
        </p:nvSpPr>
        <p:spPr>
          <a:xfrm>
            <a:off x="9151542" y="3583877"/>
            <a:ext cx="837564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平台化模块化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48" name="textbox 1448"/>
          <p:cNvSpPr/>
          <p:nvPr/>
        </p:nvSpPr>
        <p:spPr>
          <a:xfrm>
            <a:off x="2208592" y="3150528"/>
            <a:ext cx="701675" cy="173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000" b="1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平台化企划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50" name="textbox 1450"/>
          <p:cNvSpPr/>
          <p:nvPr/>
        </p:nvSpPr>
        <p:spPr>
          <a:xfrm>
            <a:off x="10712932" y="4421185"/>
            <a:ext cx="607059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C2M选配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52" name="picture 145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2515120" y="3716909"/>
            <a:ext cx="127000" cy="127000"/>
          </a:xfrm>
          <a:prstGeom prst="rect">
            <a:avLst/>
          </a:prstGeom>
        </p:spPr>
      </p:pic>
      <p:pic>
        <p:nvPicPr>
          <p:cNvPr id="1454" name="picture 145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2569095" y="3377615"/>
            <a:ext cx="1905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textbox 1456"/>
          <p:cNvSpPr/>
          <p:nvPr/>
        </p:nvSpPr>
        <p:spPr>
          <a:xfrm>
            <a:off x="418592" y="-12700"/>
            <a:ext cx="10923905" cy="1808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59105" algn="l" rtl="0" eaLnBrk="0">
              <a:lnSpc>
                <a:spcPct val="93000"/>
              </a:lnSpc>
              <a:spcBef>
                <a:spcPts val="3"/>
              </a:spcBef>
              <a:tabLst>
                <a:tab pos="576580" algn="l"/>
              </a:tabLst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产品数字化企划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098"/>
              </a:lnSpc>
              <a:spcBef>
                <a:spcPts val="698"/>
              </a:spcBef>
              <a:tabLst/>
            </a:pP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产品数字化企划的总体方案（以家用和生活的系统解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决方案进行推广和升级）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527684" algn="l" rtl="0" eaLnBrk="0">
              <a:lnSpc>
                <a:spcPct val="93000"/>
              </a:lnSpc>
              <a:spcBef>
                <a:spcPts val="5"/>
              </a:spcBef>
              <a:tabLst/>
            </a:pPr>
            <a:r>
              <a:rPr sz="1700" b="1" kern="0" spc="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拉通需求收集、分析、转化、</a:t>
            </a:r>
            <a:r>
              <a:rPr sz="1700" b="1" kern="0" spc="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评审流程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98" name="group 98"/>
          <p:cNvGrpSpPr/>
          <p:nvPr/>
        </p:nvGrpSpPr>
        <p:grpSpPr>
          <a:xfrm rot="21600000">
            <a:off x="431292" y="0"/>
            <a:ext cx="446531" cy="755903"/>
            <a:chOff x="0" y="0"/>
            <a:chExt cx="446531" cy="755903"/>
          </a:xfrm>
        </p:grpSpPr>
        <p:sp>
          <p:nvSpPr>
            <p:cNvPr id="1458" name="path 1458"/>
            <p:cNvSpPr/>
            <p:nvPr/>
          </p:nvSpPr>
          <p:spPr>
            <a:xfrm>
              <a:off x="0" y="0"/>
              <a:ext cx="216408" cy="755903"/>
            </a:xfrm>
            <a:custGeom>
              <a:avLst/>
              <a:gdLst/>
              <a:ahLst/>
              <a:cxnLst/>
              <a:rect l="0" t="0" r="0" b="0"/>
              <a:pathLst>
                <a:path w="340" h="1190">
                  <a:moveTo>
                    <a:pt x="0" y="0"/>
                  </a:moveTo>
                  <a:lnTo>
                    <a:pt x="340" y="0"/>
                  </a:lnTo>
                  <a:lnTo>
                    <a:pt x="340" y="1190"/>
                  </a:lnTo>
                  <a:lnTo>
                    <a:pt x="0" y="1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60" name="path 1460"/>
            <p:cNvSpPr/>
            <p:nvPr/>
          </p:nvSpPr>
          <p:spPr>
            <a:xfrm>
              <a:off x="231647" y="147828"/>
              <a:ext cx="214884" cy="605027"/>
            </a:xfrm>
            <a:custGeom>
              <a:avLst/>
              <a:gdLst/>
              <a:ahLst/>
              <a:cxnLst/>
              <a:rect l="0" t="0" r="0" b="0"/>
              <a:pathLst>
                <a:path w="338" h="952">
                  <a:moveTo>
                    <a:pt x="0" y="0"/>
                  </a:moveTo>
                  <a:lnTo>
                    <a:pt x="338" y="0"/>
                  </a:lnTo>
                  <a:lnTo>
                    <a:pt x="338" y="952"/>
                  </a:lnTo>
                  <a:lnTo>
                    <a:pt x="0" y="9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8DE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1462" name="picture 14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121581" y="3938015"/>
            <a:ext cx="5700916" cy="2347518"/>
          </a:xfrm>
          <a:prstGeom prst="rect">
            <a:avLst/>
          </a:prstGeom>
        </p:spPr>
      </p:pic>
      <p:pic>
        <p:nvPicPr>
          <p:cNvPr id="1464" name="picture 14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498848" y="3051047"/>
            <a:ext cx="662940" cy="318515"/>
          </a:xfrm>
          <a:prstGeom prst="rect">
            <a:avLst/>
          </a:prstGeom>
        </p:spPr>
      </p:pic>
      <p:grpSp>
        <p:nvGrpSpPr>
          <p:cNvPr id="100" name="group 100"/>
          <p:cNvGrpSpPr/>
          <p:nvPr/>
        </p:nvGrpSpPr>
        <p:grpSpPr>
          <a:xfrm rot="21600000">
            <a:off x="8435276" y="2910738"/>
            <a:ext cx="1206347" cy="2522905"/>
            <a:chOff x="0" y="0"/>
            <a:chExt cx="1206347" cy="2522905"/>
          </a:xfrm>
        </p:grpSpPr>
        <p:pic>
          <p:nvPicPr>
            <p:cNvPr id="1466" name="picture 146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206347" cy="2522905"/>
            </a:xfrm>
            <a:prstGeom prst="rect">
              <a:avLst/>
            </a:prstGeom>
          </p:spPr>
        </p:pic>
        <p:sp>
          <p:nvSpPr>
            <p:cNvPr id="1468" name="textbox 1468"/>
            <p:cNvSpPr/>
            <p:nvPr/>
          </p:nvSpPr>
          <p:spPr>
            <a:xfrm>
              <a:off x="-12700" y="-12700"/>
              <a:ext cx="1231900" cy="25749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36854" algn="l" rtl="0" eaLnBrk="0">
                <a:lnSpc>
                  <a:spcPct val="91000"/>
                </a:lnSpc>
                <a:spcBef>
                  <a:spcPts val="5"/>
                </a:spcBef>
                <a:tabLst/>
              </a:pP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概念库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02" name="group 102"/>
          <p:cNvGrpSpPr/>
          <p:nvPr/>
        </p:nvGrpSpPr>
        <p:grpSpPr>
          <a:xfrm rot="21600000">
            <a:off x="348995" y="2048090"/>
            <a:ext cx="2336291" cy="3951566"/>
            <a:chOff x="0" y="0"/>
            <a:chExt cx="2336291" cy="3951566"/>
          </a:xfrm>
        </p:grpSpPr>
        <p:sp>
          <p:nvSpPr>
            <p:cNvPr id="1470" name="rect 1470"/>
            <p:cNvSpPr/>
            <p:nvPr/>
          </p:nvSpPr>
          <p:spPr>
            <a:xfrm>
              <a:off x="0" y="0"/>
              <a:ext cx="2336291" cy="3808806"/>
            </a:xfrm>
            <a:prstGeom prst="rect">
              <a:avLst/>
            </a:prstGeom>
            <a:solidFill>
              <a:srgbClr val="00B0F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472" name="picture 147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38010" y="515036"/>
              <a:ext cx="2111565" cy="1959584"/>
            </a:xfrm>
            <a:prstGeom prst="rect">
              <a:avLst/>
            </a:prstGeom>
          </p:spPr>
        </p:pic>
        <p:sp>
          <p:nvSpPr>
            <p:cNvPr id="1474" name="rect 1474"/>
            <p:cNvSpPr/>
            <p:nvPr/>
          </p:nvSpPr>
          <p:spPr>
            <a:xfrm>
              <a:off x="149352" y="2455329"/>
              <a:ext cx="2103119" cy="1487423"/>
            </a:xfrm>
            <a:prstGeom prst="rect">
              <a:avLst/>
            </a:prstGeom>
            <a:solidFill>
              <a:srgbClr val="FFC000">
                <a:alpha val="98039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476" name="picture 147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39852" y="2445867"/>
              <a:ext cx="2121598" cy="1505699"/>
            </a:xfrm>
            <a:prstGeom prst="rect">
              <a:avLst/>
            </a:prstGeom>
          </p:spPr>
        </p:pic>
        <p:sp>
          <p:nvSpPr>
            <p:cNvPr id="1478" name="textbox 1478"/>
            <p:cNvSpPr/>
            <p:nvPr/>
          </p:nvSpPr>
          <p:spPr>
            <a:xfrm>
              <a:off x="263613" y="167538"/>
              <a:ext cx="1860550" cy="34734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51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72440" algn="l" rtl="0" eaLnBrk="0">
                <a:lnSpc>
                  <a:spcPct val="93000"/>
                </a:lnSpc>
                <a:tabLst/>
              </a:pP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需求收集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4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1115" algn="l" rtl="0" eaLnBrk="0">
                <a:lnSpc>
                  <a:spcPct val="95000"/>
                </a:lnSpc>
                <a:spcBef>
                  <a:spcPts val="431"/>
                </a:spcBef>
                <a:tabLst/>
              </a:pPr>
              <a:r>
                <a:rPr sz="1400" b="1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用户需求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40005" algn="l" rtl="0" eaLnBrk="0">
                <a:lnSpc>
                  <a:spcPts val="1605"/>
                </a:lnSpc>
                <a:spcBef>
                  <a:spcPts val="83"/>
                </a:spcBef>
                <a:tabLst/>
              </a:pPr>
              <a:r>
                <a:rPr sz="1300" kern="0" spc="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300" kern="0" spc="-70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3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用户研究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  <a:p>
              <a:pPr marL="40005" algn="l" rtl="0" eaLnBrk="0">
                <a:lnSpc>
                  <a:spcPct val="93000"/>
                </a:lnSpc>
                <a:spcBef>
                  <a:spcPts val="4"/>
                </a:spcBef>
                <a:tabLst/>
              </a:pPr>
              <a:r>
                <a:rPr sz="1300" kern="0" spc="2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300" kern="0" spc="-74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3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客服、售后收集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  <a:p>
              <a:pPr marL="232409" indent="-192404" algn="l" rtl="0" eaLnBrk="0">
                <a:lnSpc>
                  <a:spcPct val="107000"/>
                </a:lnSpc>
                <a:spcBef>
                  <a:spcPts val="22"/>
                </a:spcBef>
                <a:tabLst/>
              </a:pPr>
              <a:r>
                <a:rPr sz="1300" kern="0" spc="2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300" kern="0" spc="-71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3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用户反馈(电商、微信</a:t>
              </a:r>
              <a:r>
                <a:rPr sz="13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3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、微博等)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  <a:p>
              <a:pPr marL="40005" algn="l" rtl="0" eaLnBrk="0">
                <a:lnSpc>
                  <a:spcPts val="1605"/>
                </a:lnSpc>
                <a:tabLst/>
              </a:pPr>
              <a:r>
                <a:rPr sz="1300" kern="0" spc="1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300" kern="0" spc="-75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3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终端反馈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  <a:p>
              <a:pPr marL="40005" algn="l" rtl="0" eaLnBrk="0">
                <a:lnSpc>
                  <a:spcPts val="1605"/>
                </a:lnSpc>
                <a:tabLst/>
              </a:pPr>
              <a:r>
                <a:rPr sz="1300" kern="0" spc="1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300" kern="0" spc="-75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3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研发需求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  <a:p>
              <a:pPr marL="40005" algn="l" rtl="0" eaLnBrk="0">
                <a:lnSpc>
                  <a:spcPts val="1622"/>
                </a:lnSpc>
                <a:tabLst/>
              </a:pPr>
              <a:r>
                <a:rPr sz="1300" kern="0" spc="-1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300" kern="0" spc="25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3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品质反馈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3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5000"/>
                </a:lnSpc>
                <a:spcBef>
                  <a:spcPts val="430"/>
                </a:spcBef>
                <a:tabLst/>
              </a:pPr>
              <a:r>
                <a:rPr sz="1400" b="1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市场需求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19684" algn="l" rtl="0" eaLnBrk="0">
                <a:lnSpc>
                  <a:spcPct val="93000"/>
                </a:lnSpc>
                <a:spcBef>
                  <a:spcPts val="87"/>
                </a:spcBef>
                <a:tabLst/>
              </a:pPr>
              <a:r>
                <a:rPr sz="1300" kern="0" spc="2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300" kern="0" spc="-70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3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市场分析、竞争分析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  <a:p>
              <a:pPr marL="19684" algn="l" rtl="0" eaLnBrk="0">
                <a:lnSpc>
                  <a:spcPts val="1700"/>
                </a:lnSpc>
                <a:tabLst/>
              </a:pPr>
              <a:r>
                <a:rPr sz="1300" kern="0" spc="2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300" kern="0" spc="-72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3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客户需求(苏宁、海外)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  <a:p>
              <a:pPr marL="19684" algn="l" rtl="0" eaLnBrk="0">
                <a:lnSpc>
                  <a:spcPts val="1604"/>
                </a:lnSpc>
                <a:spcBef>
                  <a:spcPts val="54"/>
                </a:spcBef>
                <a:tabLst/>
              </a:pPr>
              <a:r>
                <a:rPr sz="1300" kern="0" spc="1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300" kern="0" spc="-75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3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公司战略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  <a:p>
              <a:pPr marL="19684" algn="l" rtl="0" eaLnBrk="0">
                <a:lnSpc>
                  <a:spcPts val="1623"/>
                </a:lnSpc>
                <a:tabLst/>
              </a:pPr>
              <a:r>
                <a:rPr sz="1300" kern="0" spc="1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300" kern="0" spc="-66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3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国家政策和标准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1480" name="picture 14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056119" y="3124200"/>
            <a:ext cx="847343" cy="402335"/>
          </a:xfrm>
          <a:prstGeom prst="rect">
            <a:avLst/>
          </a:prstGeom>
        </p:spPr>
      </p:pic>
      <p:graphicFrame>
        <p:nvGraphicFramePr>
          <p:cNvPr id="1482" name="table 1482"/>
          <p:cNvGraphicFramePr>
            <a:graphicFrameLocks noGrp="1"/>
          </p:cNvGraphicFramePr>
          <p:nvPr/>
        </p:nvGraphicFramePr>
        <p:xfrm>
          <a:off x="7052615" y="3119958"/>
          <a:ext cx="854709" cy="410845"/>
        </p:xfrm>
        <a:graphic>
          <a:graphicData uri="http://schemas.openxmlformats.org/drawingml/2006/table">
            <a:tbl>
              <a:tblPr/>
              <a:tblGrid>
                <a:gridCol w="854709"/>
              </a:tblGrid>
              <a:tr h="4044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257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排序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04" name="group 104"/>
          <p:cNvGrpSpPr/>
          <p:nvPr/>
        </p:nvGrpSpPr>
        <p:grpSpPr>
          <a:xfrm rot="21600000">
            <a:off x="5437771" y="2820670"/>
            <a:ext cx="1208392" cy="2575712"/>
            <a:chOff x="0" y="0"/>
            <a:chExt cx="1208392" cy="2575712"/>
          </a:xfrm>
        </p:grpSpPr>
        <p:pic>
          <p:nvPicPr>
            <p:cNvPr id="1484" name="picture 148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1208392" cy="2575712"/>
            </a:xfrm>
            <a:prstGeom prst="rect">
              <a:avLst/>
            </a:prstGeom>
          </p:spPr>
        </p:pic>
        <p:sp>
          <p:nvSpPr>
            <p:cNvPr id="1486" name="textbox 1486"/>
            <p:cNvSpPr/>
            <p:nvPr/>
          </p:nvSpPr>
          <p:spPr>
            <a:xfrm>
              <a:off x="-12700" y="-12700"/>
              <a:ext cx="1233805" cy="26282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63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91490" indent="-379095" algn="l" rtl="0" eaLnBrk="0">
                <a:lnSpc>
                  <a:spcPct val="95000"/>
                </a:lnSpc>
                <a:tabLst/>
              </a:pP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有效需求  库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1488" name="picture 148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274948" y="2909366"/>
            <a:ext cx="665022" cy="2494915"/>
          </a:xfrm>
          <a:prstGeom prst="rect">
            <a:avLst/>
          </a:prstGeom>
        </p:spPr>
      </p:pic>
      <p:pic>
        <p:nvPicPr>
          <p:cNvPr id="1490" name="picture 149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684009" y="3249269"/>
            <a:ext cx="372415" cy="152400"/>
          </a:xfrm>
          <a:prstGeom prst="rect">
            <a:avLst/>
          </a:prstGeom>
        </p:spPr>
      </p:pic>
      <p:graphicFrame>
        <p:nvGraphicFramePr>
          <p:cNvPr id="1492" name="table 1492"/>
          <p:cNvGraphicFramePr>
            <a:graphicFrameLocks noGrp="1"/>
          </p:cNvGraphicFramePr>
          <p:nvPr/>
        </p:nvGraphicFramePr>
        <p:xfrm>
          <a:off x="4494758" y="3047898"/>
          <a:ext cx="670559" cy="325120"/>
        </p:xfrm>
        <a:graphic>
          <a:graphicData uri="http://schemas.openxmlformats.org/drawingml/2006/table">
            <a:tbl>
              <a:tblPr/>
              <a:tblGrid>
                <a:gridCol w="670559"/>
              </a:tblGrid>
              <a:tr h="3187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049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494" name="picture 149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3935234" y="3144405"/>
            <a:ext cx="563334" cy="152298"/>
          </a:xfrm>
          <a:prstGeom prst="rect">
            <a:avLst/>
          </a:prstGeom>
        </p:spPr>
      </p:pic>
      <p:pic>
        <p:nvPicPr>
          <p:cNvPr id="1496" name="picture 149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965435" y="3212591"/>
            <a:ext cx="1100328" cy="464820"/>
          </a:xfrm>
          <a:prstGeom prst="rect">
            <a:avLst/>
          </a:prstGeom>
        </p:spPr>
      </p:pic>
      <p:graphicFrame>
        <p:nvGraphicFramePr>
          <p:cNvPr id="1498" name="table 1498"/>
          <p:cNvGraphicFramePr>
            <a:graphicFrameLocks noGrp="1"/>
          </p:cNvGraphicFramePr>
          <p:nvPr/>
        </p:nvGraphicFramePr>
        <p:xfrm>
          <a:off x="9961498" y="3208312"/>
          <a:ext cx="1107440" cy="473075"/>
        </p:xfrm>
        <a:graphic>
          <a:graphicData uri="http://schemas.openxmlformats.org/drawingml/2006/table">
            <a:tbl>
              <a:tblPr/>
              <a:tblGrid>
                <a:gridCol w="1107440"/>
              </a:tblGrid>
              <a:tr h="466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5265" indent="1270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3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用户验证</a:t>
                      </a:r>
                      <a:r>
                        <a:rPr sz="13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13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技术验证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500" name="picture 150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2638310" y="2260320"/>
            <a:ext cx="9100616" cy="1099908"/>
          </a:xfrm>
          <a:prstGeom prst="rect">
            <a:avLst/>
          </a:prstGeom>
        </p:spPr>
      </p:pic>
      <p:grpSp>
        <p:nvGrpSpPr>
          <p:cNvPr id="106" name="group 106"/>
          <p:cNvGrpSpPr/>
          <p:nvPr/>
        </p:nvGrpSpPr>
        <p:grpSpPr>
          <a:xfrm rot="21600000">
            <a:off x="3685984" y="6279171"/>
            <a:ext cx="8059432" cy="361912"/>
            <a:chOff x="0" y="0"/>
            <a:chExt cx="8059432" cy="361912"/>
          </a:xfrm>
        </p:grpSpPr>
        <p:pic>
          <p:nvPicPr>
            <p:cNvPr id="1502" name="picture 150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0" y="0"/>
              <a:ext cx="8059432" cy="361912"/>
            </a:xfrm>
            <a:prstGeom prst="rect">
              <a:avLst/>
            </a:prstGeom>
          </p:spPr>
        </p:pic>
        <p:sp>
          <p:nvSpPr>
            <p:cNvPr id="1504" name="textbox 1504"/>
            <p:cNvSpPr/>
            <p:nvPr/>
          </p:nvSpPr>
          <p:spPr>
            <a:xfrm>
              <a:off x="-12700" y="-12700"/>
              <a:ext cx="8085455" cy="409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581150" algn="l" rtl="0" eaLnBrk="0">
                <a:lnSpc>
                  <a:spcPct val="93000"/>
                </a:lnSpc>
                <a:spcBef>
                  <a:spcPts val="6"/>
                </a:spcBef>
                <a:tabLst/>
              </a:pP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需求分析</a:t>
              </a:r>
              <a:r>
                <a:rPr sz="17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需求转化                     </a:t>
              </a:r>
              <a:r>
                <a:rPr sz="1700" kern="0" spc="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需求评审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1506" name="picture 150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7474013" y="4663071"/>
            <a:ext cx="3041332" cy="949540"/>
          </a:xfrm>
          <a:prstGeom prst="rect">
            <a:avLst/>
          </a:prstGeom>
        </p:spPr>
      </p:pic>
      <p:grpSp>
        <p:nvGrpSpPr>
          <p:cNvPr id="108" name="group 108"/>
          <p:cNvGrpSpPr/>
          <p:nvPr/>
        </p:nvGrpSpPr>
        <p:grpSpPr>
          <a:xfrm rot="21600000">
            <a:off x="483158" y="6279171"/>
            <a:ext cx="3811638" cy="361912"/>
            <a:chOff x="0" y="0"/>
            <a:chExt cx="3811638" cy="361912"/>
          </a:xfrm>
        </p:grpSpPr>
        <p:pic>
          <p:nvPicPr>
            <p:cNvPr id="1508" name="picture 1508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3811638" cy="361912"/>
            </a:xfrm>
            <a:prstGeom prst="rect">
              <a:avLst/>
            </a:prstGeom>
          </p:spPr>
        </p:pic>
        <p:sp>
          <p:nvSpPr>
            <p:cNvPr id="1510" name="textbox 1510"/>
            <p:cNvSpPr/>
            <p:nvPr/>
          </p:nvSpPr>
          <p:spPr>
            <a:xfrm>
              <a:off x="-12700" y="-12700"/>
              <a:ext cx="3837304" cy="4108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435100" algn="l" rtl="0" eaLnBrk="0">
                <a:lnSpc>
                  <a:spcPct val="93000"/>
                </a:lnSpc>
                <a:spcBef>
                  <a:spcPts val="5"/>
                </a:spcBef>
                <a:tabLst/>
              </a:pP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需求收集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512" name="textbox 1512"/>
          <p:cNvSpPr/>
          <p:nvPr/>
        </p:nvSpPr>
        <p:spPr>
          <a:xfrm>
            <a:off x="4247316" y="1963336"/>
            <a:ext cx="5310504" cy="276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实现需求从产品开发过程在需求管理的各个节点的跟踪</a:t>
            </a:r>
            <a:endParaRPr sz="1700" dirty="0">
              <a:latin typeface="FangSong"/>
              <a:ea typeface="FangSong"/>
              <a:cs typeface="FangSong"/>
            </a:endParaRPr>
          </a:p>
        </p:txBody>
      </p:sp>
      <p:grpSp>
        <p:nvGrpSpPr>
          <p:cNvPr id="110" name="group 110"/>
          <p:cNvGrpSpPr/>
          <p:nvPr/>
        </p:nvGrpSpPr>
        <p:grpSpPr>
          <a:xfrm rot="21600000">
            <a:off x="7069835" y="4107929"/>
            <a:ext cx="1365466" cy="558952"/>
            <a:chOff x="0" y="0"/>
            <a:chExt cx="1365466" cy="558952"/>
          </a:xfrm>
        </p:grpSpPr>
        <p:pic>
          <p:nvPicPr>
            <p:cNvPr id="1514" name="picture 1514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0" y="0"/>
              <a:ext cx="1365466" cy="558952"/>
            </a:xfrm>
            <a:prstGeom prst="rect">
              <a:avLst/>
            </a:prstGeom>
          </p:spPr>
        </p:pic>
        <p:sp>
          <p:nvSpPr>
            <p:cNvPr id="1516" name="textbox 1516"/>
            <p:cNvSpPr/>
            <p:nvPr/>
          </p:nvSpPr>
          <p:spPr>
            <a:xfrm>
              <a:off x="-12700" y="-12700"/>
              <a:ext cx="1391285" cy="5848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51129" algn="l" rtl="0" eaLnBrk="0">
                <a:lnSpc>
                  <a:spcPct val="86000"/>
                </a:lnSpc>
                <a:spcBef>
                  <a:spcPts val="5"/>
                </a:spcBef>
                <a:tabLst/>
              </a:pP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转化或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153035" algn="l" rtl="0" eaLnBrk="0">
                <a:lnSpc>
                  <a:spcPts val="1768"/>
                </a:lnSpc>
                <a:tabLst/>
              </a:pP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再分类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518" name="textbox 1518"/>
          <p:cNvSpPr/>
          <p:nvPr/>
        </p:nvSpPr>
        <p:spPr>
          <a:xfrm>
            <a:off x="7534357" y="5603278"/>
            <a:ext cx="2813050" cy="230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7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明确需求解决方案走</a:t>
            </a:r>
            <a:r>
              <a:rPr sz="14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简单企划流程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12" name="group 112"/>
          <p:cNvGrpSpPr/>
          <p:nvPr/>
        </p:nvGrpSpPr>
        <p:grpSpPr>
          <a:xfrm rot="21600000">
            <a:off x="11065395" y="4067327"/>
            <a:ext cx="968526" cy="529500"/>
            <a:chOff x="0" y="0"/>
            <a:chExt cx="968526" cy="529500"/>
          </a:xfrm>
        </p:grpSpPr>
        <p:pic>
          <p:nvPicPr>
            <p:cNvPr id="1520" name="picture 1520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0" y="0"/>
              <a:ext cx="968526" cy="529500"/>
            </a:xfrm>
            <a:prstGeom prst="rect">
              <a:avLst/>
            </a:prstGeom>
          </p:spPr>
        </p:pic>
        <p:sp>
          <p:nvSpPr>
            <p:cNvPr id="1522" name="textbox 1522"/>
            <p:cNvSpPr/>
            <p:nvPr/>
          </p:nvSpPr>
          <p:spPr>
            <a:xfrm>
              <a:off x="-12700" y="-12700"/>
              <a:ext cx="994410" cy="5721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474980" algn="l" rtl="0" eaLnBrk="0">
                <a:lnSpc>
                  <a:spcPct val="98000"/>
                </a:lnSpc>
                <a:spcBef>
                  <a:spcPts val="5"/>
                </a:spcBef>
                <a:tabLst/>
              </a:pPr>
              <a:r>
                <a:rPr sz="1300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产品</a:t>
              </a: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</a:t>
              </a:r>
              <a:r>
                <a:rPr sz="1300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规划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aphicFrame>
        <p:nvGraphicFramePr>
          <p:cNvPr id="1524" name="table 1524"/>
          <p:cNvGraphicFramePr>
            <a:graphicFrameLocks noGrp="1"/>
          </p:cNvGraphicFramePr>
          <p:nvPr/>
        </p:nvGraphicFramePr>
        <p:xfrm>
          <a:off x="9961498" y="4205541"/>
          <a:ext cx="1107440" cy="410845"/>
        </p:xfrm>
        <a:graphic>
          <a:graphicData uri="http://schemas.openxmlformats.org/drawingml/2006/table">
            <a:tbl>
              <a:tblPr/>
              <a:tblGrid>
                <a:gridCol w="1107440"/>
              </a:tblGrid>
              <a:tr h="4044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526" name="picture 152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9965435" y="4209288"/>
            <a:ext cx="1100328" cy="403860"/>
          </a:xfrm>
          <a:prstGeom prst="rect">
            <a:avLst/>
          </a:prstGeom>
        </p:spPr>
      </p:pic>
      <p:sp>
        <p:nvSpPr>
          <p:cNvPr id="1528" name="textbox 1528"/>
          <p:cNvSpPr/>
          <p:nvPr/>
        </p:nvSpPr>
        <p:spPr>
          <a:xfrm>
            <a:off x="3413945" y="3283175"/>
            <a:ext cx="305434" cy="1483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76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2000" b="1" kern="0" spc="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原始需求库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530" name="table 1530"/>
          <p:cNvGraphicFramePr>
            <a:graphicFrameLocks noGrp="1"/>
          </p:cNvGraphicFramePr>
          <p:nvPr/>
        </p:nvGraphicFramePr>
        <p:xfrm>
          <a:off x="11383365" y="3379571"/>
          <a:ext cx="674369" cy="521335"/>
        </p:xfrm>
        <a:graphic>
          <a:graphicData uri="http://schemas.openxmlformats.org/drawingml/2006/table">
            <a:tbl>
              <a:tblPr>
                <a:solidFill>
                  <a:srgbClr val="4472C4"/>
                </a:solidFill>
              </a:tblPr>
              <a:tblGrid>
                <a:gridCol w="674369"/>
              </a:tblGrid>
              <a:tr h="5022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8910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3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70179" algn="l" rtl="0" eaLnBrk="0">
                        <a:lnSpc>
                          <a:spcPts val="1609"/>
                        </a:lnSpc>
                        <a:tabLst/>
                      </a:pPr>
                      <a:r>
                        <a:rPr sz="13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</a:tbl>
          </a:graphicData>
        </a:graphic>
      </p:graphicFrame>
      <p:sp>
        <p:nvSpPr>
          <p:cNvPr id="1532" name="textbox 1532"/>
          <p:cNvSpPr/>
          <p:nvPr/>
        </p:nvSpPr>
        <p:spPr>
          <a:xfrm>
            <a:off x="11369040" y="4747259"/>
            <a:ext cx="655319" cy="511175"/>
          </a:xfrm>
          <a:prstGeom prst="rect">
            <a:avLst/>
          </a:prstGeom>
          <a:solidFill>
            <a:srgbClr val="4472C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58750" algn="l" rtl="0" eaLnBrk="0">
              <a:lnSpc>
                <a:spcPct val="85000"/>
              </a:lnSpc>
              <a:spcBef>
                <a:spcPts val="3"/>
              </a:spcBef>
              <a:tabLst/>
            </a:pPr>
            <a:r>
              <a:rPr sz="13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159385" algn="l" rtl="0" eaLnBrk="0">
              <a:lnSpc>
                <a:spcPts val="1602"/>
              </a:lnSpc>
              <a:tabLst/>
            </a:pPr>
            <a:r>
              <a:rPr sz="13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规划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34" name="textbox 1534"/>
          <p:cNvSpPr/>
          <p:nvPr/>
        </p:nvSpPr>
        <p:spPr>
          <a:xfrm>
            <a:off x="6546596" y="2411984"/>
            <a:ext cx="1557655" cy="224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4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500" kern="0" spc="-190" dirty="0">
                <a:solidFill>
                  <a:srgbClr val="A4A4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整理制作郎丰利151</a:t>
            </a:r>
            <a:r>
              <a:rPr sz="1500" kern="0" spc="-80" dirty="0">
                <a:solidFill>
                  <a:srgbClr val="A4A4A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9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36" name="textbox 1536"/>
          <p:cNvSpPr/>
          <p:nvPr/>
        </p:nvSpPr>
        <p:spPr>
          <a:xfrm>
            <a:off x="10318826" y="3665296"/>
            <a:ext cx="396875" cy="828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0014" algn="l" rtl="0" eaLnBrk="0">
              <a:lnSpc>
                <a:spcPct val="85000"/>
              </a:lnSpc>
              <a:tabLst/>
            </a:pPr>
            <a:r>
              <a:rPr sz="4100" kern="0" spc="50" dirty="0">
                <a:solidFill>
                  <a:srgbClr val="00B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!</a:t>
            </a:r>
            <a:endParaRPr sz="4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400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评审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38" name="rect 1538"/>
          <p:cNvSpPr/>
          <p:nvPr/>
        </p:nvSpPr>
        <p:spPr>
          <a:xfrm>
            <a:off x="2685287" y="3518915"/>
            <a:ext cx="493776" cy="544067"/>
          </a:xfrm>
          <a:prstGeom prst="rect">
            <a:avLst/>
          </a:pr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40" name="picture 154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4760074" y="3499256"/>
            <a:ext cx="152387" cy="357238"/>
          </a:xfrm>
          <a:prstGeom prst="rect">
            <a:avLst/>
          </a:prstGeom>
        </p:spPr>
      </p:pic>
      <p:pic>
        <p:nvPicPr>
          <p:cNvPr id="1542" name="picture 154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4506467" y="3857244"/>
            <a:ext cx="662940" cy="316991"/>
          </a:xfrm>
          <a:prstGeom prst="rect">
            <a:avLst/>
          </a:prstGeom>
        </p:spPr>
      </p:pic>
      <p:graphicFrame>
        <p:nvGraphicFramePr>
          <p:cNvPr id="1544" name="table 1544"/>
          <p:cNvGraphicFramePr>
            <a:graphicFrameLocks noGrp="1"/>
          </p:cNvGraphicFramePr>
          <p:nvPr/>
        </p:nvGraphicFramePr>
        <p:xfrm>
          <a:off x="4502467" y="3852684"/>
          <a:ext cx="670559" cy="325120"/>
        </p:xfrm>
        <a:graphic>
          <a:graphicData uri="http://schemas.openxmlformats.org/drawingml/2006/table">
            <a:tbl>
              <a:tblPr/>
              <a:tblGrid>
                <a:gridCol w="670559"/>
              </a:tblGrid>
              <a:tr h="3187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1764" algn="l" rtl="0" eaLnBrk="0">
                        <a:lnSpc>
                          <a:spcPct val="9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过滤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546" name="picture 15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517135" y="4642104"/>
            <a:ext cx="662940" cy="318516"/>
          </a:xfrm>
          <a:prstGeom prst="rect">
            <a:avLst/>
          </a:prstGeom>
        </p:spPr>
      </p:pic>
      <p:graphicFrame>
        <p:nvGraphicFramePr>
          <p:cNvPr id="1548" name="table 1548"/>
          <p:cNvGraphicFramePr>
            <a:graphicFrameLocks noGrp="1"/>
          </p:cNvGraphicFramePr>
          <p:nvPr/>
        </p:nvGraphicFramePr>
        <p:xfrm>
          <a:off x="4513783" y="4638141"/>
          <a:ext cx="670559" cy="325120"/>
        </p:xfrm>
        <a:graphic>
          <a:graphicData uri="http://schemas.openxmlformats.org/drawingml/2006/table">
            <a:tbl>
              <a:tblPr/>
              <a:tblGrid>
                <a:gridCol w="670559"/>
              </a:tblGrid>
              <a:tr h="3187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9860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50" name="textbox 1550"/>
          <p:cNvSpPr/>
          <p:nvPr/>
        </p:nvSpPr>
        <p:spPr>
          <a:xfrm>
            <a:off x="10664409" y="2383230"/>
            <a:ext cx="875030" cy="212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跟踪、反馈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52" name="picture 155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10451846" y="4612754"/>
            <a:ext cx="127000" cy="922895"/>
          </a:xfrm>
          <a:prstGeom prst="rect">
            <a:avLst/>
          </a:prstGeom>
        </p:spPr>
      </p:pic>
      <p:pic>
        <p:nvPicPr>
          <p:cNvPr id="1554" name="picture 155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2638310" y="4080624"/>
            <a:ext cx="640435" cy="152400"/>
          </a:xfrm>
          <a:prstGeom prst="rect">
            <a:avLst/>
          </a:prstGeom>
        </p:spPr>
      </p:pic>
      <p:sp>
        <p:nvSpPr>
          <p:cNvPr id="1556" name="textbox 1556"/>
          <p:cNvSpPr/>
          <p:nvPr/>
        </p:nvSpPr>
        <p:spPr>
          <a:xfrm>
            <a:off x="7398308" y="3506368"/>
            <a:ext cx="177800" cy="618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26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4600" kern="0" spc="-20" dirty="0">
                <a:solidFill>
                  <a:srgbClr val="00B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!</a:t>
            </a:r>
            <a:endParaRPr sz="4600" dirty="0">
              <a:latin typeface="Arial"/>
              <a:ea typeface="Arial"/>
              <a:cs typeface="Arial"/>
            </a:endParaRPr>
          </a:p>
        </p:txBody>
      </p:sp>
      <p:pic>
        <p:nvPicPr>
          <p:cNvPr id="1558" name="picture 155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3512820" y="2316505"/>
            <a:ext cx="127000" cy="702513"/>
          </a:xfrm>
          <a:prstGeom prst="rect">
            <a:avLst/>
          </a:prstGeom>
        </p:spPr>
      </p:pic>
      <p:pic>
        <p:nvPicPr>
          <p:cNvPr id="1560" name="picture 156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9076194" y="2324468"/>
            <a:ext cx="127000" cy="702500"/>
          </a:xfrm>
          <a:prstGeom prst="rect">
            <a:avLst/>
          </a:prstGeom>
        </p:spPr>
      </p:pic>
      <p:pic>
        <p:nvPicPr>
          <p:cNvPr id="1562" name="picture 156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6040323" y="2324468"/>
            <a:ext cx="127000" cy="702500"/>
          </a:xfrm>
          <a:prstGeom prst="rect">
            <a:avLst/>
          </a:prstGeom>
        </p:spPr>
      </p:pic>
      <p:sp>
        <p:nvSpPr>
          <p:cNvPr id="1564" name="textbox 1564"/>
          <p:cNvSpPr/>
          <p:nvPr/>
        </p:nvSpPr>
        <p:spPr>
          <a:xfrm>
            <a:off x="2828194" y="3587172"/>
            <a:ext cx="210184" cy="440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400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录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入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66" name="picture 156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9637166" y="3364979"/>
            <a:ext cx="328141" cy="152349"/>
          </a:xfrm>
          <a:prstGeom prst="rect">
            <a:avLst/>
          </a:prstGeom>
        </p:spPr>
      </p:pic>
      <p:pic>
        <p:nvPicPr>
          <p:cNvPr id="1568" name="picture 156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4743780" y="4343095"/>
            <a:ext cx="152400" cy="315645"/>
          </a:xfrm>
          <a:prstGeom prst="rect">
            <a:avLst/>
          </a:prstGeom>
        </p:spPr>
      </p:pic>
      <p:pic>
        <p:nvPicPr>
          <p:cNvPr id="1570" name="picture 157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5178730" y="4731308"/>
            <a:ext cx="274167" cy="151968"/>
          </a:xfrm>
          <a:prstGeom prst="rect">
            <a:avLst/>
          </a:prstGeom>
        </p:spPr>
      </p:pic>
      <p:sp>
        <p:nvSpPr>
          <p:cNvPr id="1572" name="path 1572"/>
          <p:cNvSpPr/>
          <p:nvPr/>
        </p:nvSpPr>
        <p:spPr>
          <a:xfrm>
            <a:off x="9139427" y="2324100"/>
            <a:ext cx="0" cy="702564"/>
          </a:xfrm>
          <a:custGeom>
            <a:avLst/>
            <a:gdLst/>
            <a:ahLst/>
            <a:cxnLst/>
            <a:rect l="0" t="0" r="0" b="0"/>
            <a:pathLst>
              <a:path h="1106">
                <a:moveTo>
                  <a:pt x="0" y="0"/>
                </a:moveTo>
                <a:lnTo>
                  <a:pt x="0" y="1106"/>
                </a:lnTo>
              </a:path>
            </a:pathLst>
          </a:cu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74" name="path 1574"/>
          <p:cNvSpPr/>
          <p:nvPr/>
        </p:nvSpPr>
        <p:spPr>
          <a:xfrm>
            <a:off x="3576828" y="2316479"/>
            <a:ext cx="0" cy="702564"/>
          </a:xfrm>
          <a:custGeom>
            <a:avLst/>
            <a:gdLst/>
            <a:ahLst/>
            <a:cxnLst/>
            <a:rect l="0" t="0" r="0" b="0"/>
            <a:pathLst>
              <a:path h="1106">
                <a:moveTo>
                  <a:pt x="0" y="0"/>
                </a:moveTo>
                <a:lnTo>
                  <a:pt x="0" y="1106"/>
                </a:lnTo>
              </a:path>
            </a:pathLst>
          </a:cu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76" name="path 1576"/>
          <p:cNvSpPr/>
          <p:nvPr/>
        </p:nvSpPr>
        <p:spPr>
          <a:xfrm>
            <a:off x="6103620" y="2324100"/>
            <a:ext cx="0" cy="702564"/>
          </a:xfrm>
          <a:custGeom>
            <a:avLst/>
            <a:gdLst/>
            <a:ahLst/>
            <a:cxnLst/>
            <a:rect l="0" t="0" r="0" b="0"/>
            <a:pathLst>
              <a:path h="1106">
                <a:moveTo>
                  <a:pt x="0" y="0"/>
                </a:moveTo>
                <a:lnTo>
                  <a:pt x="0" y="1106"/>
                </a:lnTo>
              </a:path>
            </a:pathLst>
          </a:cu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picture 15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462528" y="1557528"/>
            <a:ext cx="5321808" cy="5183123"/>
          </a:xfrm>
          <a:prstGeom prst="rect">
            <a:avLst/>
          </a:prstGeom>
        </p:spPr>
      </p:pic>
      <p:sp>
        <p:nvSpPr>
          <p:cNvPr id="1580" name="path 1580"/>
          <p:cNvSpPr/>
          <p:nvPr/>
        </p:nvSpPr>
        <p:spPr>
          <a:xfrm>
            <a:off x="5414708" y="2036546"/>
            <a:ext cx="1249819" cy="405066"/>
          </a:xfrm>
          <a:custGeom>
            <a:avLst/>
            <a:gdLst/>
            <a:ahLst/>
            <a:cxnLst/>
            <a:rect l="0" t="0" r="0" b="0"/>
            <a:pathLst>
              <a:path w="1968" h="637">
                <a:moveTo>
                  <a:pt x="180" y="210"/>
                </a:moveTo>
                <a:cubicBezTo>
                  <a:pt x="177" y="204"/>
                  <a:pt x="176" y="197"/>
                  <a:pt x="176" y="191"/>
                </a:cubicBezTo>
                <a:cubicBezTo>
                  <a:pt x="176" y="116"/>
                  <a:pt x="313" y="56"/>
                  <a:pt x="483" y="56"/>
                </a:cubicBezTo>
                <a:cubicBezTo>
                  <a:pt x="540" y="56"/>
                  <a:pt x="593" y="62"/>
                  <a:pt x="638" y="74"/>
                </a:cubicBezTo>
                <a:cubicBezTo>
                  <a:pt x="679" y="40"/>
                  <a:pt x="760" y="17"/>
                  <a:pt x="853" y="17"/>
                </a:cubicBezTo>
                <a:cubicBezTo>
                  <a:pt x="919" y="17"/>
                  <a:pt x="979" y="29"/>
                  <a:pt x="1023" y="48"/>
                </a:cubicBezTo>
                <a:cubicBezTo>
                  <a:pt x="1056" y="19"/>
                  <a:pt x="1123" y="0"/>
                  <a:pt x="1201" y="0"/>
                </a:cubicBezTo>
                <a:cubicBezTo>
                  <a:pt x="1265" y="0"/>
                  <a:pt x="1322" y="13"/>
                  <a:pt x="1359" y="34"/>
                </a:cubicBezTo>
                <a:cubicBezTo>
                  <a:pt x="1399" y="13"/>
                  <a:pt x="1460" y="0"/>
                  <a:pt x="1527" y="0"/>
                </a:cubicBezTo>
                <a:cubicBezTo>
                  <a:pt x="1636" y="0"/>
                  <a:pt x="1726" y="34"/>
                  <a:pt x="1745" y="80"/>
                </a:cubicBezTo>
                <a:cubicBezTo>
                  <a:pt x="1848" y="92"/>
                  <a:pt x="1924" y="134"/>
                  <a:pt x="1924" y="183"/>
                </a:cubicBezTo>
                <a:cubicBezTo>
                  <a:pt x="1924" y="198"/>
                  <a:pt x="1917" y="213"/>
                  <a:pt x="1904" y="226"/>
                </a:cubicBezTo>
                <a:cubicBezTo>
                  <a:pt x="1944" y="249"/>
                  <a:pt x="1968" y="277"/>
                  <a:pt x="1968" y="309"/>
                </a:cubicBezTo>
                <a:cubicBezTo>
                  <a:pt x="1968" y="377"/>
                  <a:pt x="1853" y="434"/>
                  <a:pt x="1703" y="443"/>
                </a:cubicBezTo>
                <a:cubicBezTo>
                  <a:pt x="1702" y="507"/>
                  <a:pt x="1585" y="558"/>
                  <a:pt x="1440" y="558"/>
                </a:cubicBezTo>
                <a:cubicBezTo>
                  <a:pt x="1389" y="558"/>
                  <a:pt x="1341" y="552"/>
                  <a:pt x="1301" y="541"/>
                </a:cubicBezTo>
                <a:cubicBezTo>
                  <a:pt x="1262" y="597"/>
                  <a:pt x="1145" y="637"/>
                  <a:pt x="1007" y="637"/>
                </a:cubicBezTo>
                <a:cubicBezTo>
                  <a:pt x="900" y="637"/>
                  <a:pt x="806" y="613"/>
                  <a:pt x="751" y="577"/>
                </a:cubicBezTo>
                <a:cubicBezTo>
                  <a:pt x="698" y="591"/>
                  <a:pt x="636" y="599"/>
                  <a:pt x="570" y="599"/>
                </a:cubicBezTo>
                <a:cubicBezTo>
                  <a:pt x="440" y="599"/>
                  <a:pt x="326" y="568"/>
                  <a:pt x="265" y="521"/>
                </a:cubicBezTo>
                <a:cubicBezTo>
                  <a:pt x="258" y="521"/>
                  <a:pt x="250" y="522"/>
                  <a:pt x="242" y="522"/>
                </a:cubicBezTo>
                <a:cubicBezTo>
                  <a:pt x="133" y="522"/>
                  <a:pt x="44" y="482"/>
                  <a:pt x="44" y="434"/>
                </a:cubicBezTo>
                <a:cubicBezTo>
                  <a:pt x="44" y="411"/>
                  <a:pt x="64" y="390"/>
                  <a:pt x="97" y="375"/>
                </a:cubicBezTo>
                <a:cubicBezTo>
                  <a:pt x="39" y="359"/>
                  <a:pt x="0" y="331"/>
                  <a:pt x="0" y="299"/>
                </a:cubicBezTo>
                <a:cubicBezTo>
                  <a:pt x="0" y="253"/>
                  <a:pt x="77" y="216"/>
                  <a:pt x="177" y="212"/>
                </a:cubicBezTo>
                <a:lnTo>
                  <a:pt x="180" y="210"/>
                </a:lnTo>
              </a:path>
            </a:pathLst>
          </a:cu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82" name="path 1582"/>
          <p:cNvSpPr/>
          <p:nvPr/>
        </p:nvSpPr>
        <p:spPr>
          <a:xfrm>
            <a:off x="5357532" y="2382570"/>
            <a:ext cx="179159" cy="97015"/>
          </a:xfrm>
          <a:custGeom>
            <a:avLst/>
            <a:gdLst/>
            <a:ahLst/>
            <a:cxnLst/>
            <a:rect l="0" t="0" r="0" b="0"/>
            <a:pathLst>
              <a:path w="282" h="152">
                <a:moveTo>
                  <a:pt x="70" y="116"/>
                </a:moveTo>
                <a:cubicBezTo>
                  <a:pt x="70" y="136"/>
                  <a:pt x="55" y="152"/>
                  <a:pt x="35" y="152"/>
                </a:cubicBezTo>
                <a:cubicBezTo>
                  <a:pt x="15" y="152"/>
                  <a:pt x="0" y="136"/>
                  <a:pt x="0" y="117"/>
                </a:cubicBezTo>
                <a:cubicBezTo>
                  <a:pt x="0" y="97"/>
                  <a:pt x="15" y="81"/>
                  <a:pt x="35" y="81"/>
                </a:cubicBezTo>
                <a:cubicBezTo>
                  <a:pt x="55" y="81"/>
                  <a:pt x="70" y="97"/>
                  <a:pt x="70" y="116"/>
                </a:cubicBezTo>
              </a:path>
              <a:path w="282" h="152">
                <a:moveTo>
                  <a:pt x="282" y="54"/>
                </a:moveTo>
                <a:cubicBezTo>
                  <a:pt x="281" y="82"/>
                  <a:pt x="257" y="106"/>
                  <a:pt x="228" y="106"/>
                </a:cubicBezTo>
                <a:cubicBezTo>
                  <a:pt x="199" y="106"/>
                  <a:pt x="175" y="82"/>
                  <a:pt x="175" y="53"/>
                </a:cubicBezTo>
                <a:cubicBezTo>
                  <a:pt x="175" y="23"/>
                  <a:pt x="199" y="0"/>
                  <a:pt x="228" y="0"/>
                </a:cubicBezTo>
                <a:cubicBezTo>
                  <a:pt x="257" y="0"/>
                  <a:pt x="281" y="23"/>
                  <a:pt x="282" y="54"/>
                </a:cubicBezTo>
              </a:path>
            </a:pathLst>
          </a:cu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84" name="path 1584"/>
          <p:cNvSpPr/>
          <p:nvPr/>
        </p:nvSpPr>
        <p:spPr>
          <a:xfrm>
            <a:off x="7190905" y="2036546"/>
            <a:ext cx="1249819" cy="405066"/>
          </a:xfrm>
          <a:custGeom>
            <a:avLst/>
            <a:gdLst/>
            <a:ahLst/>
            <a:cxnLst/>
            <a:rect l="0" t="0" r="0" b="0"/>
            <a:pathLst>
              <a:path w="1968" h="637">
                <a:moveTo>
                  <a:pt x="178" y="210"/>
                </a:moveTo>
                <a:cubicBezTo>
                  <a:pt x="177" y="204"/>
                  <a:pt x="176" y="197"/>
                  <a:pt x="176" y="191"/>
                </a:cubicBezTo>
                <a:cubicBezTo>
                  <a:pt x="176" y="116"/>
                  <a:pt x="313" y="56"/>
                  <a:pt x="483" y="56"/>
                </a:cubicBezTo>
                <a:cubicBezTo>
                  <a:pt x="540" y="56"/>
                  <a:pt x="593" y="62"/>
                  <a:pt x="638" y="74"/>
                </a:cubicBezTo>
                <a:cubicBezTo>
                  <a:pt x="679" y="40"/>
                  <a:pt x="760" y="17"/>
                  <a:pt x="853" y="17"/>
                </a:cubicBezTo>
                <a:cubicBezTo>
                  <a:pt x="919" y="17"/>
                  <a:pt x="979" y="29"/>
                  <a:pt x="1023" y="48"/>
                </a:cubicBezTo>
                <a:cubicBezTo>
                  <a:pt x="1056" y="19"/>
                  <a:pt x="1123" y="0"/>
                  <a:pt x="1201" y="0"/>
                </a:cubicBezTo>
                <a:cubicBezTo>
                  <a:pt x="1265" y="0"/>
                  <a:pt x="1322" y="13"/>
                  <a:pt x="1359" y="34"/>
                </a:cubicBezTo>
                <a:cubicBezTo>
                  <a:pt x="1399" y="13"/>
                  <a:pt x="1460" y="0"/>
                  <a:pt x="1527" y="0"/>
                </a:cubicBezTo>
                <a:cubicBezTo>
                  <a:pt x="1636" y="0"/>
                  <a:pt x="1726" y="34"/>
                  <a:pt x="1745" y="80"/>
                </a:cubicBezTo>
                <a:cubicBezTo>
                  <a:pt x="1848" y="92"/>
                  <a:pt x="1924" y="134"/>
                  <a:pt x="1924" y="183"/>
                </a:cubicBezTo>
                <a:cubicBezTo>
                  <a:pt x="1924" y="198"/>
                  <a:pt x="1917" y="213"/>
                  <a:pt x="1904" y="226"/>
                </a:cubicBezTo>
                <a:cubicBezTo>
                  <a:pt x="1944" y="249"/>
                  <a:pt x="1968" y="277"/>
                  <a:pt x="1968" y="309"/>
                </a:cubicBezTo>
                <a:cubicBezTo>
                  <a:pt x="1968" y="377"/>
                  <a:pt x="1853" y="434"/>
                  <a:pt x="1703" y="443"/>
                </a:cubicBezTo>
                <a:cubicBezTo>
                  <a:pt x="1702" y="507"/>
                  <a:pt x="1585" y="558"/>
                  <a:pt x="1440" y="558"/>
                </a:cubicBezTo>
                <a:cubicBezTo>
                  <a:pt x="1389" y="558"/>
                  <a:pt x="1341" y="552"/>
                  <a:pt x="1301" y="541"/>
                </a:cubicBezTo>
                <a:cubicBezTo>
                  <a:pt x="1262" y="597"/>
                  <a:pt x="1145" y="637"/>
                  <a:pt x="1007" y="637"/>
                </a:cubicBezTo>
                <a:cubicBezTo>
                  <a:pt x="900" y="637"/>
                  <a:pt x="806" y="613"/>
                  <a:pt x="751" y="577"/>
                </a:cubicBezTo>
                <a:cubicBezTo>
                  <a:pt x="698" y="591"/>
                  <a:pt x="636" y="599"/>
                  <a:pt x="570" y="599"/>
                </a:cubicBezTo>
                <a:cubicBezTo>
                  <a:pt x="440" y="599"/>
                  <a:pt x="326" y="568"/>
                  <a:pt x="265" y="521"/>
                </a:cubicBezTo>
                <a:cubicBezTo>
                  <a:pt x="258" y="521"/>
                  <a:pt x="250" y="522"/>
                  <a:pt x="242" y="522"/>
                </a:cubicBezTo>
                <a:cubicBezTo>
                  <a:pt x="133" y="522"/>
                  <a:pt x="44" y="482"/>
                  <a:pt x="44" y="434"/>
                </a:cubicBezTo>
                <a:cubicBezTo>
                  <a:pt x="44" y="411"/>
                  <a:pt x="64" y="390"/>
                  <a:pt x="97" y="375"/>
                </a:cubicBezTo>
                <a:cubicBezTo>
                  <a:pt x="39" y="359"/>
                  <a:pt x="0" y="331"/>
                  <a:pt x="0" y="299"/>
                </a:cubicBezTo>
                <a:cubicBezTo>
                  <a:pt x="0" y="253"/>
                  <a:pt x="77" y="216"/>
                  <a:pt x="177" y="212"/>
                </a:cubicBezTo>
                <a:lnTo>
                  <a:pt x="178" y="210"/>
                </a:lnTo>
              </a:path>
            </a:pathLst>
          </a:custGeom>
          <a:solidFill>
            <a:srgbClr val="C9C9C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586" name="picture 15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549940" y="2690774"/>
            <a:ext cx="677989" cy="1624838"/>
          </a:xfrm>
          <a:prstGeom prst="rect">
            <a:avLst/>
          </a:prstGeom>
        </p:spPr>
      </p:pic>
      <p:pic>
        <p:nvPicPr>
          <p:cNvPr id="1588" name="picture 15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49940" y="2690774"/>
            <a:ext cx="677989" cy="2609608"/>
          </a:xfrm>
          <a:prstGeom prst="rect">
            <a:avLst/>
          </a:prstGeom>
        </p:spPr>
      </p:pic>
      <p:pic>
        <p:nvPicPr>
          <p:cNvPr id="1590" name="picture 15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549927" y="2690774"/>
            <a:ext cx="678002" cy="3785082"/>
          </a:xfrm>
          <a:prstGeom prst="rect">
            <a:avLst/>
          </a:prstGeom>
        </p:spPr>
      </p:pic>
      <p:pic>
        <p:nvPicPr>
          <p:cNvPr id="1592" name="picture 159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642224" y="2110740"/>
            <a:ext cx="3534590" cy="2958083"/>
          </a:xfrm>
          <a:prstGeom prst="rect">
            <a:avLst/>
          </a:prstGeom>
        </p:spPr>
      </p:pic>
      <p:graphicFrame>
        <p:nvGraphicFramePr>
          <p:cNvPr id="1594" name="table 1594"/>
          <p:cNvGraphicFramePr>
            <a:graphicFrameLocks noGrp="1"/>
          </p:cNvGraphicFramePr>
          <p:nvPr/>
        </p:nvGraphicFramePr>
        <p:xfrm>
          <a:off x="789381" y="1967014"/>
          <a:ext cx="2142490" cy="526415"/>
        </p:xfrm>
        <a:graphic>
          <a:graphicData uri="http://schemas.openxmlformats.org/drawingml/2006/table">
            <a:tbl>
              <a:tblPr>
                <a:solidFill>
                  <a:srgbClr val="FFC000"/>
                </a:solidFill>
              </a:tblPr>
              <a:tblGrid>
                <a:gridCol w="2142490"/>
              </a:tblGrid>
              <a:tr h="5073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pic>
        <p:nvPicPr>
          <p:cNvPr id="1596" name="picture 159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717380" y="2226640"/>
            <a:ext cx="6544856" cy="225679"/>
          </a:xfrm>
          <a:prstGeom prst="rect">
            <a:avLst/>
          </a:prstGeom>
        </p:spPr>
      </p:pic>
      <p:graphicFrame>
        <p:nvGraphicFramePr>
          <p:cNvPr id="1598" name="table 1598"/>
          <p:cNvGraphicFramePr>
            <a:graphicFrameLocks noGrp="1"/>
          </p:cNvGraphicFramePr>
          <p:nvPr/>
        </p:nvGraphicFramePr>
        <p:xfrm>
          <a:off x="3458171" y="1552981"/>
          <a:ext cx="5329555" cy="5191759"/>
        </p:xfrm>
        <a:graphic>
          <a:graphicData uri="http://schemas.openxmlformats.org/drawingml/2006/table">
            <a:tbl>
              <a:tblPr/>
              <a:tblGrid>
                <a:gridCol w="5329555"/>
              </a:tblGrid>
              <a:tr h="51885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14800" algn="l" rtl="0" eaLnBrk="0">
                        <a:lnSpc>
                          <a:spcPts val="120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零部件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  <a:p>
                      <a:pPr marL="678180" algn="l" rtl="0" eaLnBrk="0">
                        <a:lnSpc>
                          <a:spcPct val="94000"/>
                        </a:lnSpc>
                        <a:spcBef>
                          <a:spcPts val="1390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E系列爆款01</a:t>
                      </a:r>
                      <a:endParaRPr sz="1200" dirty="0">
                        <a:latin typeface="NSimSun"/>
                        <a:ea typeface="NSimSun"/>
                        <a:cs typeface="NSimSun"/>
                      </a:endParaRPr>
                    </a:p>
                    <a:p>
                      <a:pPr marL="3154045" algn="l" rtl="0" eaLnBrk="0">
                        <a:lnSpc>
                          <a:spcPct val="98000"/>
                        </a:lnSpc>
                        <a:spcBef>
                          <a:spcPts val="287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70C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replace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56379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基准机型替换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600" name="table 1600"/>
          <p:cNvGraphicFramePr>
            <a:graphicFrameLocks noGrp="1"/>
          </p:cNvGraphicFramePr>
          <p:nvPr/>
        </p:nvGraphicFramePr>
        <p:xfrm>
          <a:off x="304038" y="4808982"/>
          <a:ext cx="2666364" cy="603250"/>
        </p:xfrm>
        <a:graphic>
          <a:graphicData uri="http://schemas.openxmlformats.org/drawingml/2006/table">
            <a:tbl>
              <a:tblPr/>
              <a:tblGrid>
                <a:gridCol w="2666364"/>
              </a:tblGrid>
              <a:tr h="584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602" name="picture 160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227320" y="5952744"/>
            <a:ext cx="1056132" cy="249936"/>
          </a:xfrm>
          <a:prstGeom prst="rect">
            <a:avLst/>
          </a:prstGeom>
        </p:spPr>
      </p:pic>
      <p:pic>
        <p:nvPicPr>
          <p:cNvPr id="1604" name="picture 160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23088" y="4828032"/>
            <a:ext cx="2628900" cy="565403"/>
          </a:xfrm>
          <a:prstGeom prst="rect">
            <a:avLst/>
          </a:prstGeom>
        </p:spPr>
      </p:pic>
      <p:sp>
        <p:nvSpPr>
          <p:cNvPr id="1606" name="textbox 1606"/>
          <p:cNvSpPr/>
          <p:nvPr/>
        </p:nvSpPr>
        <p:spPr>
          <a:xfrm>
            <a:off x="6271336" y="4223283"/>
            <a:ext cx="1277619" cy="149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74"/>
              </a:lnSpc>
              <a:tabLst/>
            </a:pPr>
            <a:r>
              <a:rPr sz="1600" kern="0" spc="320" dirty="0">
                <a:solidFill>
                  <a:srgbClr val="70AD47">
                    <a:alpha val="100000"/>
                  </a:srgbClr>
                </a:solidFill>
                <a:latin typeface="Arial"/>
                <a:ea typeface="Arial"/>
                <a:cs typeface="Arial"/>
              </a:rPr>
              <a:t>"--------</a:t>
            </a:r>
            <a:r>
              <a:rPr sz="1600" kern="0" spc="310" dirty="0">
                <a:solidFill>
                  <a:srgbClr val="70AD47">
                    <a:alpha val="100000"/>
                  </a:srgbClr>
                </a:solidFill>
                <a:latin typeface="Arial"/>
                <a:ea typeface="Arial"/>
                <a:cs typeface="Arial"/>
              </a:rPr>
              <a:t>-&gt;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pic>
        <p:nvPicPr>
          <p:cNvPr id="1608" name="picture 160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227320" y="5170932"/>
            <a:ext cx="1056132" cy="251460"/>
          </a:xfrm>
          <a:prstGeom prst="rect">
            <a:avLst/>
          </a:prstGeom>
        </p:spPr>
      </p:pic>
      <p:pic>
        <p:nvPicPr>
          <p:cNvPr id="1610" name="picture 16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227320" y="5554979"/>
            <a:ext cx="1056132" cy="249936"/>
          </a:xfrm>
          <a:prstGeom prst="rect">
            <a:avLst/>
          </a:prstGeom>
        </p:spPr>
      </p:pic>
      <p:pic>
        <p:nvPicPr>
          <p:cNvPr id="1612" name="picture 16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283452" y="4849367"/>
            <a:ext cx="1056131" cy="249935"/>
          </a:xfrm>
          <a:prstGeom prst="rect">
            <a:avLst/>
          </a:prstGeom>
        </p:spPr>
      </p:pic>
      <p:sp>
        <p:nvSpPr>
          <p:cNvPr id="1614" name="path 1614"/>
          <p:cNvSpPr/>
          <p:nvPr/>
        </p:nvSpPr>
        <p:spPr>
          <a:xfrm>
            <a:off x="5113502" y="5028438"/>
            <a:ext cx="4466361" cy="1226565"/>
          </a:xfrm>
          <a:custGeom>
            <a:avLst/>
            <a:gdLst/>
            <a:ahLst/>
            <a:cxnLst/>
            <a:rect l="0" t="0" r="0" b="0"/>
            <a:pathLst>
              <a:path w="7033" h="1931">
                <a:moveTo>
                  <a:pt x="6877" y="992"/>
                </a:moveTo>
                <a:lnTo>
                  <a:pt x="7033" y="1400"/>
                </a:lnTo>
                <a:lnTo>
                  <a:pt x="6803" y="1294"/>
                </a:lnTo>
                <a:cubicBezTo>
                  <a:pt x="5958" y="1931"/>
                  <a:pt x="3155" y="1435"/>
                  <a:pt x="129" y="59"/>
                </a:cubicBezTo>
                <a:cubicBezTo>
                  <a:pt x="85" y="39"/>
                  <a:pt x="42" y="19"/>
                  <a:pt x="0" y="0"/>
                </a:cubicBezTo>
                <a:cubicBezTo>
                  <a:pt x="2976" y="1332"/>
                  <a:pt x="5712" y="1804"/>
                  <a:pt x="6544" y="1177"/>
                </a:cubicBezTo>
                <a:lnTo>
                  <a:pt x="6316" y="1074"/>
                </a:lnTo>
                <a:lnTo>
                  <a:pt x="6877" y="992"/>
                </a:lnTo>
              </a:path>
            </a:pathLst>
          </a:custGeom>
          <a:solidFill>
            <a:srgbClr val="8FAAD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16" name="textbox 1616"/>
          <p:cNvSpPr/>
          <p:nvPr/>
        </p:nvSpPr>
        <p:spPr>
          <a:xfrm>
            <a:off x="6271336" y="5988900"/>
            <a:ext cx="1277619" cy="149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74"/>
              </a:lnSpc>
              <a:tabLst/>
            </a:pPr>
            <a:r>
              <a:rPr sz="1600" kern="0" spc="630" dirty="0">
                <a:solidFill>
                  <a:srgbClr val="70AD47">
                    <a:alpha val="100000"/>
                  </a:srgbClr>
                </a:solidFill>
                <a:latin typeface="Arial"/>
                <a:ea typeface="Arial"/>
                <a:cs typeface="Arial"/>
              </a:rPr>
              <a:t>"------&gt;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pic>
        <p:nvPicPr>
          <p:cNvPr id="1618" name="picture 16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284036" y="5219204"/>
            <a:ext cx="1252118" cy="508977"/>
          </a:xfrm>
          <a:prstGeom prst="rect">
            <a:avLst/>
          </a:prstGeom>
        </p:spPr>
      </p:pic>
      <p:pic>
        <p:nvPicPr>
          <p:cNvPr id="1620" name="picture 16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723644" y="5576315"/>
            <a:ext cx="1213103" cy="859536"/>
          </a:xfrm>
          <a:prstGeom prst="rect">
            <a:avLst/>
          </a:prstGeom>
        </p:spPr>
      </p:pic>
      <p:pic>
        <p:nvPicPr>
          <p:cNvPr id="1622" name="picture 16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5227320" y="4186428"/>
            <a:ext cx="1056132" cy="249936"/>
          </a:xfrm>
          <a:prstGeom prst="rect">
            <a:avLst/>
          </a:prstGeom>
        </p:spPr>
      </p:pic>
      <p:grpSp>
        <p:nvGrpSpPr>
          <p:cNvPr id="114" name="group 114"/>
          <p:cNvGrpSpPr/>
          <p:nvPr/>
        </p:nvGrpSpPr>
        <p:grpSpPr>
          <a:xfrm rot="21600000">
            <a:off x="235504" y="2919557"/>
            <a:ext cx="2767160" cy="1691528"/>
            <a:chOff x="0" y="0"/>
            <a:chExt cx="2767160" cy="1691528"/>
          </a:xfrm>
        </p:grpSpPr>
        <p:pic>
          <p:nvPicPr>
            <p:cNvPr id="1624" name="picture 1624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0" y="0"/>
              <a:ext cx="2767160" cy="1691528"/>
            </a:xfrm>
            <a:prstGeom prst="rect">
              <a:avLst/>
            </a:prstGeom>
          </p:spPr>
        </p:pic>
        <p:sp>
          <p:nvSpPr>
            <p:cNvPr id="1626" name="textbox 1626"/>
            <p:cNvSpPr/>
            <p:nvPr/>
          </p:nvSpPr>
          <p:spPr>
            <a:xfrm>
              <a:off x="1409320" y="85771"/>
              <a:ext cx="750569" cy="14712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39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96000"/>
                </a:lnSpc>
                <a:tabLst/>
              </a:pPr>
              <a:r>
                <a:rPr sz="1100" b="1" kern="0" spc="-30" dirty="0">
                  <a:solidFill>
                    <a:srgbClr val="000000">
                      <a:alpha val="100000"/>
                    </a:srgbClr>
                  </a:solidFill>
                  <a:latin typeface="NSimSun"/>
                  <a:ea typeface="NSimSun"/>
                  <a:cs typeface="NSimSun"/>
                </a:rPr>
                <a:t>选择</a:t>
              </a:r>
              <a:endParaRPr sz="1100" dirty="0">
                <a:latin typeface="NSimSun"/>
                <a:ea typeface="NSimSun"/>
                <a:cs typeface="NSimSun"/>
              </a:endParaRPr>
            </a:p>
            <a:p>
              <a:pPr marL="12700" algn="l" rtl="0" eaLnBrk="0">
                <a:lnSpc>
                  <a:spcPct val="91000"/>
                </a:lnSpc>
                <a:spcBef>
                  <a:spcPts val="1317"/>
                </a:spcBef>
                <a:tabLst/>
              </a:pPr>
              <a:r>
                <a:rPr sz="1100" b="1" kern="0" spc="-20" dirty="0">
                  <a:solidFill>
                    <a:srgbClr val="385723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银色</a:t>
              </a:r>
              <a:endParaRPr sz="1100" dirty="0">
                <a:latin typeface="Microsoft YaHei"/>
                <a:ea typeface="Microsoft YaHei"/>
                <a:cs typeface="Microsoft YaHei"/>
              </a:endParaRPr>
            </a:p>
            <a:p>
              <a:pPr marL="13334" algn="l" rtl="0" eaLnBrk="0">
                <a:lnSpc>
                  <a:spcPct val="91000"/>
                </a:lnSpc>
                <a:spcBef>
                  <a:spcPts val="1334"/>
                </a:spcBef>
                <a:tabLst/>
              </a:pPr>
              <a:r>
                <a:rPr sz="1100" b="1" kern="0" spc="-20" dirty="0">
                  <a:solidFill>
                    <a:srgbClr val="385723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黑色</a:t>
              </a:r>
              <a:endParaRPr sz="1100" dirty="0">
                <a:latin typeface="Microsoft YaHei"/>
                <a:ea typeface="Microsoft YaHei"/>
                <a:cs typeface="Microsoft YaHei"/>
              </a:endParaRPr>
            </a:p>
            <a:p>
              <a:pPr marL="12700" algn="l" rtl="0" eaLnBrk="0">
                <a:lnSpc>
                  <a:spcPct val="91000"/>
                </a:lnSpc>
                <a:spcBef>
                  <a:spcPts val="1329"/>
                </a:spcBef>
                <a:tabLst/>
              </a:pPr>
              <a:r>
                <a:rPr sz="1100" b="1" kern="0" spc="-10" dirty="0">
                  <a:solidFill>
                    <a:srgbClr val="385723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大门圈</a:t>
              </a:r>
              <a:endParaRPr sz="11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100" dirty="0">
                <a:latin typeface="Arial"/>
                <a:ea typeface="Arial"/>
                <a:cs typeface="Arial"/>
              </a:endParaRPr>
            </a:p>
            <a:p>
              <a:pPr marL="22225" algn="l" rtl="0" eaLnBrk="0">
                <a:lnSpc>
                  <a:spcPct val="91000"/>
                </a:lnSpc>
                <a:spcBef>
                  <a:spcPts val="1"/>
                </a:spcBef>
                <a:tabLst/>
              </a:pPr>
              <a:r>
                <a:rPr sz="1100" b="1" kern="0" spc="-30" dirty="0">
                  <a:solidFill>
                    <a:srgbClr val="385723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E06系列</a:t>
              </a:r>
              <a:endParaRPr sz="11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1628" name="picture 16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6283452" y="3843528"/>
            <a:ext cx="1056131" cy="251460"/>
          </a:xfrm>
          <a:prstGeom prst="rect">
            <a:avLst/>
          </a:prstGeom>
        </p:spPr>
      </p:pic>
      <p:pic>
        <p:nvPicPr>
          <p:cNvPr id="1630" name="picture 16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6283452" y="4500371"/>
            <a:ext cx="1056131" cy="249936"/>
          </a:xfrm>
          <a:prstGeom prst="rect">
            <a:avLst/>
          </a:prstGeom>
        </p:spPr>
      </p:pic>
      <p:pic>
        <p:nvPicPr>
          <p:cNvPr id="1632" name="picture 163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5752185" y="4437113"/>
            <a:ext cx="531863" cy="540664"/>
          </a:xfrm>
          <a:prstGeom prst="rect">
            <a:avLst/>
          </a:prstGeom>
        </p:spPr>
      </p:pic>
      <p:pic>
        <p:nvPicPr>
          <p:cNvPr id="1634" name="picture 163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5752185" y="3030270"/>
            <a:ext cx="531863" cy="942657"/>
          </a:xfrm>
          <a:prstGeom prst="rect">
            <a:avLst/>
          </a:prstGeom>
        </p:spPr>
      </p:pic>
      <p:pic>
        <p:nvPicPr>
          <p:cNvPr id="1636" name="picture 163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2645638" y="3761562"/>
            <a:ext cx="5454472" cy="2363812"/>
          </a:xfrm>
          <a:prstGeom prst="rect">
            <a:avLst/>
          </a:prstGeom>
        </p:spPr>
      </p:pic>
      <p:sp>
        <p:nvSpPr>
          <p:cNvPr id="1638" name="textbox 1638"/>
          <p:cNvSpPr/>
          <p:nvPr/>
        </p:nvSpPr>
        <p:spPr>
          <a:xfrm>
            <a:off x="418592" y="-12700"/>
            <a:ext cx="7715884" cy="1480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59105" algn="l" rtl="0" eaLnBrk="0">
              <a:lnSpc>
                <a:spcPct val="85000"/>
              </a:lnSpc>
              <a:spcBef>
                <a:spcPts val="6"/>
              </a:spcBef>
              <a:tabLst>
                <a:tab pos="581659" algn="l"/>
              </a:tabLst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6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平台化模块化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ts val="2830"/>
              </a:lnSpc>
              <a:spcBef>
                <a:spcPts val="1163"/>
              </a:spcBef>
              <a:tabLst/>
            </a:pP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支撑C2M的研发数据平台定义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—基于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简易选配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b="1" kern="0" spc="-5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615315" algn="l" rtl="0" eaLnBrk="0">
              <a:lnSpc>
                <a:spcPct val="94000"/>
              </a:lnSpc>
              <a:spcBef>
                <a:spcPts val="126"/>
              </a:spcBef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2017.12.18上线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16" name="group 116"/>
          <p:cNvGrpSpPr/>
          <p:nvPr/>
        </p:nvGrpSpPr>
        <p:grpSpPr>
          <a:xfrm rot="21600000">
            <a:off x="431292" y="0"/>
            <a:ext cx="446531" cy="749909"/>
            <a:chOff x="0" y="0"/>
            <a:chExt cx="446531" cy="749909"/>
          </a:xfrm>
        </p:grpSpPr>
        <p:sp>
          <p:nvSpPr>
            <p:cNvPr id="1640" name="path 1640"/>
            <p:cNvSpPr/>
            <p:nvPr/>
          </p:nvSpPr>
          <p:spPr>
            <a:xfrm>
              <a:off x="0" y="0"/>
              <a:ext cx="216408" cy="749909"/>
            </a:xfrm>
            <a:custGeom>
              <a:avLst/>
              <a:gdLst/>
              <a:ahLst/>
              <a:cxnLst/>
              <a:rect l="0" t="0" r="0" b="0"/>
              <a:pathLst>
                <a:path w="340" h="1180">
                  <a:moveTo>
                    <a:pt x="0" y="0"/>
                  </a:moveTo>
                  <a:lnTo>
                    <a:pt x="340" y="0"/>
                  </a:lnTo>
                  <a:lnTo>
                    <a:pt x="340" y="1180"/>
                  </a:lnTo>
                  <a:lnTo>
                    <a:pt x="0" y="1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42" name="path 1642"/>
            <p:cNvSpPr/>
            <p:nvPr/>
          </p:nvSpPr>
          <p:spPr>
            <a:xfrm>
              <a:off x="231647" y="146656"/>
              <a:ext cx="214884" cy="600229"/>
            </a:xfrm>
            <a:custGeom>
              <a:avLst/>
              <a:gdLst/>
              <a:ahLst/>
              <a:cxnLst/>
              <a:rect l="0" t="0" r="0" b="0"/>
              <a:pathLst>
                <a:path w="338" h="945">
                  <a:moveTo>
                    <a:pt x="0" y="0"/>
                  </a:moveTo>
                  <a:lnTo>
                    <a:pt x="338" y="0"/>
                  </a:lnTo>
                  <a:lnTo>
                    <a:pt x="338" y="945"/>
                  </a:lnTo>
                  <a:lnTo>
                    <a:pt x="0" y="9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8DE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1644" name="picture 164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9511284" y="4637532"/>
            <a:ext cx="2215895" cy="2083308"/>
          </a:xfrm>
          <a:prstGeom prst="rect">
            <a:avLst/>
          </a:prstGeom>
        </p:spPr>
      </p:pic>
      <p:pic>
        <p:nvPicPr>
          <p:cNvPr id="1646" name="picture 164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6283452" y="3454908"/>
            <a:ext cx="1056131" cy="251460"/>
          </a:xfrm>
          <a:prstGeom prst="rect">
            <a:avLst/>
          </a:prstGeom>
        </p:spPr>
      </p:pic>
      <p:pic>
        <p:nvPicPr>
          <p:cNvPr id="1648" name="picture 164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283452" y="3105911"/>
            <a:ext cx="1056131" cy="251459"/>
          </a:xfrm>
          <a:prstGeom prst="rect">
            <a:avLst/>
          </a:prstGeom>
        </p:spPr>
      </p:pic>
      <p:pic>
        <p:nvPicPr>
          <p:cNvPr id="1650" name="picture 165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2735618" y="3030270"/>
            <a:ext cx="5366232" cy="473227"/>
          </a:xfrm>
          <a:prstGeom prst="rect">
            <a:avLst/>
          </a:prstGeom>
        </p:spPr>
      </p:pic>
      <p:pic>
        <p:nvPicPr>
          <p:cNvPr id="1652" name="picture 165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9932619" y="2529471"/>
            <a:ext cx="678002" cy="577887"/>
          </a:xfrm>
          <a:prstGeom prst="rect">
            <a:avLst/>
          </a:prstGeom>
        </p:spPr>
      </p:pic>
      <p:pic>
        <p:nvPicPr>
          <p:cNvPr id="1654" name="picture 165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9932619" y="2529471"/>
            <a:ext cx="678002" cy="937932"/>
          </a:xfrm>
          <a:prstGeom prst="rect">
            <a:avLst/>
          </a:prstGeom>
        </p:spPr>
      </p:pic>
      <p:pic>
        <p:nvPicPr>
          <p:cNvPr id="1656" name="picture 165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9932619" y="2529459"/>
            <a:ext cx="678002" cy="1911464"/>
          </a:xfrm>
          <a:prstGeom prst="rect">
            <a:avLst/>
          </a:prstGeom>
        </p:spPr>
      </p:pic>
      <p:pic>
        <p:nvPicPr>
          <p:cNvPr id="1658" name="picture 165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336804" y="5576315"/>
            <a:ext cx="1110995" cy="859536"/>
          </a:xfrm>
          <a:prstGeom prst="rect">
            <a:avLst/>
          </a:prstGeom>
        </p:spPr>
      </p:pic>
      <p:sp>
        <p:nvSpPr>
          <p:cNvPr id="1660" name="textbox 1660"/>
          <p:cNvSpPr/>
          <p:nvPr/>
        </p:nvSpPr>
        <p:spPr>
          <a:xfrm>
            <a:off x="397337" y="3333262"/>
            <a:ext cx="584200" cy="1143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3000"/>
              </a:lnSpc>
              <a:tabLst/>
            </a:pP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箱体颜色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marL="19050" indent="-6350" algn="l" rtl="0" eaLnBrk="0">
              <a:lnSpc>
                <a:spcPct val="195000"/>
              </a:lnSpc>
              <a:spcBef>
                <a:spcPts val="25"/>
              </a:spcBef>
              <a:tabLst/>
            </a:pP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控板颜色</a:t>
            </a:r>
            <a:r>
              <a:rPr sz="1100" b="1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门外观</a:t>
            </a:r>
            <a:endParaRPr sz="1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旋钮</a:t>
            </a:r>
            <a:endParaRPr sz="11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62" name="textbox 1662"/>
          <p:cNvSpPr/>
          <p:nvPr/>
        </p:nvSpPr>
        <p:spPr>
          <a:xfrm>
            <a:off x="934034" y="2060156"/>
            <a:ext cx="1844039" cy="370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8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选配平台输入</a:t>
            </a:r>
            <a:endParaRPr sz="2300" dirty="0">
              <a:latin typeface="NSimSun"/>
              <a:ea typeface="NSimSun"/>
              <a:cs typeface="NSimSun"/>
            </a:endParaRPr>
          </a:p>
        </p:txBody>
      </p:sp>
      <p:graphicFrame>
        <p:nvGraphicFramePr>
          <p:cNvPr id="1664" name="table 1664"/>
          <p:cNvGraphicFramePr>
            <a:graphicFrameLocks noGrp="1"/>
          </p:cNvGraphicFramePr>
          <p:nvPr/>
        </p:nvGraphicFramePr>
        <p:xfrm>
          <a:off x="10116324" y="1482458"/>
          <a:ext cx="853440" cy="494665"/>
        </p:xfrm>
        <a:graphic>
          <a:graphicData uri="http://schemas.openxmlformats.org/drawingml/2006/table">
            <a:tbl>
              <a:tblPr/>
              <a:tblGrid>
                <a:gridCol w="853440"/>
              </a:tblGrid>
              <a:tr h="4819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017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3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制造</a:t>
                      </a:r>
                      <a:endParaRPr sz="23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666" name="table 1666"/>
          <p:cNvGraphicFramePr>
            <a:graphicFrameLocks noGrp="1"/>
          </p:cNvGraphicFramePr>
          <p:nvPr/>
        </p:nvGraphicFramePr>
        <p:xfrm>
          <a:off x="1248918" y="1499844"/>
          <a:ext cx="853440" cy="494665"/>
        </p:xfrm>
        <a:graphic>
          <a:graphicData uri="http://schemas.openxmlformats.org/drawingml/2006/table">
            <a:tbl>
              <a:tblPr/>
              <a:tblGrid>
                <a:gridCol w="853440"/>
              </a:tblGrid>
              <a:tr h="4819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8429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3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营销</a:t>
                      </a:r>
                      <a:endParaRPr sz="23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668" name="table 1668"/>
          <p:cNvGraphicFramePr>
            <a:graphicFrameLocks noGrp="1"/>
          </p:cNvGraphicFramePr>
          <p:nvPr/>
        </p:nvGraphicFramePr>
        <p:xfrm>
          <a:off x="5701550" y="1499844"/>
          <a:ext cx="853439" cy="494665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853439"/>
              </a:tblGrid>
              <a:tr h="4819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8904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3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研发</a:t>
                      </a:r>
                      <a:endParaRPr sz="23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670" name="picture 167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9262871" y="2278379"/>
            <a:ext cx="1347216" cy="251459"/>
          </a:xfrm>
          <a:prstGeom prst="rect">
            <a:avLst/>
          </a:prstGeom>
        </p:spPr>
      </p:pic>
      <p:graphicFrame>
        <p:nvGraphicFramePr>
          <p:cNvPr id="1672" name="table 1672"/>
          <p:cNvGraphicFramePr>
            <a:graphicFrameLocks noGrp="1"/>
          </p:cNvGraphicFramePr>
          <p:nvPr/>
        </p:nvGraphicFramePr>
        <p:xfrm>
          <a:off x="9258427" y="2275040"/>
          <a:ext cx="1355725" cy="257809"/>
        </p:xfrm>
        <a:graphic>
          <a:graphicData uri="http://schemas.openxmlformats.org/drawingml/2006/table">
            <a:tbl>
              <a:tblPr/>
              <a:tblGrid>
                <a:gridCol w="1355725"/>
              </a:tblGrid>
              <a:tr h="2451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265" algn="l" rtl="0" eaLnBrk="0">
                        <a:lnSpc>
                          <a:spcPts val="120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订单产品01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674" name="picture 167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8592273" y="2739961"/>
            <a:ext cx="1969731" cy="168808"/>
          </a:xfrm>
          <a:prstGeom prst="rect">
            <a:avLst/>
          </a:prstGeom>
        </p:spPr>
      </p:pic>
      <p:pic>
        <p:nvPicPr>
          <p:cNvPr id="1676" name="picture 1676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5227320" y="6347459"/>
            <a:ext cx="1056132" cy="249936"/>
          </a:xfrm>
          <a:prstGeom prst="rect">
            <a:avLst/>
          </a:prstGeom>
        </p:spPr>
      </p:pic>
      <p:graphicFrame>
        <p:nvGraphicFramePr>
          <p:cNvPr id="1678" name="table 1678"/>
          <p:cNvGraphicFramePr>
            <a:graphicFrameLocks noGrp="1"/>
          </p:cNvGraphicFramePr>
          <p:nvPr/>
        </p:nvGraphicFramePr>
        <p:xfrm>
          <a:off x="5224119" y="6342926"/>
          <a:ext cx="1063625" cy="257809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9395" algn="l" rtl="0" eaLnBrk="0">
                        <a:lnSpc>
                          <a:spcPts val="120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……组件1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680" name="picture 168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5227320" y="2779776"/>
            <a:ext cx="1056132" cy="249935"/>
          </a:xfrm>
          <a:prstGeom prst="rect">
            <a:avLst/>
          </a:prstGeom>
        </p:spPr>
      </p:pic>
      <p:graphicFrame>
        <p:nvGraphicFramePr>
          <p:cNvPr id="1682" name="table 1682"/>
          <p:cNvGraphicFramePr>
            <a:graphicFrameLocks noGrp="1"/>
          </p:cNvGraphicFramePr>
          <p:nvPr/>
        </p:nvGraphicFramePr>
        <p:xfrm>
          <a:off x="5224119" y="2775839"/>
          <a:ext cx="1063625" cy="257809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2409" algn="l" rtl="0" eaLnBrk="0">
                        <a:lnSpc>
                          <a:spcPts val="120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箱体组件1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684" name="picture 168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7536180" y="2779776"/>
            <a:ext cx="1056131" cy="249935"/>
          </a:xfrm>
          <a:prstGeom prst="rect">
            <a:avLst/>
          </a:prstGeom>
        </p:spPr>
      </p:pic>
      <p:graphicFrame>
        <p:nvGraphicFramePr>
          <p:cNvPr id="1686" name="table 1686"/>
          <p:cNvGraphicFramePr>
            <a:graphicFrameLocks noGrp="1"/>
          </p:cNvGraphicFramePr>
          <p:nvPr/>
        </p:nvGraphicFramePr>
        <p:xfrm>
          <a:off x="7532344" y="2775839"/>
          <a:ext cx="1063625" cy="257809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2409" algn="l" rtl="0" eaLnBrk="0">
                        <a:lnSpc>
                          <a:spcPts val="120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箱体组件2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688" name="picture 168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10610088" y="4311395"/>
            <a:ext cx="1056131" cy="251460"/>
          </a:xfrm>
          <a:prstGeom prst="rect">
            <a:avLst/>
          </a:prstGeom>
        </p:spPr>
      </p:pic>
      <p:graphicFrame>
        <p:nvGraphicFramePr>
          <p:cNvPr id="1690" name="table 1690"/>
          <p:cNvGraphicFramePr>
            <a:graphicFrameLocks noGrp="1"/>
          </p:cNvGraphicFramePr>
          <p:nvPr/>
        </p:nvGraphicFramePr>
        <p:xfrm>
          <a:off x="10606811" y="4307992"/>
          <a:ext cx="1063625" cy="257810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9395" algn="l" rtl="0" eaLnBrk="0">
                        <a:lnSpc>
                          <a:spcPts val="120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……组件1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692" name="picture 169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10610088" y="2977896"/>
            <a:ext cx="1056131" cy="251459"/>
          </a:xfrm>
          <a:prstGeom prst="rect">
            <a:avLst/>
          </a:prstGeom>
        </p:spPr>
      </p:pic>
      <p:graphicFrame>
        <p:nvGraphicFramePr>
          <p:cNvPr id="1694" name="table 1694"/>
          <p:cNvGraphicFramePr>
            <a:graphicFrameLocks noGrp="1"/>
          </p:cNvGraphicFramePr>
          <p:nvPr/>
        </p:nvGraphicFramePr>
        <p:xfrm>
          <a:off x="10606811" y="2974428"/>
          <a:ext cx="1063625" cy="257809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0504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控板组件2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696" name="table 1696"/>
          <p:cNvGraphicFramePr>
            <a:graphicFrameLocks noGrp="1"/>
          </p:cNvGraphicFramePr>
          <p:nvPr/>
        </p:nvGraphicFramePr>
        <p:xfrm>
          <a:off x="5224119" y="5167464"/>
          <a:ext cx="1063625" cy="257810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325" algn="l" rtl="0" eaLnBrk="0">
                        <a:lnSpc>
                          <a:spcPts val="1211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门把手1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698" name="table 1698"/>
          <p:cNvGraphicFramePr>
            <a:graphicFrameLocks noGrp="1"/>
          </p:cNvGraphicFramePr>
          <p:nvPr/>
        </p:nvGraphicFramePr>
        <p:xfrm>
          <a:off x="6280238" y="3840009"/>
          <a:ext cx="1063624" cy="257810"/>
        </p:xfrm>
        <a:graphic>
          <a:graphicData uri="http://schemas.openxmlformats.org/drawingml/2006/table">
            <a:tbl>
              <a:tblPr/>
              <a:tblGrid>
                <a:gridCol w="1063624"/>
              </a:tblGrid>
              <a:tr h="251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6550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下接板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00" name="table 1700"/>
          <p:cNvGraphicFramePr>
            <a:graphicFrameLocks noGrp="1"/>
          </p:cNvGraphicFramePr>
          <p:nvPr/>
        </p:nvGraphicFramePr>
        <p:xfrm>
          <a:off x="5224119" y="4182694"/>
          <a:ext cx="1063625" cy="257810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0504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控板组件1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02" name="table 1702"/>
          <p:cNvGraphicFramePr>
            <a:graphicFrameLocks noGrp="1"/>
          </p:cNvGraphicFramePr>
          <p:nvPr/>
        </p:nvGraphicFramePr>
        <p:xfrm>
          <a:off x="5224119" y="5948298"/>
          <a:ext cx="1063625" cy="257809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325" algn="l" rtl="0" eaLnBrk="0">
                        <a:lnSpc>
                          <a:spcPts val="1211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门外圈1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04" name="table 1704"/>
          <p:cNvGraphicFramePr>
            <a:graphicFrameLocks noGrp="1"/>
          </p:cNvGraphicFramePr>
          <p:nvPr/>
        </p:nvGraphicFramePr>
        <p:xfrm>
          <a:off x="6280238" y="4844846"/>
          <a:ext cx="1063624" cy="257810"/>
        </p:xfrm>
        <a:graphic>
          <a:graphicData uri="http://schemas.openxmlformats.org/drawingml/2006/table">
            <a:tbl>
              <a:tblPr/>
              <a:tblGrid>
                <a:gridCol w="1063624"/>
              </a:tblGrid>
              <a:tr h="251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1954" algn="l" rtl="0" eaLnBrk="0">
                        <a:lnSpc>
                          <a:spcPts val="120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按钮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06" name="table 1706"/>
          <p:cNvGraphicFramePr>
            <a:graphicFrameLocks noGrp="1"/>
          </p:cNvGraphicFramePr>
          <p:nvPr/>
        </p:nvGraphicFramePr>
        <p:xfrm>
          <a:off x="6280238" y="3102571"/>
          <a:ext cx="1063624" cy="257809"/>
        </p:xfrm>
        <a:graphic>
          <a:graphicData uri="http://schemas.openxmlformats.org/drawingml/2006/table">
            <a:tbl>
              <a:tblPr/>
              <a:tblGrid>
                <a:gridCol w="1063624"/>
              </a:tblGrid>
              <a:tr h="2514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1954" algn="l" rtl="0" eaLnBrk="0">
                        <a:lnSpc>
                          <a:spcPts val="1211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箱体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708" name="picture 170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10610088" y="3986783"/>
            <a:ext cx="1056131" cy="249936"/>
          </a:xfrm>
          <a:prstGeom prst="rect">
            <a:avLst/>
          </a:prstGeom>
        </p:spPr>
      </p:pic>
      <p:graphicFrame>
        <p:nvGraphicFramePr>
          <p:cNvPr id="1710" name="table 1710"/>
          <p:cNvGraphicFramePr>
            <a:graphicFrameLocks noGrp="1"/>
          </p:cNvGraphicFramePr>
          <p:nvPr/>
        </p:nvGraphicFramePr>
        <p:xfrm>
          <a:off x="10606811" y="3982542"/>
          <a:ext cx="1063625" cy="257810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325" algn="l" rtl="0" eaLnBrk="0">
                        <a:lnSpc>
                          <a:spcPts val="1211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门外圈2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712" name="picture 1712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7536180" y="5952744"/>
            <a:ext cx="1056131" cy="249936"/>
          </a:xfrm>
          <a:prstGeom prst="rect">
            <a:avLst/>
          </a:prstGeom>
        </p:spPr>
      </p:pic>
      <p:graphicFrame>
        <p:nvGraphicFramePr>
          <p:cNvPr id="1714" name="table 1714"/>
          <p:cNvGraphicFramePr>
            <a:graphicFrameLocks noGrp="1"/>
          </p:cNvGraphicFramePr>
          <p:nvPr/>
        </p:nvGraphicFramePr>
        <p:xfrm>
          <a:off x="7532344" y="5948298"/>
          <a:ext cx="1063625" cy="257809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325" algn="l" rtl="0" eaLnBrk="0">
                        <a:lnSpc>
                          <a:spcPts val="1211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门外圈2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716" name="picture 1716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7536180" y="4186428"/>
            <a:ext cx="1056131" cy="249936"/>
          </a:xfrm>
          <a:prstGeom prst="rect">
            <a:avLst/>
          </a:prstGeom>
        </p:spPr>
      </p:pic>
      <p:graphicFrame>
        <p:nvGraphicFramePr>
          <p:cNvPr id="1718" name="table 1718"/>
          <p:cNvGraphicFramePr>
            <a:graphicFrameLocks noGrp="1"/>
          </p:cNvGraphicFramePr>
          <p:nvPr/>
        </p:nvGraphicFramePr>
        <p:xfrm>
          <a:off x="7532344" y="4182694"/>
          <a:ext cx="1063625" cy="257810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0504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控板组件2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20" name="table 1720"/>
          <p:cNvGraphicFramePr>
            <a:graphicFrameLocks noGrp="1"/>
          </p:cNvGraphicFramePr>
          <p:nvPr/>
        </p:nvGraphicFramePr>
        <p:xfrm>
          <a:off x="6280238" y="3451225"/>
          <a:ext cx="1063624" cy="257810"/>
        </p:xfrm>
        <a:graphic>
          <a:graphicData uri="http://schemas.openxmlformats.org/drawingml/2006/table">
            <a:tbl>
              <a:tblPr/>
              <a:tblGrid>
                <a:gridCol w="1063624"/>
              </a:tblGrid>
              <a:tr h="251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2740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加强板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22" name="table 1722"/>
          <p:cNvGraphicFramePr>
            <a:graphicFrameLocks noGrp="1"/>
          </p:cNvGraphicFramePr>
          <p:nvPr/>
        </p:nvGraphicFramePr>
        <p:xfrm>
          <a:off x="5224119" y="5550839"/>
          <a:ext cx="1063625" cy="257810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325" algn="l" rtl="0" eaLnBrk="0">
                        <a:lnSpc>
                          <a:spcPts val="120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门内圈1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24" name="table 1724"/>
          <p:cNvGraphicFramePr>
            <a:graphicFrameLocks noGrp="1"/>
          </p:cNvGraphicFramePr>
          <p:nvPr/>
        </p:nvGraphicFramePr>
        <p:xfrm>
          <a:off x="6280238" y="4496193"/>
          <a:ext cx="1063624" cy="257810"/>
        </p:xfrm>
        <a:graphic>
          <a:graphicData uri="http://schemas.openxmlformats.org/drawingml/2006/table">
            <a:tbl>
              <a:tblPr/>
              <a:tblGrid>
                <a:gridCol w="1063624"/>
              </a:tblGrid>
              <a:tr h="251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4159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控制面板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726" name="picture 172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7536180" y="5141976"/>
            <a:ext cx="1056131" cy="251460"/>
          </a:xfrm>
          <a:prstGeom prst="rect">
            <a:avLst/>
          </a:prstGeom>
        </p:spPr>
      </p:pic>
      <p:graphicFrame>
        <p:nvGraphicFramePr>
          <p:cNvPr id="1728" name="table 1728"/>
          <p:cNvGraphicFramePr>
            <a:graphicFrameLocks noGrp="1"/>
          </p:cNvGraphicFramePr>
          <p:nvPr/>
        </p:nvGraphicFramePr>
        <p:xfrm>
          <a:off x="7532344" y="5138496"/>
          <a:ext cx="1063625" cy="257810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325" algn="l" rtl="0" eaLnBrk="0">
                        <a:lnSpc>
                          <a:spcPts val="1211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门把手2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730" name="picture 1730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7536180" y="5554979"/>
            <a:ext cx="1056131" cy="249936"/>
          </a:xfrm>
          <a:prstGeom prst="rect">
            <a:avLst/>
          </a:prstGeom>
        </p:spPr>
      </p:pic>
      <p:graphicFrame>
        <p:nvGraphicFramePr>
          <p:cNvPr id="1732" name="table 1732"/>
          <p:cNvGraphicFramePr>
            <a:graphicFrameLocks noGrp="1"/>
          </p:cNvGraphicFramePr>
          <p:nvPr/>
        </p:nvGraphicFramePr>
        <p:xfrm>
          <a:off x="7532344" y="5550839"/>
          <a:ext cx="1063625" cy="257810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325" algn="l" rtl="0" eaLnBrk="0">
                        <a:lnSpc>
                          <a:spcPts val="120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门内圈2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734" name="picture 1734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10610088" y="3663695"/>
            <a:ext cx="1056131" cy="249936"/>
          </a:xfrm>
          <a:prstGeom prst="rect">
            <a:avLst/>
          </a:prstGeom>
        </p:spPr>
      </p:pic>
      <p:graphicFrame>
        <p:nvGraphicFramePr>
          <p:cNvPr id="1736" name="table 1736"/>
          <p:cNvGraphicFramePr>
            <a:graphicFrameLocks noGrp="1"/>
          </p:cNvGraphicFramePr>
          <p:nvPr/>
        </p:nvGraphicFramePr>
        <p:xfrm>
          <a:off x="10606811" y="3659923"/>
          <a:ext cx="1063625" cy="257810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325" algn="l" rtl="0" eaLnBrk="0">
                        <a:lnSpc>
                          <a:spcPts val="120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门内圈2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738" name="picture 173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10610088" y="3337559"/>
            <a:ext cx="1056131" cy="251459"/>
          </a:xfrm>
          <a:prstGeom prst="rect">
            <a:avLst/>
          </a:prstGeom>
        </p:spPr>
      </p:pic>
      <p:graphicFrame>
        <p:nvGraphicFramePr>
          <p:cNvPr id="1740" name="table 1740"/>
          <p:cNvGraphicFramePr>
            <a:graphicFrameLocks noGrp="1"/>
          </p:cNvGraphicFramePr>
          <p:nvPr/>
        </p:nvGraphicFramePr>
        <p:xfrm>
          <a:off x="10606811" y="3334473"/>
          <a:ext cx="1063625" cy="257809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325" algn="l" rtl="0" eaLnBrk="0">
                        <a:lnSpc>
                          <a:spcPts val="1211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门把手2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742" name="picture 1742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10610088" y="2618232"/>
            <a:ext cx="1056131" cy="251459"/>
          </a:xfrm>
          <a:prstGeom prst="rect">
            <a:avLst/>
          </a:prstGeom>
        </p:spPr>
      </p:pic>
      <p:graphicFrame>
        <p:nvGraphicFramePr>
          <p:cNvPr id="1744" name="table 1744"/>
          <p:cNvGraphicFramePr>
            <a:graphicFrameLocks noGrp="1"/>
          </p:cNvGraphicFramePr>
          <p:nvPr/>
        </p:nvGraphicFramePr>
        <p:xfrm>
          <a:off x="10606811" y="2614536"/>
          <a:ext cx="1063625" cy="257809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2409" algn="l" rtl="0" eaLnBrk="0">
                        <a:lnSpc>
                          <a:spcPts val="120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箱体组件2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46" name="textbox 1746"/>
          <p:cNvSpPr/>
          <p:nvPr/>
        </p:nvSpPr>
        <p:spPr>
          <a:xfrm>
            <a:off x="6599767" y="5233678"/>
            <a:ext cx="501650" cy="593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000" kern="0" spc="20" dirty="0">
                <a:solidFill>
                  <a:srgbClr val="0070C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replace</a:t>
            </a:r>
            <a:endParaRPr sz="1000" dirty="0">
              <a:latin typeface="NSimSun"/>
              <a:ea typeface="NSimSun"/>
              <a:cs typeface="NSimSun"/>
            </a:endParaRPr>
          </a:p>
          <a:p>
            <a:pPr marL="17145" algn="l" rtl="0" eaLnBrk="0">
              <a:lnSpc>
                <a:spcPts val="3401"/>
              </a:lnSpc>
              <a:tabLst/>
            </a:pPr>
            <a:r>
              <a:rPr sz="1000" kern="0" spc="20" dirty="0">
                <a:solidFill>
                  <a:srgbClr val="0070C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replace</a:t>
            </a:r>
            <a:endParaRPr sz="1000" dirty="0">
              <a:latin typeface="NSimSun"/>
              <a:ea typeface="NSimSun"/>
              <a:cs typeface="NSimSun"/>
            </a:endParaRPr>
          </a:p>
        </p:txBody>
      </p:sp>
      <p:pic>
        <p:nvPicPr>
          <p:cNvPr id="1748" name="picture 1748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6284036" y="2829140"/>
            <a:ext cx="1227836" cy="79540"/>
          </a:xfrm>
          <a:prstGeom prst="rect">
            <a:avLst/>
          </a:prstGeom>
        </p:spPr>
      </p:pic>
      <p:sp>
        <p:nvSpPr>
          <p:cNvPr id="1750" name="textbox 1750"/>
          <p:cNvSpPr/>
          <p:nvPr/>
        </p:nvSpPr>
        <p:spPr>
          <a:xfrm>
            <a:off x="6599766" y="6025764"/>
            <a:ext cx="497205" cy="175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000" kern="0" spc="20" dirty="0">
                <a:solidFill>
                  <a:srgbClr val="0070C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replace</a:t>
            </a:r>
            <a:endParaRPr sz="1000" dirty="0">
              <a:latin typeface="NSimSun"/>
              <a:ea typeface="NSimSun"/>
              <a:cs typeface="NSimSun"/>
            </a:endParaRPr>
          </a:p>
        </p:txBody>
      </p:sp>
      <p:sp>
        <p:nvSpPr>
          <p:cNvPr id="1752" name="textbox 1752"/>
          <p:cNvSpPr/>
          <p:nvPr/>
        </p:nvSpPr>
        <p:spPr>
          <a:xfrm>
            <a:off x="6416671" y="4225565"/>
            <a:ext cx="497205" cy="175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000" kern="0" spc="20" dirty="0">
                <a:solidFill>
                  <a:srgbClr val="0070C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replace</a:t>
            </a:r>
            <a:endParaRPr sz="1000" dirty="0">
              <a:latin typeface="NSimSun"/>
              <a:ea typeface="NSimSun"/>
              <a:cs typeface="NSimSun"/>
            </a:endParaRPr>
          </a:p>
        </p:txBody>
      </p:sp>
      <p:sp>
        <p:nvSpPr>
          <p:cNvPr id="1754" name="textbox 1754"/>
          <p:cNvSpPr/>
          <p:nvPr/>
        </p:nvSpPr>
        <p:spPr>
          <a:xfrm>
            <a:off x="762227" y="3005328"/>
            <a:ext cx="300990" cy="187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100" b="1" kern="0" spc="-3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配置</a:t>
            </a:r>
            <a:endParaRPr sz="1100" dirty="0">
              <a:latin typeface="NSimSun"/>
              <a:ea typeface="NSimSun"/>
              <a:cs typeface="NSimSun"/>
            </a:endParaRPr>
          </a:p>
        </p:txBody>
      </p:sp>
      <p:sp>
        <p:nvSpPr>
          <p:cNvPr id="1756" name="textbox 1756"/>
          <p:cNvSpPr/>
          <p:nvPr/>
        </p:nvSpPr>
        <p:spPr>
          <a:xfrm>
            <a:off x="5851490" y="2145419"/>
            <a:ext cx="292100" cy="179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07"/>
              </a:lnSpc>
              <a:tabLst/>
            </a:pP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产品</a:t>
            </a:r>
            <a:endParaRPr sz="1000" dirty="0">
              <a:latin typeface="NSimSun"/>
              <a:ea typeface="NSimSun"/>
              <a:cs typeface="NSimSun"/>
            </a:endParaRPr>
          </a:p>
        </p:txBody>
      </p:sp>
      <p:pic>
        <p:nvPicPr>
          <p:cNvPr id="1758" name="picture 1758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7448461" y="2856445"/>
            <a:ext cx="87693" cy="96443"/>
          </a:xfrm>
          <a:prstGeom prst="rect">
            <a:avLst/>
          </a:prstGeom>
        </p:spPr>
      </p:pic>
      <p:pic>
        <p:nvPicPr>
          <p:cNvPr id="1760" name="picture 1760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10522966" y="2695625"/>
            <a:ext cx="87655" cy="96456"/>
          </a:xfrm>
          <a:prstGeom prst="rect">
            <a:avLst/>
          </a:prstGeom>
        </p:spPr>
      </p:pic>
      <p:sp>
        <p:nvSpPr>
          <p:cNvPr id="1762" name="path 1762"/>
          <p:cNvSpPr/>
          <p:nvPr/>
        </p:nvSpPr>
        <p:spPr>
          <a:xfrm>
            <a:off x="7037260" y="2508059"/>
            <a:ext cx="67627" cy="67488"/>
          </a:xfrm>
          <a:custGeom>
            <a:avLst/>
            <a:gdLst/>
            <a:ahLst/>
            <a:cxnLst/>
            <a:rect l="0" t="0" r="0" b="0"/>
            <a:pathLst>
              <a:path w="106" h="106">
                <a:moveTo>
                  <a:pt x="106" y="53"/>
                </a:moveTo>
                <a:cubicBezTo>
                  <a:pt x="106" y="82"/>
                  <a:pt x="82" y="106"/>
                  <a:pt x="53" y="106"/>
                </a:cubicBezTo>
                <a:cubicBezTo>
                  <a:pt x="23" y="106"/>
                  <a:pt x="0" y="82"/>
                  <a:pt x="0" y="53"/>
                </a:cubicBezTo>
                <a:cubicBezTo>
                  <a:pt x="0" y="23"/>
                  <a:pt x="23" y="0"/>
                  <a:pt x="53" y="0"/>
                </a:cubicBezTo>
                <a:cubicBezTo>
                  <a:pt x="82" y="0"/>
                  <a:pt x="106" y="23"/>
                  <a:pt x="106" y="53"/>
                </a:cubicBezTo>
              </a:path>
            </a:pathLst>
          </a:custGeom>
          <a:solidFill>
            <a:srgbClr val="C9C9C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64" name="path 1764"/>
          <p:cNvSpPr/>
          <p:nvPr/>
        </p:nvSpPr>
        <p:spPr>
          <a:xfrm>
            <a:off x="5267477" y="2479535"/>
            <a:ext cx="22491" cy="22491"/>
          </a:xfrm>
          <a:custGeom>
            <a:avLst/>
            <a:gdLst/>
            <a:ahLst/>
            <a:cxnLst/>
            <a:rect l="0" t="0" r="0" b="0"/>
            <a:pathLst>
              <a:path w="35" h="35">
                <a:moveTo>
                  <a:pt x="35" y="16"/>
                </a:moveTo>
                <a:cubicBezTo>
                  <a:pt x="35" y="27"/>
                  <a:pt x="27" y="35"/>
                  <a:pt x="17" y="35"/>
                </a:cubicBezTo>
                <a:cubicBezTo>
                  <a:pt x="7" y="35"/>
                  <a:pt x="0" y="27"/>
                  <a:pt x="0" y="17"/>
                </a:cubicBezTo>
                <a:cubicBezTo>
                  <a:pt x="0" y="7"/>
                  <a:pt x="7" y="0"/>
                  <a:pt x="17" y="0"/>
                </a:cubicBezTo>
                <a:cubicBezTo>
                  <a:pt x="27" y="0"/>
                  <a:pt x="35" y="7"/>
                  <a:pt x="35" y="16"/>
                </a:cubicBezTo>
              </a:path>
            </a:pathLst>
          </a:cu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6" name="picture 17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19627" y="1386840"/>
            <a:ext cx="6068567" cy="5426963"/>
          </a:xfrm>
          <a:prstGeom prst="rect">
            <a:avLst/>
          </a:prstGeom>
        </p:spPr>
      </p:pic>
      <p:sp>
        <p:nvSpPr>
          <p:cNvPr id="1768" name="path 1768"/>
          <p:cNvSpPr/>
          <p:nvPr/>
        </p:nvSpPr>
        <p:spPr>
          <a:xfrm>
            <a:off x="6360744" y="1851253"/>
            <a:ext cx="1249832" cy="405053"/>
          </a:xfrm>
          <a:custGeom>
            <a:avLst/>
            <a:gdLst/>
            <a:ahLst/>
            <a:cxnLst/>
            <a:rect l="0" t="0" r="0" b="0"/>
            <a:pathLst>
              <a:path w="1968" h="637">
                <a:moveTo>
                  <a:pt x="178" y="209"/>
                </a:moveTo>
                <a:cubicBezTo>
                  <a:pt x="177" y="204"/>
                  <a:pt x="176" y="197"/>
                  <a:pt x="176" y="191"/>
                </a:cubicBezTo>
                <a:cubicBezTo>
                  <a:pt x="176" y="116"/>
                  <a:pt x="313" y="56"/>
                  <a:pt x="483" y="56"/>
                </a:cubicBezTo>
                <a:cubicBezTo>
                  <a:pt x="540" y="56"/>
                  <a:pt x="593" y="62"/>
                  <a:pt x="638" y="74"/>
                </a:cubicBezTo>
                <a:cubicBezTo>
                  <a:pt x="679" y="40"/>
                  <a:pt x="760" y="17"/>
                  <a:pt x="853" y="17"/>
                </a:cubicBezTo>
                <a:cubicBezTo>
                  <a:pt x="919" y="17"/>
                  <a:pt x="979" y="29"/>
                  <a:pt x="1023" y="48"/>
                </a:cubicBezTo>
                <a:cubicBezTo>
                  <a:pt x="1056" y="19"/>
                  <a:pt x="1123" y="0"/>
                  <a:pt x="1201" y="0"/>
                </a:cubicBezTo>
                <a:cubicBezTo>
                  <a:pt x="1265" y="0"/>
                  <a:pt x="1322" y="13"/>
                  <a:pt x="1359" y="34"/>
                </a:cubicBezTo>
                <a:cubicBezTo>
                  <a:pt x="1399" y="13"/>
                  <a:pt x="1460" y="0"/>
                  <a:pt x="1527" y="0"/>
                </a:cubicBezTo>
                <a:cubicBezTo>
                  <a:pt x="1636" y="0"/>
                  <a:pt x="1726" y="34"/>
                  <a:pt x="1745" y="80"/>
                </a:cubicBezTo>
                <a:cubicBezTo>
                  <a:pt x="1848" y="92"/>
                  <a:pt x="1924" y="134"/>
                  <a:pt x="1924" y="183"/>
                </a:cubicBezTo>
                <a:cubicBezTo>
                  <a:pt x="1924" y="198"/>
                  <a:pt x="1917" y="213"/>
                  <a:pt x="1904" y="226"/>
                </a:cubicBezTo>
                <a:cubicBezTo>
                  <a:pt x="1944" y="249"/>
                  <a:pt x="1968" y="277"/>
                  <a:pt x="1968" y="308"/>
                </a:cubicBezTo>
                <a:cubicBezTo>
                  <a:pt x="1968" y="377"/>
                  <a:pt x="1853" y="434"/>
                  <a:pt x="1703" y="443"/>
                </a:cubicBezTo>
                <a:cubicBezTo>
                  <a:pt x="1702" y="507"/>
                  <a:pt x="1585" y="558"/>
                  <a:pt x="1440" y="558"/>
                </a:cubicBezTo>
                <a:cubicBezTo>
                  <a:pt x="1389" y="558"/>
                  <a:pt x="1341" y="552"/>
                  <a:pt x="1301" y="541"/>
                </a:cubicBezTo>
                <a:cubicBezTo>
                  <a:pt x="1262" y="597"/>
                  <a:pt x="1145" y="637"/>
                  <a:pt x="1007" y="637"/>
                </a:cubicBezTo>
                <a:cubicBezTo>
                  <a:pt x="900" y="637"/>
                  <a:pt x="806" y="613"/>
                  <a:pt x="751" y="577"/>
                </a:cubicBezTo>
                <a:cubicBezTo>
                  <a:pt x="698" y="591"/>
                  <a:pt x="636" y="599"/>
                  <a:pt x="570" y="599"/>
                </a:cubicBezTo>
                <a:cubicBezTo>
                  <a:pt x="440" y="599"/>
                  <a:pt x="326" y="568"/>
                  <a:pt x="265" y="521"/>
                </a:cubicBezTo>
                <a:cubicBezTo>
                  <a:pt x="258" y="521"/>
                  <a:pt x="250" y="522"/>
                  <a:pt x="242" y="522"/>
                </a:cubicBezTo>
                <a:cubicBezTo>
                  <a:pt x="133" y="522"/>
                  <a:pt x="44" y="482"/>
                  <a:pt x="44" y="434"/>
                </a:cubicBezTo>
                <a:cubicBezTo>
                  <a:pt x="44" y="411"/>
                  <a:pt x="64" y="390"/>
                  <a:pt x="97" y="375"/>
                </a:cubicBezTo>
                <a:cubicBezTo>
                  <a:pt x="39" y="359"/>
                  <a:pt x="0" y="331"/>
                  <a:pt x="0" y="299"/>
                </a:cubicBezTo>
                <a:cubicBezTo>
                  <a:pt x="0" y="253"/>
                  <a:pt x="77" y="216"/>
                  <a:pt x="177" y="211"/>
                </a:cubicBezTo>
                <a:lnTo>
                  <a:pt x="178" y="209"/>
                </a:lnTo>
              </a:path>
            </a:pathLst>
          </a:custGeom>
          <a:solidFill>
            <a:srgbClr val="F4B18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770" name="table 1770"/>
          <p:cNvGraphicFramePr>
            <a:graphicFrameLocks noGrp="1"/>
          </p:cNvGraphicFramePr>
          <p:nvPr/>
        </p:nvGraphicFramePr>
        <p:xfrm>
          <a:off x="3115856" y="1383372"/>
          <a:ext cx="6076315" cy="5433695"/>
        </p:xfrm>
        <a:graphic>
          <a:graphicData uri="http://schemas.openxmlformats.org/drawingml/2006/table">
            <a:tbl>
              <a:tblPr/>
              <a:tblGrid>
                <a:gridCol w="6076315"/>
              </a:tblGrid>
              <a:tr h="54336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3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5917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可配置模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  <a:p>
                      <a:pPr marL="3761740" algn="l" rtl="0" eaLnBrk="0">
                        <a:lnSpc>
                          <a:spcPts val="1279"/>
                        </a:lnSpc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块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32225" algn="l" rtl="0" eaLnBrk="0">
                        <a:lnSpc>
                          <a:spcPts val="1904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SuperBOM</a:t>
                      </a:r>
                      <a:r>
                        <a:rPr sz="14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ATO</a:t>
                      </a:r>
                      <a:r>
                        <a:rPr sz="14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&amp;</a:t>
                      </a: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CTO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772" name="picture 17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986016" y="5733288"/>
            <a:ext cx="1056131" cy="249936"/>
          </a:xfrm>
          <a:prstGeom prst="rect">
            <a:avLst/>
          </a:prstGeom>
        </p:spPr>
      </p:pic>
      <p:sp>
        <p:nvSpPr>
          <p:cNvPr id="1774" name="path 1774"/>
          <p:cNvSpPr/>
          <p:nvPr/>
        </p:nvSpPr>
        <p:spPr>
          <a:xfrm>
            <a:off x="7727277" y="2437244"/>
            <a:ext cx="67982" cy="67488"/>
          </a:xfrm>
          <a:custGeom>
            <a:avLst/>
            <a:gdLst/>
            <a:ahLst/>
            <a:cxnLst/>
            <a:rect l="0" t="0" r="0" b="0"/>
            <a:pathLst>
              <a:path w="107" h="106">
                <a:moveTo>
                  <a:pt x="107" y="52"/>
                </a:moveTo>
                <a:cubicBezTo>
                  <a:pt x="106" y="82"/>
                  <a:pt x="82" y="106"/>
                  <a:pt x="53" y="106"/>
                </a:cubicBezTo>
                <a:cubicBezTo>
                  <a:pt x="23" y="106"/>
                  <a:pt x="0" y="82"/>
                  <a:pt x="0" y="53"/>
                </a:cubicBezTo>
                <a:cubicBezTo>
                  <a:pt x="0" y="23"/>
                  <a:pt x="23" y="0"/>
                  <a:pt x="53" y="0"/>
                </a:cubicBezTo>
                <a:cubicBezTo>
                  <a:pt x="82" y="0"/>
                  <a:pt x="106" y="23"/>
                  <a:pt x="107" y="52"/>
                </a:cubicBezTo>
              </a:path>
            </a:pathLst>
          </a:custGeom>
          <a:solidFill>
            <a:srgbClr val="C9C9C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776" name="picture 17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780532" y="4940808"/>
            <a:ext cx="1056132" cy="251460"/>
          </a:xfrm>
          <a:prstGeom prst="rect">
            <a:avLst/>
          </a:prstGeom>
        </p:spPr>
      </p:pic>
      <p:graphicFrame>
        <p:nvGraphicFramePr>
          <p:cNvPr id="1778" name="table 1778"/>
          <p:cNvGraphicFramePr>
            <a:graphicFrameLocks noGrp="1"/>
          </p:cNvGraphicFramePr>
          <p:nvPr/>
        </p:nvGraphicFramePr>
        <p:xfrm>
          <a:off x="5777013" y="4937353"/>
          <a:ext cx="1063624" cy="257810"/>
        </p:xfrm>
        <a:graphic>
          <a:graphicData uri="http://schemas.openxmlformats.org/drawingml/2006/table">
            <a:tbl>
              <a:tblPr/>
              <a:tblGrid>
                <a:gridCol w="1063624"/>
              </a:tblGrid>
              <a:tr h="251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325" algn="l" rtl="0" eaLnBrk="0">
                        <a:lnSpc>
                          <a:spcPts val="120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门组件1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80" name="table 1780"/>
          <p:cNvGraphicFramePr>
            <a:graphicFrameLocks noGrp="1"/>
          </p:cNvGraphicFramePr>
          <p:nvPr/>
        </p:nvGraphicFramePr>
        <p:xfrm>
          <a:off x="4736414" y="4643615"/>
          <a:ext cx="1075054" cy="269239"/>
        </p:xfrm>
        <a:graphic>
          <a:graphicData uri="http://schemas.openxmlformats.org/drawingml/2006/table">
            <a:tbl>
              <a:tblPr>
                <a:solidFill>
                  <a:srgbClr val="ED7D31"/>
                </a:solidFill>
              </a:tblPr>
              <a:tblGrid>
                <a:gridCol w="1075054"/>
              </a:tblGrid>
              <a:tr h="2501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</a:tr>
            </a:tbl>
          </a:graphicData>
        </a:graphic>
      </p:graphicFrame>
      <p:pic>
        <p:nvPicPr>
          <p:cNvPr id="1782" name="picture 17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270182" y="4903749"/>
            <a:ext cx="510641" cy="166535"/>
          </a:xfrm>
          <a:prstGeom prst="rect">
            <a:avLst/>
          </a:prstGeom>
        </p:spPr>
      </p:pic>
      <p:pic>
        <p:nvPicPr>
          <p:cNvPr id="1784" name="picture 17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270182" y="4903749"/>
            <a:ext cx="510641" cy="1318666"/>
          </a:xfrm>
          <a:prstGeom prst="rect">
            <a:avLst/>
          </a:prstGeom>
        </p:spPr>
      </p:pic>
      <p:pic>
        <p:nvPicPr>
          <p:cNvPr id="1786" name="picture 178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305079" y="5191785"/>
            <a:ext cx="680758" cy="670585"/>
          </a:xfrm>
          <a:prstGeom prst="rect">
            <a:avLst/>
          </a:prstGeom>
        </p:spPr>
      </p:pic>
      <p:pic>
        <p:nvPicPr>
          <p:cNvPr id="1788" name="picture 178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986016" y="5157216"/>
            <a:ext cx="1056131" cy="249936"/>
          </a:xfrm>
          <a:prstGeom prst="rect">
            <a:avLst/>
          </a:prstGeom>
        </p:spPr>
      </p:pic>
      <p:pic>
        <p:nvPicPr>
          <p:cNvPr id="1790" name="picture 179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986016" y="5445252"/>
            <a:ext cx="1056131" cy="249936"/>
          </a:xfrm>
          <a:prstGeom prst="rect">
            <a:avLst/>
          </a:prstGeom>
        </p:spPr>
      </p:pic>
      <p:sp>
        <p:nvSpPr>
          <p:cNvPr id="1792" name="path 1792"/>
          <p:cNvSpPr/>
          <p:nvPr/>
        </p:nvSpPr>
        <p:spPr>
          <a:xfrm>
            <a:off x="5657773" y="5038318"/>
            <a:ext cx="5106238" cy="1087767"/>
          </a:xfrm>
          <a:custGeom>
            <a:avLst/>
            <a:gdLst/>
            <a:ahLst/>
            <a:cxnLst/>
            <a:rect l="0" t="0" r="0" b="0"/>
            <a:pathLst>
              <a:path w="8041" h="1713">
                <a:moveTo>
                  <a:pt x="7995" y="336"/>
                </a:moveTo>
                <a:lnTo>
                  <a:pt x="8041" y="813"/>
                </a:lnTo>
                <a:lnTo>
                  <a:pt x="7844" y="734"/>
                </a:lnTo>
                <a:cubicBezTo>
                  <a:pt x="6831" y="1713"/>
                  <a:pt x="3575" y="1452"/>
                  <a:pt x="96" y="39"/>
                </a:cubicBezTo>
                <a:cubicBezTo>
                  <a:pt x="64" y="26"/>
                  <a:pt x="31" y="13"/>
                  <a:pt x="0" y="0"/>
                </a:cubicBezTo>
                <a:cubicBezTo>
                  <a:pt x="3443" y="1379"/>
                  <a:pt x="6648" y="1625"/>
                  <a:pt x="7652" y="655"/>
                </a:cubicBezTo>
                <a:lnTo>
                  <a:pt x="7458" y="576"/>
                </a:lnTo>
                <a:lnTo>
                  <a:pt x="7995" y="336"/>
                </a:lnTo>
              </a:path>
            </a:pathLst>
          </a:custGeom>
          <a:solidFill>
            <a:srgbClr val="8FAAD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794" name="picture 179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0078745" y="2278850"/>
            <a:ext cx="678002" cy="577900"/>
          </a:xfrm>
          <a:prstGeom prst="rect">
            <a:avLst/>
          </a:prstGeom>
        </p:spPr>
      </p:pic>
      <p:pic>
        <p:nvPicPr>
          <p:cNvPr id="1796" name="picture 179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0078745" y="2278850"/>
            <a:ext cx="678002" cy="937932"/>
          </a:xfrm>
          <a:prstGeom prst="rect">
            <a:avLst/>
          </a:prstGeom>
        </p:spPr>
      </p:pic>
      <p:pic>
        <p:nvPicPr>
          <p:cNvPr id="1798" name="picture 179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0078745" y="2278850"/>
            <a:ext cx="678002" cy="1279270"/>
          </a:xfrm>
          <a:prstGeom prst="rect">
            <a:avLst/>
          </a:prstGeom>
        </p:spPr>
      </p:pic>
      <p:pic>
        <p:nvPicPr>
          <p:cNvPr id="1800" name="picture 180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811011" y="2781300"/>
            <a:ext cx="1056131" cy="249935"/>
          </a:xfrm>
          <a:prstGeom prst="rect">
            <a:avLst/>
          </a:prstGeom>
        </p:spPr>
      </p:pic>
      <p:graphicFrame>
        <p:nvGraphicFramePr>
          <p:cNvPr id="1802" name="table 1802"/>
          <p:cNvGraphicFramePr>
            <a:graphicFrameLocks noGrp="1"/>
          </p:cNvGraphicFramePr>
          <p:nvPr/>
        </p:nvGraphicFramePr>
        <p:xfrm>
          <a:off x="4736414" y="2509037"/>
          <a:ext cx="1075054" cy="269240"/>
        </p:xfrm>
        <a:graphic>
          <a:graphicData uri="http://schemas.openxmlformats.org/drawingml/2006/table">
            <a:tbl>
              <a:tblPr>
                <a:solidFill>
                  <a:srgbClr val="ED7D31"/>
                </a:solidFill>
              </a:tblPr>
              <a:tblGrid>
                <a:gridCol w="1075054"/>
              </a:tblGrid>
              <a:tr h="2501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</a:tr>
            </a:tbl>
          </a:graphicData>
        </a:graphic>
      </p:graphicFrame>
      <p:pic>
        <p:nvPicPr>
          <p:cNvPr id="1804" name="picture 180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5270182" y="2769171"/>
            <a:ext cx="541197" cy="428904"/>
          </a:xfrm>
          <a:prstGeom prst="rect">
            <a:avLst/>
          </a:prstGeom>
        </p:spPr>
      </p:pic>
      <p:pic>
        <p:nvPicPr>
          <p:cNvPr id="1806" name="picture 180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5270182" y="2769184"/>
            <a:ext cx="531875" cy="716927"/>
          </a:xfrm>
          <a:prstGeom prst="rect">
            <a:avLst/>
          </a:prstGeom>
        </p:spPr>
      </p:pic>
      <p:graphicFrame>
        <p:nvGraphicFramePr>
          <p:cNvPr id="1808" name="table 1808"/>
          <p:cNvGraphicFramePr>
            <a:graphicFrameLocks noGrp="1"/>
          </p:cNvGraphicFramePr>
          <p:nvPr/>
        </p:nvGraphicFramePr>
        <p:xfrm>
          <a:off x="5795708" y="3062605"/>
          <a:ext cx="1068705" cy="262890"/>
        </p:xfrm>
        <a:graphic>
          <a:graphicData uri="http://schemas.openxmlformats.org/drawingml/2006/table">
            <a:tbl>
              <a:tblPr>
                <a:solidFill>
                  <a:srgbClr val="A5A5A5"/>
                </a:solidFill>
              </a:tblPr>
              <a:tblGrid>
                <a:gridCol w="1068705"/>
              </a:tblGrid>
              <a:tr h="2501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4950" algn="l" rtl="0" eaLnBrk="0">
                        <a:lnSpc>
                          <a:spcPts val="120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箱体组件2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0" name="table 1810"/>
          <p:cNvGraphicFramePr>
            <a:graphicFrameLocks noGrp="1"/>
          </p:cNvGraphicFramePr>
          <p:nvPr/>
        </p:nvGraphicFramePr>
        <p:xfrm>
          <a:off x="5795708" y="3350640"/>
          <a:ext cx="1068705" cy="262889"/>
        </p:xfrm>
        <a:graphic>
          <a:graphicData uri="http://schemas.openxmlformats.org/drawingml/2006/table">
            <a:tbl>
              <a:tblPr>
                <a:solidFill>
                  <a:srgbClr val="A5A5A5"/>
                </a:solidFill>
              </a:tblPr>
              <a:tblGrid>
                <a:gridCol w="1068705"/>
              </a:tblGrid>
              <a:tr h="2501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4950" algn="l" rtl="0" eaLnBrk="0">
                        <a:lnSpc>
                          <a:spcPts val="120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箱体组件3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</a:tr>
            </a:tbl>
          </a:graphicData>
        </a:graphic>
      </p:graphicFrame>
      <p:sp>
        <p:nvSpPr>
          <p:cNvPr id="1812" name="path 1812"/>
          <p:cNvSpPr/>
          <p:nvPr/>
        </p:nvSpPr>
        <p:spPr>
          <a:xfrm>
            <a:off x="7089559" y="2945586"/>
            <a:ext cx="22948" cy="22492"/>
          </a:xfrm>
          <a:custGeom>
            <a:avLst/>
            <a:gdLst/>
            <a:ahLst/>
            <a:cxnLst/>
            <a:rect l="0" t="0" r="0" b="0"/>
            <a:pathLst>
              <a:path w="36" h="35">
                <a:moveTo>
                  <a:pt x="36" y="17"/>
                </a:moveTo>
                <a:cubicBezTo>
                  <a:pt x="35" y="27"/>
                  <a:pt x="27" y="35"/>
                  <a:pt x="17" y="35"/>
                </a:cubicBezTo>
                <a:cubicBezTo>
                  <a:pt x="7" y="35"/>
                  <a:pt x="0" y="27"/>
                  <a:pt x="0" y="17"/>
                </a:cubicBezTo>
                <a:cubicBezTo>
                  <a:pt x="0" y="7"/>
                  <a:pt x="7" y="0"/>
                  <a:pt x="17" y="0"/>
                </a:cubicBezTo>
                <a:cubicBezTo>
                  <a:pt x="27" y="0"/>
                  <a:pt x="35" y="7"/>
                  <a:pt x="36" y="17"/>
                </a:cubicBezTo>
              </a:path>
            </a:pathLst>
          </a:custGeom>
          <a:solidFill>
            <a:srgbClr val="C9C9C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14" name="path 1814"/>
          <p:cNvSpPr/>
          <p:nvPr/>
        </p:nvSpPr>
        <p:spPr>
          <a:xfrm>
            <a:off x="7399363" y="2698076"/>
            <a:ext cx="45377" cy="44996"/>
          </a:xfrm>
          <a:custGeom>
            <a:avLst/>
            <a:gdLst/>
            <a:ahLst/>
            <a:cxnLst/>
            <a:rect l="0" t="0" r="0" b="0"/>
            <a:pathLst>
              <a:path w="71" h="70">
                <a:moveTo>
                  <a:pt x="71" y="35"/>
                </a:moveTo>
                <a:cubicBezTo>
                  <a:pt x="70" y="55"/>
                  <a:pt x="54" y="70"/>
                  <a:pt x="35" y="70"/>
                </a:cubicBezTo>
                <a:cubicBezTo>
                  <a:pt x="15" y="70"/>
                  <a:pt x="0" y="55"/>
                  <a:pt x="0" y="35"/>
                </a:cubicBezTo>
                <a:cubicBezTo>
                  <a:pt x="0" y="15"/>
                  <a:pt x="15" y="0"/>
                  <a:pt x="35" y="0"/>
                </a:cubicBezTo>
                <a:cubicBezTo>
                  <a:pt x="54" y="0"/>
                  <a:pt x="70" y="15"/>
                  <a:pt x="71" y="35"/>
                </a:cubicBezTo>
              </a:path>
            </a:pathLst>
          </a:custGeom>
          <a:solidFill>
            <a:srgbClr val="C9C9C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816" name="table 1816"/>
          <p:cNvGraphicFramePr>
            <a:graphicFrameLocks noGrp="1"/>
          </p:cNvGraphicFramePr>
          <p:nvPr/>
        </p:nvGraphicFramePr>
        <p:xfrm>
          <a:off x="9830892" y="4370019"/>
          <a:ext cx="1834515" cy="526414"/>
        </p:xfrm>
        <a:graphic>
          <a:graphicData uri="http://schemas.openxmlformats.org/drawingml/2006/table">
            <a:tbl>
              <a:tblPr>
                <a:solidFill>
                  <a:srgbClr val="5B9BD5"/>
                </a:solidFill>
              </a:tblPr>
              <a:tblGrid>
                <a:gridCol w="1834515"/>
              </a:tblGrid>
              <a:tr h="5073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6845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3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输出制造端</a:t>
                      </a:r>
                      <a:endParaRPr sz="23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</a:tbl>
          </a:graphicData>
        </a:graphic>
      </p:graphicFrame>
      <p:grpSp>
        <p:nvGrpSpPr>
          <p:cNvPr id="118" name="group 118"/>
          <p:cNvGrpSpPr/>
          <p:nvPr/>
        </p:nvGrpSpPr>
        <p:grpSpPr>
          <a:xfrm rot="21600000">
            <a:off x="9407652" y="5328951"/>
            <a:ext cx="2517647" cy="1393654"/>
            <a:chOff x="0" y="0"/>
            <a:chExt cx="2517647" cy="1393654"/>
          </a:xfrm>
        </p:grpSpPr>
        <p:sp>
          <p:nvSpPr>
            <p:cNvPr id="1818" name="rect 1818"/>
            <p:cNvSpPr/>
            <p:nvPr/>
          </p:nvSpPr>
          <p:spPr>
            <a:xfrm>
              <a:off x="0" y="32480"/>
              <a:ext cx="2517647" cy="1333500"/>
            </a:xfrm>
            <a:prstGeom prst="rect">
              <a:avLst/>
            </a:prstGeom>
            <a:solidFill>
              <a:srgbClr val="4472C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20" name="textbox 1820"/>
            <p:cNvSpPr/>
            <p:nvPr/>
          </p:nvSpPr>
          <p:spPr>
            <a:xfrm>
              <a:off x="-12700" y="-12700"/>
              <a:ext cx="2543175" cy="14420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89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3350" algn="l" rtl="0" eaLnBrk="0">
                <a:lnSpc>
                  <a:spcPct val="97000"/>
                </a:lnSpc>
                <a:tabLst/>
              </a:pPr>
              <a:r>
                <a:rPr sz="1300" b="1" kern="0" spc="10" dirty="0">
                  <a:solidFill>
                    <a:srgbClr val="FFFFFF">
                      <a:alpha val="100000"/>
                    </a:srgbClr>
                  </a:solidFill>
                  <a:latin typeface="NSimSun"/>
                  <a:ea typeface="NSimSun"/>
                  <a:cs typeface="NSimSun"/>
                </a:rPr>
                <a:t>※※模块定义需考虑：</a:t>
              </a:r>
              <a:endParaRPr sz="1300" dirty="0">
                <a:latin typeface="NSimSun"/>
                <a:ea typeface="NSimSun"/>
                <a:cs typeface="NSimSun"/>
              </a:endParaRPr>
            </a:p>
            <a:p>
              <a:pPr marL="118110" indent="12700" algn="l" rtl="0" eaLnBrk="0">
                <a:lnSpc>
                  <a:spcPct val="100000"/>
                </a:lnSpc>
                <a:spcBef>
                  <a:spcPts val="95"/>
                </a:spcBef>
                <a:tabLst/>
              </a:pPr>
              <a:r>
                <a:rPr sz="1300" b="1" kern="0" spc="20" dirty="0">
                  <a:solidFill>
                    <a:srgbClr val="FFFFFF">
                      <a:alpha val="100000"/>
                    </a:srgbClr>
                  </a:solidFill>
                  <a:latin typeface="NSimSun"/>
                  <a:ea typeface="NSimSun"/>
                  <a:cs typeface="NSimSun"/>
                </a:rPr>
                <a:t>1.研发：组件通用性、重用度，</a:t>
              </a:r>
              <a:r>
                <a:rPr sz="1300" kern="0" spc="50" dirty="0">
                  <a:solidFill>
                    <a:srgbClr val="FFFFFF">
                      <a:alpha val="100000"/>
                    </a:srgbClr>
                  </a:solidFill>
                  <a:latin typeface="NSimSun"/>
                  <a:ea typeface="NSimSun"/>
                  <a:cs typeface="NSimSun"/>
                </a:rPr>
                <a:t> </a:t>
              </a:r>
              <a:r>
                <a:rPr sz="1300" b="1" kern="0" spc="20" dirty="0">
                  <a:solidFill>
                    <a:srgbClr val="FFFFFF">
                      <a:alpha val="100000"/>
                    </a:srgbClr>
                  </a:solidFill>
                  <a:latin typeface="NSimSun"/>
                  <a:ea typeface="NSimSun"/>
                  <a:cs typeface="NSimSun"/>
                </a:rPr>
                <a:t>接口标准化、可替换；</a:t>
              </a:r>
              <a:endParaRPr sz="1300" dirty="0">
                <a:latin typeface="NSimSun"/>
                <a:ea typeface="NSimSun"/>
                <a:cs typeface="NSimSun"/>
              </a:endParaRPr>
            </a:p>
            <a:p>
              <a:pPr marL="120014" indent="635" algn="l" rtl="0" eaLnBrk="0">
                <a:lnSpc>
                  <a:spcPct val="100000"/>
                </a:lnSpc>
                <a:spcBef>
                  <a:spcPts val="85"/>
                </a:spcBef>
                <a:tabLst/>
              </a:pPr>
              <a:r>
                <a:rPr sz="1300" b="1" kern="0" spc="30" dirty="0">
                  <a:solidFill>
                    <a:srgbClr val="FFFFFF">
                      <a:alpha val="100000"/>
                    </a:srgbClr>
                  </a:solidFill>
                  <a:latin typeface="NSimSun"/>
                  <a:ea typeface="NSimSun"/>
                  <a:cs typeface="NSimSun"/>
                </a:rPr>
                <a:t>2.营销：需求与模块匹配要求</a:t>
              </a: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NSimSun"/>
                  <a:ea typeface="NSimSun"/>
                  <a:cs typeface="NSimSun"/>
                </a:rPr>
                <a:t>   </a:t>
              </a:r>
              <a:r>
                <a:rPr sz="1300" b="1" kern="0" spc="30" dirty="0">
                  <a:solidFill>
                    <a:srgbClr val="FFFFFF">
                      <a:alpha val="100000"/>
                    </a:srgbClr>
                  </a:solidFill>
                  <a:latin typeface="NSimSun"/>
                  <a:ea typeface="NSimSun"/>
                  <a:cs typeface="NSimSun"/>
                </a:rPr>
                <a:t>直接简单，控制逻辑清晰</a:t>
              </a:r>
              <a:r>
                <a:rPr sz="1300" b="1" kern="0" spc="20" dirty="0">
                  <a:solidFill>
                    <a:srgbClr val="FFFFFF">
                      <a:alpha val="100000"/>
                    </a:srgbClr>
                  </a:solidFill>
                  <a:latin typeface="NSimSun"/>
                  <a:ea typeface="NSimSun"/>
                  <a:cs typeface="NSimSun"/>
                </a:rPr>
                <a:t>；</a:t>
              </a:r>
              <a:endParaRPr sz="1300" dirty="0">
                <a:latin typeface="NSimSun"/>
                <a:ea typeface="NSimSun"/>
                <a:cs typeface="NSimSun"/>
              </a:endParaRPr>
            </a:p>
            <a:p>
              <a:pPr marL="120014" indent="1905" algn="l" rtl="0" eaLnBrk="0">
                <a:lnSpc>
                  <a:spcPct val="100000"/>
                </a:lnSpc>
                <a:spcBef>
                  <a:spcPts val="95"/>
                </a:spcBef>
                <a:tabLst/>
              </a:pPr>
              <a:r>
                <a:rPr sz="1300" b="1" kern="0" spc="30" dirty="0">
                  <a:solidFill>
                    <a:srgbClr val="FFFFFF">
                      <a:alpha val="100000"/>
                    </a:srgbClr>
                  </a:solidFill>
                  <a:latin typeface="NSimSun"/>
                  <a:ea typeface="NSimSun"/>
                  <a:cs typeface="NSimSun"/>
                </a:rPr>
                <a:t>3.制造：可制造性，组件发外</a:t>
              </a: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NSimSun"/>
                  <a:ea typeface="NSimSun"/>
                  <a:cs typeface="NSimSun"/>
                </a:rPr>
                <a:t>   </a:t>
              </a:r>
              <a:r>
                <a:rPr sz="1300" b="1" kern="0" spc="10" dirty="0">
                  <a:solidFill>
                    <a:srgbClr val="FFFFFF">
                      <a:alpha val="100000"/>
                    </a:srgbClr>
                  </a:solidFill>
                  <a:latin typeface="NSimSun"/>
                  <a:ea typeface="NSimSun"/>
                  <a:cs typeface="NSimSun"/>
                </a:rPr>
                <a:t>等场景匹配；</a:t>
              </a:r>
              <a:endParaRPr sz="1300" dirty="0">
                <a:latin typeface="NSimSun"/>
                <a:ea typeface="NSimSun"/>
                <a:cs typeface="NSimSun"/>
              </a:endParaRPr>
            </a:p>
          </p:txBody>
        </p:sp>
      </p:grpSp>
      <p:pic>
        <p:nvPicPr>
          <p:cNvPr id="1822" name="picture 18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6836917" y="2445042"/>
            <a:ext cx="3919830" cy="3777373"/>
          </a:xfrm>
          <a:prstGeom prst="rect">
            <a:avLst/>
          </a:prstGeom>
        </p:spPr>
      </p:pic>
      <p:graphicFrame>
        <p:nvGraphicFramePr>
          <p:cNvPr id="1824" name="table 1824"/>
          <p:cNvGraphicFramePr>
            <a:graphicFrameLocks noGrp="1"/>
          </p:cNvGraphicFramePr>
          <p:nvPr/>
        </p:nvGraphicFramePr>
        <p:xfrm>
          <a:off x="4736414" y="6409220"/>
          <a:ext cx="1075054" cy="269240"/>
        </p:xfrm>
        <a:graphic>
          <a:graphicData uri="http://schemas.openxmlformats.org/drawingml/2006/table">
            <a:tbl>
              <a:tblPr>
                <a:solidFill>
                  <a:srgbClr val="ED7D31"/>
                </a:solidFill>
              </a:tblPr>
              <a:tblGrid>
                <a:gridCol w="1075054"/>
              </a:tblGrid>
              <a:tr h="2501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8765" algn="l" rtl="0" eaLnBrk="0">
                        <a:lnSpc>
                          <a:spcPts val="1207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……模块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26" name="table 1826"/>
          <p:cNvGraphicFramePr>
            <a:graphicFrameLocks noGrp="1"/>
          </p:cNvGraphicFramePr>
          <p:nvPr/>
        </p:nvGraphicFramePr>
        <p:xfrm>
          <a:off x="4736414" y="3707510"/>
          <a:ext cx="1075054" cy="269239"/>
        </p:xfrm>
        <a:graphic>
          <a:graphicData uri="http://schemas.openxmlformats.org/drawingml/2006/table">
            <a:tbl>
              <a:tblPr>
                <a:solidFill>
                  <a:srgbClr val="ED7D31"/>
                </a:solidFill>
              </a:tblPr>
              <a:tblGrid>
                <a:gridCol w="1075054"/>
              </a:tblGrid>
              <a:tr h="2501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</a:tr>
            </a:tbl>
          </a:graphicData>
        </a:graphic>
      </p:graphicFrame>
      <p:pic>
        <p:nvPicPr>
          <p:cNvPr id="1828" name="picture 182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4049178" y="2416009"/>
            <a:ext cx="696760" cy="4131856"/>
          </a:xfrm>
          <a:prstGeom prst="rect">
            <a:avLst/>
          </a:prstGeom>
        </p:spPr>
      </p:pic>
      <p:sp>
        <p:nvSpPr>
          <p:cNvPr id="1830" name="path 1830"/>
          <p:cNvSpPr/>
          <p:nvPr/>
        </p:nvSpPr>
        <p:spPr>
          <a:xfrm>
            <a:off x="4902327" y="1851253"/>
            <a:ext cx="1249819" cy="405053"/>
          </a:xfrm>
          <a:custGeom>
            <a:avLst/>
            <a:gdLst/>
            <a:ahLst/>
            <a:cxnLst/>
            <a:rect l="0" t="0" r="0" b="0"/>
            <a:pathLst>
              <a:path w="1968" h="637">
                <a:moveTo>
                  <a:pt x="178" y="209"/>
                </a:moveTo>
                <a:cubicBezTo>
                  <a:pt x="177" y="204"/>
                  <a:pt x="176" y="197"/>
                  <a:pt x="176" y="191"/>
                </a:cubicBezTo>
                <a:cubicBezTo>
                  <a:pt x="176" y="116"/>
                  <a:pt x="313" y="56"/>
                  <a:pt x="483" y="56"/>
                </a:cubicBezTo>
                <a:cubicBezTo>
                  <a:pt x="540" y="56"/>
                  <a:pt x="593" y="62"/>
                  <a:pt x="638" y="74"/>
                </a:cubicBezTo>
                <a:cubicBezTo>
                  <a:pt x="679" y="40"/>
                  <a:pt x="760" y="17"/>
                  <a:pt x="853" y="17"/>
                </a:cubicBezTo>
                <a:cubicBezTo>
                  <a:pt x="919" y="17"/>
                  <a:pt x="979" y="29"/>
                  <a:pt x="1023" y="48"/>
                </a:cubicBezTo>
                <a:cubicBezTo>
                  <a:pt x="1056" y="19"/>
                  <a:pt x="1123" y="0"/>
                  <a:pt x="1201" y="0"/>
                </a:cubicBezTo>
                <a:cubicBezTo>
                  <a:pt x="1265" y="0"/>
                  <a:pt x="1322" y="13"/>
                  <a:pt x="1359" y="34"/>
                </a:cubicBezTo>
                <a:cubicBezTo>
                  <a:pt x="1399" y="13"/>
                  <a:pt x="1460" y="0"/>
                  <a:pt x="1527" y="0"/>
                </a:cubicBezTo>
                <a:cubicBezTo>
                  <a:pt x="1636" y="0"/>
                  <a:pt x="1726" y="34"/>
                  <a:pt x="1745" y="80"/>
                </a:cubicBezTo>
                <a:cubicBezTo>
                  <a:pt x="1848" y="92"/>
                  <a:pt x="1924" y="134"/>
                  <a:pt x="1924" y="183"/>
                </a:cubicBezTo>
                <a:cubicBezTo>
                  <a:pt x="1924" y="198"/>
                  <a:pt x="1917" y="213"/>
                  <a:pt x="1904" y="226"/>
                </a:cubicBezTo>
                <a:cubicBezTo>
                  <a:pt x="1944" y="249"/>
                  <a:pt x="1968" y="277"/>
                  <a:pt x="1968" y="308"/>
                </a:cubicBezTo>
                <a:cubicBezTo>
                  <a:pt x="1968" y="377"/>
                  <a:pt x="1853" y="434"/>
                  <a:pt x="1703" y="443"/>
                </a:cubicBezTo>
                <a:cubicBezTo>
                  <a:pt x="1702" y="507"/>
                  <a:pt x="1585" y="558"/>
                  <a:pt x="1440" y="558"/>
                </a:cubicBezTo>
                <a:cubicBezTo>
                  <a:pt x="1389" y="558"/>
                  <a:pt x="1341" y="552"/>
                  <a:pt x="1301" y="541"/>
                </a:cubicBezTo>
                <a:cubicBezTo>
                  <a:pt x="1262" y="597"/>
                  <a:pt x="1145" y="637"/>
                  <a:pt x="1007" y="637"/>
                </a:cubicBezTo>
                <a:cubicBezTo>
                  <a:pt x="900" y="637"/>
                  <a:pt x="806" y="613"/>
                  <a:pt x="751" y="577"/>
                </a:cubicBezTo>
                <a:cubicBezTo>
                  <a:pt x="698" y="591"/>
                  <a:pt x="636" y="599"/>
                  <a:pt x="570" y="599"/>
                </a:cubicBezTo>
                <a:cubicBezTo>
                  <a:pt x="440" y="599"/>
                  <a:pt x="326" y="568"/>
                  <a:pt x="265" y="521"/>
                </a:cubicBezTo>
                <a:cubicBezTo>
                  <a:pt x="258" y="521"/>
                  <a:pt x="250" y="522"/>
                  <a:pt x="242" y="522"/>
                </a:cubicBezTo>
                <a:cubicBezTo>
                  <a:pt x="133" y="522"/>
                  <a:pt x="44" y="482"/>
                  <a:pt x="44" y="434"/>
                </a:cubicBezTo>
                <a:cubicBezTo>
                  <a:pt x="44" y="411"/>
                  <a:pt x="64" y="390"/>
                  <a:pt x="97" y="375"/>
                </a:cubicBezTo>
                <a:cubicBezTo>
                  <a:pt x="39" y="359"/>
                  <a:pt x="0" y="331"/>
                  <a:pt x="0" y="299"/>
                </a:cubicBezTo>
                <a:cubicBezTo>
                  <a:pt x="0" y="253"/>
                  <a:pt x="77" y="216"/>
                  <a:pt x="177" y="211"/>
                </a:cubicBezTo>
                <a:lnTo>
                  <a:pt x="178" y="209"/>
                </a:lnTo>
              </a:path>
            </a:pathLst>
          </a:custGeom>
          <a:solidFill>
            <a:srgbClr val="DEEB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32" name="path 1832"/>
          <p:cNvSpPr/>
          <p:nvPr/>
        </p:nvSpPr>
        <p:spPr>
          <a:xfrm>
            <a:off x="4956555" y="2197265"/>
            <a:ext cx="68072" cy="67488"/>
          </a:xfrm>
          <a:custGeom>
            <a:avLst/>
            <a:gdLst/>
            <a:ahLst/>
            <a:cxnLst/>
            <a:rect l="0" t="0" r="0" b="0"/>
            <a:pathLst>
              <a:path w="107" h="106">
                <a:moveTo>
                  <a:pt x="107" y="53"/>
                </a:moveTo>
                <a:cubicBezTo>
                  <a:pt x="106" y="82"/>
                  <a:pt x="82" y="106"/>
                  <a:pt x="53" y="106"/>
                </a:cubicBezTo>
                <a:cubicBezTo>
                  <a:pt x="23" y="106"/>
                  <a:pt x="0" y="82"/>
                  <a:pt x="0" y="53"/>
                </a:cubicBezTo>
                <a:cubicBezTo>
                  <a:pt x="0" y="23"/>
                  <a:pt x="23" y="0"/>
                  <a:pt x="53" y="0"/>
                </a:cubicBezTo>
                <a:cubicBezTo>
                  <a:pt x="82" y="0"/>
                  <a:pt x="106" y="23"/>
                  <a:pt x="107" y="53"/>
                </a:cubicBezTo>
              </a:path>
            </a:pathLst>
          </a:custGeom>
          <a:solidFill>
            <a:srgbClr val="DEEB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34" name="path 1834"/>
          <p:cNvSpPr/>
          <p:nvPr/>
        </p:nvSpPr>
        <p:spPr>
          <a:xfrm>
            <a:off x="4755095" y="2249296"/>
            <a:ext cx="135420" cy="67424"/>
          </a:xfrm>
          <a:custGeom>
            <a:avLst/>
            <a:gdLst/>
            <a:ahLst/>
            <a:cxnLst/>
            <a:rect l="0" t="0" r="0" b="0"/>
            <a:pathLst>
              <a:path w="213" h="106">
                <a:moveTo>
                  <a:pt x="35" y="89"/>
                </a:moveTo>
                <a:cubicBezTo>
                  <a:pt x="35" y="98"/>
                  <a:pt x="27" y="106"/>
                  <a:pt x="17" y="106"/>
                </a:cubicBezTo>
                <a:cubicBezTo>
                  <a:pt x="7" y="106"/>
                  <a:pt x="0" y="98"/>
                  <a:pt x="0" y="88"/>
                </a:cubicBezTo>
                <a:cubicBezTo>
                  <a:pt x="0" y="78"/>
                  <a:pt x="7" y="70"/>
                  <a:pt x="17" y="70"/>
                </a:cubicBezTo>
                <a:cubicBezTo>
                  <a:pt x="27" y="70"/>
                  <a:pt x="35" y="78"/>
                  <a:pt x="35" y="89"/>
                </a:cubicBezTo>
              </a:path>
              <a:path w="213" h="106">
                <a:moveTo>
                  <a:pt x="213" y="36"/>
                </a:moveTo>
                <a:cubicBezTo>
                  <a:pt x="212" y="54"/>
                  <a:pt x="196" y="70"/>
                  <a:pt x="177" y="70"/>
                </a:cubicBezTo>
                <a:cubicBezTo>
                  <a:pt x="157" y="70"/>
                  <a:pt x="141" y="54"/>
                  <a:pt x="141" y="35"/>
                </a:cubicBezTo>
                <a:cubicBezTo>
                  <a:pt x="141" y="15"/>
                  <a:pt x="157" y="0"/>
                  <a:pt x="177" y="0"/>
                </a:cubicBezTo>
                <a:cubicBezTo>
                  <a:pt x="196" y="0"/>
                  <a:pt x="212" y="15"/>
                  <a:pt x="213" y="36"/>
                </a:cubicBezTo>
              </a:path>
            </a:pathLst>
          </a:custGeom>
          <a:solidFill>
            <a:srgbClr val="DEEB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836" name="picture 183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5270182" y="3967645"/>
            <a:ext cx="519963" cy="454571"/>
          </a:xfrm>
          <a:prstGeom prst="rect">
            <a:avLst/>
          </a:prstGeom>
        </p:spPr>
      </p:pic>
      <p:pic>
        <p:nvPicPr>
          <p:cNvPr id="1838" name="picture 183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1756619" y="1623059"/>
            <a:ext cx="3926654" cy="3431577"/>
          </a:xfrm>
          <a:prstGeom prst="rect">
            <a:avLst/>
          </a:prstGeom>
        </p:spPr>
      </p:pic>
      <p:sp>
        <p:nvSpPr>
          <p:cNvPr id="1840" name="textbox 1840"/>
          <p:cNvSpPr/>
          <p:nvPr/>
        </p:nvSpPr>
        <p:spPr>
          <a:xfrm>
            <a:off x="418592" y="-12700"/>
            <a:ext cx="7411084" cy="1202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1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9105" algn="l" rtl="0" eaLnBrk="0">
              <a:lnSpc>
                <a:spcPct val="94000"/>
              </a:lnSpc>
              <a:tabLst>
                <a:tab pos="581659" algn="l"/>
              </a:tabLst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6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平台化模块化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877"/>
              </a:lnSpc>
              <a:spcBef>
                <a:spcPts val="4"/>
              </a:spcBef>
              <a:tabLst/>
            </a:pPr>
            <a:r>
              <a:rPr sz="2300" kern="0" spc="1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23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支撑C2M的研发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数据平台定义—基于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平台化模块化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20" name="group 120"/>
          <p:cNvGrpSpPr/>
          <p:nvPr/>
        </p:nvGrpSpPr>
        <p:grpSpPr>
          <a:xfrm rot="21600000">
            <a:off x="431292" y="0"/>
            <a:ext cx="446531" cy="755903"/>
            <a:chOff x="0" y="0"/>
            <a:chExt cx="446531" cy="755903"/>
          </a:xfrm>
        </p:grpSpPr>
        <p:sp>
          <p:nvSpPr>
            <p:cNvPr id="1842" name="path 1842"/>
            <p:cNvSpPr/>
            <p:nvPr/>
          </p:nvSpPr>
          <p:spPr>
            <a:xfrm>
              <a:off x="0" y="0"/>
              <a:ext cx="216408" cy="755903"/>
            </a:xfrm>
            <a:custGeom>
              <a:avLst/>
              <a:gdLst/>
              <a:ahLst/>
              <a:cxnLst/>
              <a:rect l="0" t="0" r="0" b="0"/>
              <a:pathLst>
                <a:path w="340" h="1190">
                  <a:moveTo>
                    <a:pt x="0" y="0"/>
                  </a:moveTo>
                  <a:lnTo>
                    <a:pt x="340" y="0"/>
                  </a:lnTo>
                  <a:lnTo>
                    <a:pt x="340" y="1190"/>
                  </a:lnTo>
                  <a:lnTo>
                    <a:pt x="0" y="1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44" name="path 1844"/>
            <p:cNvSpPr/>
            <p:nvPr/>
          </p:nvSpPr>
          <p:spPr>
            <a:xfrm>
              <a:off x="231647" y="147828"/>
              <a:ext cx="214884" cy="605027"/>
            </a:xfrm>
            <a:custGeom>
              <a:avLst/>
              <a:gdLst/>
              <a:ahLst/>
              <a:cxnLst/>
              <a:rect l="0" t="0" r="0" b="0"/>
              <a:pathLst>
                <a:path w="338" h="952">
                  <a:moveTo>
                    <a:pt x="0" y="0"/>
                  </a:moveTo>
                  <a:lnTo>
                    <a:pt x="338" y="0"/>
                  </a:lnTo>
                  <a:lnTo>
                    <a:pt x="338" y="952"/>
                  </a:lnTo>
                  <a:lnTo>
                    <a:pt x="0" y="9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8DE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1846" name="picture 184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285082" y="2308011"/>
            <a:ext cx="2455445" cy="1690822"/>
          </a:xfrm>
          <a:prstGeom prst="rect">
            <a:avLst/>
          </a:prstGeom>
        </p:spPr>
      </p:pic>
      <p:sp>
        <p:nvSpPr>
          <p:cNvPr id="1848" name="textbox 1848"/>
          <p:cNvSpPr/>
          <p:nvPr/>
        </p:nvSpPr>
        <p:spPr>
          <a:xfrm>
            <a:off x="418852" y="4243596"/>
            <a:ext cx="2165350" cy="1565275"/>
          </a:xfrm>
          <a:prstGeom prst="rect">
            <a:avLst/>
          </a:prstGeom>
          <a:solidFill>
            <a:srgbClr val="EDEDE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514350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控制：检查通过√</a:t>
            </a:r>
            <a:endParaRPr sz="1100" dirty="0">
              <a:latin typeface="NSimSun"/>
              <a:ea typeface="NSimSun"/>
              <a:cs typeface="NSimSun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0335" algn="l" rtl="0" eaLnBrk="0">
              <a:lnSpc>
                <a:spcPct val="84000"/>
              </a:lnSpc>
              <a:spcBef>
                <a:spcPts val="330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箱体颜色选择银色，</a:t>
            </a:r>
            <a:endParaRPr sz="1100" dirty="0">
              <a:latin typeface="NSimSun"/>
              <a:ea typeface="NSimSun"/>
              <a:cs typeface="NSimSun"/>
            </a:endParaRPr>
          </a:p>
          <a:p>
            <a:pPr marL="139064" algn="l" rtl="0" eaLnBrk="0">
              <a:lnSpc>
                <a:spcPts val="1467"/>
              </a:lnSpc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控板颜色</a:t>
            </a:r>
            <a:r>
              <a:rPr sz="1100" kern="0" spc="-10" dirty="0">
                <a:solidFill>
                  <a:srgbClr val="00B05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必须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选银色</a:t>
            </a:r>
            <a:endParaRPr sz="1100" dirty="0">
              <a:latin typeface="NSimSun"/>
              <a:ea typeface="NSimSun"/>
              <a:cs typeface="NSimSun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4939" algn="l" rtl="0" eaLnBrk="0">
              <a:lnSpc>
                <a:spcPct val="95000"/>
              </a:lnSpc>
              <a:spcBef>
                <a:spcPts val="340"/>
              </a:spcBef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门外观选择大门圈，</a:t>
            </a:r>
            <a:endParaRPr sz="1100" dirty="0">
              <a:latin typeface="NSimSun"/>
              <a:ea typeface="NSimSun"/>
              <a:cs typeface="NSimSun"/>
            </a:endParaRPr>
          </a:p>
          <a:p>
            <a:pPr marL="140335" algn="l" rtl="0" eaLnBrk="0">
              <a:lnSpc>
                <a:spcPct val="96000"/>
              </a:lnSpc>
              <a:spcBef>
                <a:spcPts val="57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旋钮</a:t>
            </a:r>
            <a:r>
              <a:rPr sz="1100" kern="0" spc="-10" dirty="0">
                <a:solidFill>
                  <a:srgbClr val="FF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不能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选择E05系列</a:t>
            </a:r>
            <a:endParaRPr sz="1100" dirty="0">
              <a:latin typeface="NSimSun"/>
              <a:ea typeface="NSimSun"/>
              <a:cs typeface="NSimSun"/>
            </a:endParaRPr>
          </a:p>
        </p:txBody>
      </p:sp>
      <p:sp>
        <p:nvSpPr>
          <p:cNvPr id="1850" name="path 1850"/>
          <p:cNvSpPr/>
          <p:nvPr/>
        </p:nvSpPr>
        <p:spPr>
          <a:xfrm>
            <a:off x="7758900" y="1851253"/>
            <a:ext cx="1141551" cy="405053"/>
          </a:xfrm>
          <a:custGeom>
            <a:avLst/>
            <a:gdLst/>
            <a:ahLst/>
            <a:cxnLst/>
            <a:rect l="0" t="0" r="0" b="0"/>
            <a:pathLst>
              <a:path w="1797" h="637">
                <a:moveTo>
                  <a:pt x="162" y="209"/>
                </a:moveTo>
                <a:cubicBezTo>
                  <a:pt x="161" y="204"/>
                  <a:pt x="160" y="197"/>
                  <a:pt x="160" y="191"/>
                </a:cubicBezTo>
                <a:cubicBezTo>
                  <a:pt x="160" y="116"/>
                  <a:pt x="286" y="56"/>
                  <a:pt x="441" y="56"/>
                </a:cubicBezTo>
                <a:cubicBezTo>
                  <a:pt x="493" y="56"/>
                  <a:pt x="541" y="62"/>
                  <a:pt x="583" y="74"/>
                </a:cubicBezTo>
                <a:cubicBezTo>
                  <a:pt x="620" y="40"/>
                  <a:pt x="694" y="17"/>
                  <a:pt x="779" y="17"/>
                </a:cubicBezTo>
                <a:cubicBezTo>
                  <a:pt x="839" y="17"/>
                  <a:pt x="894" y="29"/>
                  <a:pt x="934" y="48"/>
                </a:cubicBezTo>
                <a:cubicBezTo>
                  <a:pt x="964" y="19"/>
                  <a:pt x="1026" y="0"/>
                  <a:pt x="1097" y="0"/>
                </a:cubicBezTo>
                <a:cubicBezTo>
                  <a:pt x="1155" y="0"/>
                  <a:pt x="1208" y="13"/>
                  <a:pt x="1241" y="34"/>
                </a:cubicBezTo>
                <a:cubicBezTo>
                  <a:pt x="1278" y="13"/>
                  <a:pt x="1333" y="0"/>
                  <a:pt x="1395" y="0"/>
                </a:cubicBezTo>
                <a:cubicBezTo>
                  <a:pt x="1494" y="0"/>
                  <a:pt x="1577" y="34"/>
                  <a:pt x="1594" y="80"/>
                </a:cubicBezTo>
                <a:cubicBezTo>
                  <a:pt x="1688" y="92"/>
                  <a:pt x="1757" y="134"/>
                  <a:pt x="1757" y="183"/>
                </a:cubicBezTo>
                <a:cubicBezTo>
                  <a:pt x="1757" y="198"/>
                  <a:pt x="1750" y="213"/>
                  <a:pt x="1739" y="226"/>
                </a:cubicBezTo>
                <a:cubicBezTo>
                  <a:pt x="1775" y="249"/>
                  <a:pt x="1797" y="277"/>
                  <a:pt x="1797" y="308"/>
                </a:cubicBezTo>
                <a:cubicBezTo>
                  <a:pt x="1797" y="377"/>
                  <a:pt x="1692" y="434"/>
                  <a:pt x="1556" y="443"/>
                </a:cubicBezTo>
                <a:cubicBezTo>
                  <a:pt x="1555" y="507"/>
                  <a:pt x="1447" y="558"/>
                  <a:pt x="1315" y="558"/>
                </a:cubicBezTo>
                <a:cubicBezTo>
                  <a:pt x="1268" y="558"/>
                  <a:pt x="1225" y="552"/>
                  <a:pt x="1188" y="541"/>
                </a:cubicBezTo>
                <a:cubicBezTo>
                  <a:pt x="1153" y="597"/>
                  <a:pt x="1046" y="637"/>
                  <a:pt x="919" y="637"/>
                </a:cubicBezTo>
                <a:cubicBezTo>
                  <a:pt x="822" y="637"/>
                  <a:pt x="736" y="613"/>
                  <a:pt x="686" y="577"/>
                </a:cubicBezTo>
                <a:cubicBezTo>
                  <a:pt x="638" y="591"/>
                  <a:pt x="581" y="599"/>
                  <a:pt x="521" y="599"/>
                </a:cubicBezTo>
                <a:cubicBezTo>
                  <a:pt x="402" y="599"/>
                  <a:pt x="298" y="568"/>
                  <a:pt x="242" y="521"/>
                </a:cubicBezTo>
                <a:cubicBezTo>
                  <a:pt x="235" y="521"/>
                  <a:pt x="228" y="522"/>
                  <a:pt x="221" y="522"/>
                </a:cubicBezTo>
                <a:cubicBezTo>
                  <a:pt x="121" y="522"/>
                  <a:pt x="40" y="482"/>
                  <a:pt x="40" y="434"/>
                </a:cubicBezTo>
                <a:cubicBezTo>
                  <a:pt x="40" y="411"/>
                  <a:pt x="58" y="390"/>
                  <a:pt x="89" y="375"/>
                </a:cubicBezTo>
                <a:cubicBezTo>
                  <a:pt x="35" y="359"/>
                  <a:pt x="0" y="331"/>
                  <a:pt x="0" y="299"/>
                </a:cubicBezTo>
                <a:cubicBezTo>
                  <a:pt x="0" y="253"/>
                  <a:pt x="71" y="216"/>
                  <a:pt x="161" y="211"/>
                </a:cubicBezTo>
                <a:lnTo>
                  <a:pt x="162" y="209"/>
                </a:lnTo>
              </a:path>
            </a:pathLst>
          </a:custGeom>
          <a:solidFill>
            <a:srgbClr val="C9C9C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52" name="textbox 1852"/>
          <p:cNvSpPr/>
          <p:nvPr/>
        </p:nvSpPr>
        <p:spPr>
          <a:xfrm>
            <a:off x="902208" y="1709928"/>
            <a:ext cx="2123439" cy="508000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756919" algn="l" rtl="0" eaLnBrk="0">
              <a:lnSpc>
                <a:spcPct val="98000"/>
              </a:lnSpc>
              <a:spcBef>
                <a:spcPts val="2"/>
              </a:spcBef>
              <a:tabLst/>
            </a:pPr>
            <a:r>
              <a:rPr sz="2300" kern="0" spc="70" dirty="0">
                <a:solidFill>
                  <a:srgbClr val="FFFFFF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平台输入</a:t>
            </a:r>
            <a:endParaRPr sz="2300" dirty="0">
              <a:latin typeface="NSimSun"/>
              <a:ea typeface="NSimSun"/>
              <a:cs typeface="NSimSun"/>
            </a:endParaRPr>
          </a:p>
        </p:txBody>
      </p:sp>
      <p:pic>
        <p:nvPicPr>
          <p:cNvPr id="1854" name="picture 185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2820212" y="1959444"/>
            <a:ext cx="6588149" cy="242252"/>
          </a:xfrm>
          <a:prstGeom prst="rect">
            <a:avLst/>
          </a:prstGeom>
        </p:spPr>
      </p:pic>
      <p:graphicFrame>
        <p:nvGraphicFramePr>
          <p:cNvPr id="1856" name="table 1856"/>
          <p:cNvGraphicFramePr>
            <a:graphicFrameLocks noGrp="1"/>
          </p:cNvGraphicFramePr>
          <p:nvPr/>
        </p:nvGraphicFramePr>
        <p:xfrm>
          <a:off x="3382301" y="2171610"/>
          <a:ext cx="1341120" cy="247650"/>
        </p:xfrm>
        <a:graphic>
          <a:graphicData uri="http://schemas.openxmlformats.org/drawingml/2006/table">
            <a:tbl>
              <a:tblPr/>
              <a:tblGrid>
                <a:gridCol w="1341120"/>
              </a:tblGrid>
              <a:tr h="241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6395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b="1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E系列爆款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858" name="picture 185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901738" y="2286190"/>
            <a:ext cx="4410316" cy="445249"/>
          </a:xfrm>
          <a:prstGeom prst="rect">
            <a:avLst/>
          </a:prstGeom>
        </p:spPr>
      </p:pic>
      <p:sp>
        <p:nvSpPr>
          <p:cNvPr id="1860" name="textbox 1860"/>
          <p:cNvSpPr/>
          <p:nvPr/>
        </p:nvSpPr>
        <p:spPr>
          <a:xfrm>
            <a:off x="5338565" y="1879469"/>
            <a:ext cx="292734" cy="3409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3000"/>
              </a:lnSpc>
              <a:tabLst/>
            </a:pP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平台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机型</a:t>
            </a:r>
            <a:endParaRPr sz="1000" dirty="0">
              <a:latin typeface="NSimSun"/>
              <a:ea typeface="NSimSun"/>
              <a:cs typeface="NSimSun"/>
            </a:endParaRPr>
          </a:p>
        </p:txBody>
      </p:sp>
      <p:graphicFrame>
        <p:nvGraphicFramePr>
          <p:cNvPr id="1862" name="table 1862"/>
          <p:cNvGraphicFramePr>
            <a:graphicFrameLocks noGrp="1"/>
          </p:cNvGraphicFramePr>
          <p:nvPr/>
        </p:nvGraphicFramePr>
        <p:xfrm>
          <a:off x="5325592" y="1424025"/>
          <a:ext cx="2059304" cy="481965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2059304"/>
              </a:tblGrid>
              <a:tr h="4629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839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2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研发平台架构</a:t>
                      </a:r>
                      <a:endParaRPr sz="23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64" name="textbox 1864"/>
          <p:cNvSpPr/>
          <p:nvPr/>
        </p:nvSpPr>
        <p:spPr>
          <a:xfrm>
            <a:off x="1549937" y="2393429"/>
            <a:ext cx="668019" cy="1473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100" b="1" kern="0" spc="-3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选择</a:t>
            </a:r>
            <a:endParaRPr sz="1100" dirty="0">
              <a:latin typeface="NSimSun"/>
              <a:ea typeface="NSimSun"/>
              <a:cs typeface="NSimSun"/>
            </a:endParaRPr>
          </a:p>
          <a:p>
            <a:pPr marL="14604" algn="l" rtl="0" eaLnBrk="0">
              <a:lnSpc>
                <a:spcPct val="97000"/>
              </a:lnSpc>
              <a:spcBef>
                <a:spcPts val="1268"/>
              </a:spcBef>
              <a:tabLst/>
            </a:pPr>
            <a:r>
              <a:rPr sz="1100" b="1" kern="0" spc="-3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银色</a:t>
            </a:r>
            <a:endParaRPr sz="1100" dirty="0">
              <a:latin typeface="NSimSun"/>
              <a:ea typeface="NSimSun"/>
              <a:cs typeface="NSimSun"/>
            </a:endParaRPr>
          </a:p>
          <a:p>
            <a:pPr marL="14604" algn="l" rtl="0" eaLnBrk="0">
              <a:lnSpc>
                <a:spcPct val="97000"/>
              </a:lnSpc>
              <a:spcBef>
                <a:spcPts val="1255"/>
              </a:spcBef>
              <a:tabLst/>
            </a:pPr>
            <a:r>
              <a:rPr sz="1100" b="1" kern="0" spc="-3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银色</a:t>
            </a:r>
            <a:endParaRPr sz="1100" dirty="0">
              <a:latin typeface="NSimSun"/>
              <a:ea typeface="NSimSun"/>
              <a:cs typeface="NSimSun"/>
            </a:endParaRPr>
          </a:p>
          <a:p>
            <a:pPr marL="15875" algn="l" rtl="0" eaLnBrk="0">
              <a:lnSpc>
                <a:spcPct val="95000"/>
              </a:lnSpc>
              <a:spcBef>
                <a:spcPts val="1259"/>
              </a:spcBef>
              <a:tabLst/>
            </a:pPr>
            <a:r>
              <a:rPr sz="1100" b="1" kern="0" spc="-3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大门圈</a:t>
            </a:r>
            <a:endParaRPr sz="1100" dirty="0">
              <a:latin typeface="NSimSun"/>
              <a:ea typeface="NSimSun"/>
              <a:cs typeface="NSimSu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100" b="1" kern="0" spc="-1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E06系列</a:t>
            </a:r>
            <a:endParaRPr sz="1100" dirty="0">
              <a:latin typeface="NSimSun"/>
              <a:ea typeface="NSimSun"/>
              <a:cs typeface="NSimSun"/>
            </a:endParaRPr>
          </a:p>
        </p:txBody>
      </p:sp>
      <p:sp>
        <p:nvSpPr>
          <p:cNvPr id="1866" name="textbox 1866"/>
          <p:cNvSpPr/>
          <p:nvPr/>
        </p:nvSpPr>
        <p:spPr>
          <a:xfrm>
            <a:off x="447430" y="2393429"/>
            <a:ext cx="591184" cy="1473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1100" b="1" kern="0" spc="-3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配置</a:t>
            </a:r>
            <a:endParaRPr sz="1100" dirty="0">
              <a:latin typeface="NSimSun"/>
              <a:ea typeface="NSimSun"/>
              <a:cs typeface="NSimSun"/>
            </a:endParaRPr>
          </a:p>
          <a:p>
            <a:pPr marL="12700" indent="1270" algn="l" rtl="0" eaLnBrk="0">
              <a:lnSpc>
                <a:spcPct val="187000"/>
              </a:lnSpc>
              <a:spcBef>
                <a:spcPts val="178"/>
              </a:spcBef>
              <a:tabLst/>
            </a:pPr>
            <a:r>
              <a:rPr sz="1100" b="1" kern="0" spc="-2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箱体颜色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 </a:t>
            </a:r>
            <a:r>
              <a:rPr sz="1100" b="1" kern="0" spc="-2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控板颜色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 </a:t>
            </a:r>
            <a:r>
              <a:rPr sz="1100" b="1" kern="0" spc="-2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门外观</a:t>
            </a:r>
            <a:endParaRPr sz="1100" dirty="0">
              <a:latin typeface="NSimSun"/>
              <a:ea typeface="NSimSun"/>
              <a:cs typeface="NSimSu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6000"/>
              </a:lnSpc>
              <a:tabLst/>
            </a:pPr>
            <a:r>
              <a:rPr sz="1100" b="1" kern="0" spc="-4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旋钮</a:t>
            </a:r>
            <a:endParaRPr sz="1100" dirty="0">
              <a:latin typeface="NSimSun"/>
              <a:ea typeface="NSimSun"/>
              <a:cs typeface="NSimSun"/>
            </a:endParaRPr>
          </a:p>
        </p:txBody>
      </p:sp>
      <p:graphicFrame>
        <p:nvGraphicFramePr>
          <p:cNvPr id="1868" name="table 1868"/>
          <p:cNvGraphicFramePr>
            <a:graphicFrameLocks noGrp="1"/>
          </p:cNvGraphicFramePr>
          <p:nvPr/>
        </p:nvGraphicFramePr>
        <p:xfrm>
          <a:off x="10252380" y="1355826"/>
          <a:ext cx="853440" cy="494665"/>
        </p:xfrm>
        <a:graphic>
          <a:graphicData uri="http://schemas.openxmlformats.org/drawingml/2006/table">
            <a:tbl>
              <a:tblPr/>
              <a:tblGrid>
                <a:gridCol w="853440"/>
              </a:tblGrid>
              <a:tr h="4819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017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3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制造</a:t>
                      </a:r>
                      <a:endParaRPr sz="23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870" name="table 1870"/>
          <p:cNvGraphicFramePr>
            <a:graphicFrameLocks noGrp="1"/>
          </p:cNvGraphicFramePr>
          <p:nvPr/>
        </p:nvGraphicFramePr>
        <p:xfrm>
          <a:off x="1248918" y="1283817"/>
          <a:ext cx="853440" cy="494665"/>
        </p:xfrm>
        <a:graphic>
          <a:graphicData uri="http://schemas.openxmlformats.org/drawingml/2006/table">
            <a:tbl>
              <a:tblPr/>
              <a:tblGrid>
                <a:gridCol w="853440"/>
              </a:tblGrid>
              <a:tr h="4819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8429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3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营销</a:t>
                      </a:r>
                      <a:endParaRPr sz="23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872" name="picture 187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9407652" y="2028444"/>
            <a:ext cx="1348740" cy="249935"/>
          </a:xfrm>
          <a:prstGeom prst="rect">
            <a:avLst/>
          </a:prstGeom>
        </p:spPr>
      </p:pic>
      <p:graphicFrame>
        <p:nvGraphicFramePr>
          <p:cNvPr id="1874" name="table 1874"/>
          <p:cNvGraphicFramePr>
            <a:graphicFrameLocks noGrp="1"/>
          </p:cNvGraphicFramePr>
          <p:nvPr/>
        </p:nvGraphicFramePr>
        <p:xfrm>
          <a:off x="9404553" y="2024430"/>
          <a:ext cx="1355725" cy="257809"/>
        </p:xfrm>
        <a:graphic>
          <a:graphicData uri="http://schemas.openxmlformats.org/drawingml/2006/table">
            <a:tbl>
              <a:tblPr/>
              <a:tblGrid>
                <a:gridCol w="1355725"/>
              </a:tblGrid>
              <a:tr h="2514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265" algn="l" rtl="0" eaLnBrk="0">
                        <a:lnSpc>
                          <a:spcPts val="120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订单产品01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876" name="table 1876"/>
          <p:cNvGraphicFramePr>
            <a:graphicFrameLocks noGrp="1"/>
          </p:cNvGraphicFramePr>
          <p:nvPr/>
        </p:nvGraphicFramePr>
        <p:xfrm>
          <a:off x="5774473" y="4286745"/>
          <a:ext cx="1068705" cy="262889"/>
        </p:xfrm>
        <a:graphic>
          <a:graphicData uri="http://schemas.openxmlformats.org/drawingml/2006/table">
            <a:tbl>
              <a:tblPr>
                <a:solidFill>
                  <a:srgbClr val="A5A5A5"/>
                </a:solidFill>
              </a:tblPr>
              <a:tblGrid>
                <a:gridCol w="1068705"/>
              </a:tblGrid>
              <a:tr h="2501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304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控板组件2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78" name="table 1878"/>
          <p:cNvGraphicFramePr>
            <a:graphicFrameLocks noGrp="1"/>
          </p:cNvGraphicFramePr>
          <p:nvPr/>
        </p:nvGraphicFramePr>
        <p:xfrm>
          <a:off x="10750398" y="2721279"/>
          <a:ext cx="1068705" cy="262890"/>
        </p:xfrm>
        <a:graphic>
          <a:graphicData uri="http://schemas.openxmlformats.org/drawingml/2006/table">
            <a:tbl>
              <a:tblPr>
                <a:solidFill>
                  <a:srgbClr val="A5A5A5"/>
                </a:solidFill>
              </a:tblPr>
              <a:tblGrid>
                <a:gridCol w="1068705"/>
              </a:tblGrid>
              <a:tr h="2501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304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控板组件2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0" name="table 1880"/>
          <p:cNvGraphicFramePr>
            <a:graphicFrameLocks noGrp="1"/>
          </p:cNvGraphicFramePr>
          <p:nvPr/>
        </p:nvGraphicFramePr>
        <p:xfrm>
          <a:off x="10750398" y="2361386"/>
          <a:ext cx="1068705" cy="262890"/>
        </p:xfrm>
        <a:graphic>
          <a:graphicData uri="http://schemas.openxmlformats.org/drawingml/2006/table">
            <a:tbl>
              <a:tblPr>
                <a:solidFill>
                  <a:srgbClr val="A5A5A5"/>
                </a:solidFill>
              </a:tblPr>
              <a:tblGrid>
                <a:gridCol w="1068705"/>
              </a:tblGrid>
              <a:tr h="2501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4950" algn="l" rtl="0" eaLnBrk="0">
                        <a:lnSpc>
                          <a:spcPts val="120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箱体组件2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2" name="table 1882"/>
          <p:cNvGraphicFramePr>
            <a:graphicFrameLocks noGrp="1"/>
          </p:cNvGraphicFramePr>
          <p:nvPr/>
        </p:nvGraphicFramePr>
        <p:xfrm>
          <a:off x="5774473" y="6086944"/>
          <a:ext cx="1068705" cy="262890"/>
        </p:xfrm>
        <a:graphic>
          <a:graphicData uri="http://schemas.openxmlformats.org/drawingml/2006/table">
            <a:tbl>
              <a:tblPr>
                <a:solidFill>
                  <a:srgbClr val="A5A5A5"/>
                </a:solidFill>
              </a:tblPr>
              <a:tblGrid>
                <a:gridCol w="1068705"/>
              </a:tblGrid>
              <a:tr h="2501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3045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控板组件2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4" name="table 1884"/>
          <p:cNvGraphicFramePr>
            <a:graphicFrameLocks noGrp="1"/>
          </p:cNvGraphicFramePr>
          <p:nvPr/>
        </p:nvGraphicFramePr>
        <p:xfrm>
          <a:off x="10750398" y="3081325"/>
          <a:ext cx="1068705" cy="262890"/>
        </p:xfrm>
        <a:graphic>
          <a:graphicData uri="http://schemas.openxmlformats.org/drawingml/2006/table">
            <a:tbl>
              <a:tblPr>
                <a:solidFill>
                  <a:srgbClr val="A5A5A5"/>
                </a:solidFill>
              </a:tblPr>
              <a:tblGrid>
                <a:gridCol w="1068705"/>
              </a:tblGrid>
              <a:tr h="2501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6865" algn="l" rtl="0" eaLnBrk="0">
                        <a:lnSpc>
                          <a:spcPts val="120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门组件2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</a:tr>
            </a:tbl>
          </a:graphicData>
        </a:graphic>
      </p:graphicFrame>
      <p:pic>
        <p:nvPicPr>
          <p:cNvPr id="1886" name="picture 188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5789675" y="4005071"/>
            <a:ext cx="1056132" cy="249936"/>
          </a:xfrm>
          <a:prstGeom prst="rect">
            <a:avLst/>
          </a:prstGeom>
        </p:spPr>
      </p:pic>
      <p:graphicFrame>
        <p:nvGraphicFramePr>
          <p:cNvPr id="1888" name="table 1888"/>
          <p:cNvGraphicFramePr>
            <a:graphicFrameLocks noGrp="1"/>
          </p:cNvGraphicFramePr>
          <p:nvPr/>
        </p:nvGraphicFramePr>
        <p:xfrm>
          <a:off x="5786335" y="4001249"/>
          <a:ext cx="1063625" cy="257810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0504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控板组件1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890" name="table 1890"/>
          <p:cNvGraphicFramePr>
            <a:graphicFrameLocks noGrp="1"/>
          </p:cNvGraphicFramePr>
          <p:nvPr/>
        </p:nvGraphicFramePr>
        <p:xfrm>
          <a:off x="6982028" y="5441416"/>
          <a:ext cx="1063625" cy="257810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325" algn="l" rtl="0" eaLnBrk="0">
                        <a:lnSpc>
                          <a:spcPts val="120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门内圈1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892" name="table 1892"/>
          <p:cNvGraphicFramePr>
            <a:graphicFrameLocks noGrp="1"/>
          </p:cNvGraphicFramePr>
          <p:nvPr/>
        </p:nvGraphicFramePr>
        <p:xfrm>
          <a:off x="6982028" y="5729452"/>
          <a:ext cx="1063625" cy="257810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325" algn="l" rtl="0" eaLnBrk="0">
                        <a:lnSpc>
                          <a:spcPts val="1211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门外圈1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894" name="table 1894"/>
          <p:cNvGraphicFramePr>
            <a:graphicFrameLocks noGrp="1"/>
          </p:cNvGraphicFramePr>
          <p:nvPr/>
        </p:nvGraphicFramePr>
        <p:xfrm>
          <a:off x="6982028" y="5153380"/>
          <a:ext cx="1063625" cy="257810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325" algn="l" rtl="0" eaLnBrk="0">
                        <a:lnSpc>
                          <a:spcPts val="1211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门把手1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896" name="picture 189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10756392" y="3429000"/>
            <a:ext cx="1056131" cy="249935"/>
          </a:xfrm>
          <a:prstGeom prst="rect">
            <a:avLst/>
          </a:prstGeom>
        </p:spPr>
      </p:pic>
      <p:graphicFrame>
        <p:nvGraphicFramePr>
          <p:cNvPr id="1898" name="table 1898"/>
          <p:cNvGraphicFramePr>
            <a:graphicFrameLocks noGrp="1"/>
          </p:cNvGraphicFramePr>
          <p:nvPr/>
        </p:nvGraphicFramePr>
        <p:xfrm>
          <a:off x="10752937" y="3425190"/>
          <a:ext cx="1063625" cy="257810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9395" algn="l" rtl="0" eaLnBrk="0">
                        <a:lnSpc>
                          <a:spcPts val="120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……组件1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00" name="table 1900"/>
          <p:cNvGraphicFramePr>
            <a:graphicFrameLocks noGrp="1"/>
          </p:cNvGraphicFramePr>
          <p:nvPr/>
        </p:nvGraphicFramePr>
        <p:xfrm>
          <a:off x="5807570" y="2777121"/>
          <a:ext cx="1063625" cy="257809"/>
        </p:xfrm>
        <a:graphic>
          <a:graphicData uri="http://schemas.openxmlformats.org/drawingml/2006/table">
            <a:tbl>
              <a:tblPr/>
              <a:tblGrid>
                <a:gridCol w="1063625"/>
              </a:tblGrid>
              <a:tr h="2514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2409" algn="l" rtl="0" eaLnBrk="0">
                        <a:lnSpc>
                          <a:spcPts val="1207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NSimSun"/>
                          <a:ea typeface="NSimSun"/>
                          <a:cs typeface="NSimSun"/>
                        </a:rPr>
                        <a:t>箱体组件1</a:t>
                      </a:r>
                      <a:endParaRPr sz="1000" dirty="0">
                        <a:latin typeface="NSimSun"/>
                        <a:ea typeface="NSimSun"/>
                        <a:cs typeface="NSimSu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02" name="textbox 1902"/>
          <p:cNvSpPr/>
          <p:nvPr/>
        </p:nvSpPr>
        <p:spPr>
          <a:xfrm>
            <a:off x="1036878" y="1792960"/>
            <a:ext cx="624840" cy="376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2300" kern="0" spc="50" dirty="0">
                <a:solidFill>
                  <a:srgbClr val="FFFFFF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选配</a:t>
            </a:r>
            <a:endParaRPr sz="2300" dirty="0">
              <a:latin typeface="NSimSun"/>
              <a:ea typeface="NSimSun"/>
              <a:cs typeface="NSimSun"/>
            </a:endParaRPr>
          </a:p>
        </p:txBody>
      </p:sp>
      <p:sp>
        <p:nvSpPr>
          <p:cNvPr id="1904" name="textbox 1904"/>
          <p:cNvSpPr/>
          <p:nvPr/>
        </p:nvSpPr>
        <p:spPr>
          <a:xfrm>
            <a:off x="4115151" y="4164084"/>
            <a:ext cx="69850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1"/>
              </a:lnSpc>
              <a:tabLst/>
            </a:pPr>
            <a:r>
              <a:rPr sz="1000" kern="0" spc="50" dirty="0">
                <a:solidFill>
                  <a:srgbClr val="0070C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分配表达式</a:t>
            </a:r>
            <a:endParaRPr sz="1000" dirty="0">
              <a:latin typeface="NSimSun"/>
              <a:ea typeface="NSimSun"/>
              <a:cs typeface="NSimSun"/>
            </a:endParaRPr>
          </a:p>
        </p:txBody>
      </p:sp>
      <p:sp>
        <p:nvSpPr>
          <p:cNvPr id="1906" name="textbox 1906"/>
          <p:cNvSpPr/>
          <p:nvPr/>
        </p:nvSpPr>
        <p:spPr>
          <a:xfrm>
            <a:off x="4115151" y="3043170"/>
            <a:ext cx="69850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1"/>
              </a:lnSpc>
              <a:tabLst/>
            </a:pPr>
            <a:r>
              <a:rPr sz="1000" kern="0" spc="50" dirty="0">
                <a:solidFill>
                  <a:srgbClr val="0070C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分配表达式</a:t>
            </a:r>
            <a:endParaRPr sz="1000" dirty="0">
              <a:latin typeface="NSimSun"/>
              <a:ea typeface="NSimSun"/>
              <a:cs typeface="NSimSun"/>
            </a:endParaRPr>
          </a:p>
        </p:txBody>
      </p:sp>
      <p:sp>
        <p:nvSpPr>
          <p:cNvPr id="1908" name="textbox 1908"/>
          <p:cNvSpPr/>
          <p:nvPr/>
        </p:nvSpPr>
        <p:spPr>
          <a:xfrm>
            <a:off x="4115151" y="5851483"/>
            <a:ext cx="69850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1"/>
              </a:lnSpc>
              <a:tabLst/>
            </a:pPr>
            <a:r>
              <a:rPr sz="1000" kern="0" spc="50" dirty="0">
                <a:solidFill>
                  <a:srgbClr val="0070C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分配表达式</a:t>
            </a:r>
            <a:endParaRPr sz="1000" dirty="0">
              <a:latin typeface="NSimSun"/>
              <a:ea typeface="NSimSun"/>
              <a:cs typeface="NSimSun"/>
            </a:endParaRPr>
          </a:p>
        </p:txBody>
      </p:sp>
      <p:sp>
        <p:nvSpPr>
          <p:cNvPr id="1910" name="textbox 1910"/>
          <p:cNvSpPr/>
          <p:nvPr/>
        </p:nvSpPr>
        <p:spPr>
          <a:xfrm>
            <a:off x="4993900" y="3760326"/>
            <a:ext cx="564515" cy="178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控板模块</a:t>
            </a:r>
            <a:endParaRPr sz="1000" dirty="0">
              <a:latin typeface="NSimSun"/>
              <a:ea typeface="NSimSun"/>
              <a:cs typeface="NSimSun"/>
            </a:endParaRPr>
          </a:p>
        </p:txBody>
      </p:sp>
      <p:sp>
        <p:nvSpPr>
          <p:cNvPr id="1912" name="textbox 1912"/>
          <p:cNvSpPr/>
          <p:nvPr/>
        </p:nvSpPr>
        <p:spPr>
          <a:xfrm>
            <a:off x="8009312" y="1960114"/>
            <a:ext cx="564515" cy="179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07"/>
              </a:lnSpc>
              <a:tabLst/>
            </a:pP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模块变体</a:t>
            </a:r>
            <a:endParaRPr sz="1000" dirty="0">
              <a:latin typeface="NSimSun"/>
              <a:ea typeface="NSimSun"/>
              <a:cs typeface="NSimSun"/>
            </a:endParaRPr>
          </a:p>
        </p:txBody>
      </p:sp>
      <p:sp>
        <p:nvSpPr>
          <p:cNvPr id="1914" name="textbox 1914"/>
          <p:cNvSpPr/>
          <p:nvPr/>
        </p:nvSpPr>
        <p:spPr>
          <a:xfrm>
            <a:off x="4995531" y="2561852"/>
            <a:ext cx="562609" cy="179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07"/>
              </a:lnSpc>
              <a:tabLst/>
            </a:pP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箱体模块</a:t>
            </a:r>
            <a:endParaRPr sz="1000" dirty="0">
              <a:latin typeface="NSimSun"/>
              <a:ea typeface="NSimSun"/>
              <a:cs typeface="NSimSun"/>
            </a:endParaRPr>
          </a:p>
        </p:txBody>
      </p:sp>
      <p:sp>
        <p:nvSpPr>
          <p:cNvPr id="1916" name="textbox 1916"/>
          <p:cNvSpPr/>
          <p:nvPr/>
        </p:nvSpPr>
        <p:spPr>
          <a:xfrm>
            <a:off x="5077744" y="4696430"/>
            <a:ext cx="412750" cy="179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07"/>
              </a:lnSpc>
              <a:tabLst/>
            </a:pP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NSimSun"/>
                <a:ea typeface="NSimSun"/>
                <a:cs typeface="NSimSun"/>
              </a:rPr>
              <a:t>门模块</a:t>
            </a:r>
            <a:endParaRPr sz="1000" dirty="0">
              <a:latin typeface="NSimSun"/>
              <a:ea typeface="NSimSun"/>
              <a:cs typeface="NSimSun"/>
            </a:endParaRPr>
          </a:p>
        </p:txBody>
      </p:sp>
      <p:sp>
        <p:nvSpPr>
          <p:cNvPr id="1918" name="path 1918"/>
          <p:cNvSpPr/>
          <p:nvPr/>
        </p:nvSpPr>
        <p:spPr>
          <a:xfrm>
            <a:off x="6326238" y="2287028"/>
            <a:ext cx="67487" cy="67488"/>
          </a:xfrm>
          <a:custGeom>
            <a:avLst/>
            <a:gdLst/>
            <a:ahLst/>
            <a:cxnLst/>
            <a:rect l="0" t="0" r="0" b="0"/>
            <a:pathLst>
              <a:path w="106" h="106">
                <a:moveTo>
                  <a:pt x="105" y="53"/>
                </a:moveTo>
                <a:cubicBezTo>
                  <a:pt x="106" y="82"/>
                  <a:pt x="82" y="106"/>
                  <a:pt x="53" y="106"/>
                </a:cubicBezTo>
                <a:cubicBezTo>
                  <a:pt x="23" y="106"/>
                  <a:pt x="0" y="82"/>
                  <a:pt x="0" y="53"/>
                </a:cubicBezTo>
                <a:cubicBezTo>
                  <a:pt x="0" y="23"/>
                  <a:pt x="23" y="0"/>
                  <a:pt x="53" y="0"/>
                </a:cubicBezTo>
                <a:cubicBezTo>
                  <a:pt x="82" y="0"/>
                  <a:pt x="106" y="23"/>
                  <a:pt x="105" y="53"/>
                </a:cubicBezTo>
              </a:path>
            </a:pathLst>
          </a:custGeom>
          <a:solidFill>
            <a:srgbClr val="F4B18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20" name="path 1920"/>
          <p:cNvSpPr/>
          <p:nvPr/>
        </p:nvSpPr>
        <p:spPr>
          <a:xfrm>
            <a:off x="6067475" y="2414066"/>
            <a:ext cx="45287" cy="44983"/>
          </a:xfrm>
          <a:custGeom>
            <a:avLst/>
            <a:gdLst/>
            <a:ahLst/>
            <a:cxnLst/>
            <a:rect l="0" t="0" r="0" b="0"/>
            <a:pathLst>
              <a:path w="71" h="70">
                <a:moveTo>
                  <a:pt x="71" y="35"/>
                </a:moveTo>
                <a:cubicBezTo>
                  <a:pt x="70" y="54"/>
                  <a:pt x="55" y="70"/>
                  <a:pt x="35" y="70"/>
                </a:cubicBezTo>
                <a:cubicBezTo>
                  <a:pt x="15" y="70"/>
                  <a:pt x="0" y="54"/>
                  <a:pt x="0" y="35"/>
                </a:cubicBezTo>
                <a:cubicBezTo>
                  <a:pt x="0" y="15"/>
                  <a:pt x="15" y="0"/>
                  <a:pt x="35" y="0"/>
                </a:cubicBezTo>
                <a:cubicBezTo>
                  <a:pt x="55" y="0"/>
                  <a:pt x="70" y="15"/>
                  <a:pt x="71" y="35"/>
                </a:cubicBezTo>
              </a:path>
            </a:pathLst>
          </a:custGeom>
          <a:solidFill>
            <a:srgbClr val="F4B18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22" name="path 1922"/>
          <p:cNvSpPr/>
          <p:nvPr/>
        </p:nvSpPr>
        <p:spPr>
          <a:xfrm>
            <a:off x="5829401" y="2532227"/>
            <a:ext cx="22758" cy="22491"/>
          </a:xfrm>
          <a:custGeom>
            <a:avLst/>
            <a:gdLst/>
            <a:ahLst/>
            <a:cxnLst/>
            <a:rect l="0" t="0" r="0" b="0"/>
            <a:pathLst>
              <a:path w="35" h="35">
                <a:moveTo>
                  <a:pt x="35" y="17"/>
                </a:moveTo>
                <a:cubicBezTo>
                  <a:pt x="35" y="27"/>
                  <a:pt x="27" y="35"/>
                  <a:pt x="17" y="35"/>
                </a:cubicBezTo>
                <a:cubicBezTo>
                  <a:pt x="7" y="35"/>
                  <a:pt x="0" y="27"/>
                  <a:pt x="0" y="17"/>
                </a:cubicBezTo>
                <a:cubicBezTo>
                  <a:pt x="0" y="7"/>
                  <a:pt x="7" y="0"/>
                  <a:pt x="17" y="0"/>
                </a:cubicBezTo>
                <a:cubicBezTo>
                  <a:pt x="27" y="0"/>
                  <a:pt x="35" y="7"/>
                  <a:pt x="35" y="17"/>
                </a:cubicBezTo>
              </a:path>
            </a:pathLst>
          </a:custGeom>
          <a:solidFill>
            <a:srgbClr val="F4B18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textbox 1924"/>
          <p:cNvSpPr/>
          <p:nvPr/>
        </p:nvSpPr>
        <p:spPr>
          <a:xfrm>
            <a:off x="418592" y="-12700"/>
            <a:ext cx="10916284" cy="1402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59105" algn="l" rtl="0" eaLnBrk="0">
              <a:lnSpc>
                <a:spcPct val="93000"/>
              </a:lnSpc>
              <a:spcBef>
                <a:spcPts val="4"/>
              </a:spcBef>
              <a:tabLst>
                <a:tab pos="575309" algn="l"/>
              </a:tabLst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6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数字化工艺管理及仿</a:t>
            </a: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真验证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098"/>
              </a:lnSpc>
              <a:spcBef>
                <a:spcPts val="2"/>
              </a:spcBef>
              <a:tabLst/>
            </a:pP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数字化工艺管理及仿真验证的总体方案（以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部品的系统解决方案优化升级）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22" name="group 122"/>
          <p:cNvGrpSpPr/>
          <p:nvPr/>
        </p:nvGrpSpPr>
        <p:grpSpPr>
          <a:xfrm rot="21600000">
            <a:off x="431292" y="0"/>
            <a:ext cx="446531" cy="755903"/>
            <a:chOff x="0" y="0"/>
            <a:chExt cx="446531" cy="755903"/>
          </a:xfrm>
        </p:grpSpPr>
        <p:sp>
          <p:nvSpPr>
            <p:cNvPr id="1926" name="path 1926"/>
            <p:cNvSpPr/>
            <p:nvPr/>
          </p:nvSpPr>
          <p:spPr>
            <a:xfrm>
              <a:off x="0" y="0"/>
              <a:ext cx="216408" cy="755903"/>
            </a:xfrm>
            <a:custGeom>
              <a:avLst/>
              <a:gdLst/>
              <a:ahLst/>
              <a:cxnLst/>
              <a:rect l="0" t="0" r="0" b="0"/>
              <a:pathLst>
                <a:path w="340" h="1190">
                  <a:moveTo>
                    <a:pt x="0" y="0"/>
                  </a:moveTo>
                  <a:lnTo>
                    <a:pt x="340" y="0"/>
                  </a:lnTo>
                  <a:lnTo>
                    <a:pt x="340" y="1190"/>
                  </a:lnTo>
                  <a:lnTo>
                    <a:pt x="0" y="1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28" name="path 1928"/>
            <p:cNvSpPr/>
            <p:nvPr/>
          </p:nvSpPr>
          <p:spPr>
            <a:xfrm>
              <a:off x="231647" y="147828"/>
              <a:ext cx="214884" cy="605027"/>
            </a:xfrm>
            <a:custGeom>
              <a:avLst/>
              <a:gdLst/>
              <a:ahLst/>
              <a:cxnLst/>
              <a:rect l="0" t="0" r="0" b="0"/>
              <a:pathLst>
                <a:path w="338" h="952">
                  <a:moveTo>
                    <a:pt x="0" y="0"/>
                  </a:moveTo>
                  <a:lnTo>
                    <a:pt x="338" y="0"/>
                  </a:lnTo>
                  <a:lnTo>
                    <a:pt x="338" y="952"/>
                  </a:lnTo>
                  <a:lnTo>
                    <a:pt x="0" y="9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8DE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930" name="rect 1930"/>
          <p:cNvSpPr/>
          <p:nvPr/>
        </p:nvSpPr>
        <p:spPr>
          <a:xfrm>
            <a:off x="7719059" y="4631435"/>
            <a:ext cx="3959669" cy="1518031"/>
          </a:xfrm>
          <a:prstGeom prst="rect">
            <a:avLst/>
          </a:prstGeom>
          <a:solidFill>
            <a:srgbClr val="EBEE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32" name="path 1932"/>
          <p:cNvSpPr/>
          <p:nvPr/>
        </p:nvSpPr>
        <p:spPr>
          <a:xfrm>
            <a:off x="935736" y="4372355"/>
            <a:ext cx="6944868" cy="304800"/>
          </a:xfrm>
          <a:custGeom>
            <a:avLst/>
            <a:gdLst/>
            <a:ahLst/>
            <a:cxnLst/>
            <a:rect l="0" t="0" r="0" b="0"/>
            <a:pathLst>
              <a:path w="10936" h="480">
                <a:moveTo>
                  <a:pt x="10552" y="112"/>
                </a:moveTo>
                <a:lnTo>
                  <a:pt x="10665" y="0"/>
                </a:lnTo>
                <a:lnTo>
                  <a:pt x="10824" y="0"/>
                </a:lnTo>
                <a:lnTo>
                  <a:pt x="10936" y="112"/>
                </a:lnTo>
                <a:lnTo>
                  <a:pt x="10936" y="362"/>
                </a:lnTo>
                <a:lnTo>
                  <a:pt x="10824" y="475"/>
                </a:lnTo>
                <a:lnTo>
                  <a:pt x="10665" y="475"/>
                </a:lnTo>
                <a:lnTo>
                  <a:pt x="10552" y="362"/>
                </a:lnTo>
                <a:lnTo>
                  <a:pt x="10552" y="112"/>
                </a:lnTo>
              </a:path>
              <a:path w="10936" h="480">
                <a:moveTo>
                  <a:pt x="0" y="115"/>
                </a:moveTo>
                <a:lnTo>
                  <a:pt x="112" y="2"/>
                </a:lnTo>
                <a:lnTo>
                  <a:pt x="271" y="2"/>
                </a:lnTo>
                <a:lnTo>
                  <a:pt x="384" y="115"/>
                </a:lnTo>
                <a:lnTo>
                  <a:pt x="384" y="367"/>
                </a:lnTo>
                <a:lnTo>
                  <a:pt x="271" y="480"/>
                </a:lnTo>
                <a:lnTo>
                  <a:pt x="112" y="480"/>
                </a:lnTo>
                <a:lnTo>
                  <a:pt x="0" y="367"/>
                </a:lnTo>
                <a:lnTo>
                  <a:pt x="0" y="115"/>
                </a:lnTo>
              </a:path>
            </a:pathLst>
          </a:cu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34" name="textbox 1934"/>
          <p:cNvSpPr/>
          <p:nvPr/>
        </p:nvSpPr>
        <p:spPr>
          <a:xfrm>
            <a:off x="970572" y="3489452"/>
            <a:ext cx="6880225" cy="1188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5"/>
              </a:spcBef>
              <a:tabLst/>
            </a:pP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  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工艺文档编制及发布                                                             </a:t>
            </a:r>
            <a:r>
              <a:rPr sz="19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2000" kern="0" spc="-4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5</a:t>
            </a:r>
            <a:endParaRPr sz="20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1936" name="picture 19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198036" y="3502152"/>
            <a:ext cx="3575303" cy="1078991"/>
          </a:xfrm>
          <a:prstGeom prst="rect">
            <a:avLst/>
          </a:prstGeom>
        </p:spPr>
      </p:pic>
      <p:pic>
        <p:nvPicPr>
          <p:cNvPr id="1938" name="picture 19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05839" y="4664963"/>
            <a:ext cx="3858768" cy="1517904"/>
          </a:xfrm>
          <a:prstGeom prst="rect">
            <a:avLst/>
          </a:prstGeom>
        </p:spPr>
      </p:pic>
      <p:grpSp>
        <p:nvGrpSpPr>
          <p:cNvPr id="124" name="group 124"/>
          <p:cNvGrpSpPr/>
          <p:nvPr/>
        </p:nvGrpSpPr>
        <p:grpSpPr>
          <a:xfrm rot="21600000">
            <a:off x="4700015" y="1650594"/>
            <a:ext cx="2793491" cy="1749691"/>
            <a:chOff x="0" y="0"/>
            <a:chExt cx="2793491" cy="1749691"/>
          </a:xfrm>
        </p:grpSpPr>
        <p:sp>
          <p:nvSpPr>
            <p:cNvPr id="1940" name="rect 1940"/>
            <p:cNvSpPr/>
            <p:nvPr/>
          </p:nvSpPr>
          <p:spPr>
            <a:xfrm>
              <a:off x="0" y="232752"/>
              <a:ext cx="2793491" cy="1516938"/>
            </a:xfrm>
            <a:prstGeom prst="rect">
              <a:avLst/>
            </a:prstGeom>
            <a:solidFill>
              <a:srgbClr val="EBEEF2">
                <a:alpha val="96862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942" name="picture 194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254508" y="376325"/>
              <a:ext cx="2461259" cy="1257300"/>
            </a:xfrm>
            <a:prstGeom prst="rect">
              <a:avLst/>
            </a:prstGeom>
          </p:spPr>
        </p:pic>
        <p:sp>
          <p:nvSpPr>
            <p:cNvPr id="1944" name="textbox 1944"/>
            <p:cNvSpPr/>
            <p:nvPr/>
          </p:nvSpPr>
          <p:spPr>
            <a:xfrm>
              <a:off x="287924" y="-12700"/>
              <a:ext cx="1345564" cy="2660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71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3000"/>
                </a:lnSpc>
                <a:tabLst/>
              </a:pP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工艺路线定义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26" name="group 126"/>
          <p:cNvGrpSpPr/>
          <p:nvPr/>
        </p:nvGrpSpPr>
        <p:grpSpPr>
          <a:xfrm rot="21600000">
            <a:off x="1013142" y="1687560"/>
            <a:ext cx="2792285" cy="1710959"/>
            <a:chOff x="0" y="0"/>
            <a:chExt cx="2792285" cy="1710959"/>
          </a:xfrm>
        </p:grpSpPr>
        <p:sp>
          <p:nvSpPr>
            <p:cNvPr id="1946" name="rect 1946"/>
            <p:cNvSpPr/>
            <p:nvPr/>
          </p:nvSpPr>
          <p:spPr>
            <a:xfrm>
              <a:off x="0" y="193055"/>
              <a:ext cx="2792285" cy="1517903"/>
            </a:xfrm>
            <a:prstGeom prst="rect">
              <a:avLst/>
            </a:prstGeom>
            <a:solidFill>
              <a:srgbClr val="D0CEC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948" name="picture 194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32506" y="357881"/>
              <a:ext cx="2683718" cy="1269188"/>
            </a:xfrm>
            <a:prstGeom prst="rect">
              <a:avLst/>
            </a:prstGeom>
          </p:spPr>
        </p:pic>
        <p:sp>
          <p:nvSpPr>
            <p:cNvPr id="1950" name="textbox 1950"/>
            <p:cNvSpPr/>
            <p:nvPr/>
          </p:nvSpPr>
          <p:spPr>
            <a:xfrm>
              <a:off x="144901" y="-12700"/>
              <a:ext cx="2011679" cy="266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19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3000"/>
                </a:lnSpc>
                <a:tabLst/>
              </a:pP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滚筒洗衣机工艺规划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1952" name="picture 19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691371" y="1862328"/>
            <a:ext cx="2793492" cy="1536318"/>
          </a:xfrm>
          <a:prstGeom prst="rect">
            <a:avLst/>
          </a:prstGeom>
        </p:spPr>
      </p:pic>
      <p:pic>
        <p:nvPicPr>
          <p:cNvPr id="1954" name="picture 19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850275" y="4649496"/>
            <a:ext cx="1546660" cy="769817"/>
          </a:xfrm>
          <a:prstGeom prst="rect">
            <a:avLst/>
          </a:prstGeom>
        </p:spPr>
      </p:pic>
      <p:pic>
        <p:nvPicPr>
          <p:cNvPr id="1956" name="picture 195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104827" y="4676776"/>
            <a:ext cx="1497251" cy="792319"/>
          </a:xfrm>
          <a:prstGeom prst="rect">
            <a:avLst/>
          </a:prstGeom>
        </p:spPr>
      </p:pic>
      <p:grpSp>
        <p:nvGrpSpPr>
          <p:cNvPr id="128" name="group 128"/>
          <p:cNvGrpSpPr/>
          <p:nvPr/>
        </p:nvGrpSpPr>
        <p:grpSpPr>
          <a:xfrm rot="21600000">
            <a:off x="8617610" y="5168996"/>
            <a:ext cx="2513076" cy="1412790"/>
            <a:chOff x="0" y="0"/>
            <a:chExt cx="2513076" cy="1412790"/>
          </a:xfrm>
        </p:grpSpPr>
        <p:pic>
          <p:nvPicPr>
            <p:cNvPr id="1958" name="picture 195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2513076" cy="1412790"/>
            </a:xfrm>
            <a:prstGeom prst="rect">
              <a:avLst/>
            </a:prstGeom>
          </p:spPr>
        </p:pic>
        <p:sp>
          <p:nvSpPr>
            <p:cNvPr id="1960" name="textbox 1960"/>
            <p:cNvSpPr/>
            <p:nvPr/>
          </p:nvSpPr>
          <p:spPr>
            <a:xfrm>
              <a:off x="-12700" y="-12700"/>
              <a:ext cx="2538729" cy="1454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9539" algn="l" rtl="0" eaLnBrk="0">
                <a:lnSpc>
                  <a:spcPct val="91000"/>
                </a:lnSpc>
                <a:spcBef>
                  <a:spcPts val="3"/>
                </a:spcBef>
                <a:tabLst/>
              </a:pP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装配仿真+人机仿真+虚</a:t>
              </a: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实线体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30" name="group 130"/>
          <p:cNvGrpSpPr/>
          <p:nvPr/>
        </p:nvGrpSpPr>
        <p:grpSpPr>
          <a:xfrm rot="21600000">
            <a:off x="9211970" y="3321596"/>
            <a:ext cx="2134413" cy="497268"/>
            <a:chOff x="0" y="0"/>
            <a:chExt cx="2134413" cy="497268"/>
          </a:xfrm>
        </p:grpSpPr>
        <p:pic>
          <p:nvPicPr>
            <p:cNvPr id="1962" name="picture 196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2134413" cy="497268"/>
            </a:xfrm>
            <a:prstGeom prst="rect">
              <a:avLst/>
            </a:prstGeom>
          </p:spPr>
        </p:pic>
        <p:sp>
          <p:nvSpPr>
            <p:cNvPr id="1964" name="textbox 1964"/>
            <p:cNvSpPr/>
            <p:nvPr/>
          </p:nvSpPr>
          <p:spPr>
            <a:xfrm>
              <a:off x="-12700" y="-12700"/>
              <a:ext cx="2160270" cy="5384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31445" algn="l" rtl="0" eaLnBrk="0">
                <a:lnSpc>
                  <a:spcPct val="91000"/>
                </a:lnSpc>
                <a:spcBef>
                  <a:spcPts val="5"/>
                </a:spcBef>
                <a:tabLst/>
              </a:pP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工序清单+工时+工装设备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32" name="group 132"/>
          <p:cNvGrpSpPr/>
          <p:nvPr/>
        </p:nvGrpSpPr>
        <p:grpSpPr>
          <a:xfrm rot="21600000">
            <a:off x="1279118" y="3282950"/>
            <a:ext cx="1911362" cy="535304"/>
            <a:chOff x="0" y="0"/>
            <a:chExt cx="1911362" cy="535304"/>
          </a:xfrm>
        </p:grpSpPr>
        <p:pic>
          <p:nvPicPr>
            <p:cNvPr id="1966" name="picture 196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1911362" cy="535304"/>
            </a:xfrm>
            <a:prstGeom prst="rect">
              <a:avLst/>
            </a:prstGeom>
          </p:spPr>
        </p:pic>
        <p:sp>
          <p:nvSpPr>
            <p:cNvPr id="1968" name="textbox 1968"/>
            <p:cNvSpPr/>
            <p:nvPr/>
          </p:nvSpPr>
          <p:spPr>
            <a:xfrm>
              <a:off x="-12700" y="-12700"/>
              <a:ext cx="1937385" cy="5772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66370" algn="l" rtl="0" eaLnBrk="0">
                <a:lnSpc>
                  <a:spcPct val="91000"/>
                </a:lnSpc>
                <a:spcBef>
                  <a:spcPts val="2"/>
                </a:spcBef>
                <a:tabLst/>
              </a:pP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产品数据导入：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175260" algn="l" rtl="0" eaLnBrk="0">
                <a:lnSpc>
                  <a:spcPct val="91000"/>
                </a:lnSpc>
                <a:spcBef>
                  <a:spcPts val="129"/>
                </a:spcBef>
                <a:tabLst/>
              </a:pP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3D模型+EBOM+结构化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34" name="group 134"/>
          <p:cNvGrpSpPr/>
          <p:nvPr/>
        </p:nvGrpSpPr>
        <p:grpSpPr>
          <a:xfrm rot="21600000">
            <a:off x="1060322" y="6065862"/>
            <a:ext cx="1911362" cy="535292"/>
            <a:chOff x="0" y="0"/>
            <a:chExt cx="1911362" cy="535292"/>
          </a:xfrm>
        </p:grpSpPr>
        <p:pic>
          <p:nvPicPr>
            <p:cNvPr id="1970" name="picture 197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1911362" cy="535292"/>
            </a:xfrm>
            <a:prstGeom prst="rect">
              <a:avLst/>
            </a:prstGeom>
          </p:spPr>
        </p:pic>
        <p:sp>
          <p:nvSpPr>
            <p:cNvPr id="1972" name="textbox 1972"/>
            <p:cNvSpPr/>
            <p:nvPr/>
          </p:nvSpPr>
          <p:spPr>
            <a:xfrm>
              <a:off x="-12700" y="-12700"/>
              <a:ext cx="1937385" cy="5765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9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73354" algn="l" rtl="0" eaLnBrk="0">
                <a:lnSpc>
                  <a:spcPct val="91000"/>
                </a:lnSpc>
                <a:spcBef>
                  <a:spcPts val="4"/>
                </a:spcBef>
                <a:tabLst/>
              </a:pPr>
              <a:r>
                <a:rPr sz="12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2D文档和3D文档交互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974" name="textbox 1974"/>
          <p:cNvSpPr/>
          <p:nvPr/>
        </p:nvSpPr>
        <p:spPr>
          <a:xfrm>
            <a:off x="7970281" y="4410657"/>
            <a:ext cx="1787525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工艺方案仿真验证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76" name="path 1976"/>
          <p:cNvSpPr/>
          <p:nvPr/>
        </p:nvSpPr>
        <p:spPr>
          <a:xfrm>
            <a:off x="8537447" y="1560576"/>
            <a:ext cx="243840" cy="301752"/>
          </a:xfrm>
          <a:custGeom>
            <a:avLst/>
            <a:gdLst/>
            <a:ahLst/>
            <a:cxnLst/>
            <a:rect l="0" t="0" r="0" b="0"/>
            <a:pathLst>
              <a:path w="384" h="475">
                <a:moveTo>
                  <a:pt x="0" y="112"/>
                </a:moveTo>
                <a:lnTo>
                  <a:pt x="112" y="0"/>
                </a:lnTo>
                <a:lnTo>
                  <a:pt x="271" y="0"/>
                </a:lnTo>
                <a:lnTo>
                  <a:pt x="384" y="112"/>
                </a:lnTo>
                <a:lnTo>
                  <a:pt x="384" y="362"/>
                </a:lnTo>
                <a:lnTo>
                  <a:pt x="271" y="475"/>
                </a:lnTo>
                <a:lnTo>
                  <a:pt x="112" y="475"/>
                </a:lnTo>
                <a:lnTo>
                  <a:pt x="0" y="362"/>
                </a:lnTo>
                <a:lnTo>
                  <a:pt x="0" y="112"/>
                </a:lnTo>
              </a:path>
            </a:pathLst>
          </a:cu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78" name="textbox 1978"/>
          <p:cNvSpPr/>
          <p:nvPr/>
        </p:nvSpPr>
        <p:spPr>
          <a:xfrm>
            <a:off x="8578951" y="1578190"/>
            <a:ext cx="1638300" cy="305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2300" kern="0" spc="1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3</a:t>
            </a:r>
            <a:r>
              <a:rPr sz="2300" kern="0" spc="56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工艺方案编制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80" name="path 1980"/>
          <p:cNvSpPr/>
          <p:nvPr/>
        </p:nvSpPr>
        <p:spPr>
          <a:xfrm>
            <a:off x="886968" y="1610867"/>
            <a:ext cx="245363" cy="301752"/>
          </a:xfrm>
          <a:custGeom>
            <a:avLst/>
            <a:gdLst/>
            <a:ahLst/>
            <a:cxnLst/>
            <a:rect l="0" t="0" r="0" b="0"/>
            <a:pathLst>
              <a:path w="386" h="475">
                <a:moveTo>
                  <a:pt x="0" y="112"/>
                </a:moveTo>
                <a:lnTo>
                  <a:pt x="112" y="0"/>
                </a:lnTo>
                <a:lnTo>
                  <a:pt x="273" y="0"/>
                </a:lnTo>
                <a:lnTo>
                  <a:pt x="386" y="112"/>
                </a:lnTo>
                <a:lnTo>
                  <a:pt x="386" y="362"/>
                </a:lnTo>
                <a:lnTo>
                  <a:pt x="273" y="475"/>
                </a:lnTo>
                <a:lnTo>
                  <a:pt x="112" y="475"/>
                </a:lnTo>
                <a:lnTo>
                  <a:pt x="0" y="362"/>
                </a:lnTo>
                <a:lnTo>
                  <a:pt x="0" y="112"/>
                </a:lnTo>
              </a:path>
            </a:pathLst>
          </a:cu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82" name="path 1982"/>
          <p:cNvSpPr/>
          <p:nvPr/>
        </p:nvSpPr>
        <p:spPr>
          <a:xfrm>
            <a:off x="4683252" y="1588008"/>
            <a:ext cx="243839" cy="301751"/>
          </a:xfrm>
          <a:custGeom>
            <a:avLst/>
            <a:gdLst/>
            <a:ahLst/>
            <a:cxnLst/>
            <a:rect l="0" t="0" r="0" b="0"/>
            <a:pathLst>
              <a:path w="383" h="475">
                <a:moveTo>
                  <a:pt x="0" y="112"/>
                </a:moveTo>
                <a:lnTo>
                  <a:pt x="112" y="0"/>
                </a:lnTo>
                <a:lnTo>
                  <a:pt x="271" y="0"/>
                </a:lnTo>
                <a:lnTo>
                  <a:pt x="383" y="112"/>
                </a:lnTo>
                <a:lnTo>
                  <a:pt x="383" y="362"/>
                </a:lnTo>
                <a:lnTo>
                  <a:pt x="271" y="475"/>
                </a:lnTo>
                <a:lnTo>
                  <a:pt x="112" y="475"/>
                </a:lnTo>
                <a:lnTo>
                  <a:pt x="0" y="362"/>
                </a:lnTo>
                <a:lnTo>
                  <a:pt x="0" y="112"/>
                </a:lnTo>
              </a:path>
            </a:pathLst>
          </a:cu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84" name="textbox 1984"/>
          <p:cNvSpPr/>
          <p:nvPr/>
        </p:nvSpPr>
        <p:spPr>
          <a:xfrm>
            <a:off x="4728159" y="1605369"/>
            <a:ext cx="169545" cy="299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2300" kern="0" spc="-2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1986" name="textbox 1986"/>
          <p:cNvSpPr/>
          <p:nvPr/>
        </p:nvSpPr>
        <p:spPr>
          <a:xfrm>
            <a:off x="939418" y="1631619"/>
            <a:ext cx="163195" cy="294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0000"/>
              </a:lnSpc>
              <a:tabLst/>
            </a:pPr>
            <a:r>
              <a:rPr sz="2200" kern="0" spc="-10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</a:t>
            </a:r>
            <a:endParaRPr sz="22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8" name="table 1988"/>
          <p:cNvGraphicFramePr>
            <a:graphicFrameLocks noGrp="1"/>
          </p:cNvGraphicFramePr>
          <p:nvPr/>
        </p:nvGraphicFramePr>
        <p:xfrm>
          <a:off x="5702300" y="1756664"/>
          <a:ext cx="3385184" cy="1975485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3385184"/>
              </a:tblGrid>
              <a:tr h="19691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990" name="picture 19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15000" y="1769364"/>
            <a:ext cx="3360419" cy="1950719"/>
          </a:xfrm>
          <a:prstGeom prst="rect">
            <a:avLst/>
          </a:prstGeom>
        </p:spPr>
      </p:pic>
      <p:sp>
        <p:nvSpPr>
          <p:cNvPr id="1992" name="textbox 1992"/>
          <p:cNvSpPr/>
          <p:nvPr/>
        </p:nvSpPr>
        <p:spPr>
          <a:xfrm>
            <a:off x="418592" y="-12700"/>
            <a:ext cx="4655820" cy="1318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59105" algn="l" rtl="0" eaLnBrk="0">
              <a:lnSpc>
                <a:spcPct val="93000"/>
              </a:lnSpc>
              <a:spcBef>
                <a:spcPts val="4"/>
              </a:spcBef>
              <a:tabLst>
                <a:tab pos="575309" algn="l"/>
              </a:tabLst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6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数字化工艺管理及仿</a:t>
            </a: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真验证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13054" algn="l" rtl="0" eaLnBrk="0">
              <a:lnSpc>
                <a:spcPts val="2877"/>
              </a:lnSpc>
              <a:spcBef>
                <a:spcPts val="3"/>
              </a:spcBef>
              <a:tabLst/>
            </a:pPr>
            <a:r>
              <a:rPr sz="2300" kern="0" spc="1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23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数字化工艺管理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36" name="group 136"/>
          <p:cNvGrpSpPr/>
          <p:nvPr/>
        </p:nvGrpSpPr>
        <p:grpSpPr>
          <a:xfrm rot="21600000">
            <a:off x="431292" y="0"/>
            <a:ext cx="446531" cy="755903"/>
            <a:chOff x="0" y="0"/>
            <a:chExt cx="446531" cy="755903"/>
          </a:xfrm>
        </p:grpSpPr>
        <p:sp>
          <p:nvSpPr>
            <p:cNvPr id="1994" name="path 1994"/>
            <p:cNvSpPr/>
            <p:nvPr/>
          </p:nvSpPr>
          <p:spPr>
            <a:xfrm>
              <a:off x="0" y="0"/>
              <a:ext cx="216408" cy="755903"/>
            </a:xfrm>
            <a:custGeom>
              <a:avLst/>
              <a:gdLst/>
              <a:ahLst/>
              <a:cxnLst/>
              <a:rect l="0" t="0" r="0" b="0"/>
              <a:pathLst>
                <a:path w="340" h="1190">
                  <a:moveTo>
                    <a:pt x="0" y="0"/>
                  </a:moveTo>
                  <a:lnTo>
                    <a:pt x="340" y="0"/>
                  </a:lnTo>
                  <a:lnTo>
                    <a:pt x="340" y="1190"/>
                  </a:lnTo>
                  <a:lnTo>
                    <a:pt x="0" y="1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96" name="path 1996"/>
            <p:cNvSpPr/>
            <p:nvPr/>
          </p:nvSpPr>
          <p:spPr>
            <a:xfrm>
              <a:off x="231647" y="147828"/>
              <a:ext cx="214884" cy="605027"/>
            </a:xfrm>
            <a:custGeom>
              <a:avLst/>
              <a:gdLst/>
              <a:ahLst/>
              <a:cxnLst/>
              <a:rect l="0" t="0" r="0" b="0"/>
              <a:pathLst>
                <a:path w="338" h="952">
                  <a:moveTo>
                    <a:pt x="0" y="0"/>
                  </a:moveTo>
                  <a:lnTo>
                    <a:pt x="338" y="0"/>
                  </a:lnTo>
                  <a:lnTo>
                    <a:pt x="338" y="952"/>
                  </a:lnTo>
                  <a:lnTo>
                    <a:pt x="0" y="9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8DE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38" name="group 138"/>
          <p:cNvGrpSpPr/>
          <p:nvPr/>
        </p:nvGrpSpPr>
        <p:grpSpPr>
          <a:xfrm rot="21600000">
            <a:off x="266941" y="1270266"/>
            <a:ext cx="11685714" cy="430542"/>
            <a:chOff x="0" y="0"/>
            <a:chExt cx="11685714" cy="430542"/>
          </a:xfrm>
        </p:grpSpPr>
        <p:sp>
          <p:nvSpPr>
            <p:cNvPr id="1998" name="path 1998"/>
            <p:cNvSpPr/>
            <p:nvPr/>
          </p:nvSpPr>
          <p:spPr>
            <a:xfrm>
              <a:off x="0" y="19329"/>
              <a:ext cx="11685714" cy="411213"/>
            </a:xfrm>
            <a:custGeom>
              <a:avLst/>
              <a:gdLst/>
              <a:ahLst/>
              <a:cxnLst/>
              <a:rect l="0" t="0" r="0" b="0"/>
              <a:pathLst>
                <a:path w="18402" h="647">
                  <a:moveTo>
                    <a:pt x="0" y="0"/>
                  </a:moveTo>
                  <a:lnTo>
                    <a:pt x="4018" y="0"/>
                  </a:lnTo>
                  <a:lnTo>
                    <a:pt x="4223" y="323"/>
                  </a:lnTo>
                  <a:lnTo>
                    <a:pt x="4018" y="647"/>
                  </a:lnTo>
                  <a:lnTo>
                    <a:pt x="0" y="647"/>
                  </a:lnTo>
                  <a:lnTo>
                    <a:pt x="0" y="0"/>
                  </a:lnTo>
                </a:path>
                <a:path w="18402" h="647">
                  <a:moveTo>
                    <a:pt x="3984" y="0"/>
                  </a:moveTo>
                  <a:lnTo>
                    <a:pt x="14115" y="0"/>
                  </a:lnTo>
                  <a:lnTo>
                    <a:pt x="14329" y="323"/>
                  </a:lnTo>
                  <a:lnTo>
                    <a:pt x="14115" y="647"/>
                  </a:lnTo>
                  <a:lnTo>
                    <a:pt x="3984" y="647"/>
                  </a:lnTo>
                  <a:lnTo>
                    <a:pt x="4199" y="323"/>
                  </a:lnTo>
                  <a:lnTo>
                    <a:pt x="3984" y="0"/>
                  </a:lnTo>
                </a:path>
                <a:path w="18402" h="647">
                  <a:moveTo>
                    <a:pt x="14105" y="0"/>
                  </a:moveTo>
                  <a:lnTo>
                    <a:pt x="18133" y="0"/>
                  </a:lnTo>
                  <a:lnTo>
                    <a:pt x="18402" y="323"/>
                  </a:lnTo>
                  <a:lnTo>
                    <a:pt x="18133" y="647"/>
                  </a:lnTo>
                  <a:lnTo>
                    <a:pt x="14105" y="647"/>
                  </a:lnTo>
                  <a:lnTo>
                    <a:pt x="14374" y="323"/>
                  </a:lnTo>
                  <a:lnTo>
                    <a:pt x="14105" y="0"/>
                  </a:lnTo>
                </a:path>
              </a:pathLst>
            </a:custGeom>
            <a:solidFill>
              <a:srgbClr val="5B9BD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00" name="textbox 2000"/>
            <p:cNvSpPr/>
            <p:nvPr/>
          </p:nvSpPr>
          <p:spPr>
            <a:xfrm>
              <a:off x="-12700" y="-12700"/>
              <a:ext cx="11711305" cy="456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35965" algn="l" rtl="0" eaLnBrk="0">
                <a:lnSpc>
                  <a:spcPts val="2894"/>
                </a:lnSpc>
                <a:tabLst/>
              </a:pPr>
              <a:r>
                <a:rPr sz="2300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研发管理                                 工艺管理平台                            </a:t>
              </a:r>
              <a:r>
                <a:rPr sz="2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</a:t>
              </a:r>
              <a:r>
                <a:rPr sz="2300" kern="0" spc="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ERP</a:t>
              </a:r>
              <a:r>
                <a:rPr sz="2300" kern="0" spc="3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/</a:t>
              </a:r>
              <a:r>
                <a:rPr sz="2300" kern="0" spc="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APS</a:t>
              </a:r>
              <a:endParaRPr sz="2300" dirty="0">
                <a:latin typeface="DengXian"/>
                <a:ea typeface="DengXian"/>
                <a:cs typeface="DengXian"/>
              </a:endParaRPr>
            </a:p>
          </p:txBody>
        </p:sp>
      </p:grpSp>
      <p:pic>
        <p:nvPicPr>
          <p:cNvPr id="2002" name="picture 20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730868" y="1700783"/>
            <a:ext cx="30924" cy="5112614"/>
          </a:xfrm>
          <a:prstGeom prst="rect">
            <a:avLst/>
          </a:prstGeom>
        </p:spPr>
      </p:pic>
      <p:grpSp>
        <p:nvGrpSpPr>
          <p:cNvPr id="140" name="group 140"/>
          <p:cNvGrpSpPr/>
          <p:nvPr/>
        </p:nvGrpSpPr>
        <p:grpSpPr>
          <a:xfrm rot="21600000">
            <a:off x="2355341" y="3737406"/>
            <a:ext cx="1611464" cy="952500"/>
            <a:chOff x="0" y="0"/>
            <a:chExt cx="1611464" cy="952500"/>
          </a:xfrm>
        </p:grpSpPr>
        <p:pic>
          <p:nvPicPr>
            <p:cNvPr id="2004" name="picture 20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611464" cy="952500"/>
            </a:xfrm>
            <a:prstGeom prst="rect">
              <a:avLst/>
            </a:prstGeom>
          </p:spPr>
        </p:pic>
        <p:sp>
          <p:nvSpPr>
            <p:cNvPr id="2006" name="textbox 2006"/>
            <p:cNvSpPr/>
            <p:nvPr/>
          </p:nvSpPr>
          <p:spPr>
            <a:xfrm>
              <a:off x="-12700" y="-12700"/>
              <a:ext cx="1637029" cy="9969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50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3234" algn="l" rtl="0" eaLnBrk="0">
                <a:lnSpc>
                  <a:spcPct val="95000"/>
                </a:lnSpc>
                <a:tabLst/>
              </a:pPr>
              <a:r>
                <a:rPr sz="1400" b="1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工艺路线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2008" name="picture 20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201098" y="1700809"/>
            <a:ext cx="9525" cy="5040553"/>
          </a:xfrm>
          <a:prstGeom prst="rect">
            <a:avLst/>
          </a:prstGeom>
        </p:spPr>
      </p:pic>
      <p:sp>
        <p:nvSpPr>
          <p:cNvPr id="2010" name="path 2010"/>
          <p:cNvSpPr/>
          <p:nvPr/>
        </p:nvSpPr>
        <p:spPr>
          <a:xfrm>
            <a:off x="8761476" y="3666744"/>
            <a:ext cx="864108" cy="934211"/>
          </a:xfrm>
          <a:custGeom>
            <a:avLst/>
            <a:gdLst/>
            <a:ahLst/>
            <a:cxnLst/>
            <a:rect l="0" t="0" r="0" b="0"/>
            <a:pathLst>
              <a:path w="1360" h="1471">
                <a:moveTo>
                  <a:pt x="0" y="369"/>
                </a:moveTo>
                <a:lnTo>
                  <a:pt x="679" y="369"/>
                </a:lnTo>
                <a:lnTo>
                  <a:pt x="679" y="0"/>
                </a:lnTo>
                <a:lnTo>
                  <a:pt x="1360" y="736"/>
                </a:lnTo>
                <a:lnTo>
                  <a:pt x="679" y="1471"/>
                </a:lnTo>
                <a:lnTo>
                  <a:pt x="679" y="1103"/>
                </a:lnTo>
                <a:lnTo>
                  <a:pt x="0" y="1103"/>
                </a:lnTo>
                <a:lnTo>
                  <a:pt x="0" y="369"/>
                </a:lnTo>
              </a:path>
            </a:pathLst>
          </a:custGeom>
          <a:solidFill>
            <a:srgbClr val="BDD7E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42" name="group 142"/>
          <p:cNvGrpSpPr/>
          <p:nvPr/>
        </p:nvGrpSpPr>
        <p:grpSpPr>
          <a:xfrm rot="21600000">
            <a:off x="9288869" y="4574323"/>
            <a:ext cx="2747720" cy="439661"/>
            <a:chOff x="0" y="0"/>
            <a:chExt cx="2747720" cy="439661"/>
          </a:xfrm>
        </p:grpSpPr>
        <p:pic>
          <p:nvPicPr>
            <p:cNvPr id="2012" name="picture 20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2747720" cy="439661"/>
            </a:xfrm>
            <a:prstGeom prst="rect">
              <a:avLst/>
            </a:prstGeom>
          </p:spPr>
        </p:pic>
        <p:sp>
          <p:nvSpPr>
            <p:cNvPr id="2014" name="textbox 2014"/>
            <p:cNvSpPr/>
            <p:nvPr/>
          </p:nvSpPr>
          <p:spPr>
            <a:xfrm>
              <a:off x="-12700" y="-12700"/>
              <a:ext cx="2773679" cy="5213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145539" algn="l" rtl="0" eaLnBrk="0">
                <a:lnSpc>
                  <a:spcPct val="78000"/>
                </a:lnSpc>
                <a:spcBef>
                  <a:spcPts val="1"/>
                </a:spcBef>
                <a:tabLst/>
              </a:pPr>
              <a:r>
                <a:rPr sz="2300" kern="0" spc="-2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MES</a:t>
              </a:r>
              <a:endParaRPr sz="2300" dirty="0">
                <a:latin typeface="DengXian"/>
                <a:ea typeface="DengXian"/>
                <a:cs typeface="DengXian"/>
              </a:endParaRPr>
            </a:p>
          </p:txBody>
        </p:sp>
      </p:grpSp>
      <p:pic>
        <p:nvPicPr>
          <p:cNvPr id="2016" name="picture 20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72007" y="2645664"/>
            <a:ext cx="1007478" cy="1091691"/>
          </a:xfrm>
          <a:prstGeom prst="rect">
            <a:avLst/>
          </a:prstGeom>
        </p:spPr>
      </p:pic>
      <p:sp>
        <p:nvSpPr>
          <p:cNvPr id="2018" name="textbox 2018"/>
          <p:cNvSpPr/>
          <p:nvPr/>
        </p:nvSpPr>
        <p:spPr>
          <a:xfrm>
            <a:off x="9703724" y="5270820"/>
            <a:ext cx="1080769" cy="1047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b="1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提供接口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25400" algn="l" rtl="0" eaLnBrk="0">
              <a:lnSpc>
                <a:spcPts val="1776"/>
              </a:lnSpc>
              <a:spcBef>
                <a:spcPts val="1501"/>
              </a:spcBef>
              <a:tabLst>
                <a:tab pos="158750" algn="l"/>
              </a:tabLst>
            </a:pPr>
            <a:r>
              <a:rPr sz="1400" kern="0" spc="0" dirty="0">
                <a:solidFill>
                  <a:srgbClr val="40637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b="1" kern="0" spc="10" dirty="0">
                <a:solidFill>
                  <a:srgbClr val="40637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400" b="1" kern="0" spc="60" dirty="0">
                <a:solidFill>
                  <a:srgbClr val="40637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制造资源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1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ts val="1775"/>
              </a:lnSpc>
              <a:tabLst>
                <a:tab pos="158750" algn="l"/>
              </a:tabLst>
            </a:pPr>
            <a:r>
              <a:rPr sz="1400" kern="0" spc="0" dirty="0">
                <a:solidFill>
                  <a:srgbClr val="40637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b="1" kern="0" spc="10" dirty="0">
                <a:solidFill>
                  <a:srgbClr val="40637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400" b="1" kern="0" spc="60" dirty="0">
                <a:solidFill>
                  <a:srgbClr val="40637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设备参数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20" name="picture 20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729723" y="6079521"/>
            <a:ext cx="133000" cy="207556"/>
          </a:xfrm>
          <a:prstGeom prst="rect">
            <a:avLst/>
          </a:prstGeom>
        </p:spPr>
      </p:pic>
      <p:pic>
        <p:nvPicPr>
          <p:cNvPr id="2022" name="picture 20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729724" y="5676931"/>
            <a:ext cx="133000" cy="207556"/>
          </a:xfrm>
          <a:prstGeom prst="rect">
            <a:avLst/>
          </a:prstGeom>
        </p:spPr>
      </p:pic>
      <p:sp>
        <p:nvSpPr>
          <p:cNvPr id="2024" name="textbox 2024"/>
          <p:cNvSpPr/>
          <p:nvPr/>
        </p:nvSpPr>
        <p:spPr>
          <a:xfrm>
            <a:off x="6586842" y="5575553"/>
            <a:ext cx="1670050" cy="594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200" kern="0" spc="-20" dirty="0">
                <a:solidFill>
                  <a:srgbClr val="40637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资源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08"/>
              </a:lnSpc>
              <a:spcBef>
                <a:spcPts val="367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...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549909" algn="l" rtl="0" eaLnBrk="0">
              <a:lnSpc>
                <a:spcPct val="90000"/>
              </a:lnSpc>
              <a:spcBef>
                <a:spcPts val="9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生产线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26" name="picture 20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376928" y="5804916"/>
            <a:ext cx="748284" cy="972311"/>
          </a:xfrm>
          <a:prstGeom prst="rect">
            <a:avLst/>
          </a:prstGeom>
        </p:spPr>
      </p:pic>
      <p:sp>
        <p:nvSpPr>
          <p:cNvPr id="2028" name="textbox 2028"/>
          <p:cNvSpPr/>
          <p:nvPr/>
        </p:nvSpPr>
        <p:spPr>
          <a:xfrm>
            <a:off x="9687011" y="1958457"/>
            <a:ext cx="1080769" cy="645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b="1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提供接口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ts val="1783"/>
              </a:lnSpc>
              <a:spcBef>
                <a:spcPts val="3"/>
              </a:spcBef>
              <a:tabLst>
                <a:tab pos="158750" algn="l"/>
              </a:tabLst>
            </a:pPr>
            <a:r>
              <a:rPr sz="1400" kern="0" spc="0" dirty="0">
                <a:solidFill>
                  <a:srgbClr val="40637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400" b="1" kern="0" spc="30" dirty="0">
                <a:solidFill>
                  <a:srgbClr val="40637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400" b="1" kern="0" spc="50" dirty="0">
                <a:solidFill>
                  <a:srgbClr val="40637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工艺路线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30" name="picture 20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9713011" y="2364569"/>
            <a:ext cx="133000" cy="207555"/>
          </a:xfrm>
          <a:prstGeom prst="rect">
            <a:avLst/>
          </a:prstGeom>
        </p:spPr>
      </p:pic>
      <p:sp>
        <p:nvSpPr>
          <p:cNvPr id="2032" name="textbox 2032"/>
          <p:cNvSpPr/>
          <p:nvPr/>
        </p:nvSpPr>
        <p:spPr>
          <a:xfrm>
            <a:off x="5317007" y="6532727"/>
            <a:ext cx="3831590" cy="206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8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工装模具备件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设备1               </a:t>
            </a:r>
            <a:r>
              <a:rPr sz="1800" kern="0" spc="0" baseline="2893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设备2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消耗品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34" name="picture 203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676747" y="6097803"/>
            <a:ext cx="3243250" cy="184962"/>
          </a:xfrm>
          <a:prstGeom prst="rect">
            <a:avLst/>
          </a:prstGeom>
        </p:spPr>
      </p:pic>
      <p:pic>
        <p:nvPicPr>
          <p:cNvPr id="2036" name="picture 203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267987" y="3926509"/>
            <a:ext cx="643864" cy="654634"/>
          </a:xfrm>
          <a:prstGeom prst="rect">
            <a:avLst/>
          </a:prstGeom>
        </p:spPr>
      </p:pic>
      <p:pic>
        <p:nvPicPr>
          <p:cNvPr id="2038" name="picture 203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3343148" y="2569464"/>
            <a:ext cx="144348" cy="1106893"/>
          </a:xfrm>
          <a:prstGeom prst="rect">
            <a:avLst/>
          </a:prstGeom>
        </p:spPr>
      </p:pic>
      <p:pic>
        <p:nvPicPr>
          <p:cNvPr id="2040" name="picture 204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3355238" y="3072612"/>
            <a:ext cx="132257" cy="12700"/>
          </a:xfrm>
          <a:prstGeom prst="rect">
            <a:avLst/>
          </a:prstGeom>
        </p:spPr>
      </p:pic>
      <p:graphicFrame>
        <p:nvGraphicFramePr>
          <p:cNvPr id="2042" name="table 2042"/>
          <p:cNvGraphicFramePr>
            <a:graphicFrameLocks noGrp="1"/>
          </p:cNvGraphicFramePr>
          <p:nvPr/>
        </p:nvGraphicFramePr>
        <p:xfrm>
          <a:off x="3481146" y="3006242"/>
          <a:ext cx="869315" cy="156209"/>
        </p:xfrm>
        <a:graphic>
          <a:graphicData uri="http://schemas.openxmlformats.org/drawingml/2006/table">
            <a:tbl>
              <a:tblPr/>
              <a:tblGrid>
                <a:gridCol w="869315"/>
              </a:tblGrid>
              <a:tr h="143509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79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44" name="table 2044"/>
          <p:cNvGraphicFramePr>
            <a:graphicFrameLocks noGrp="1"/>
          </p:cNvGraphicFramePr>
          <p:nvPr/>
        </p:nvGraphicFramePr>
        <p:xfrm>
          <a:off x="3481146" y="2740748"/>
          <a:ext cx="869315" cy="156209"/>
        </p:xfrm>
        <a:graphic>
          <a:graphicData uri="http://schemas.openxmlformats.org/drawingml/2006/table">
            <a:tbl>
              <a:tblPr/>
              <a:tblGrid>
                <a:gridCol w="869315"/>
              </a:tblGrid>
              <a:tr h="143509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79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46" name="picture 204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3355238" y="3301225"/>
            <a:ext cx="132257" cy="12700"/>
          </a:xfrm>
          <a:prstGeom prst="rect">
            <a:avLst/>
          </a:prstGeom>
        </p:spPr>
      </p:pic>
      <p:graphicFrame>
        <p:nvGraphicFramePr>
          <p:cNvPr id="2048" name="table 2048"/>
          <p:cNvGraphicFramePr>
            <a:graphicFrameLocks noGrp="1"/>
          </p:cNvGraphicFramePr>
          <p:nvPr/>
        </p:nvGraphicFramePr>
        <p:xfrm>
          <a:off x="3484016" y="3537216"/>
          <a:ext cx="869315" cy="156210"/>
        </p:xfrm>
        <a:graphic>
          <a:graphicData uri="http://schemas.openxmlformats.org/drawingml/2006/table">
            <a:tbl>
              <a:tblPr>
                <a:solidFill>
                  <a:srgbClr val="A5A5A5"/>
                </a:solidFill>
              </a:tblPr>
              <a:tblGrid>
                <a:gridCol w="869315"/>
              </a:tblGrid>
              <a:tr h="143510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8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</a:tr>
            </a:tbl>
          </a:graphicData>
        </a:graphic>
      </p:graphicFrame>
      <p:pic>
        <p:nvPicPr>
          <p:cNvPr id="2050" name="picture 205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3357371" y="3669956"/>
            <a:ext cx="133007" cy="12700"/>
          </a:xfrm>
          <a:prstGeom prst="rect">
            <a:avLst/>
          </a:prstGeom>
        </p:spPr>
      </p:pic>
      <p:graphicFrame>
        <p:nvGraphicFramePr>
          <p:cNvPr id="2052" name="table 2052"/>
          <p:cNvGraphicFramePr>
            <a:graphicFrameLocks noGrp="1"/>
          </p:cNvGraphicFramePr>
          <p:nvPr/>
        </p:nvGraphicFramePr>
        <p:xfrm>
          <a:off x="3481146" y="3264344"/>
          <a:ext cx="869315" cy="156209"/>
        </p:xfrm>
        <a:graphic>
          <a:graphicData uri="http://schemas.openxmlformats.org/drawingml/2006/table">
            <a:tbl>
              <a:tblPr/>
              <a:tblGrid>
                <a:gridCol w="869315"/>
              </a:tblGrid>
              <a:tr h="143509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79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54" name="table 2054"/>
          <p:cNvGraphicFramePr>
            <a:graphicFrameLocks noGrp="1"/>
          </p:cNvGraphicFramePr>
          <p:nvPr/>
        </p:nvGraphicFramePr>
        <p:xfrm>
          <a:off x="3417823" y="2710688"/>
          <a:ext cx="396875" cy="1026160"/>
        </p:xfrm>
        <a:graphic>
          <a:graphicData uri="http://schemas.openxmlformats.org/drawingml/2006/table">
            <a:tbl>
              <a:tblPr/>
              <a:tblGrid>
                <a:gridCol w="396875"/>
              </a:tblGrid>
              <a:tr h="260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27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</a:tr>
            </a:tbl>
          </a:graphicData>
        </a:graphic>
      </p:graphicFrame>
      <p:pic>
        <p:nvPicPr>
          <p:cNvPr id="2056" name="picture 205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2355341" y="2937916"/>
            <a:ext cx="845375" cy="385699"/>
          </a:xfrm>
          <a:prstGeom prst="rect">
            <a:avLst/>
          </a:prstGeom>
        </p:spPr>
      </p:pic>
      <p:sp>
        <p:nvSpPr>
          <p:cNvPr id="2058" name="textbox 2058"/>
          <p:cNvSpPr/>
          <p:nvPr/>
        </p:nvSpPr>
        <p:spPr>
          <a:xfrm>
            <a:off x="3392437" y="1947278"/>
            <a:ext cx="1083944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30" dirty="0">
                <a:solidFill>
                  <a:srgbClr val="40637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MBOM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60" name="picture 206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667004" y="2381504"/>
            <a:ext cx="897839" cy="261619"/>
          </a:xfrm>
          <a:prstGeom prst="rect">
            <a:avLst/>
          </a:prstGeom>
        </p:spPr>
      </p:pic>
      <p:pic>
        <p:nvPicPr>
          <p:cNvPr id="2062" name="picture 206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5192267" y="5460491"/>
            <a:ext cx="1217676" cy="178308"/>
          </a:xfrm>
          <a:prstGeom prst="rect">
            <a:avLst/>
          </a:prstGeom>
        </p:spPr>
      </p:pic>
      <p:graphicFrame>
        <p:nvGraphicFramePr>
          <p:cNvPr id="2064" name="table 2064"/>
          <p:cNvGraphicFramePr>
            <a:graphicFrameLocks noGrp="1"/>
          </p:cNvGraphicFramePr>
          <p:nvPr/>
        </p:nvGraphicFramePr>
        <p:xfrm>
          <a:off x="5189169" y="5456237"/>
          <a:ext cx="1224279" cy="186689"/>
        </p:xfrm>
        <a:graphic>
          <a:graphicData uri="http://schemas.openxmlformats.org/drawingml/2006/table">
            <a:tbl>
              <a:tblPr/>
              <a:tblGrid>
                <a:gridCol w="1224279"/>
              </a:tblGrid>
              <a:tr h="1803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7645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工装模具备件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66" name="picture 206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5195315" y="5698235"/>
            <a:ext cx="1216151" cy="178308"/>
          </a:xfrm>
          <a:prstGeom prst="rect">
            <a:avLst/>
          </a:prstGeom>
        </p:spPr>
      </p:pic>
      <p:graphicFrame>
        <p:nvGraphicFramePr>
          <p:cNvPr id="2068" name="table 2068"/>
          <p:cNvGraphicFramePr>
            <a:graphicFrameLocks noGrp="1"/>
          </p:cNvGraphicFramePr>
          <p:nvPr/>
        </p:nvGraphicFramePr>
        <p:xfrm>
          <a:off x="5191340" y="5694159"/>
          <a:ext cx="1224279" cy="186689"/>
        </p:xfrm>
        <a:graphic>
          <a:graphicData uri="http://schemas.openxmlformats.org/drawingml/2006/table">
            <a:tbl>
              <a:tblPr/>
              <a:tblGrid>
                <a:gridCol w="1224279"/>
              </a:tblGrid>
              <a:tr h="1803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消耗品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70" name="picture 207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5192267" y="5233416"/>
            <a:ext cx="1217676" cy="179832"/>
          </a:xfrm>
          <a:prstGeom prst="rect">
            <a:avLst/>
          </a:prstGeom>
        </p:spPr>
      </p:pic>
      <p:graphicFrame>
        <p:nvGraphicFramePr>
          <p:cNvPr id="2072" name="table 2072"/>
          <p:cNvGraphicFramePr>
            <a:graphicFrameLocks noGrp="1"/>
          </p:cNvGraphicFramePr>
          <p:nvPr/>
        </p:nvGraphicFramePr>
        <p:xfrm>
          <a:off x="5189169" y="5230177"/>
          <a:ext cx="1224279" cy="186689"/>
        </p:xfrm>
        <a:graphic>
          <a:graphicData uri="http://schemas.openxmlformats.org/drawingml/2006/table">
            <a:tbl>
              <a:tblPr/>
              <a:tblGrid>
                <a:gridCol w="1224279"/>
              </a:tblGrid>
              <a:tr h="1803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4954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组装零部件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74" name="picture 207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5195315" y="5007864"/>
            <a:ext cx="1216151" cy="178307"/>
          </a:xfrm>
          <a:prstGeom prst="rect">
            <a:avLst/>
          </a:prstGeom>
        </p:spPr>
      </p:pic>
      <p:graphicFrame>
        <p:nvGraphicFramePr>
          <p:cNvPr id="2076" name="table 2076"/>
          <p:cNvGraphicFramePr>
            <a:graphicFrameLocks noGrp="1"/>
          </p:cNvGraphicFramePr>
          <p:nvPr/>
        </p:nvGraphicFramePr>
        <p:xfrm>
          <a:off x="5191671" y="5003393"/>
          <a:ext cx="1223645" cy="186689"/>
        </p:xfrm>
        <a:graphic>
          <a:graphicData uri="http://schemas.openxmlformats.org/drawingml/2006/table">
            <a:tbl>
              <a:tblPr/>
              <a:tblGrid>
                <a:gridCol w="1223645"/>
              </a:tblGrid>
              <a:tr h="1803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155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78" name="picture 207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5565114" y="4280522"/>
            <a:ext cx="238645" cy="264413"/>
          </a:xfrm>
          <a:prstGeom prst="rect">
            <a:avLst/>
          </a:prstGeom>
        </p:spPr>
      </p:pic>
      <p:pic>
        <p:nvPicPr>
          <p:cNvPr id="2080" name="picture 208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5192267" y="4543044"/>
            <a:ext cx="1216151" cy="178307"/>
          </a:xfrm>
          <a:prstGeom prst="rect">
            <a:avLst/>
          </a:prstGeom>
        </p:spPr>
      </p:pic>
      <p:graphicFrame>
        <p:nvGraphicFramePr>
          <p:cNvPr id="2082" name="table 2082"/>
          <p:cNvGraphicFramePr>
            <a:graphicFrameLocks noGrp="1"/>
          </p:cNvGraphicFramePr>
          <p:nvPr/>
        </p:nvGraphicFramePr>
        <p:xfrm>
          <a:off x="5189092" y="4538573"/>
          <a:ext cx="1223645" cy="186689"/>
        </p:xfrm>
        <a:graphic>
          <a:graphicData uri="http://schemas.openxmlformats.org/drawingml/2006/table">
            <a:tbl>
              <a:tblPr/>
              <a:tblGrid>
                <a:gridCol w="1223645"/>
              </a:tblGrid>
              <a:tr h="1803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6865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插        图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84" name="picture 208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5195315" y="4767071"/>
            <a:ext cx="1216151" cy="179832"/>
          </a:xfrm>
          <a:prstGeom prst="rect">
            <a:avLst/>
          </a:prstGeom>
        </p:spPr>
      </p:pic>
      <p:graphicFrame>
        <p:nvGraphicFramePr>
          <p:cNvPr id="2086" name="table 2086"/>
          <p:cNvGraphicFramePr>
            <a:graphicFrameLocks noGrp="1"/>
          </p:cNvGraphicFramePr>
          <p:nvPr/>
        </p:nvGraphicFramePr>
        <p:xfrm>
          <a:off x="5190921" y="4763909"/>
          <a:ext cx="1223645" cy="186689"/>
        </p:xfrm>
        <a:graphic>
          <a:graphicData uri="http://schemas.openxmlformats.org/drawingml/2006/table">
            <a:tbl>
              <a:tblPr/>
              <a:tblGrid>
                <a:gridCol w="1223645"/>
              </a:tblGrid>
              <a:tr h="1803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2900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工艺文件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88" name="textbox 2088"/>
          <p:cNvSpPr/>
          <p:nvPr/>
        </p:nvSpPr>
        <p:spPr>
          <a:xfrm>
            <a:off x="949034" y="1947278"/>
            <a:ext cx="944244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20" dirty="0">
                <a:solidFill>
                  <a:srgbClr val="40637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EBOM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90" name="picture 209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6459753" y="3923779"/>
            <a:ext cx="408139" cy="527164"/>
          </a:xfrm>
          <a:prstGeom prst="rect">
            <a:avLst/>
          </a:prstGeom>
        </p:spPr>
      </p:pic>
      <p:graphicFrame>
        <p:nvGraphicFramePr>
          <p:cNvPr id="2092" name="table 2092"/>
          <p:cNvGraphicFramePr>
            <a:graphicFrameLocks noGrp="1"/>
          </p:cNvGraphicFramePr>
          <p:nvPr/>
        </p:nvGraphicFramePr>
        <p:xfrm>
          <a:off x="4596663" y="3264344"/>
          <a:ext cx="869315" cy="156209"/>
        </p:xfrm>
        <a:graphic>
          <a:graphicData uri="http://schemas.openxmlformats.org/drawingml/2006/table">
            <a:tbl>
              <a:tblPr>
                <a:solidFill>
                  <a:srgbClr val="A5A5A5"/>
                </a:solidFill>
              </a:tblPr>
              <a:tblGrid>
                <a:gridCol w="869315"/>
              </a:tblGrid>
              <a:tr h="143509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79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94" name="table 2094"/>
          <p:cNvGraphicFramePr>
            <a:graphicFrameLocks noGrp="1"/>
          </p:cNvGraphicFramePr>
          <p:nvPr/>
        </p:nvGraphicFramePr>
        <p:xfrm>
          <a:off x="2966516" y="2379395"/>
          <a:ext cx="869314" cy="156209"/>
        </p:xfrm>
        <a:graphic>
          <a:graphicData uri="http://schemas.openxmlformats.org/drawingml/2006/table">
            <a:tbl>
              <a:tblPr/>
              <a:tblGrid>
                <a:gridCol w="869314"/>
              </a:tblGrid>
              <a:tr h="143509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79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96" name="picture 209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7624571" y="6268211"/>
            <a:ext cx="486156" cy="243840"/>
          </a:xfrm>
          <a:prstGeom prst="rect">
            <a:avLst/>
          </a:prstGeom>
        </p:spPr>
      </p:pic>
      <p:sp>
        <p:nvSpPr>
          <p:cNvPr id="2098" name="path 2098"/>
          <p:cNvSpPr/>
          <p:nvPr/>
        </p:nvSpPr>
        <p:spPr>
          <a:xfrm>
            <a:off x="6675970" y="6374828"/>
            <a:ext cx="148437" cy="64186"/>
          </a:xfrm>
          <a:custGeom>
            <a:avLst/>
            <a:gdLst/>
            <a:ahLst/>
            <a:cxnLst/>
            <a:rect l="0" t="0" r="0" b="0"/>
            <a:pathLst>
              <a:path w="233" h="101">
                <a:moveTo>
                  <a:pt x="233" y="0"/>
                </a:moveTo>
                <a:lnTo>
                  <a:pt x="116" y="101"/>
                </a:lnTo>
                <a:lnTo>
                  <a:pt x="0" y="0"/>
                </a:lnTo>
                <a:lnTo>
                  <a:pt x="233" y="0"/>
                </a:lnTo>
              </a:path>
            </a:pathLst>
          </a:cu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100" name="picture 210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6541007" y="6281928"/>
            <a:ext cx="486156" cy="243840"/>
          </a:xfrm>
          <a:prstGeom prst="rect">
            <a:avLst/>
          </a:prstGeom>
        </p:spPr>
      </p:pic>
      <p:pic>
        <p:nvPicPr>
          <p:cNvPr id="2102" name="picture 210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8636507" y="6281928"/>
            <a:ext cx="486156" cy="243840"/>
          </a:xfrm>
          <a:prstGeom prst="rect">
            <a:avLst/>
          </a:prstGeom>
        </p:spPr>
      </p:pic>
      <p:pic>
        <p:nvPicPr>
          <p:cNvPr id="2104" name="picture 210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6551676" y="5804916"/>
            <a:ext cx="486156" cy="243839"/>
          </a:xfrm>
          <a:prstGeom prst="rect">
            <a:avLst/>
          </a:prstGeom>
        </p:spPr>
      </p:pic>
      <p:pic>
        <p:nvPicPr>
          <p:cNvPr id="2106" name="picture 210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5585459" y="6309359"/>
            <a:ext cx="486155" cy="243840"/>
          </a:xfrm>
          <a:prstGeom prst="rect">
            <a:avLst/>
          </a:prstGeom>
        </p:spPr>
      </p:pic>
      <p:pic>
        <p:nvPicPr>
          <p:cNvPr id="2108" name="picture 210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5478779" y="6281928"/>
            <a:ext cx="486155" cy="243840"/>
          </a:xfrm>
          <a:prstGeom prst="rect">
            <a:avLst/>
          </a:prstGeom>
        </p:spPr>
      </p:pic>
      <p:pic>
        <p:nvPicPr>
          <p:cNvPr id="2110" name="picture 211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4739640" y="3717035"/>
            <a:ext cx="328942" cy="347268"/>
          </a:xfrm>
          <a:prstGeom prst="rect">
            <a:avLst/>
          </a:prstGeom>
        </p:spPr>
      </p:pic>
      <p:graphicFrame>
        <p:nvGraphicFramePr>
          <p:cNvPr id="2112" name="table 2112"/>
          <p:cNvGraphicFramePr>
            <a:graphicFrameLocks noGrp="1"/>
          </p:cNvGraphicFramePr>
          <p:nvPr/>
        </p:nvGraphicFramePr>
        <p:xfrm>
          <a:off x="2914904" y="2335783"/>
          <a:ext cx="386080" cy="23114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386080"/>
              </a:tblGrid>
              <a:tr h="2184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14" name="rect 2114"/>
          <p:cNvSpPr/>
          <p:nvPr/>
        </p:nvSpPr>
        <p:spPr>
          <a:xfrm>
            <a:off x="4318380" y="3338093"/>
            <a:ext cx="287502" cy="12700"/>
          </a:xfrm>
          <a:prstGeom prst="rect">
            <a:avLst/>
          </a:pr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116" name="table 2116"/>
          <p:cNvGraphicFramePr>
            <a:graphicFrameLocks noGrp="1"/>
          </p:cNvGraphicFramePr>
          <p:nvPr/>
        </p:nvGraphicFramePr>
        <p:xfrm>
          <a:off x="4557775" y="3233420"/>
          <a:ext cx="386079" cy="230504"/>
        </p:xfrm>
        <a:graphic>
          <a:graphicData uri="http://schemas.openxmlformats.org/drawingml/2006/table">
            <a:tbl>
              <a:tblPr>
                <a:solidFill>
                  <a:srgbClr val="A5A5A5"/>
                </a:solidFill>
              </a:tblPr>
              <a:tblGrid>
                <a:gridCol w="386079"/>
              </a:tblGrid>
              <a:tr h="2178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</a:tr>
            </a:tbl>
          </a:graphicData>
        </a:graphic>
      </p:graphicFrame>
      <p:pic>
        <p:nvPicPr>
          <p:cNvPr id="2118" name="picture 2118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5303520" y="3785615"/>
            <a:ext cx="291680" cy="284162"/>
          </a:xfrm>
          <a:prstGeom prst="rect">
            <a:avLst/>
          </a:prstGeom>
        </p:spPr>
      </p:pic>
      <p:pic>
        <p:nvPicPr>
          <p:cNvPr id="2120" name="picture 212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5855208" y="3785615"/>
            <a:ext cx="262902" cy="281432"/>
          </a:xfrm>
          <a:prstGeom prst="rect">
            <a:avLst/>
          </a:prstGeom>
        </p:spPr>
      </p:pic>
      <p:sp>
        <p:nvSpPr>
          <p:cNvPr id="2122" name="rect 2122"/>
          <p:cNvSpPr/>
          <p:nvPr/>
        </p:nvSpPr>
        <p:spPr>
          <a:xfrm>
            <a:off x="5176684" y="4173080"/>
            <a:ext cx="207683" cy="28575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124" name="picture 212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4884420" y="4088892"/>
            <a:ext cx="313944" cy="196595"/>
          </a:xfrm>
          <a:prstGeom prst="rect">
            <a:avLst/>
          </a:prstGeom>
        </p:spPr>
      </p:pic>
      <p:graphicFrame>
        <p:nvGraphicFramePr>
          <p:cNvPr id="2126" name="table 2126"/>
          <p:cNvGraphicFramePr>
            <a:graphicFrameLocks noGrp="1"/>
          </p:cNvGraphicFramePr>
          <p:nvPr/>
        </p:nvGraphicFramePr>
        <p:xfrm>
          <a:off x="4879899" y="4085107"/>
          <a:ext cx="322579" cy="204470"/>
        </p:xfrm>
        <a:graphic>
          <a:graphicData uri="http://schemas.openxmlformats.org/drawingml/2006/table">
            <a:tbl>
              <a:tblPr/>
              <a:tblGrid>
                <a:gridCol w="322579"/>
              </a:tblGrid>
              <a:tr h="1981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469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128" name="picture 2128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5410200" y="4088892"/>
            <a:ext cx="315467" cy="193548"/>
          </a:xfrm>
          <a:prstGeom prst="rect">
            <a:avLst/>
          </a:prstGeom>
        </p:spPr>
      </p:pic>
      <p:graphicFrame>
        <p:nvGraphicFramePr>
          <p:cNvPr id="2130" name="table 2130"/>
          <p:cNvGraphicFramePr>
            <a:graphicFrameLocks noGrp="1"/>
          </p:cNvGraphicFramePr>
          <p:nvPr/>
        </p:nvGraphicFramePr>
        <p:xfrm>
          <a:off x="5406517" y="4085107"/>
          <a:ext cx="322579" cy="201295"/>
        </p:xfrm>
        <a:graphic>
          <a:graphicData uri="http://schemas.openxmlformats.org/drawingml/2006/table">
            <a:tbl>
              <a:tblPr/>
              <a:tblGrid>
                <a:gridCol w="322579"/>
              </a:tblGrid>
              <a:tr h="1949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485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132" name="picture 2132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5725439" y="4175099"/>
            <a:ext cx="215341" cy="21792"/>
          </a:xfrm>
          <a:prstGeom prst="rect">
            <a:avLst/>
          </a:prstGeom>
        </p:spPr>
      </p:pic>
      <p:pic>
        <p:nvPicPr>
          <p:cNvPr id="2134" name="picture 2134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5940552" y="4085844"/>
            <a:ext cx="307847" cy="199644"/>
          </a:xfrm>
          <a:prstGeom prst="rect">
            <a:avLst/>
          </a:prstGeom>
        </p:spPr>
      </p:pic>
      <p:graphicFrame>
        <p:nvGraphicFramePr>
          <p:cNvPr id="2136" name="table 2136"/>
          <p:cNvGraphicFramePr>
            <a:graphicFrameLocks noGrp="1"/>
          </p:cNvGraphicFramePr>
          <p:nvPr/>
        </p:nvGraphicFramePr>
        <p:xfrm>
          <a:off x="5936843" y="4082376"/>
          <a:ext cx="314959" cy="207010"/>
        </p:xfrm>
        <a:graphic>
          <a:graphicData uri="http://schemas.openxmlformats.org/drawingml/2006/table">
            <a:tbl>
              <a:tblPr/>
              <a:tblGrid>
                <a:gridCol w="314959"/>
              </a:tblGrid>
              <a:tr h="2006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58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138" name="picture 213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3501389" y="3249167"/>
            <a:ext cx="240791" cy="194310"/>
          </a:xfrm>
          <a:prstGeom prst="rect">
            <a:avLst/>
          </a:prstGeom>
        </p:spPr>
      </p:pic>
      <p:pic>
        <p:nvPicPr>
          <p:cNvPr id="2140" name="picture 2140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3501389" y="2987039"/>
            <a:ext cx="240791" cy="193637"/>
          </a:xfrm>
          <a:prstGeom prst="rect">
            <a:avLst/>
          </a:prstGeom>
        </p:spPr>
      </p:pic>
      <p:pic>
        <p:nvPicPr>
          <p:cNvPr id="2142" name="picture 2142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4630673" y="3246119"/>
            <a:ext cx="240791" cy="193637"/>
          </a:xfrm>
          <a:prstGeom prst="rect">
            <a:avLst/>
          </a:prstGeom>
        </p:spPr>
      </p:pic>
      <p:pic>
        <p:nvPicPr>
          <p:cNvPr id="2144" name="picture 2144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3501389" y="3518915"/>
            <a:ext cx="240791" cy="193637"/>
          </a:xfrm>
          <a:prstGeom prst="rect">
            <a:avLst/>
          </a:prstGeom>
        </p:spPr>
      </p:pic>
      <p:pic>
        <p:nvPicPr>
          <p:cNvPr id="2146" name="picture 2146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2989877" y="2348484"/>
            <a:ext cx="236640" cy="194310"/>
          </a:xfrm>
          <a:prstGeom prst="rect">
            <a:avLst/>
          </a:prstGeom>
        </p:spPr>
      </p:pic>
      <p:pic>
        <p:nvPicPr>
          <p:cNvPr id="2148" name="picture 2148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3492797" y="2723388"/>
            <a:ext cx="236640" cy="193637"/>
          </a:xfrm>
          <a:prstGeom prst="rect">
            <a:avLst/>
          </a:prstGeom>
        </p:spPr>
      </p:pic>
      <p:pic>
        <p:nvPicPr>
          <p:cNvPr id="2150" name="picture 2150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4969014" y="4310417"/>
            <a:ext cx="99567" cy="192481"/>
          </a:xfrm>
          <a:prstGeom prst="rect">
            <a:avLst/>
          </a:prstGeom>
        </p:spPr>
      </p:pic>
      <p:pic>
        <p:nvPicPr>
          <p:cNvPr id="2152" name="picture 2152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6248463" y="4177842"/>
            <a:ext cx="21510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4" name="picture 21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279089" y="1549704"/>
            <a:ext cx="2559316" cy="4495901"/>
          </a:xfrm>
          <a:prstGeom prst="rect">
            <a:avLst/>
          </a:prstGeom>
        </p:spPr>
      </p:pic>
      <p:sp>
        <p:nvSpPr>
          <p:cNvPr id="2156" name="textbox 2156"/>
          <p:cNvSpPr/>
          <p:nvPr/>
        </p:nvSpPr>
        <p:spPr>
          <a:xfrm>
            <a:off x="3788845" y="1825883"/>
            <a:ext cx="704850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3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装配仿真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58" name="picture 21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16394" y="1482737"/>
            <a:ext cx="7517307" cy="3207994"/>
          </a:xfrm>
          <a:prstGeom prst="rect">
            <a:avLst/>
          </a:prstGeom>
        </p:spPr>
      </p:pic>
      <p:pic>
        <p:nvPicPr>
          <p:cNvPr id="2160" name="picture 21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541007" y="4584319"/>
            <a:ext cx="4512564" cy="2093848"/>
          </a:xfrm>
          <a:prstGeom prst="rect">
            <a:avLst/>
          </a:prstGeom>
        </p:spPr>
      </p:pic>
      <p:sp>
        <p:nvSpPr>
          <p:cNvPr id="2162" name="textbox 2162"/>
          <p:cNvSpPr/>
          <p:nvPr/>
        </p:nvSpPr>
        <p:spPr>
          <a:xfrm>
            <a:off x="7749686" y="1407767"/>
            <a:ext cx="4006215" cy="1635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91"/>
              </a:lnSpc>
              <a:tabLst>
                <a:tab pos="94614" algn="l"/>
              </a:tabLst>
            </a:pPr>
            <a:r>
              <a:rPr sz="1700" kern="0" spc="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700" kern="0" spc="12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1700" kern="0" spc="1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装配过程的动态仿真</a:t>
            </a:r>
            <a:r>
              <a:rPr sz="1700" kern="0" spc="-23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1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kern="0" spc="-34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1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虚</a:t>
            </a:r>
            <a:r>
              <a:rPr sz="1700" kern="0" spc="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拟调试等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310515" indent="-297815" algn="l" rtl="0" eaLnBrk="0">
              <a:lnSpc>
                <a:spcPct val="101000"/>
              </a:lnSpc>
              <a:spcBef>
                <a:spcPts val="29"/>
              </a:spcBef>
              <a:tabLst>
                <a:tab pos="94614" algn="l"/>
              </a:tabLst>
            </a:pPr>
            <a:r>
              <a:rPr sz="1700" kern="0" spc="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700" kern="0" spc="14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1700" kern="0" spc="-1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工具</a:t>
            </a:r>
            <a:r>
              <a:rPr sz="1700" kern="0" spc="-23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-1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、人员操作空间的动态仿真分析，</a:t>
            </a:r>
            <a:r>
              <a:rPr sz="1700" kern="0" spc="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2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人机仿真分析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313690" indent="-300990" algn="l" rtl="0" eaLnBrk="0">
              <a:lnSpc>
                <a:spcPct val="105000"/>
              </a:lnSpc>
              <a:spcBef>
                <a:spcPts val="5"/>
              </a:spcBef>
              <a:tabLst>
                <a:tab pos="94614" algn="l"/>
              </a:tabLst>
            </a:pPr>
            <a:r>
              <a:rPr sz="1700" kern="0" spc="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1700" kern="0" spc="12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</a:t>
            </a:r>
            <a:r>
              <a:rPr sz="1700" kern="0" spc="1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工厂仿真</a:t>
            </a:r>
            <a:r>
              <a:rPr sz="1700" kern="0" spc="-21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1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kern="0" spc="-34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1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生产线仿</a:t>
            </a:r>
            <a:r>
              <a:rPr sz="1700" kern="0" spc="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真，产线优化</a:t>
            </a:r>
            <a:r>
              <a:rPr sz="1700" kern="0" spc="-23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   </a:t>
            </a:r>
            <a:r>
              <a:rPr sz="1700" kern="0" spc="1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节拍平衡</a:t>
            </a:r>
            <a:r>
              <a:rPr sz="1700" kern="0" spc="-19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1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kern="0" spc="-36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1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物流仿真及产能爬坡分析</a:t>
            </a:r>
            <a:r>
              <a:rPr sz="1700" kern="0" spc="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</a:t>
            </a:r>
            <a:r>
              <a:rPr sz="1700" kern="0" spc="-10" dirty="0">
                <a:solidFill>
                  <a:srgbClr val="5B7F95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等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2164" name="picture 21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762386" y="2227006"/>
            <a:ext cx="82425" cy="244845"/>
          </a:xfrm>
          <a:prstGeom prst="rect">
            <a:avLst/>
          </a:prstGeom>
        </p:spPr>
      </p:pic>
      <p:pic>
        <p:nvPicPr>
          <p:cNvPr id="2166" name="picture 216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762386" y="1698249"/>
            <a:ext cx="82425" cy="244435"/>
          </a:xfrm>
          <a:prstGeom prst="rect">
            <a:avLst/>
          </a:prstGeom>
        </p:spPr>
      </p:pic>
      <p:pic>
        <p:nvPicPr>
          <p:cNvPr id="2168" name="picture 216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762387" y="1432581"/>
            <a:ext cx="82425" cy="244061"/>
          </a:xfrm>
          <a:prstGeom prst="rect">
            <a:avLst/>
          </a:prstGeom>
        </p:spPr>
      </p:pic>
      <p:pic>
        <p:nvPicPr>
          <p:cNvPr id="2170" name="picture 217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81940" y="4593780"/>
            <a:ext cx="2830067" cy="2084386"/>
          </a:xfrm>
          <a:prstGeom prst="rect">
            <a:avLst/>
          </a:prstGeom>
        </p:spPr>
      </p:pic>
      <p:sp>
        <p:nvSpPr>
          <p:cNvPr id="2172" name="textbox 2172"/>
          <p:cNvSpPr/>
          <p:nvPr/>
        </p:nvSpPr>
        <p:spPr>
          <a:xfrm>
            <a:off x="418592" y="-12700"/>
            <a:ext cx="4655820" cy="1318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59105" algn="l" rtl="0" eaLnBrk="0">
              <a:lnSpc>
                <a:spcPct val="93000"/>
              </a:lnSpc>
              <a:spcBef>
                <a:spcPts val="4"/>
              </a:spcBef>
              <a:tabLst>
                <a:tab pos="575309" algn="l"/>
              </a:tabLst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6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数字化工艺管理及仿</a:t>
            </a: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真验证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610234" algn="l" rtl="0" eaLnBrk="0">
              <a:lnSpc>
                <a:spcPts val="2877"/>
              </a:lnSpc>
              <a:spcBef>
                <a:spcPts val="3"/>
              </a:spcBef>
              <a:tabLst/>
            </a:pPr>
            <a:r>
              <a:rPr sz="2300" kern="0" spc="1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23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数字化工艺仿真验证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44" name="group 144"/>
          <p:cNvGrpSpPr/>
          <p:nvPr/>
        </p:nvGrpSpPr>
        <p:grpSpPr>
          <a:xfrm rot="21600000">
            <a:off x="431292" y="0"/>
            <a:ext cx="446531" cy="755903"/>
            <a:chOff x="0" y="0"/>
            <a:chExt cx="446531" cy="755903"/>
          </a:xfrm>
        </p:grpSpPr>
        <p:sp>
          <p:nvSpPr>
            <p:cNvPr id="2174" name="path 2174"/>
            <p:cNvSpPr/>
            <p:nvPr/>
          </p:nvSpPr>
          <p:spPr>
            <a:xfrm>
              <a:off x="0" y="0"/>
              <a:ext cx="216408" cy="755903"/>
            </a:xfrm>
            <a:custGeom>
              <a:avLst/>
              <a:gdLst/>
              <a:ahLst/>
              <a:cxnLst/>
              <a:rect l="0" t="0" r="0" b="0"/>
              <a:pathLst>
                <a:path w="340" h="1190">
                  <a:moveTo>
                    <a:pt x="0" y="0"/>
                  </a:moveTo>
                  <a:lnTo>
                    <a:pt x="340" y="0"/>
                  </a:lnTo>
                  <a:lnTo>
                    <a:pt x="340" y="1190"/>
                  </a:lnTo>
                  <a:lnTo>
                    <a:pt x="0" y="1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76" name="path 2176"/>
            <p:cNvSpPr/>
            <p:nvPr/>
          </p:nvSpPr>
          <p:spPr>
            <a:xfrm>
              <a:off x="231647" y="147828"/>
              <a:ext cx="214884" cy="605027"/>
            </a:xfrm>
            <a:custGeom>
              <a:avLst/>
              <a:gdLst/>
              <a:ahLst/>
              <a:cxnLst/>
              <a:rect l="0" t="0" r="0" b="0"/>
              <a:pathLst>
                <a:path w="338" h="952">
                  <a:moveTo>
                    <a:pt x="0" y="0"/>
                  </a:moveTo>
                  <a:lnTo>
                    <a:pt x="338" y="0"/>
                  </a:lnTo>
                  <a:lnTo>
                    <a:pt x="338" y="952"/>
                  </a:lnTo>
                  <a:lnTo>
                    <a:pt x="0" y="9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8DE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46" name="group 146"/>
          <p:cNvGrpSpPr/>
          <p:nvPr/>
        </p:nvGrpSpPr>
        <p:grpSpPr>
          <a:xfrm rot="21600000">
            <a:off x="9359037" y="3079432"/>
            <a:ext cx="1695868" cy="1681302"/>
            <a:chOff x="0" y="0"/>
            <a:chExt cx="1695868" cy="1681302"/>
          </a:xfrm>
        </p:grpSpPr>
        <p:pic>
          <p:nvPicPr>
            <p:cNvPr id="2178" name="picture 217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1695868" cy="1681302"/>
            </a:xfrm>
            <a:prstGeom prst="rect">
              <a:avLst/>
            </a:prstGeom>
          </p:spPr>
        </p:pic>
        <p:sp>
          <p:nvSpPr>
            <p:cNvPr id="2180" name="textbox 2180"/>
            <p:cNvSpPr/>
            <p:nvPr/>
          </p:nvSpPr>
          <p:spPr>
            <a:xfrm>
              <a:off x="-12700" y="-12700"/>
              <a:ext cx="1721485" cy="17227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43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515619" algn="l" rtl="0" eaLnBrk="0">
                <a:lnSpc>
                  <a:spcPct val="93000"/>
                </a:lnSpc>
                <a:tabLst/>
              </a:pPr>
              <a:r>
                <a:rPr sz="13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实际线体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2182" name="picture 218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705566" y="3521645"/>
            <a:ext cx="1366751" cy="803022"/>
          </a:xfrm>
          <a:prstGeom prst="rect">
            <a:avLst/>
          </a:prstGeom>
        </p:spPr>
      </p:pic>
      <p:pic>
        <p:nvPicPr>
          <p:cNvPr id="2184" name="picture 218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04345" y="3523809"/>
            <a:ext cx="1493677" cy="726157"/>
          </a:xfrm>
          <a:prstGeom prst="rect">
            <a:avLst/>
          </a:prstGeom>
        </p:spPr>
      </p:pic>
      <p:pic>
        <p:nvPicPr>
          <p:cNvPr id="2186" name="picture 218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3482388" y="4934070"/>
            <a:ext cx="1308828" cy="785909"/>
          </a:xfrm>
          <a:prstGeom prst="rect">
            <a:avLst/>
          </a:prstGeom>
        </p:spPr>
      </p:pic>
      <p:pic>
        <p:nvPicPr>
          <p:cNvPr id="2188" name="picture 218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339943" y="3542265"/>
            <a:ext cx="1308828" cy="764765"/>
          </a:xfrm>
          <a:prstGeom prst="rect">
            <a:avLst/>
          </a:prstGeom>
        </p:spPr>
      </p:pic>
      <p:pic>
        <p:nvPicPr>
          <p:cNvPr id="2190" name="picture 219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2754629" y="3506304"/>
            <a:ext cx="704519" cy="514909"/>
          </a:xfrm>
          <a:prstGeom prst="rect">
            <a:avLst/>
          </a:prstGeom>
        </p:spPr>
      </p:pic>
      <p:pic>
        <p:nvPicPr>
          <p:cNvPr id="2192" name="picture 219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5992774" y="3518204"/>
            <a:ext cx="535063" cy="514908"/>
          </a:xfrm>
          <a:prstGeom prst="rect">
            <a:avLst/>
          </a:prstGeom>
        </p:spPr>
      </p:pic>
      <p:pic>
        <p:nvPicPr>
          <p:cNvPr id="2194" name="picture 219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8549461" y="3571023"/>
            <a:ext cx="535051" cy="514908"/>
          </a:xfrm>
          <a:prstGeom prst="rect">
            <a:avLst/>
          </a:prstGeom>
        </p:spPr>
      </p:pic>
      <p:sp>
        <p:nvSpPr>
          <p:cNvPr id="2196" name="textbox 2196"/>
          <p:cNvSpPr/>
          <p:nvPr/>
        </p:nvSpPr>
        <p:spPr>
          <a:xfrm>
            <a:off x="3756741" y="4638552"/>
            <a:ext cx="704850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3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人机仿真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98" name="textbox 2198"/>
          <p:cNvSpPr/>
          <p:nvPr/>
        </p:nvSpPr>
        <p:spPr>
          <a:xfrm>
            <a:off x="7051782" y="3230376"/>
            <a:ext cx="704850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3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虚拟试装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00" name="textbox 2200"/>
          <p:cNvSpPr/>
          <p:nvPr/>
        </p:nvSpPr>
        <p:spPr>
          <a:xfrm>
            <a:off x="1182706" y="3200310"/>
            <a:ext cx="702944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8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3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工艺方案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02" name="textbox 2202"/>
          <p:cNvSpPr/>
          <p:nvPr/>
        </p:nvSpPr>
        <p:spPr>
          <a:xfrm>
            <a:off x="4648546" y="3242339"/>
            <a:ext cx="702944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3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工具仿真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rect 2204"/>
          <p:cNvSpPr/>
          <p:nvPr/>
        </p:nvSpPr>
        <p:spPr>
          <a:xfrm>
            <a:off x="1545336" y="3098291"/>
            <a:ext cx="925068" cy="144779"/>
          </a:xfrm>
          <a:prstGeom prst="rect">
            <a:avLst/>
          </a:prstGeom>
          <a:solidFill>
            <a:srgbClr val="92D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206" name="table 2206"/>
          <p:cNvGraphicFramePr>
            <a:graphicFrameLocks noGrp="1"/>
          </p:cNvGraphicFramePr>
          <p:nvPr/>
        </p:nvGraphicFramePr>
        <p:xfrm>
          <a:off x="1327886" y="1334414"/>
          <a:ext cx="10438765" cy="530859"/>
        </p:xfrm>
        <a:graphic>
          <a:graphicData uri="http://schemas.openxmlformats.org/drawingml/2006/table">
            <a:tbl>
              <a:tblPr/>
              <a:tblGrid>
                <a:gridCol w="808354"/>
                <a:gridCol w="802005"/>
                <a:gridCol w="802004"/>
                <a:gridCol w="802004"/>
                <a:gridCol w="802004"/>
                <a:gridCol w="802004"/>
                <a:gridCol w="802004"/>
                <a:gridCol w="802640"/>
                <a:gridCol w="802005"/>
                <a:gridCol w="801369"/>
                <a:gridCol w="802005"/>
                <a:gridCol w="802005"/>
                <a:gridCol w="808354"/>
              </a:tblGrid>
              <a:tr h="265429">
                <a:tc gridSpan="6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63139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2017</a:t>
                      </a:r>
                      <a:endParaRPr sz="11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5811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2018</a:t>
                      </a:r>
                      <a:endParaRPr sz="11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2654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7475" algn="l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7</a:t>
                      </a:r>
                      <a:endParaRPr sz="11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125" algn="l" rtl="0" eaLnBrk="0">
                        <a:lnSpc>
                          <a:spcPct val="7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8</a:t>
                      </a:r>
                      <a:endParaRPr sz="11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125" algn="l" rtl="0" eaLnBrk="0">
                        <a:lnSpc>
                          <a:spcPct val="7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9</a:t>
                      </a:r>
                      <a:endParaRPr sz="11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7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10</a:t>
                      </a:r>
                      <a:endParaRPr sz="11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11</a:t>
                      </a:r>
                      <a:endParaRPr sz="11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7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12</a:t>
                      </a:r>
                      <a:endParaRPr sz="11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</a:t>
                      </a:r>
                      <a:endParaRPr sz="11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125" algn="l" rtl="0" eaLnBrk="0">
                        <a:lnSpc>
                          <a:spcPct val="7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</a:t>
                      </a:r>
                      <a:endParaRPr sz="11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9854" algn="l" rtl="0" eaLnBrk="0">
                        <a:lnSpc>
                          <a:spcPct val="7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3</a:t>
                      </a:r>
                      <a:endParaRPr sz="11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679" algn="l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</a:t>
                      </a:r>
                      <a:endParaRPr sz="11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2395" algn="l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</a:t>
                      </a:r>
                      <a:endParaRPr sz="11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2395" algn="l" rtl="0" eaLnBrk="0">
                        <a:lnSpc>
                          <a:spcPct val="7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6</a:t>
                      </a:r>
                      <a:endParaRPr sz="11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760" algn="l" rtl="0" eaLnBrk="0">
                        <a:lnSpc>
                          <a:spcPct val="7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7</a:t>
                      </a:r>
                      <a:endParaRPr sz="11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  <p:sp>
        <p:nvSpPr>
          <p:cNvPr id="2208" name="rect 2208"/>
          <p:cNvSpPr/>
          <p:nvPr/>
        </p:nvSpPr>
        <p:spPr>
          <a:xfrm>
            <a:off x="3724655" y="2327147"/>
            <a:ext cx="1607819" cy="143256"/>
          </a:xfrm>
          <a:prstGeom prst="rect">
            <a:avLst/>
          </a:pr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10" name="rect 2210"/>
          <p:cNvSpPr/>
          <p:nvPr/>
        </p:nvSpPr>
        <p:spPr>
          <a:xfrm>
            <a:off x="5367528" y="4219955"/>
            <a:ext cx="3182111" cy="143255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12" name="path 2212"/>
          <p:cNvSpPr/>
          <p:nvPr/>
        </p:nvSpPr>
        <p:spPr>
          <a:xfrm>
            <a:off x="8488680" y="4223003"/>
            <a:ext cx="874776" cy="143255"/>
          </a:xfrm>
          <a:custGeom>
            <a:avLst/>
            <a:gdLst/>
            <a:ahLst/>
            <a:cxnLst/>
            <a:rect l="0" t="0" r="0" b="0"/>
            <a:pathLst>
              <a:path w="1377" h="225">
                <a:moveTo>
                  <a:pt x="0" y="0"/>
                </a:moveTo>
                <a:lnTo>
                  <a:pt x="1262" y="0"/>
                </a:lnTo>
                <a:lnTo>
                  <a:pt x="1377" y="112"/>
                </a:lnTo>
                <a:lnTo>
                  <a:pt x="1262" y="225"/>
                </a:lnTo>
                <a:lnTo>
                  <a:pt x="0" y="225"/>
                </a:lnTo>
                <a:lnTo>
                  <a:pt x="115" y="112"/>
                </a:lnTo>
                <a:lnTo>
                  <a:pt x="0" y="0"/>
                </a:lnTo>
              </a:path>
            </a:pathLst>
          </a:cu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14" name="path 2214"/>
          <p:cNvSpPr/>
          <p:nvPr/>
        </p:nvSpPr>
        <p:spPr>
          <a:xfrm>
            <a:off x="9329927" y="4341875"/>
            <a:ext cx="771144" cy="144780"/>
          </a:xfrm>
          <a:custGeom>
            <a:avLst/>
            <a:gdLst/>
            <a:ahLst/>
            <a:cxnLst/>
            <a:rect l="0" t="0" r="0" b="0"/>
            <a:pathLst>
              <a:path w="1214" h="228">
                <a:moveTo>
                  <a:pt x="0" y="0"/>
                </a:moveTo>
                <a:lnTo>
                  <a:pt x="1099" y="0"/>
                </a:lnTo>
                <a:lnTo>
                  <a:pt x="1214" y="115"/>
                </a:lnTo>
                <a:lnTo>
                  <a:pt x="1099" y="228"/>
                </a:lnTo>
                <a:lnTo>
                  <a:pt x="0" y="228"/>
                </a:lnTo>
                <a:lnTo>
                  <a:pt x="112" y="115"/>
                </a:lnTo>
                <a:lnTo>
                  <a:pt x="0" y="0"/>
                </a:lnTo>
              </a:path>
            </a:pathLst>
          </a:cu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16" name="path 2216"/>
          <p:cNvSpPr/>
          <p:nvPr/>
        </p:nvSpPr>
        <p:spPr>
          <a:xfrm>
            <a:off x="10091927" y="4451603"/>
            <a:ext cx="771144" cy="144779"/>
          </a:xfrm>
          <a:custGeom>
            <a:avLst/>
            <a:gdLst/>
            <a:ahLst/>
            <a:cxnLst/>
            <a:rect l="0" t="0" r="0" b="0"/>
            <a:pathLst>
              <a:path w="1214" h="227">
                <a:moveTo>
                  <a:pt x="0" y="0"/>
                </a:moveTo>
                <a:lnTo>
                  <a:pt x="1101" y="0"/>
                </a:lnTo>
                <a:lnTo>
                  <a:pt x="1214" y="115"/>
                </a:lnTo>
                <a:lnTo>
                  <a:pt x="1101" y="227"/>
                </a:lnTo>
                <a:lnTo>
                  <a:pt x="0" y="227"/>
                </a:lnTo>
                <a:lnTo>
                  <a:pt x="112" y="115"/>
                </a:lnTo>
                <a:lnTo>
                  <a:pt x="0" y="0"/>
                </a:lnTo>
              </a:path>
            </a:pathLst>
          </a:cu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18" name="path 2218"/>
          <p:cNvSpPr/>
          <p:nvPr/>
        </p:nvSpPr>
        <p:spPr>
          <a:xfrm>
            <a:off x="5330952" y="2484120"/>
            <a:ext cx="701039" cy="143255"/>
          </a:xfrm>
          <a:custGeom>
            <a:avLst/>
            <a:gdLst/>
            <a:ahLst/>
            <a:cxnLst/>
            <a:rect l="0" t="0" r="0" b="0"/>
            <a:pathLst>
              <a:path w="1103" h="225">
                <a:moveTo>
                  <a:pt x="0" y="0"/>
                </a:moveTo>
                <a:lnTo>
                  <a:pt x="988" y="0"/>
                </a:lnTo>
                <a:lnTo>
                  <a:pt x="1103" y="112"/>
                </a:lnTo>
                <a:lnTo>
                  <a:pt x="988" y="225"/>
                </a:lnTo>
                <a:lnTo>
                  <a:pt x="0" y="225"/>
                </a:lnTo>
                <a:lnTo>
                  <a:pt x="112" y="112"/>
                </a:lnTo>
                <a:lnTo>
                  <a:pt x="0" y="0"/>
                </a:lnTo>
              </a:path>
            </a:pathLst>
          </a:cu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20" name="path 2220"/>
          <p:cNvSpPr/>
          <p:nvPr/>
        </p:nvSpPr>
        <p:spPr>
          <a:xfrm>
            <a:off x="1426463" y="2924555"/>
            <a:ext cx="699515" cy="143255"/>
          </a:xfrm>
          <a:custGeom>
            <a:avLst/>
            <a:gdLst/>
            <a:ahLst/>
            <a:cxnLst/>
            <a:rect l="0" t="0" r="0" b="0"/>
            <a:pathLst>
              <a:path w="1101" h="225">
                <a:moveTo>
                  <a:pt x="0" y="0"/>
                </a:moveTo>
                <a:lnTo>
                  <a:pt x="988" y="0"/>
                </a:lnTo>
                <a:lnTo>
                  <a:pt x="1101" y="112"/>
                </a:lnTo>
                <a:lnTo>
                  <a:pt x="988" y="225"/>
                </a:lnTo>
                <a:lnTo>
                  <a:pt x="0" y="225"/>
                </a:lnTo>
                <a:lnTo>
                  <a:pt x="112" y="112"/>
                </a:lnTo>
                <a:lnTo>
                  <a:pt x="0" y="0"/>
                </a:lnTo>
              </a:path>
            </a:pathLst>
          </a:custGeom>
          <a:solidFill>
            <a:srgbClr val="92D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22" name="path 2222"/>
          <p:cNvSpPr/>
          <p:nvPr/>
        </p:nvSpPr>
        <p:spPr>
          <a:xfrm>
            <a:off x="3000755" y="2153411"/>
            <a:ext cx="699515" cy="144779"/>
          </a:xfrm>
          <a:custGeom>
            <a:avLst/>
            <a:gdLst/>
            <a:ahLst/>
            <a:cxnLst/>
            <a:rect l="0" t="0" r="0" b="0"/>
            <a:pathLst>
              <a:path w="1101" h="227">
                <a:moveTo>
                  <a:pt x="0" y="0"/>
                </a:moveTo>
                <a:lnTo>
                  <a:pt x="988" y="0"/>
                </a:lnTo>
                <a:lnTo>
                  <a:pt x="1101" y="115"/>
                </a:lnTo>
                <a:lnTo>
                  <a:pt x="988" y="227"/>
                </a:lnTo>
                <a:lnTo>
                  <a:pt x="0" y="227"/>
                </a:lnTo>
                <a:lnTo>
                  <a:pt x="112" y="115"/>
                </a:lnTo>
                <a:lnTo>
                  <a:pt x="0" y="0"/>
                </a:lnTo>
              </a:path>
            </a:pathLst>
          </a:cu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24" name="rect 2224"/>
          <p:cNvSpPr/>
          <p:nvPr/>
        </p:nvSpPr>
        <p:spPr>
          <a:xfrm>
            <a:off x="4838700" y="3444240"/>
            <a:ext cx="827532" cy="144779"/>
          </a:xfrm>
          <a:prstGeom prst="rect">
            <a:avLst/>
          </a:prstGeom>
          <a:solidFill>
            <a:srgbClr val="92D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26" name="rect 2226"/>
          <p:cNvSpPr/>
          <p:nvPr/>
        </p:nvSpPr>
        <p:spPr>
          <a:xfrm>
            <a:off x="2407920" y="3256788"/>
            <a:ext cx="2538983" cy="144779"/>
          </a:xfrm>
          <a:prstGeom prst="rect">
            <a:avLst/>
          </a:prstGeom>
          <a:solidFill>
            <a:srgbClr val="92D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28" name="rect 2228"/>
          <p:cNvSpPr/>
          <p:nvPr/>
        </p:nvSpPr>
        <p:spPr>
          <a:xfrm>
            <a:off x="2407920" y="3435095"/>
            <a:ext cx="2118359" cy="143256"/>
          </a:xfrm>
          <a:prstGeom prst="rect">
            <a:avLst/>
          </a:prstGeom>
          <a:solidFill>
            <a:srgbClr val="92D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30" name="rect 2230"/>
          <p:cNvSpPr/>
          <p:nvPr/>
        </p:nvSpPr>
        <p:spPr>
          <a:xfrm>
            <a:off x="1543811" y="3851148"/>
            <a:ext cx="1365504" cy="143255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32" name="path 2232"/>
          <p:cNvSpPr/>
          <p:nvPr/>
        </p:nvSpPr>
        <p:spPr>
          <a:xfrm>
            <a:off x="1379219" y="4754879"/>
            <a:ext cx="164591" cy="143255"/>
          </a:xfrm>
          <a:custGeom>
            <a:avLst/>
            <a:gdLst/>
            <a:ahLst/>
            <a:cxnLst/>
            <a:rect l="0" t="0" r="0" b="0"/>
            <a:pathLst>
              <a:path w="259" h="225">
                <a:moveTo>
                  <a:pt x="0" y="225"/>
                </a:moveTo>
                <a:lnTo>
                  <a:pt x="129" y="0"/>
                </a:lnTo>
                <a:lnTo>
                  <a:pt x="259" y="225"/>
                </a:lnTo>
                <a:lnTo>
                  <a:pt x="0" y="225"/>
                </a:lnTo>
              </a:path>
            </a:pathLst>
          </a:cu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34" name="rect 2234"/>
          <p:cNvSpPr/>
          <p:nvPr/>
        </p:nvSpPr>
        <p:spPr>
          <a:xfrm>
            <a:off x="1525523" y="4838700"/>
            <a:ext cx="1365504" cy="143255"/>
          </a:xfrm>
          <a:prstGeom prst="rect">
            <a:avLst/>
          </a:prstGeom>
          <a:solidFill>
            <a:srgbClr val="FFC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36" name="rect 2236"/>
          <p:cNvSpPr/>
          <p:nvPr/>
        </p:nvSpPr>
        <p:spPr>
          <a:xfrm>
            <a:off x="2572511" y="5001767"/>
            <a:ext cx="1197863" cy="155447"/>
          </a:xfrm>
          <a:prstGeom prst="rect">
            <a:avLst/>
          </a:prstGeom>
          <a:solidFill>
            <a:srgbClr val="FFC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38" name="rect 2238"/>
          <p:cNvSpPr/>
          <p:nvPr/>
        </p:nvSpPr>
        <p:spPr>
          <a:xfrm>
            <a:off x="4535423" y="4026408"/>
            <a:ext cx="4014216" cy="143255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40" name="rect 2240"/>
          <p:cNvSpPr/>
          <p:nvPr/>
        </p:nvSpPr>
        <p:spPr>
          <a:xfrm>
            <a:off x="2951987" y="4399788"/>
            <a:ext cx="2299716" cy="144779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42" name="rect 2242"/>
          <p:cNvSpPr/>
          <p:nvPr/>
        </p:nvSpPr>
        <p:spPr>
          <a:xfrm>
            <a:off x="3677411" y="5102352"/>
            <a:ext cx="3281172" cy="179831"/>
          </a:xfrm>
          <a:prstGeom prst="rect">
            <a:avLst/>
          </a:prstGeom>
          <a:solidFill>
            <a:srgbClr val="FFC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44" name="rect 2244"/>
          <p:cNvSpPr/>
          <p:nvPr/>
        </p:nvSpPr>
        <p:spPr>
          <a:xfrm>
            <a:off x="3000755" y="4223003"/>
            <a:ext cx="2318003" cy="143255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46" name="rect 2246"/>
          <p:cNvSpPr/>
          <p:nvPr/>
        </p:nvSpPr>
        <p:spPr>
          <a:xfrm>
            <a:off x="2926079" y="5373623"/>
            <a:ext cx="4032504" cy="147828"/>
          </a:xfrm>
          <a:prstGeom prst="rect">
            <a:avLst/>
          </a:prstGeom>
          <a:solidFill>
            <a:srgbClr val="FFC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48" name="rect 2248"/>
          <p:cNvSpPr/>
          <p:nvPr/>
        </p:nvSpPr>
        <p:spPr>
          <a:xfrm>
            <a:off x="1863851" y="4026408"/>
            <a:ext cx="1865376" cy="143255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50" name="rect 2250"/>
          <p:cNvSpPr/>
          <p:nvPr/>
        </p:nvSpPr>
        <p:spPr>
          <a:xfrm>
            <a:off x="1333500" y="5708903"/>
            <a:ext cx="1365504" cy="144779"/>
          </a:xfrm>
          <a:prstGeom prst="rect">
            <a:avLst/>
          </a:prstGeom>
          <a:solidFill>
            <a:srgbClr val="FFD9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52" name="rect 2252"/>
          <p:cNvSpPr/>
          <p:nvPr/>
        </p:nvSpPr>
        <p:spPr>
          <a:xfrm>
            <a:off x="2380487" y="5871971"/>
            <a:ext cx="2936748" cy="182880"/>
          </a:xfrm>
          <a:prstGeom prst="rect">
            <a:avLst/>
          </a:prstGeom>
          <a:solidFill>
            <a:srgbClr val="FFD9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54" name="rect 2254"/>
          <p:cNvSpPr/>
          <p:nvPr/>
        </p:nvSpPr>
        <p:spPr>
          <a:xfrm>
            <a:off x="5277611" y="6012179"/>
            <a:ext cx="4035552" cy="188976"/>
          </a:xfrm>
          <a:prstGeom prst="rect">
            <a:avLst/>
          </a:prstGeom>
          <a:solidFill>
            <a:srgbClr val="FFD9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56" name="rect 2256"/>
          <p:cNvSpPr/>
          <p:nvPr/>
        </p:nvSpPr>
        <p:spPr>
          <a:xfrm>
            <a:off x="5265420" y="6309359"/>
            <a:ext cx="4032503" cy="147828"/>
          </a:xfrm>
          <a:prstGeom prst="rect">
            <a:avLst/>
          </a:prstGeom>
          <a:solidFill>
            <a:srgbClr val="FFD9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58" name="rect 2258"/>
          <p:cNvSpPr/>
          <p:nvPr/>
        </p:nvSpPr>
        <p:spPr>
          <a:xfrm>
            <a:off x="7011923" y="5210555"/>
            <a:ext cx="873252" cy="143255"/>
          </a:xfrm>
          <a:prstGeom prst="rect">
            <a:avLst/>
          </a:prstGeom>
          <a:solidFill>
            <a:srgbClr val="FFC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60" name="rect 2260"/>
          <p:cNvSpPr/>
          <p:nvPr/>
        </p:nvSpPr>
        <p:spPr>
          <a:xfrm>
            <a:off x="9427464" y="6262115"/>
            <a:ext cx="1374647" cy="143255"/>
          </a:xfrm>
          <a:prstGeom prst="rect">
            <a:avLst/>
          </a:prstGeom>
          <a:solidFill>
            <a:srgbClr val="FFD9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262" name="table 2262"/>
          <p:cNvGraphicFramePr>
            <a:graphicFrameLocks noGrp="1"/>
          </p:cNvGraphicFramePr>
          <p:nvPr/>
        </p:nvGraphicFramePr>
        <p:xfrm>
          <a:off x="1333500" y="1850764"/>
          <a:ext cx="10344784" cy="4763134"/>
        </p:xfrm>
        <a:graphic>
          <a:graphicData uri="http://schemas.openxmlformats.org/drawingml/2006/table">
            <a:tbl>
              <a:tblPr/>
              <a:tblGrid>
                <a:gridCol w="812165"/>
                <a:gridCol w="791844"/>
                <a:gridCol w="797559"/>
                <a:gridCol w="800734"/>
                <a:gridCol w="791844"/>
                <a:gridCol w="797559"/>
                <a:gridCol w="834390"/>
                <a:gridCol w="791844"/>
                <a:gridCol w="797559"/>
                <a:gridCol w="800734"/>
                <a:gridCol w="791844"/>
                <a:gridCol w="797559"/>
                <a:gridCol w="739140"/>
              </a:tblGrid>
              <a:tr h="283845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63829" algn="l" rtl="0" eaLnBrk="0">
                        <a:lnSpc>
                          <a:spcPct val="7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9.1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63195" algn="l" rtl="0" eaLnBrk="0">
                        <a:lnSpc>
                          <a:spcPts val="1207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Kick</a:t>
                      </a:r>
                      <a:r>
                        <a:rPr sz="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off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745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3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738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ts val="1207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发及SIT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0025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UAT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6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ct val="80000"/>
                        </a:lnSpc>
                        <a:tabLst/>
                      </a:pPr>
                      <a:r>
                        <a:rPr sz="1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44779" algn="l" rtl="0" eaLnBrk="0">
                        <a:lnSpc>
                          <a:spcPts val="1207"/>
                        </a:lnSpc>
                        <a:tabLst>
                          <a:tab pos="215265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Go-live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5959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方案设计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99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7325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方案设计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2M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拉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65" algn="l" rtl="0" eaLnBrk="0">
                        <a:lnSpc>
                          <a:spcPct val="92000"/>
                        </a:lnSpc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0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8609" indent="-142239" algn="l" rtl="0" eaLnBrk="0">
                        <a:lnSpc>
                          <a:spcPct val="124000"/>
                        </a:lnSpc>
                        <a:tabLst/>
                      </a:pP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开发及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SIT    </a:t>
                      </a: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业务数据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梳理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UA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02919" algn="l" rtl="0" eaLnBrk="0">
                        <a:lnSpc>
                          <a:spcPct val="88000"/>
                        </a:lnSpc>
                        <a:spcBef>
                          <a:spcPts val="117"/>
                        </a:spcBef>
                        <a:tabLst>
                          <a:tab pos="582294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Go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40" algn="l" rtl="0" eaLnBrk="0">
                        <a:lnSpc>
                          <a:spcPct val="8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5714" algn="l" rtl="0" eaLnBrk="0">
                        <a:lnSpc>
                          <a:spcPts val="1207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live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694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</a:t>
                      </a:r>
                      <a:r>
                        <a:rPr sz="9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719" algn="l" rtl="0" eaLnBrk="0">
                        <a:lnSpc>
                          <a:spcPct val="9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方案设计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r" rtl="0" eaLnBrk="0">
                        <a:lnSpc>
                          <a:spcPts val="1207"/>
                        </a:lnSpc>
                        <a:spcBef>
                          <a:spcPts val="144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IT</a:t>
                      </a: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高阶方</a:t>
                      </a:r>
                      <a:endParaRPr sz="8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069" algn="l" rtl="0" eaLnBrk="0">
                        <a:lnSpc>
                          <a:spcPct val="9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案设计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2940" algn="l" rtl="0" eaLnBrk="0">
                        <a:lnSpc>
                          <a:spcPct val="9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310" indent="-67310" algn="l" rtl="0" eaLnBrk="0">
                        <a:lnSpc>
                          <a:spcPct val="13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统详细设计（</a:t>
                      </a:r>
                      <a:r>
                        <a:rPr sz="9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业务数据方案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ts val="1207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DD</a:t>
                      </a: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  <a:endParaRPr sz="8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6109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能开发及UT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725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波轮及滚筒业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务数据清理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9400" algn="l" rtl="0" eaLnBrk="0">
                        <a:lnSpc>
                          <a:spcPts val="1207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</a:t>
                      </a:r>
                      <a:r>
                        <a:rPr sz="9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IT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ct val="8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5.1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76529" algn="l" rtl="0" eaLnBrk="0">
                        <a:lnSpc>
                          <a:spcPts val="1207"/>
                        </a:lnSpc>
                        <a:tabLst>
                          <a:tab pos="246379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Function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ts val="1207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Ready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720" algn="l" rtl="0" eaLnBrk="0">
                        <a:lnSpc>
                          <a:spcPct val="8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7.1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67639" algn="l" rtl="0" eaLnBrk="0">
                        <a:lnSpc>
                          <a:spcPts val="1207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</a:t>
                      </a:r>
                      <a:r>
                        <a:rPr sz="9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live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184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0020" algn="l" rtl="0" eaLnBrk="0">
                        <a:lnSpc>
                          <a:spcPct val="8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UAT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081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UAT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59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009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8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务</a:t>
                      </a:r>
                      <a:endParaRPr sz="8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165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方案设计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0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统详细设计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8145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业务变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indent="97155" algn="l" rtl="0" eaLnBrk="0">
                        <a:lnSpc>
                          <a:spcPct val="17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开发及U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</a:t>
                      </a: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革及数据清理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3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1159" algn="l" rtl="0" eaLnBrk="0">
                        <a:lnSpc>
                          <a:spcPts val="1207"/>
                        </a:lnSpc>
                        <a:tabLst/>
                      </a:pP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</a:t>
                      </a:r>
                      <a:r>
                        <a:rPr sz="9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IT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245" algn="l" rtl="0" eaLnBrk="0">
                        <a:lnSpc>
                          <a:spcPct val="8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5.1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46050" algn="l" rtl="0" eaLnBrk="0">
                        <a:lnSpc>
                          <a:spcPts val="1138"/>
                        </a:lnSpc>
                        <a:tabLst>
                          <a:tab pos="217170" algn="l"/>
                        </a:tabLst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Go-live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</a:t>
                      </a:r>
                      <a:r>
                        <a:rPr sz="9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" algn="l" rtl="0" eaLnBrk="0">
                        <a:lnSpc>
                          <a:spcPct val="9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选型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994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工艺</a:t>
                      </a:r>
                      <a:endParaRPr sz="8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25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仿真需求、方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2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007"/>
                        </a:lnSpc>
                        <a:tabLst/>
                      </a:pPr>
                      <a:r>
                        <a:rPr sz="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案设计及系统设计</a:t>
                      </a:r>
                      <a:endParaRPr sz="8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7534" indent="-565150" algn="l" rtl="0" eaLnBrk="0">
                        <a:lnSpc>
                          <a:spcPct val="1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功能开发及测试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变革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及数据清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tabLst/>
                      </a:pPr>
                      <a:r>
                        <a:rPr sz="9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UAT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及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94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EUT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725" algn="l" rtl="0" eaLnBrk="0">
                        <a:lnSpc>
                          <a:spcPct val="80000"/>
                        </a:lnSpc>
                        <a:tabLst/>
                      </a:pPr>
                      <a:r>
                        <a:rPr sz="1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7.1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80644" algn="l" rtl="0" eaLnBrk="0">
                        <a:lnSpc>
                          <a:spcPts val="1207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</a:t>
                      </a:r>
                      <a:r>
                        <a:rPr sz="9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live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264" name="path 2264"/>
          <p:cNvSpPr/>
          <p:nvPr/>
        </p:nvSpPr>
        <p:spPr>
          <a:xfrm>
            <a:off x="8549003" y="5519979"/>
            <a:ext cx="146205" cy="135069"/>
          </a:xfrm>
          <a:custGeom>
            <a:avLst/>
            <a:gdLst/>
            <a:ahLst/>
            <a:cxnLst/>
            <a:rect l="0" t="0" r="0" b="0"/>
            <a:pathLst>
              <a:path w="230" h="212">
                <a:moveTo>
                  <a:pt x="0" y="212"/>
                </a:moveTo>
                <a:lnTo>
                  <a:pt x="115" y="0"/>
                </a:lnTo>
                <a:lnTo>
                  <a:pt x="230" y="212"/>
                </a:lnTo>
                <a:lnTo>
                  <a:pt x="0" y="212"/>
                </a:lnTo>
              </a:path>
            </a:pathLst>
          </a:cu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66" name="path 2266"/>
          <p:cNvSpPr/>
          <p:nvPr/>
        </p:nvSpPr>
        <p:spPr>
          <a:xfrm>
            <a:off x="9363456" y="4037075"/>
            <a:ext cx="163067" cy="143256"/>
          </a:xfrm>
          <a:custGeom>
            <a:avLst/>
            <a:gdLst/>
            <a:ahLst/>
            <a:cxnLst/>
            <a:rect l="0" t="0" r="0" b="0"/>
            <a:pathLst>
              <a:path w="256" h="225">
                <a:moveTo>
                  <a:pt x="0" y="225"/>
                </a:moveTo>
                <a:lnTo>
                  <a:pt x="127" y="0"/>
                </a:lnTo>
                <a:lnTo>
                  <a:pt x="256" y="225"/>
                </a:lnTo>
                <a:lnTo>
                  <a:pt x="0" y="225"/>
                </a:lnTo>
              </a:path>
            </a:pathLst>
          </a:cu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68" name="path 2268"/>
          <p:cNvSpPr/>
          <p:nvPr/>
        </p:nvSpPr>
        <p:spPr>
          <a:xfrm>
            <a:off x="5666232" y="3590544"/>
            <a:ext cx="164591" cy="144779"/>
          </a:xfrm>
          <a:custGeom>
            <a:avLst/>
            <a:gdLst/>
            <a:ahLst/>
            <a:cxnLst/>
            <a:rect l="0" t="0" r="0" b="0"/>
            <a:pathLst>
              <a:path w="259" h="227">
                <a:moveTo>
                  <a:pt x="0" y="227"/>
                </a:moveTo>
                <a:lnTo>
                  <a:pt x="129" y="0"/>
                </a:lnTo>
                <a:lnTo>
                  <a:pt x="259" y="227"/>
                </a:lnTo>
                <a:lnTo>
                  <a:pt x="0" y="227"/>
                </a:lnTo>
              </a:path>
            </a:pathLst>
          </a:cu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70" name="path 2270"/>
          <p:cNvSpPr/>
          <p:nvPr/>
        </p:nvSpPr>
        <p:spPr>
          <a:xfrm>
            <a:off x="1333500" y="2833116"/>
            <a:ext cx="164591" cy="150875"/>
          </a:xfrm>
          <a:custGeom>
            <a:avLst/>
            <a:gdLst/>
            <a:ahLst/>
            <a:cxnLst/>
            <a:rect l="0" t="0" r="0" b="0"/>
            <a:pathLst>
              <a:path w="259" h="237">
                <a:moveTo>
                  <a:pt x="0" y="237"/>
                </a:moveTo>
                <a:lnTo>
                  <a:pt x="129" y="0"/>
                </a:lnTo>
                <a:lnTo>
                  <a:pt x="259" y="237"/>
                </a:lnTo>
                <a:lnTo>
                  <a:pt x="0" y="237"/>
                </a:lnTo>
              </a:path>
            </a:pathLst>
          </a:cu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72" name="path 2272"/>
          <p:cNvSpPr/>
          <p:nvPr/>
        </p:nvSpPr>
        <p:spPr>
          <a:xfrm>
            <a:off x="6125209" y="2604516"/>
            <a:ext cx="144825" cy="143255"/>
          </a:xfrm>
          <a:custGeom>
            <a:avLst/>
            <a:gdLst/>
            <a:ahLst/>
            <a:cxnLst/>
            <a:rect l="0" t="0" r="0" b="0"/>
            <a:pathLst>
              <a:path w="228" h="225">
                <a:moveTo>
                  <a:pt x="0" y="225"/>
                </a:moveTo>
                <a:lnTo>
                  <a:pt x="114" y="0"/>
                </a:lnTo>
                <a:lnTo>
                  <a:pt x="228" y="225"/>
                </a:lnTo>
                <a:lnTo>
                  <a:pt x="0" y="225"/>
                </a:lnTo>
              </a:path>
            </a:pathLst>
          </a:cu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74" name="textbox 2274"/>
          <p:cNvSpPr/>
          <p:nvPr/>
        </p:nvSpPr>
        <p:spPr>
          <a:xfrm>
            <a:off x="418592" y="-12700"/>
            <a:ext cx="5003800" cy="1269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59105" algn="l" rtl="0" eaLnBrk="0">
              <a:lnSpc>
                <a:spcPct val="93000"/>
              </a:lnSpc>
              <a:spcBef>
                <a:spcPts val="3"/>
              </a:spcBef>
              <a:tabLst>
                <a:tab pos="575309" algn="l"/>
              </a:tabLst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数字化2.0-研发总体项</a:t>
            </a:r>
            <a:r>
              <a:rPr sz="26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目计划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9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877"/>
              </a:lnSpc>
              <a:tabLst/>
            </a:pP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数字化2.0研发领域项目实施规划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48" name="group 148"/>
          <p:cNvGrpSpPr/>
          <p:nvPr/>
        </p:nvGrpSpPr>
        <p:grpSpPr>
          <a:xfrm rot="21600000">
            <a:off x="431292" y="0"/>
            <a:ext cx="446531" cy="755903"/>
            <a:chOff x="0" y="0"/>
            <a:chExt cx="446531" cy="755903"/>
          </a:xfrm>
        </p:grpSpPr>
        <p:sp>
          <p:nvSpPr>
            <p:cNvPr id="2276" name="path 2276"/>
            <p:cNvSpPr/>
            <p:nvPr/>
          </p:nvSpPr>
          <p:spPr>
            <a:xfrm>
              <a:off x="0" y="0"/>
              <a:ext cx="216408" cy="755903"/>
            </a:xfrm>
            <a:custGeom>
              <a:avLst/>
              <a:gdLst/>
              <a:ahLst/>
              <a:cxnLst/>
              <a:rect l="0" t="0" r="0" b="0"/>
              <a:pathLst>
                <a:path w="340" h="1190">
                  <a:moveTo>
                    <a:pt x="0" y="0"/>
                  </a:moveTo>
                  <a:lnTo>
                    <a:pt x="340" y="0"/>
                  </a:lnTo>
                  <a:lnTo>
                    <a:pt x="340" y="1190"/>
                  </a:lnTo>
                  <a:lnTo>
                    <a:pt x="0" y="1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78" name="path 2278"/>
            <p:cNvSpPr/>
            <p:nvPr/>
          </p:nvSpPr>
          <p:spPr>
            <a:xfrm>
              <a:off x="231647" y="147828"/>
              <a:ext cx="214884" cy="605027"/>
            </a:xfrm>
            <a:custGeom>
              <a:avLst/>
              <a:gdLst/>
              <a:ahLst/>
              <a:cxnLst/>
              <a:rect l="0" t="0" r="0" b="0"/>
              <a:pathLst>
                <a:path w="338" h="952">
                  <a:moveTo>
                    <a:pt x="0" y="0"/>
                  </a:moveTo>
                  <a:lnTo>
                    <a:pt x="338" y="0"/>
                  </a:lnTo>
                  <a:lnTo>
                    <a:pt x="338" y="952"/>
                  </a:lnTo>
                  <a:lnTo>
                    <a:pt x="0" y="9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8DE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280" name="textbox 2280"/>
          <p:cNvSpPr/>
          <p:nvPr/>
        </p:nvSpPr>
        <p:spPr>
          <a:xfrm>
            <a:off x="175260" y="4738115"/>
            <a:ext cx="1150619" cy="914400"/>
          </a:xfrm>
          <a:prstGeom prst="rect">
            <a:avLst/>
          </a:prstGeom>
          <a:solidFill>
            <a:srgbClr val="FFC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9385" algn="l" rtl="0" eaLnBrk="0">
              <a:lnSpc>
                <a:spcPct val="94000"/>
              </a:lnSpc>
              <a:spcBef>
                <a:spcPts val="7"/>
              </a:spcBef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数字化工艺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82" name="textbox 2282"/>
          <p:cNvSpPr/>
          <p:nvPr/>
        </p:nvSpPr>
        <p:spPr>
          <a:xfrm>
            <a:off x="176784" y="5682995"/>
            <a:ext cx="1149350" cy="914400"/>
          </a:xfrm>
          <a:prstGeom prst="rect">
            <a:avLst/>
          </a:prstGeom>
          <a:solidFill>
            <a:srgbClr val="FFD96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6835" algn="l" rtl="0" eaLnBrk="0">
              <a:lnSpc>
                <a:spcPct val="93000"/>
              </a:lnSpc>
              <a:spcBef>
                <a:spcPts val="2"/>
              </a:spcBef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工艺仿真验证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84" name="textbox 2284"/>
          <p:cNvSpPr/>
          <p:nvPr/>
        </p:nvSpPr>
        <p:spPr>
          <a:xfrm>
            <a:off x="184404" y="2852928"/>
            <a:ext cx="1149350" cy="914400"/>
          </a:xfrm>
          <a:prstGeom prst="rect">
            <a:avLst/>
          </a:prstGeom>
          <a:solidFill>
            <a:srgbClr val="92D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22884" algn="l" rtl="0" eaLnBrk="0">
              <a:lnSpc>
                <a:spcPct val="93000"/>
              </a:lnSpc>
              <a:spcBef>
                <a:spcPts val="2"/>
              </a:spcBef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C2M简化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492125" algn="l" rtl="0" eaLnBrk="0">
              <a:lnSpc>
                <a:spcPct val="92000"/>
              </a:lnSpc>
              <a:spcBef>
                <a:spcPts val="170"/>
              </a:spcBef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版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372109" algn="l" rtl="0" eaLnBrk="0">
              <a:lnSpc>
                <a:spcPct val="88000"/>
              </a:lnSpc>
              <a:spcBef>
                <a:spcPts val="22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12.18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86" name="textbox 2286"/>
          <p:cNvSpPr/>
          <p:nvPr/>
        </p:nvSpPr>
        <p:spPr>
          <a:xfrm>
            <a:off x="184404" y="1917191"/>
            <a:ext cx="1149350" cy="914400"/>
          </a:xfrm>
          <a:prstGeom prst="rect">
            <a:avLst/>
          </a:pr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4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4019" indent="-254000" algn="l" rtl="0" eaLnBrk="0">
              <a:lnSpc>
                <a:spcPct val="98000"/>
              </a:lnSpc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数字化产品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企划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88" name="textbox 2288"/>
          <p:cNvSpPr/>
          <p:nvPr/>
        </p:nvSpPr>
        <p:spPr>
          <a:xfrm>
            <a:off x="184404" y="3802379"/>
            <a:ext cx="1149350" cy="913130"/>
          </a:xfrm>
          <a:prstGeom prst="rect">
            <a:avLst/>
          </a:prstGeom>
          <a:solidFill>
            <a:srgbClr val="00B0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72440" indent="-394970" algn="l" rtl="0" eaLnBrk="0">
              <a:lnSpc>
                <a:spcPct val="98000"/>
              </a:lnSpc>
              <a:spcBef>
                <a:spcPts val="1"/>
              </a:spcBef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平台化模块化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7.1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90" name="textbox 2290"/>
          <p:cNvSpPr/>
          <p:nvPr/>
        </p:nvSpPr>
        <p:spPr>
          <a:xfrm>
            <a:off x="7851647" y="5302181"/>
            <a:ext cx="771525" cy="172085"/>
          </a:xfrm>
          <a:prstGeom prst="rect">
            <a:avLst/>
          </a:prstGeom>
          <a:solidFill>
            <a:srgbClr val="FFC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534" rIns="0" bIns="0"/>
          <a:lstStyle/>
          <a:p>
            <a:pPr marL="215265" algn="l" rtl="0" eaLnBrk="0">
              <a:lnSpc>
                <a:spcPct val="86000"/>
              </a:lnSpc>
              <a:spcBef>
                <a:spcPts val="4"/>
              </a:spcBef>
              <a:tabLst/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UAT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92" name="path 2292"/>
          <p:cNvSpPr/>
          <p:nvPr/>
        </p:nvSpPr>
        <p:spPr>
          <a:xfrm>
            <a:off x="2851404" y="1938528"/>
            <a:ext cx="163067" cy="152400"/>
          </a:xfrm>
          <a:custGeom>
            <a:avLst/>
            <a:gdLst/>
            <a:ahLst/>
            <a:cxnLst/>
            <a:rect l="0" t="0" r="0" b="0"/>
            <a:pathLst>
              <a:path w="256" h="240">
                <a:moveTo>
                  <a:pt x="0" y="240"/>
                </a:moveTo>
                <a:lnTo>
                  <a:pt x="127" y="0"/>
                </a:lnTo>
                <a:lnTo>
                  <a:pt x="256" y="240"/>
                </a:lnTo>
                <a:lnTo>
                  <a:pt x="0" y="240"/>
                </a:lnTo>
              </a:path>
            </a:pathLst>
          </a:cu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94" name="path 2294"/>
          <p:cNvSpPr/>
          <p:nvPr/>
        </p:nvSpPr>
        <p:spPr>
          <a:xfrm>
            <a:off x="1348739" y="3781044"/>
            <a:ext cx="164591" cy="150876"/>
          </a:xfrm>
          <a:custGeom>
            <a:avLst/>
            <a:gdLst/>
            <a:ahLst/>
            <a:cxnLst/>
            <a:rect l="0" t="0" r="0" b="0"/>
            <a:pathLst>
              <a:path w="259" h="237">
                <a:moveTo>
                  <a:pt x="0" y="237"/>
                </a:moveTo>
                <a:lnTo>
                  <a:pt x="129" y="0"/>
                </a:lnTo>
                <a:lnTo>
                  <a:pt x="259" y="237"/>
                </a:lnTo>
                <a:lnTo>
                  <a:pt x="0" y="237"/>
                </a:lnTo>
              </a:path>
            </a:pathLst>
          </a:cu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96" name="path 2296"/>
          <p:cNvSpPr/>
          <p:nvPr/>
        </p:nvSpPr>
        <p:spPr>
          <a:xfrm>
            <a:off x="10776204" y="6441948"/>
            <a:ext cx="163067" cy="144779"/>
          </a:xfrm>
          <a:custGeom>
            <a:avLst/>
            <a:gdLst/>
            <a:ahLst/>
            <a:cxnLst/>
            <a:rect l="0" t="0" r="0" b="0"/>
            <a:pathLst>
              <a:path w="256" h="227">
                <a:moveTo>
                  <a:pt x="0" y="227"/>
                </a:moveTo>
                <a:lnTo>
                  <a:pt x="129" y="0"/>
                </a:lnTo>
                <a:lnTo>
                  <a:pt x="256" y="227"/>
                </a:lnTo>
                <a:lnTo>
                  <a:pt x="0" y="227"/>
                </a:lnTo>
              </a:path>
            </a:pathLst>
          </a:cu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98" name="path 2298"/>
          <p:cNvSpPr/>
          <p:nvPr/>
        </p:nvSpPr>
        <p:spPr>
          <a:xfrm>
            <a:off x="10863071" y="4533900"/>
            <a:ext cx="163068" cy="143255"/>
          </a:xfrm>
          <a:custGeom>
            <a:avLst/>
            <a:gdLst/>
            <a:ahLst/>
            <a:cxnLst/>
            <a:rect l="0" t="0" r="0" b="0"/>
            <a:pathLst>
              <a:path w="256" h="225">
                <a:moveTo>
                  <a:pt x="0" y="225"/>
                </a:moveTo>
                <a:lnTo>
                  <a:pt x="129" y="0"/>
                </a:lnTo>
                <a:lnTo>
                  <a:pt x="256" y="225"/>
                </a:lnTo>
                <a:lnTo>
                  <a:pt x="0" y="225"/>
                </a:lnTo>
              </a:path>
            </a:pathLst>
          </a:custGeom>
          <a:solidFill>
            <a:srgbClr val="FF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00" name="textbox 2300"/>
          <p:cNvSpPr/>
          <p:nvPr/>
        </p:nvSpPr>
        <p:spPr>
          <a:xfrm>
            <a:off x="2864948" y="5006277"/>
            <a:ext cx="143510" cy="150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rect 2302"/>
          <p:cNvSpPr/>
          <p:nvPr/>
        </p:nvSpPr>
        <p:spPr>
          <a:xfrm>
            <a:off x="333756" y="1752600"/>
            <a:ext cx="11521440" cy="4853940"/>
          </a:xfrm>
          <a:prstGeom prst="rect">
            <a:avLst/>
          </a:prstGeom>
          <a:solidFill>
            <a:srgbClr val="C6C6C6">
              <a:alpha val="6509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04" name="textbox 2304"/>
          <p:cNvSpPr/>
          <p:nvPr/>
        </p:nvSpPr>
        <p:spPr>
          <a:xfrm>
            <a:off x="460254" y="1022580"/>
            <a:ext cx="3860800" cy="4422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4200" b="1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目录</a:t>
            </a:r>
            <a:endParaRPr sz="4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32740" algn="l" rtl="0" eaLnBrk="0">
              <a:lnSpc>
                <a:spcPts val="3883"/>
              </a:lnSpc>
              <a:spcBef>
                <a:spcPts val="967"/>
              </a:spcBef>
              <a:tabLst>
                <a:tab pos="621665" algn="l"/>
              </a:tabLst>
            </a:pPr>
            <a:r>
              <a:rPr sz="3200" kern="0" spc="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200" kern="0" spc="29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kern="0" spc="-3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C2M方案与架构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marL="332740" algn="l" rtl="0" eaLnBrk="0">
              <a:lnSpc>
                <a:spcPts val="3883"/>
              </a:lnSpc>
              <a:spcBef>
                <a:spcPts val="572"/>
              </a:spcBef>
              <a:tabLst>
                <a:tab pos="621665" algn="l"/>
              </a:tabLst>
            </a:pPr>
            <a:r>
              <a:rPr sz="3200" kern="0" spc="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200" kern="0" spc="21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kern="0" spc="-2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营销领域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marL="332740" algn="l" rtl="0" eaLnBrk="0">
              <a:lnSpc>
                <a:spcPts val="3883"/>
              </a:lnSpc>
              <a:spcBef>
                <a:spcPts val="572"/>
              </a:spcBef>
              <a:tabLst>
                <a:tab pos="621665" algn="l"/>
              </a:tabLst>
            </a:pPr>
            <a:r>
              <a:rPr sz="3200" kern="0" spc="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200" kern="0" spc="21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kern="0" spc="-2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研发领域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marL="332740" algn="l" rtl="0" eaLnBrk="0">
              <a:lnSpc>
                <a:spcPts val="3870"/>
              </a:lnSpc>
              <a:spcBef>
                <a:spcPts val="572"/>
              </a:spcBef>
              <a:tabLst>
                <a:tab pos="621665" algn="l"/>
              </a:tabLst>
            </a:pP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200" b="1" kern="0" spc="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供应链领域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marL="332740" algn="l" rtl="0" eaLnBrk="0">
              <a:lnSpc>
                <a:spcPct val="100000"/>
              </a:lnSpc>
              <a:spcBef>
                <a:spcPts val="600"/>
              </a:spcBef>
              <a:tabLst>
                <a:tab pos="621665" algn="l"/>
              </a:tabLst>
            </a:pPr>
            <a:r>
              <a:rPr sz="3200" kern="0" spc="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200" kern="0" spc="19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kern="0" spc="-1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数据领域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06" name="picture 23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93130" y="4942727"/>
            <a:ext cx="288994" cy="450994"/>
          </a:xfrm>
          <a:prstGeom prst="rect">
            <a:avLst/>
          </a:prstGeom>
        </p:spPr>
      </p:pic>
      <p:pic>
        <p:nvPicPr>
          <p:cNvPr id="2308" name="picture 23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93130" y="4376942"/>
            <a:ext cx="288994" cy="450994"/>
          </a:xfrm>
          <a:prstGeom prst="rect">
            <a:avLst/>
          </a:prstGeom>
        </p:spPr>
      </p:pic>
      <p:pic>
        <p:nvPicPr>
          <p:cNvPr id="2310" name="picture 23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93130" y="3811157"/>
            <a:ext cx="288994" cy="450994"/>
          </a:xfrm>
          <a:prstGeom prst="rect">
            <a:avLst/>
          </a:prstGeom>
        </p:spPr>
      </p:pic>
      <p:pic>
        <p:nvPicPr>
          <p:cNvPr id="2312" name="picture 23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93130" y="3245372"/>
            <a:ext cx="288994" cy="450994"/>
          </a:xfrm>
          <a:prstGeom prst="rect">
            <a:avLst/>
          </a:prstGeom>
        </p:spPr>
      </p:pic>
      <p:pic>
        <p:nvPicPr>
          <p:cNvPr id="2314" name="picture 23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93130" y="2679587"/>
            <a:ext cx="288994" cy="45099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6" name="picture 23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92752" y="1596936"/>
            <a:ext cx="951103" cy="529043"/>
          </a:xfrm>
          <a:prstGeom prst="rect">
            <a:avLst/>
          </a:prstGeom>
        </p:spPr>
      </p:pic>
      <p:pic>
        <p:nvPicPr>
          <p:cNvPr id="2318" name="picture 23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875141" y="2336228"/>
            <a:ext cx="864743" cy="528891"/>
          </a:xfrm>
          <a:prstGeom prst="rect">
            <a:avLst/>
          </a:prstGeom>
        </p:spPr>
      </p:pic>
      <p:pic>
        <p:nvPicPr>
          <p:cNvPr id="2320" name="picture 23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918760" y="3370071"/>
            <a:ext cx="2552624" cy="1501635"/>
          </a:xfrm>
          <a:prstGeom prst="rect">
            <a:avLst/>
          </a:prstGeom>
        </p:spPr>
      </p:pic>
      <p:pic>
        <p:nvPicPr>
          <p:cNvPr id="2322" name="picture 23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029455" y="3111500"/>
            <a:ext cx="928115" cy="595109"/>
          </a:xfrm>
          <a:prstGeom prst="rect">
            <a:avLst/>
          </a:prstGeom>
        </p:spPr>
      </p:pic>
      <p:pic>
        <p:nvPicPr>
          <p:cNvPr id="2324" name="picture 23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045978" y="4547616"/>
            <a:ext cx="927201" cy="595883"/>
          </a:xfrm>
          <a:prstGeom prst="rect">
            <a:avLst/>
          </a:prstGeom>
        </p:spPr>
      </p:pic>
      <p:graphicFrame>
        <p:nvGraphicFramePr>
          <p:cNvPr id="2326" name="table 2326"/>
          <p:cNvGraphicFramePr>
            <a:graphicFrameLocks noGrp="1"/>
          </p:cNvGraphicFramePr>
          <p:nvPr/>
        </p:nvGraphicFramePr>
        <p:xfrm>
          <a:off x="438150" y="951001"/>
          <a:ext cx="11315700" cy="4444365"/>
        </p:xfrm>
        <a:graphic>
          <a:graphicData uri="http://schemas.openxmlformats.org/drawingml/2006/table">
            <a:tbl>
              <a:tblPr/>
              <a:tblGrid>
                <a:gridCol w="11315700"/>
              </a:tblGrid>
              <a:tr h="4438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73209" algn="l" rtl="0" eaLnBrk="0">
                        <a:lnSpc>
                          <a:spcPts val="1725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40" dirty="0">
                          <a:solidFill>
                            <a:srgbClr val="6BBC22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2C</a:t>
                      </a:r>
                      <a:r>
                        <a:rPr sz="1400" kern="0" spc="40" dirty="0">
                          <a:solidFill>
                            <a:srgbClr val="6BBC22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模式       </a:t>
                      </a:r>
                      <a:r>
                        <a:rPr sz="1400" kern="0" spc="40" dirty="0">
                          <a:solidFill>
                            <a:srgbClr val="FF990D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2B</a:t>
                      </a:r>
                      <a:r>
                        <a:rPr sz="1400" kern="0" spc="40" dirty="0">
                          <a:solidFill>
                            <a:srgbClr val="FF990D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模式</a:t>
                      </a:r>
                      <a:endParaRPr sz="14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31259" algn="l" rtl="0" eaLnBrk="0">
                        <a:lnSpc>
                          <a:spcPct val="90000"/>
                        </a:lnSpc>
                        <a:spcBef>
                          <a:spcPts val="365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C2M预测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38209" algn="l" rtl="0" eaLnBrk="0">
                        <a:lnSpc>
                          <a:spcPct val="93000"/>
                        </a:lnSpc>
                        <a:spcBef>
                          <a:spcPts val="397"/>
                        </a:spcBef>
                        <a:tabLst/>
                      </a:pPr>
                      <a:r>
                        <a:rPr sz="13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部件储备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57295" algn="l" rtl="0" eaLnBrk="0">
                        <a:lnSpc>
                          <a:spcPct val="82000"/>
                        </a:lnSpc>
                        <a:spcBef>
                          <a:spcPts val="36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企业客户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736340" algn="l" rtl="0" eaLnBrk="0">
                        <a:lnSpc>
                          <a:spcPts val="1565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C2M订单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44290" algn="l" rtl="0" eaLnBrk="0">
                        <a:lnSpc>
                          <a:spcPct val="82000"/>
                        </a:lnSpc>
                        <a:spcBef>
                          <a:spcPts val="363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消费者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3756025" algn="l" rtl="0" eaLnBrk="0">
                        <a:lnSpc>
                          <a:spcPts val="1563"/>
                        </a:lnSpc>
                        <a:tabLst/>
                      </a:pPr>
                      <a:r>
                        <a:rPr sz="12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C2M订单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328" name="picture 23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7512" y="2135123"/>
            <a:ext cx="3356965" cy="2845308"/>
          </a:xfrm>
          <a:prstGeom prst="rect">
            <a:avLst/>
          </a:prstGeom>
        </p:spPr>
      </p:pic>
      <p:sp>
        <p:nvSpPr>
          <p:cNvPr id="2330" name="textbox 2330"/>
          <p:cNvSpPr/>
          <p:nvPr/>
        </p:nvSpPr>
        <p:spPr>
          <a:xfrm>
            <a:off x="6332615" y="5697172"/>
            <a:ext cx="5250815" cy="697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940" algn="l" rtl="0" eaLnBrk="0">
              <a:lnSpc>
                <a:spcPct val="95000"/>
              </a:lnSpc>
              <a:tabLst/>
            </a:pP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18年7月支持C2M：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0000"/>
              </a:lnSpc>
              <a:spcBef>
                <a:spcPts val="2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在平台化 模块化前提下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，根据预测对半成品及相关材料进行水位储备</a:t>
            </a:r>
            <a:r>
              <a:rPr sz="12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，同时支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撑2B/2C产品的</a:t>
            </a:r>
            <a:r>
              <a:rPr sz="12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快速交付</a:t>
            </a:r>
            <a:r>
              <a:rPr sz="1200" kern="0" spc="-1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</a:t>
            </a:r>
            <a:r>
              <a:rPr sz="12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大规模定制和柔性生产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32" name="textbox 2332"/>
          <p:cNvSpPr/>
          <p:nvPr/>
        </p:nvSpPr>
        <p:spPr>
          <a:xfrm>
            <a:off x="447625" y="5697172"/>
            <a:ext cx="5291454" cy="680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09" algn="l" rtl="0" eaLnBrk="0">
              <a:lnSpc>
                <a:spcPct val="95000"/>
              </a:lnSpc>
              <a:tabLst/>
            </a:pPr>
            <a:r>
              <a:rPr sz="14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17年12月支持简单定制：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110000"/>
              </a:lnSpc>
              <a:spcBef>
                <a:spcPts val="1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未平台化 模块化情况下</a:t>
            </a:r>
            <a:r>
              <a:rPr sz="12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，针对2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C端明确型号的预测进行半成品及相关材料的储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备</a:t>
            </a:r>
            <a:r>
              <a:rPr sz="12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</a:t>
            </a:r>
            <a:r>
              <a:rPr sz="1200" kern="0" spc="-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2C端产品的快速交付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34" name="textbox 2334"/>
          <p:cNvSpPr/>
          <p:nvPr/>
        </p:nvSpPr>
        <p:spPr>
          <a:xfrm>
            <a:off x="4944236" y="1802180"/>
            <a:ext cx="3955415" cy="848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00"/>
              </a:lnSpc>
              <a:spcBef>
                <a:spcPts val="1"/>
              </a:spcBef>
              <a:tabLst>
                <a:tab pos="3942079" algn="l"/>
              </a:tabLst>
            </a:pPr>
            <a:r>
              <a:rPr sz="800" kern="0" spc="110" dirty="0">
                <a:solidFill>
                  <a:srgbClr val="A7A7A7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------------</a:t>
            </a:r>
            <a:r>
              <a:rPr sz="800" kern="0" spc="100" dirty="0">
                <a:solidFill>
                  <a:srgbClr val="A7A7A7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⃞</a:t>
            </a:r>
            <a:r>
              <a:rPr sz="800" kern="0" spc="0" dirty="0">
                <a:solidFill>
                  <a:srgbClr val="A7A7A7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                                                                               </a:t>
            </a:r>
            <a:r>
              <a:rPr sz="800" strike="sngStrike" kern="0" spc="0" dirty="0">
                <a:solidFill>
                  <a:srgbClr val="A7A7A7">
                    <a:alpha val="100000"/>
                  </a:srgbClr>
                </a:solidFill>
                <a:latin typeface="Arial Unicode MS"/>
                <a:ea typeface="Arial Unicode MS"/>
                <a:cs typeface="Arial Unicode MS"/>
              </a:rPr>
              <a:t>	</a:t>
            </a:r>
            <a:endParaRPr sz="800" dirty="0">
              <a:latin typeface="Arial Unicode MS"/>
              <a:ea typeface="Arial Unicode MS"/>
              <a:cs typeface="Arial Unicode MS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4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82214" algn="l" rtl="0" eaLnBrk="0">
              <a:lnSpc>
                <a:spcPct val="84000"/>
              </a:lnSpc>
              <a:tabLst/>
            </a:pPr>
            <a:r>
              <a:rPr sz="4000" kern="0" spc="270" dirty="0">
                <a:solidFill>
                  <a:srgbClr val="A7A7A7">
                    <a:alpha val="100000"/>
                  </a:srgbClr>
                </a:solidFill>
                <a:latin typeface="Arial"/>
                <a:ea typeface="Arial"/>
                <a:cs typeface="Arial"/>
              </a:rPr>
              <a:t>L___.</a:t>
            </a:r>
            <a:endParaRPr sz="4000" dirty="0">
              <a:latin typeface="Arial"/>
              <a:ea typeface="Arial"/>
              <a:cs typeface="Arial"/>
            </a:endParaRPr>
          </a:p>
        </p:txBody>
      </p:sp>
      <p:pic>
        <p:nvPicPr>
          <p:cNvPr id="2336" name="picture 23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518693" y="1814880"/>
            <a:ext cx="415721" cy="76200"/>
          </a:xfrm>
          <a:prstGeom prst="rect">
            <a:avLst/>
          </a:prstGeom>
        </p:spPr>
      </p:pic>
      <p:pic>
        <p:nvPicPr>
          <p:cNvPr id="2338" name="picture 23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522220" y="1696212"/>
            <a:ext cx="1507527" cy="1750948"/>
          </a:xfrm>
          <a:prstGeom prst="rect">
            <a:avLst/>
          </a:prstGeom>
        </p:spPr>
      </p:pic>
      <p:sp>
        <p:nvSpPr>
          <p:cNvPr id="2340" name="textbox 2340"/>
          <p:cNvSpPr/>
          <p:nvPr/>
        </p:nvSpPr>
        <p:spPr>
          <a:xfrm>
            <a:off x="414223" y="274880"/>
            <a:ext cx="4188459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4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C2M供应链业务场景及需求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42" name="textbox 2342"/>
          <p:cNvSpPr/>
          <p:nvPr/>
        </p:nvSpPr>
        <p:spPr>
          <a:xfrm>
            <a:off x="9732797" y="1804898"/>
            <a:ext cx="846455" cy="101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600" kern="0" spc="140" dirty="0">
                <a:solidFill>
                  <a:srgbClr val="A7A7A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--------------学</a:t>
            </a:r>
            <a:endParaRPr sz="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44" name="picture 23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0387584" y="1591055"/>
            <a:ext cx="1150619" cy="528828"/>
          </a:xfrm>
          <a:prstGeom prst="rect">
            <a:avLst/>
          </a:prstGeom>
        </p:spPr>
      </p:pic>
      <p:pic>
        <p:nvPicPr>
          <p:cNvPr id="2346" name="picture 23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902751" y="4453128"/>
            <a:ext cx="864565" cy="588264"/>
          </a:xfrm>
          <a:prstGeom prst="rect">
            <a:avLst/>
          </a:prstGeom>
        </p:spPr>
      </p:pic>
      <p:pic>
        <p:nvPicPr>
          <p:cNvPr id="2348" name="picture 23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958076" y="1596936"/>
            <a:ext cx="950404" cy="529043"/>
          </a:xfrm>
          <a:prstGeom prst="rect">
            <a:avLst/>
          </a:prstGeom>
        </p:spPr>
      </p:pic>
      <p:pic>
        <p:nvPicPr>
          <p:cNvPr id="2350" name="picture 235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635396" y="1596936"/>
            <a:ext cx="864463" cy="529043"/>
          </a:xfrm>
          <a:prstGeom prst="rect">
            <a:avLst/>
          </a:prstGeom>
        </p:spPr>
      </p:pic>
      <p:pic>
        <p:nvPicPr>
          <p:cNvPr id="2352" name="picture 235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853642" y="3375190"/>
            <a:ext cx="1251204" cy="76200"/>
          </a:xfrm>
          <a:prstGeom prst="rect">
            <a:avLst/>
          </a:prstGeom>
        </p:spPr>
      </p:pic>
      <p:pic>
        <p:nvPicPr>
          <p:cNvPr id="2354" name="picture 235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8902751" y="3144011"/>
            <a:ext cx="864565" cy="528904"/>
          </a:xfrm>
          <a:prstGeom prst="rect">
            <a:avLst/>
          </a:prstGeom>
        </p:spPr>
      </p:pic>
      <p:pic>
        <p:nvPicPr>
          <p:cNvPr id="2356" name="picture 235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8881491" y="1591055"/>
            <a:ext cx="864489" cy="528828"/>
          </a:xfrm>
          <a:prstGeom prst="rect">
            <a:avLst/>
          </a:prstGeom>
        </p:spPr>
      </p:pic>
      <p:pic>
        <p:nvPicPr>
          <p:cNvPr id="2358" name="picture 235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7001256" y="3153917"/>
            <a:ext cx="864107" cy="528294"/>
          </a:xfrm>
          <a:prstGeom prst="rect">
            <a:avLst/>
          </a:prstGeom>
        </p:spPr>
      </p:pic>
      <p:pic>
        <p:nvPicPr>
          <p:cNvPr id="2360" name="picture 236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1725739" y="3564661"/>
            <a:ext cx="1948205" cy="144386"/>
          </a:xfrm>
          <a:prstGeom prst="rect">
            <a:avLst/>
          </a:prstGeom>
        </p:spPr>
      </p:pic>
      <p:pic>
        <p:nvPicPr>
          <p:cNvPr id="2362" name="picture 236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1725739" y="3717061"/>
            <a:ext cx="1948205" cy="144386"/>
          </a:xfrm>
          <a:prstGeom prst="rect">
            <a:avLst/>
          </a:prstGeom>
        </p:spPr>
      </p:pic>
      <p:pic>
        <p:nvPicPr>
          <p:cNvPr id="2364" name="picture 236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1725739" y="3869461"/>
            <a:ext cx="1948205" cy="144386"/>
          </a:xfrm>
          <a:prstGeom prst="rect">
            <a:avLst/>
          </a:prstGeom>
        </p:spPr>
      </p:pic>
      <p:pic>
        <p:nvPicPr>
          <p:cNvPr id="2366" name="picture 236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1725739" y="4021861"/>
            <a:ext cx="1948205" cy="139700"/>
          </a:xfrm>
          <a:prstGeom prst="rect">
            <a:avLst/>
          </a:prstGeom>
        </p:spPr>
      </p:pic>
      <p:pic>
        <p:nvPicPr>
          <p:cNvPr id="2368" name="picture 236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1725739" y="4783861"/>
            <a:ext cx="2320238" cy="99643"/>
          </a:xfrm>
          <a:prstGeom prst="rect">
            <a:avLst/>
          </a:prstGeom>
        </p:spPr>
      </p:pic>
      <p:pic>
        <p:nvPicPr>
          <p:cNvPr id="2370" name="picture 237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1326235" y="4848796"/>
            <a:ext cx="2719742" cy="76200"/>
          </a:xfrm>
          <a:prstGeom prst="rect">
            <a:avLst/>
          </a:prstGeom>
        </p:spPr>
      </p:pic>
      <p:pic>
        <p:nvPicPr>
          <p:cNvPr id="2372" name="picture 237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9296654" y="2123046"/>
            <a:ext cx="79082" cy="2319388"/>
          </a:xfrm>
          <a:prstGeom prst="rect">
            <a:avLst/>
          </a:prstGeom>
        </p:spPr>
      </p:pic>
      <p:sp>
        <p:nvSpPr>
          <p:cNvPr id="2374" name="textbox 2374"/>
          <p:cNvSpPr/>
          <p:nvPr/>
        </p:nvSpPr>
        <p:spPr>
          <a:xfrm>
            <a:off x="10442177" y="1752575"/>
            <a:ext cx="1044575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3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供方协同排产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76" name="textbox 2376"/>
          <p:cNvSpPr/>
          <p:nvPr/>
        </p:nvSpPr>
        <p:spPr>
          <a:xfrm>
            <a:off x="8983513" y="3306013"/>
            <a:ext cx="70485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3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总装生产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78" name="textbox 2378"/>
          <p:cNvSpPr/>
          <p:nvPr/>
        </p:nvSpPr>
        <p:spPr>
          <a:xfrm>
            <a:off x="7083603" y="3308655"/>
            <a:ext cx="703580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3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生产计划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80" name="textbox 2380"/>
          <p:cNvSpPr/>
          <p:nvPr/>
        </p:nvSpPr>
        <p:spPr>
          <a:xfrm>
            <a:off x="8956120" y="1752904"/>
            <a:ext cx="704850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4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300" b="1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材料储备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82" name="textbox 2382"/>
          <p:cNvSpPr/>
          <p:nvPr/>
        </p:nvSpPr>
        <p:spPr>
          <a:xfrm>
            <a:off x="7064527" y="1768817"/>
            <a:ext cx="738505" cy="191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200" b="1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ASCP计划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84" name="textbox 2384"/>
          <p:cNvSpPr/>
          <p:nvPr/>
        </p:nvSpPr>
        <p:spPr>
          <a:xfrm>
            <a:off x="9137736" y="4664243"/>
            <a:ext cx="397509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b="1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发运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86" name="textbox 2386"/>
          <p:cNvSpPr/>
          <p:nvPr/>
        </p:nvSpPr>
        <p:spPr>
          <a:xfrm>
            <a:off x="5904090" y="1770049"/>
            <a:ext cx="328929" cy="189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2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预测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88" name="picture 238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1383830" y="3500170"/>
            <a:ext cx="354609" cy="51790"/>
          </a:xfrm>
          <a:prstGeom prst="rect">
            <a:avLst/>
          </a:prstGeom>
        </p:spPr>
      </p:pic>
      <p:pic>
        <p:nvPicPr>
          <p:cNvPr id="2390" name="picture 239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1725739" y="4326661"/>
            <a:ext cx="12700" cy="139700"/>
          </a:xfrm>
          <a:prstGeom prst="rect">
            <a:avLst/>
          </a:prstGeom>
        </p:spPr>
      </p:pic>
      <p:pic>
        <p:nvPicPr>
          <p:cNvPr id="2392" name="picture 239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1725739" y="4174261"/>
            <a:ext cx="12700" cy="139700"/>
          </a:xfrm>
          <a:prstGeom prst="rect">
            <a:avLst/>
          </a:prstGeom>
        </p:spPr>
      </p:pic>
      <p:pic>
        <p:nvPicPr>
          <p:cNvPr id="2394" name="picture 239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1725739" y="4631461"/>
            <a:ext cx="12700" cy="139700"/>
          </a:xfrm>
          <a:prstGeom prst="rect">
            <a:avLst/>
          </a:prstGeom>
        </p:spPr>
      </p:pic>
      <p:pic>
        <p:nvPicPr>
          <p:cNvPr id="2396" name="picture 239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1725739" y="4479061"/>
            <a:ext cx="12700" cy="139700"/>
          </a:xfrm>
          <a:prstGeom prst="rect">
            <a:avLst/>
          </a:prstGeom>
        </p:spPr>
      </p:pic>
      <p:pic>
        <p:nvPicPr>
          <p:cNvPr id="2398" name="picture 239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3661244" y="3416947"/>
            <a:ext cx="12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0" name="table 2400"/>
          <p:cNvGraphicFramePr>
            <a:graphicFrameLocks noGrp="1"/>
          </p:cNvGraphicFramePr>
          <p:nvPr/>
        </p:nvGraphicFramePr>
        <p:xfrm>
          <a:off x="406400" y="5609056"/>
          <a:ext cx="11315700" cy="956944"/>
        </p:xfrm>
        <a:graphic>
          <a:graphicData uri="http://schemas.openxmlformats.org/drawingml/2006/table">
            <a:tbl>
              <a:tblPr/>
              <a:tblGrid>
                <a:gridCol w="2832100"/>
                <a:gridCol w="2825750"/>
                <a:gridCol w="2825750"/>
                <a:gridCol w="2832100"/>
              </a:tblGrid>
              <a:tr h="3575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019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1、产销协作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4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2、生产计划及排程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590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3、物料备料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4" algn="l" rtl="0" eaLnBrk="0">
                        <a:lnSpc>
                          <a:spcPct val="90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4、物料配送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" algn="l" rtl="0" eaLnBrk="0">
                        <a:lnSpc>
                          <a:spcPct val="9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5、总部装拉动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4" algn="l" rtl="0" eaLnBrk="0">
                        <a:lnSpc>
                          <a:spcPct val="9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6、制造执行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"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7、制造品质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" algn="l" rtl="0" eaLnBrk="0">
                        <a:lnSpc>
                          <a:spcPct val="92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8、异常管理及信息流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92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65" algn="l" rtl="0" eaLnBrk="0">
                        <a:lnSpc>
                          <a:spcPct val="9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9、数据采集</a:t>
                      </a:r>
                      <a:r>
                        <a:rPr sz="12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，报表及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看报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69" algn="l" rtl="0" eaLnBrk="0">
                        <a:lnSpc>
                          <a:spcPct val="9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10、设备及模具管理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A7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50" name="group 150"/>
          <p:cNvGrpSpPr/>
          <p:nvPr/>
        </p:nvGrpSpPr>
        <p:grpSpPr>
          <a:xfrm rot="21600000">
            <a:off x="493776" y="2520556"/>
            <a:ext cx="723950" cy="723595"/>
            <a:chOff x="0" y="0"/>
            <a:chExt cx="723950" cy="723595"/>
          </a:xfrm>
        </p:grpSpPr>
        <p:pic>
          <p:nvPicPr>
            <p:cNvPr id="2402" name="picture 240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723950" cy="723595"/>
            </a:xfrm>
            <a:prstGeom prst="rect">
              <a:avLst/>
            </a:prstGeom>
          </p:spPr>
        </p:pic>
        <p:sp>
          <p:nvSpPr>
            <p:cNvPr id="2404" name="textbox 2404"/>
            <p:cNvSpPr/>
            <p:nvPr/>
          </p:nvSpPr>
          <p:spPr>
            <a:xfrm>
              <a:off x="-12700" y="-12700"/>
              <a:ext cx="749934" cy="749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86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02564" algn="l" rtl="0" eaLnBrk="0">
                <a:lnSpc>
                  <a:spcPct val="86000"/>
                </a:lnSpc>
                <a:tabLst/>
              </a:pP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订单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203200" algn="l" rtl="0" eaLnBrk="0">
                <a:lnSpc>
                  <a:spcPts val="1768"/>
                </a:lnSpc>
                <a:tabLst/>
              </a:pP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预测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2406" name="picture 24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930450" y="2520531"/>
            <a:ext cx="723607" cy="723607"/>
          </a:xfrm>
          <a:prstGeom prst="rect">
            <a:avLst/>
          </a:prstGeom>
        </p:spPr>
      </p:pic>
      <p:sp>
        <p:nvSpPr>
          <p:cNvPr id="2408" name="textbox 2408"/>
          <p:cNvSpPr/>
          <p:nvPr/>
        </p:nvSpPr>
        <p:spPr>
          <a:xfrm>
            <a:off x="2077589" y="2661809"/>
            <a:ext cx="397509" cy="452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905" algn="l" rtl="0" eaLnBrk="0">
              <a:lnSpc>
                <a:spcPct val="100000"/>
              </a:lnSpc>
              <a:tabLst/>
            </a:pPr>
            <a:r>
              <a:rPr sz="1400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产销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平衡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410" name="picture 24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253494" y="1884718"/>
            <a:ext cx="76200" cy="535202"/>
          </a:xfrm>
          <a:prstGeom prst="rect">
            <a:avLst/>
          </a:prstGeom>
        </p:spPr>
      </p:pic>
      <p:grpSp>
        <p:nvGrpSpPr>
          <p:cNvPr id="152" name="group 152"/>
          <p:cNvGrpSpPr/>
          <p:nvPr/>
        </p:nvGrpSpPr>
        <p:grpSpPr>
          <a:xfrm rot="21600000">
            <a:off x="3416808" y="2520556"/>
            <a:ext cx="723633" cy="723595"/>
            <a:chOff x="0" y="0"/>
            <a:chExt cx="723633" cy="723595"/>
          </a:xfrm>
        </p:grpSpPr>
        <p:pic>
          <p:nvPicPr>
            <p:cNvPr id="2412" name="picture 24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723633" cy="723595"/>
            </a:xfrm>
            <a:prstGeom prst="rect">
              <a:avLst/>
            </a:prstGeom>
          </p:spPr>
        </p:pic>
        <p:sp>
          <p:nvSpPr>
            <p:cNvPr id="2414" name="textbox 2414"/>
            <p:cNvSpPr/>
            <p:nvPr/>
          </p:nvSpPr>
          <p:spPr>
            <a:xfrm>
              <a:off x="-12700" y="-12700"/>
              <a:ext cx="749300" cy="749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86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93039" algn="l" rtl="0" eaLnBrk="0">
                <a:lnSpc>
                  <a:spcPct val="86000"/>
                </a:lnSpc>
                <a:tabLst/>
              </a:pP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订单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193039" algn="l" rtl="0" eaLnBrk="0">
                <a:lnSpc>
                  <a:spcPts val="1746"/>
                </a:lnSpc>
                <a:tabLst/>
              </a:pP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承诺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54" name="group 154"/>
          <p:cNvGrpSpPr/>
          <p:nvPr/>
        </p:nvGrpSpPr>
        <p:grpSpPr>
          <a:xfrm rot="21600000">
            <a:off x="7767611" y="2520531"/>
            <a:ext cx="723607" cy="723607"/>
            <a:chOff x="0" y="0"/>
            <a:chExt cx="723607" cy="723607"/>
          </a:xfrm>
        </p:grpSpPr>
        <p:pic>
          <p:nvPicPr>
            <p:cNvPr id="2416" name="picture 24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723607" cy="723607"/>
            </a:xfrm>
            <a:prstGeom prst="rect">
              <a:avLst/>
            </a:prstGeom>
          </p:spPr>
        </p:pic>
        <p:sp>
          <p:nvSpPr>
            <p:cNvPr id="2418" name="textbox 2418"/>
            <p:cNvSpPr/>
            <p:nvPr/>
          </p:nvSpPr>
          <p:spPr>
            <a:xfrm>
              <a:off x="-12700" y="-12700"/>
              <a:ext cx="749300" cy="749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78435" algn="l" rtl="0" eaLnBrk="0">
                <a:lnSpc>
                  <a:spcPct val="86000"/>
                </a:lnSpc>
                <a:spcBef>
                  <a:spcPts val="7"/>
                </a:spcBef>
                <a:tabLst/>
              </a:pPr>
              <a:r>
                <a:rPr sz="1400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车间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175895" algn="l" rtl="0" eaLnBrk="0">
                <a:lnSpc>
                  <a:spcPts val="1757"/>
                </a:lnSpc>
                <a:tabLst/>
              </a:pP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排程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2420" name="picture 24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078764" y="2829547"/>
            <a:ext cx="628319" cy="76200"/>
          </a:xfrm>
          <a:prstGeom prst="rect">
            <a:avLst/>
          </a:prstGeom>
        </p:spPr>
      </p:pic>
      <p:grpSp>
        <p:nvGrpSpPr>
          <p:cNvPr id="156" name="group 156"/>
          <p:cNvGrpSpPr/>
          <p:nvPr/>
        </p:nvGrpSpPr>
        <p:grpSpPr>
          <a:xfrm rot="21600000">
            <a:off x="4892040" y="2520531"/>
            <a:ext cx="724179" cy="723607"/>
            <a:chOff x="0" y="0"/>
            <a:chExt cx="724179" cy="723607"/>
          </a:xfrm>
        </p:grpSpPr>
        <p:pic>
          <p:nvPicPr>
            <p:cNvPr id="2422" name="picture 242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724179" cy="723607"/>
            </a:xfrm>
            <a:prstGeom prst="rect">
              <a:avLst/>
            </a:prstGeom>
          </p:spPr>
        </p:pic>
        <p:sp>
          <p:nvSpPr>
            <p:cNvPr id="2424" name="textbox 2424"/>
            <p:cNvSpPr/>
            <p:nvPr/>
          </p:nvSpPr>
          <p:spPr>
            <a:xfrm>
              <a:off x="-12700" y="-12700"/>
              <a:ext cx="749934" cy="749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91770" algn="l" rtl="0" eaLnBrk="0">
                <a:lnSpc>
                  <a:spcPct val="86000"/>
                </a:lnSpc>
                <a:spcBef>
                  <a:spcPts val="7"/>
                </a:spcBef>
                <a:tabLst/>
              </a:pP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生产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192404" algn="l" rtl="0" eaLnBrk="0">
                <a:lnSpc>
                  <a:spcPts val="1752"/>
                </a:lnSpc>
                <a:tabLst/>
              </a:pP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计划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2426" name="picture 24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637313" y="2829547"/>
            <a:ext cx="628319" cy="76200"/>
          </a:xfrm>
          <a:prstGeom prst="rect">
            <a:avLst/>
          </a:prstGeom>
        </p:spPr>
      </p:pic>
      <p:pic>
        <p:nvPicPr>
          <p:cNvPr id="2428" name="picture 24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195863" y="2825216"/>
            <a:ext cx="628319" cy="76200"/>
          </a:xfrm>
          <a:prstGeom prst="rect">
            <a:avLst/>
          </a:prstGeom>
        </p:spPr>
      </p:pic>
      <p:grpSp>
        <p:nvGrpSpPr>
          <p:cNvPr id="158" name="group 158"/>
          <p:cNvGrpSpPr/>
          <p:nvPr/>
        </p:nvGrpSpPr>
        <p:grpSpPr>
          <a:xfrm rot="21600000">
            <a:off x="6510527" y="3808476"/>
            <a:ext cx="771144" cy="690372"/>
            <a:chOff x="0" y="0"/>
            <a:chExt cx="771144" cy="690372"/>
          </a:xfrm>
        </p:grpSpPr>
        <p:pic>
          <p:nvPicPr>
            <p:cNvPr id="2430" name="picture 243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771144" cy="690372"/>
            </a:xfrm>
            <a:prstGeom prst="rect">
              <a:avLst/>
            </a:prstGeom>
          </p:spPr>
        </p:pic>
        <p:sp>
          <p:nvSpPr>
            <p:cNvPr id="2432" name="textbox 2432"/>
            <p:cNvSpPr/>
            <p:nvPr/>
          </p:nvSpPr>
          <p:spPr>
            <a:xfrm>
              <a:off x="-12700" y="-12700"/>
              <a:ext cx="796925" cy="7346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80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23520" algn="l" rtl="0" eaLnBrk="0">
                <a:lnSpc>
                  <a:spcPct val="91000"/>
                </a:lnSpc>
                <a:tabLst/>
              </a:pP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部装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2434" name="picture 243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260340" y="4140834"/>
            <a:ext cx="1250314" cy="462279"/>
          </a:xfrm>
          <a:prstGeom prst="rect">
            <a:avLst/>
          </a:prstGeom>
        </p:spPr>
      </p:pic>
      <p:pic>
        <p:nvPicPr>
          <p:cNvPr id="2436" name="picture 243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2733166" y="2829547"/>
            <a:ext cx="628319" cy="76200"/>
          </a:xfrm>
          <a:prstGeom prst="rect">
            <a:avLst/>
          </a:prstGeom>
        </p:spPr>
      </p:pic>
      <p:sp>
        <p:nvSpPr>
          <p:cNvPr id="2438" name="textbox 2438"/>
          <p:cNvSpPr/>
          <p:nvPr/>
        </p:nvSpPr>
        <p:spPr>
          <a:xfrm>
            <a:off x="7348727" y="3678935"/>
            <a:ext cx="408940" cy="285115"/>
          </a:xfrm>
          <a:prstGeom prst="rect">
            <a:avLst/>
          </a:prstGeom>
          <a:solidFill>
            <a:srgbClr val="DBEB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48259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MO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440" name="picture 244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919124" y="3461372"/>
            <a:ext cx="1224000" cy="381000"/>
          </a:xfrm>
          <a:prstGeom prst="rect">
            <a:avLst/>
          </a:prstGeom>
        </p:spPr>
      </p:pic>
      <p:pic>
        <p:nvPicPr>
          <p:cNvPr id="2442" name="picture 244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7521575" y="3243579"/>
            <a:ext cx="620394" cy="1355090"/>
          </a:xfrm>
          <a:prstGeom prst="rect">
            <a:avLst/>
          </a:prstGeom>
        </p:spPr>
      </p:pic>
      <p:grpSp>
        <p:nvGrpSpPr>
          <p:cNvPr id="160" name="group 160"/>
          <p:cNvGrpSpPr/>
          <p:nvPr/>
        </p:nvGrpSpPr>
        <p:grpSpPr>
          <a:xfrm rot="21600000">
            <a:off x="2288654" y="2520556"/>
            <a:ext cx="4752544" cy="2063445"/>
            <a:chOff x="0" y="0"/>
            <a:chExt cx="4752544" cy="2063445"/>
          </a:xfrm>
        </p:grpSpPr>
        <p:pic>
          <p:nvPicPr>
            <p:cNvPr id="2444" name="picture 2444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4752544" cy="2063445"/>
            </a:xfrm>
            <a:prstGeom prst="rect">
              <a:avLst/>
            </a:prstGeom>
          </p:spPr>
        </p:pic>
        <p:sp>
          <p:nvSpPr>
            <p:cNvPr id="2446" name="textbox 2446"/>
            <p:cNvSpPr/>
            <p:nvPr/>
          </p:nvSpPr>
          <p:spPr>
            <a:xfrm>
              <a:off x="-12700" y="-12700"/>
              <a:ext cx="4778375" cy="21088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197350" indent="-2540" algn="l" rtl="0" eaLnBrk="0">
                <a:lnSpc>
                  <a:spcPct val="100000"/>
                </a:lnSpc>
                <a:spcBef>
                  <a:spcPts val="1"/>
                </a:spcBef>
                <a:tabLst/>
              </a:pP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物料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</a:t>
              </a: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计划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62" name="group 162"/>
          <p:cNvGrpSpPr/>
          <p:nvPr/>
        </p:nvGrpSpPr>
        <p:grpSpPr>
          <a:xfrm rot="21600000">
            <a:off x="5420778" y="2375382"/>
            <a:ext cx="381012" cy="381000"/>
            <a:chOff x="0" y="0"/>
            <a:chExt cx="381012" cy="381000"/>
          </a:xfrm>
        </p:grpSpPr>
        <p:sp>
          <p:nvSpPr>
            <p:cNvPr id="2448" name="path 2448"/>
            <p:cNvSpPr/>
            <p:nvPr/>
          </p:nvSpPr>
          <p:spPr>
            <a:xfrm>
              <a:off x="0" y="0"/>
              <a:ext cx="381012" cy="381000"/>
            </a:xfrm>
            <a:custGeom>
              <a:avLst/>
              <a:gdLst/>
              <a:ahLst/>
              <a:cxnLst/>
              <a:rect l="0" t="0" r="0" b="0"/>
              <a:pathLst>
                <a:path w="600" h="600">
                  <a:moveTo>
                    <a:pt x="0" y="300"/>
                  </a:moveTo>
                  <a:cubicBezTo>
                    <a:pt x="0" y="134"/>
                    <a:pt x="134" y="0"/>
                    <a:pt x="300" y="0"/>
                  </a:cubicBezTo>
                  <a:cubicBezTo>
                    <a:pt x="465" y="0"/>
                    <a:pt x="600" y="134"/>
                    <a:pt x="600" y="300"/>
                  </a:cubicBezTo>
                  <a:cubicBezTo>
                    <a:pt x="600" y="465"/>
                    <a:pt x="465" y="600"/>
                    <a:pt x="300" y="600"/>
                  </a:cubicBezTo>
                  <a:cubicBezTo>
                    <a:pt x="134" y="600"/>
                    <a:pt x="0" y="465"/>
                    <a:pt x="0" y="300"/>
                  </a:cubicBezTo>
                </a:path>
              </a:pathLst>
            </a:custGeom>
            <a:solidFill>
              <a:srgbClr val="A5A5A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50" name="textbox 2450"/>
            <p:cNvSpPr/>
            <p:nvPr/>
          </p:nvSpPr>
          <p:spPr>
            <a:xfrm>
              <a:off x="-12700" y="-12700"/>
              <a:ext cx="407034" cy="4616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marL="130810" algn="l" rtl="0" eaLnBrk="0">
                <a:lnSpc>
                  <a:spcPct val="83000"/>
                </a:lnSpc>
                <a:spcBef>
                  <a:spcPts val="7"/>
                </a:spcBef>
                <a:tabLst/>
              </a:pP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64" name="group 164"/>
          <p:cNvGrpSpPr/>
          <p:nvPr/>
        </p:nvGrpSpPr>
        <p:grpSpPr>
          <a:xfrm rot="21600000">
            <a:off x="2360218" y="2375382"/>
            <a:ext cx="381000" cy="381000"/>
            <a:chOff x="0" y="0"/>
            <a:chExt cx="381000" cy="381000"/>
          </a:xfrm>
        </p:grpSpPr>
        <p:sp>
          <p:nvSpPr>
            <p:cNvPr id="2452" name="path 2452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0" t="0" r="0" b="0"/>
              <a:pathLst>
                <a:path w="600" h="600">
                  <a:moveTo>
                    <a:pt x="0" y="300"/>
                  </a:moveTo>
                  <a:cubicBezTo>
                    <a:pt x="0" y="134"/>
                    <a:pt x="134" y="0"/>
                    <a:pt x="300" y="0"/>
                  </a:cubicBezTo>
                  <a:cubicBezTo>
                    <a:pt x="465" y="0"/>
                    <a:pt x="600" y="134"/>
                    <a:pt x="600" y="300"/>
                  </a:cubicBezTo>
                  <a:cubicBezTo>
                    <a:pt x="600" y="465"/>
                    <a:pt x="465" y="600"/>
                    <a:pt x="300" y="600"/>
                  </a:cubicBezTo>
                  <a:cubicBezTo>
                    <a:pt x="134" y="600"/>
                    <a:pt x="0" y="465"/>
                    <a:pt x="0" y="300"/>
                  </a:cubicBezTo>
                </a:path>
              </a:pathLst>
            </a:custGeom>
            <a:solidFill>
              <a:srgbClr val="A5A5A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54" name="textbox 2454"/>
            <p:cNvSpPr/>
            <p:nvPr/>
          </p:nvSpPr>
          <p:spPr>
            <a:xfrm>
              <a:off x="-12700" y="-12700"/>
              <a:ext cx="406400" cy="4616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marL="149860" algn="l" rtl="0" eaLnBrk="0">
                <a:lnSpc>
                  <a:spcPct val="83000"/>
                </a:lnSpc>
                <a:spcBef>
                  <a:spcPts val="7"/>
                </a:spcBef>
                <a:tabLst/>
              </a:pP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66" name="group 166"/>
          <p:cNvGrpSpPr/>
          <p:nvPr/>
        </p:nvGrpSpPr>
        <p:grpSpPr>
          <a:xfrm rot="21600000">
            <a:off x="8268792" y="2375954"/>
            <a:ext cx="381000" cy="381000"/>
            <a:chOff x="0" y="0"/>
            <a:chExt cx="381000" cy="381000"/>
          </a:xfrm>
        </p:grpSpPr>
        <p:sp>
          <p:nvSpPr>
            <p:cNvPr id="2456" name="path 2456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0" t="0" r="0" b="0"/>
              <a:pathLst>
                <a:path w="600" h="600">
                  <a:moveTo>
                    <a:pt x="0" y="299"/>
                  </a:moveTo>
                  <a:cubicBezTo>
                    <a:pt x="0" y="134"/>
                    <a:pt x="134" y="0"/>
                    <a:pt x="300" y="0"/>
                  </a:cubicBezTo>
                  <a:cubicBezTo>
                    <a:pt x="465" y="0"/>
                    <a:pt x="600" y="134"/>
                    <a:pt x="600" y="300"/>
                  </a:cubicBezTo>
                  <a:cubicBezTo>
                    <a:pt x="600" y="465"/>
                    <a:pt x="465" y="600"/>
                    <a:pt x="300" y="600"/>
                  </a:cubicBezTo>
                  <a:cubicBezTo>
                    <a:pt x="134" y="600"/>
                    <a:pt x="0" y="465"/>
                    <a:pt x="0" y="299"/>
                  </a:cubicBezTo>
                </a:path>
              </a:pathLst>
            </a:custGeom>
            <a:solidFill>
              <a:srgbClr val="A5A5A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58" name="textbox 2458"/>
            <p:cNvSpPr/>
            <p:nvPr/>
          </p:nvSpPr>
          <p:spPr>
            <a:xfrm>
              <a:off x="-12700" y="-12700"/>
              <a:ext cx="406400" cy="4584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146685" algn="l" rtl="0" eaLnBrk="0">
                <a:lnSpc>
                  <a:spcPct val="83000"/>
                </a:lnSpc>
                <a:spcBef>
                  <a:spcPts val="1"/>
                </a:spcBef>
                <a:tabLst/>
              </a:pP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2460" name="picture 246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1291716" y="2829547"/>
            <a:ext cx="628307" cy="76200"/>
          </a:xfrm>
          <a:prstGeom prst="rect">
            <a:avLst/>
          </a:prstGeom>
        </p:spPr>
      </p:pic>
      <p:sp>
        <p:nvSpPr>
          <p:cNvPr id="2462" name="textbox 2462"/>
          <p:cNvSpPr/>
          <p:nvPr/>
        </p:nvSpPr>
        <p:spPr>
          <a:xfrm>
            <a:off x="99060" y="2154935"/>
            <a:ext cx="8773794" cy="1149350"/>
          </a:xfrm>
          <a:prstGeom prst="rect">
            <a:avLst/>
          </a:prstGeom>
          <a:solidFill>
            <a:srgbClr val="C5E0B4">
              <a:alpha val="8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7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56659" algn="l" rtl="0" eaLnBrk="0">
              <a:lnSpc>
                <a:spcPct val="91000"/>
              </a:lnSpc>
              <a:tabLst/>
            </a:pP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计划一体化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68" name="group 168"/>
          <p:cNvGrpSpPr/>
          <p:nvPr/>
        </p:nvGrpSpPr>
        <p:grpSpPr>
          <a:xfrm rot="21600000">
            <a:off x="3448811" y="4603356"/>
            <a:ext cx="771144" cy="691019"/>
            <a:chOff x="0" y="0"/>
            <a:chExt cx="771144" cy="691019"/>
          </a:xfrm>
        </p:grpSpPr>
        <p:pic>
          <p:nvPicPr>
            <p:cNvPr id="2464" name="picture 246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0" y="0"/>
              <a:ext cx="771144" cy="691019"/>
            </a:xfrm>
            <a:prstGeom prst="rect">
              <a:avLst/>
            </a:prstGeom>
          </p:spPr>
        </p:pic>
        <p:sp>
          <p:nvSpPr>
            <p:cNvPr id="2466" name="textbox 2466"/>
            <p:cNvSpPr/>
            <p:nvPr/>
          </p:nvSpPr>
          <p:spPr>
            <a:xfrm>
              <a:off x="-12700" y="-12700"/>
              <a:ext cx="796925" cy="7359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37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26695" algn="l" rtl="0" eaLnBrk="0">
                <a:lnSpc>
                  <a:spcPct val="91000"/>
                </a:lnSpc>
                <a:tabLst/>
              </a:pPr>
              <a:r>
                <a:rPr sz="1400" kern="0" spc="-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收料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70" name="group 170"/>
          <p:cNvGrpSpPr/>
          <p:nvPr/>
        </p:nvGrpSpPr>
        <p:grpSpPr>
          <a:xfrm rot="21600000">
            <a:off x="4913375" y="4603356"/>
            <a:ext cx="771144" cy="691019"/>
            <a:chOff x="0" y="0"/>
            <a:chExt cx="771144" cy="691019"/>
          </a:xfrm>
        </p:grpSpPr>
        <p:pic>
          <p:nvPicPr>
            <p:cNvPr id="2468" name="picture 2468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0" y="0"/>
              <a:ext cx="771144" cy="691019"/>
            </a:xfrm>
            <a:prstGeom prst="rect">
              <a:avLst/>
            </a:prstGeom>
          </p:spPr>
        </p:pic>
        <p:sp>
          <p:nvSpPr>
            <p:cNvPr id="2470" name="textbox 2470"/>
            <p:cNvSpPr/>
            <p:nvPr/>
          </p:nvSpPr>
          <p:spPr>
            <a:xfrm>
              <a:off x="-12700" y="-12700"/>
              <a:ext cx="796925" cy="7378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25425" algn="l" rtl="0" eaLnBrk="0">
                <a:lnSpc>
                  <a:spcPct val="91000"/>
                </a:lnSpc>
                <a:tabLst/>
              </a:pPr>
              <a:r>
                <a:rPr sz="1400" kern="0" spc="-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配送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72" name="group 172"/>
          <p:cNvGrpSpPr/>
          <p:nvPr/>
        </p:nvGrpSpPr>
        <p:grpSpPr>
          <a:xfrm rot="21600000">
            <a:off x="7174750" y="4598911"/>
            <a:ext cx="770294" cy="690892"/>
            <a:chOff x="0" y="0"/>
            <a:chExt cx="770294" cy="690892"/>
          </a:xfrm>
        </p:grpSpPr>
        <p:pic>
          <p:nvPicPr>
            <p:cNvPr id="2472" name="picture 2472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0" y="0"/>
              <a:ext cx="770294" cy="690892"/>
            </a:xfrm>
            <a:prstGeom prst="rect">
              <a:avLst/>
            </a:prstGeom>
          </p:spPr>
        </p:pic>
        <p:sp>
          <p:nvSpPr>
            <p:cNvPr id="2474" name="textbox 2474"/>
            <p:cNvSpPr/>
            <p:nvPr/>
          </p:nvSpPr>
          <p:spPr>
            <a:xfrm>
              <a:off x="-12700" y="-12700"/>
              <a:ext cx="796290" cy="7353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55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21615" algn="l" rtl="0" eaLnBrk="0">
                <a:lnSpc>
                  <a:spcPct val="91000"/>
                </a:lnSpc>
                <a:tabLst/>
              </a:pP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总装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74" name="group 174"/>
          <p:cNvGrpSpPr/>
          <p:nvPr/>
        </p:nvGrpSpPr>
        <p:grpSpPr>
          <a:xfrm rot="21600000">
            <a:off x="4736020" y="4423587"/>
            <a:ext cx="381000" cy="381000"/>
            <a:chOff x="0" y="0"/>
            <a:chExt cx="381000" cy="381000"/>
          </a:xfrm>
        </p:grpSpPr>
        <p:sp>
          <p:nvSpPr>
            <p:cNvPr id="2476" name="path 2476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0" t="0" r="0" b="0"/>
              <a:pathLst>
                <a:path w="600" h="600">
                  <a:moveTo>
                    <a:pt x="0" y="300"/>
                  </a:moveTo>
                  <a:cubicBezTo>
                    <a:pt x="0" y="134"/>
                    <a:pt x="134" y="0"/>
                    <a:pt x="300" y="0"/>
                  </a:cubicBezTo>
                  <a:cubicBezTo>
                    <a:pt x="465" y="0"/>
                    <a:pt x="600" y="134"/>
                    <a:pt x="600" y="300"/>
                  </a:cubicBezTo>
                  <a:cubicBezTo>
                    <a:pt x="600" y="465"/>
                    <a:pt x="465" y="600"/>
                    <a:pt x="300" y="600"/>
                  </a:cubicBezTo>
                  <a:cubicBezTo>
                    <a:pt x="134" y="600"/>
                    <a:pt x="0" y="465"/>
                    <a:pt x="0" y="300"/>
                  </a:cubicBezTo>
                </a:path>
              </a:pathLst>
            </a:custGeom>
            <a:solidFill>
              <a:srgbClr val="A5A5A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78" name="textbox 2478"/>
            <p:cNvSpPr/>
            <p:nvPr/>
          </p:nvSpPr>
          <p:spPr>
            <a:xfrm>
              <a:off x="-12700" y="-12700"/>
              <a:ext cx="406400" cy="4584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146685" algn="l" rtl="0" eaLnBrk="0">
                <a:lnSpc>
                  <a:spcPct val="82000"/>
                </a:lnSpc>
                <a:spcBef>
                  <a:spcPts val="5"/>
                </a:spcBef>
                <a:tabLst/>
              </a:pP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76" name="group 176"/>
          <p:cNvGrpSpPr/>
          <p:nvPr/>
        </p:nvGrpSpPr>
        <p:grpSpPr>
          <a:xfrm rot="21600000">
            <a:off x="7744586" y="4423587"/>
            <a:ext cx="381000" cy="381000"/>
            <a:chOff x="0" y="0"/>
            <a:chExt cx="381000" cy="381000"/>
          </a:xfrm>
        </p:grpSpPr>
        <p:sp>
          <p:nvSpPr>
            <p:cNvPr id="2480" name="path 2480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0" t="0" r="0" b="0"/>
              <a:pathLst>
                <a:path w="600" h="600">
                  <a:moveTo>
                    <a:pt x="0" y="300"/>
                  </a:moveTo>
                  <a:cubicBezTo>
                    <a:pt x="0" y="134"/>
                    <a:pt x="134" y="0"/>
                    <a:pt x="300" y="0"/>
                  </a:cubicBezTo>
                  <a:cubicBezTo>
                    <a:pt x="465" y="0"/>
                    <a:pt x="600" y="134"/>
                    <a:pt x="600" y="300"/>
                  </a:cubicBezTo>
                  <a:cubicBezTo>
                    <a:pt x="600" y="465"/>
                    <a:pt x="465" y="600"/>
                    <a:pt x="300" y="600"/>
                  </a:cubicBezTo>
                  <a:cubicBezTo>
                    <a:pt x="134" y="600"/>
                    <a:pt x="0" y="465"/>
                    <a:pt x="0" y="300"/>
                  </a:cubicBezTo>
                </a:path>
              </a:pathLst>
            </a:custGeom>
            <a:solidFill>
              <a:srgbClr val="A5A5A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82" name="textbox 2482"/>
            <p:cNvSpPr/>
            <p:nvPr/>
          </p:nvSpPr>
          <p:spPr>
            <a:xfrm>
              <a:off x="-12700" y="-12700"/>
              <a:ext cx="406400" cy="4584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76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6050" algn="l" rtl="0" eaLnBrk="0">
                <a:lnSpc>
                  <a:spcPct val="83000"/>
                </a:lnSpc>
                <a:tabLst/>
              </a:pP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484" name="textbox 2484"/>
          <p:cNvSpPr/>
          <p:nvPr/>
        </p:nvSpPr>
        <p:spPr>
          <a:xfrm>
            <a:off x="2851404" y="3776471"/>
            <a:ext cx="5941059" cy="1539875"/>
          </a:xfrm>
          <a:prstGeom prst="rect">
            <a:avLst/>
          </a:prstGeom>
          <a:solidFill>
            <a:srgbClr val="C5E0B4">
              <a:alpha val="8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09850" algn="l" rtl="0" eaLnBrk="0">
              <a:lnSpc>
                <a:spcPct val="84000"/>
              </a:lnSpc>
              <a:spcBef>
                <a:spcPts val="2"/>
              </a:spcBef>
              <a:tabLst/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MES</a:t>
            </a:r>
            <a:endParaRPr sz="2700" dirty="0">
              <a:latin typeface="Arial"/>
              <a:ea typeface="Arial"/>
              <a:cs typeface="Arial"/>
            </a:endParaRPr>
          </a:p>
        </p:txBody>
      </p:sp>
      <p:pic>
        <p:nvPicPr>
          <p:cNvPr id="2486" name="picture 248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9451632" y="1217929"/>
            <a:ext cx="2219070" cy="2974009"/>
          </a:xfrm>
          <a:prstGeom prst="rect">
            <a:avLst/>
          </a:prstGeom>
        </p:spPr>
      </p:pic>
      <p:pic>
        <p:nvPicPr>
          <p:cNvPr id="2488" name="picture 248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9674199" y="3392309"/>
            <a:ext cx="770293" cy="635622"/>
          </a:xfrm>
          <a:prstGeom prst="rect">
            <a:avLst/>
          </a:prstGeom>
        </p:spPr>
      </p:pic>
      <p:pic>
        <p:nvPicPr>
          <p:cNvPr id="2490" name="picture 249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9674199" y="2717291"/>
            <a:ext cx="770293" cy="635635"/>
          </a:xfrm>
          <a:prstGeom prst="rect">
            <a:avLst/>
          </a:prstGeom>
        </p:spPr>
      </p:pic>
      <p:pic>
        <p:nvPicPr>
          <p:cNvPr id="2492" name="picture 249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9674199" y="2043480"/>
            <a:ext cx="770293" cy="635711"/>
          </a:xfrm>
          <a:prstGeom prst="rect">
            <a:avLst/>
          </a:prstGeom>
        </p:spPr>
      </p:pic>
      <p:sp>
        <p:nvSpPr>
          <p:cNvPr id="2494" name="path 2494"/>
          <p:cNvSpPr/>
          <p:nvPr/>
        </p:nvSpPr>
        <p:spPr>
          <a:xfrm>
            <a:off x="10277461" y="2386723"/>
            <a:ext cx="381000" cy="381000"/>
          </a:xfrm>
          <a:custGeom>
            <a:avLst/>
            <a:gdLst/>
            <a:ahLst/>
            <a:cxnLst/>
            <a:rect l="0" t="0" r="0" b="0"/>
            <a:pathLst>
              <a:path w="600" h="600">
                <a:moveTo>
                  <a:pt x="0" y="299"/>
                </a:moveTo>
                <a:cubicBezTo>
                  <a:pt x="0" y="134"/>
                  <a:pt x="134" y="0"/>
                  <a:pt x="300" y="0"/>
                </a:cubicBezTo>
                <a:cubicBezTo>
                  <a:pt x="465" y="0"/>
                  <a:pt x="600" y="134"/>
                  <a:pt x="600" y="300"/>
                </a:cubicBezTo>
                <a:cubicBezTo>
                  <a:pt x="600" y="465"/>
                  <a:pt x="465" y="600"/>
                  <a:pt x="300" y="600"/>
                </a:cubicBezTo>
                <a:cubicBezTo>
                  <a:pt x="134" y="600"/>
                  <a:pt x="0" y="465"/>
                  <a:pt x="0" y="299"/>
                </a:cubicBezTo>
              </a:path>
            </a:pathLst>
          </a:custGeom>
          <a:solidFill>
            <a:srgbClr val="A5A5A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78" name="group 178"/>
          <p:cNvGrpSpPr/>
          <p:nvPr/>
        </p:nvGrpSpPr>
        <p:grpSpPr>
          <a:xfrm rot="21600000">
            <a:off x="9674199" y="1211491"/>
            <a:ext cx="984262" cy="792581"/>
            <a:chOff x="0" y="0"/>
            <a:chExt cx="984262" cy="792581"/>
          </a:xfrm>
        </p:grpSpPr>
        <p:pic>
          <p:nvPicPr>
            <p:cNvPr id="2496" name="picture 2496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21600000">
              <a:off x="0" y="0"/>
              <a:ext cx="984262" cy="792581"/>
            </a:xfrm>
            <a:prstGeom prst="rect">
              <a:avLst/>
            </a:prstGeom>
          </p:spPr>
        </p:pic>
        <p:sp>
          <p:nvSpPr>
            <p:cNvPr id="2498" name="textbox 2498"/>
            <p:cNvSpPr/>
            <p:nvPr/>
          </p:nvSpPr>
          <p:spPr>
            <a:xfrm>
              <a:off x="-12700" y="-12700"/>
              <a:ext cx="1010285" cy="8343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49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739140" algn="l" rtl="0" eaLnBrk="0">
                <a:lnSpc>
                  <a:spcPct val="85000"/>
                </a:lnSpc>
                <a:tabLst/>
              </a:pPr>
              <a:r>
                <a:rPr sz="1000" kern="0" spc="-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11</a:t>
              </a:r>
              <a:endParaRPr sz="1000" dirty="0">
                <a:latin typeface="Arial"/>
                <a:ea typeface="Arial"/>
                <a:cs typeface="Arial"/>
              </a:endParaRPr>
            </a:p>
            <a:p>
              <a:pPr marL="244475" algn="l" rtl="0" eaLnBrk="0">
                <a:lnSpc>
                  <a:spcPct val="83000"/>
                </a:lnSpc>
                <a:spcBef>
                  <a:spcPts val="202"/>
                </a:spcBef>
                <a:tabLst/>
              </a:pPr>
              <a:r>
                <a:rPr sz="1200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设备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45745" algn="l" rtl="0" eaLnBrk="0">
                <a:lnSpc>
                  <a:spcPts val="1564"/>
                </a:lnSpc>
                <a:tabLst/>
              </a:pPr>
              <a:r>
                <a:rPr sz="1200" kern="0" spc="-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工具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80" name="group 180"/>
          <p:cNvGrpSpPr/>
          <p:nvPr/>
        </p:nvGrpSpPr>
        <p:grpSpPr>
          <a:xfrm rot="21600000">
            <a:off x="10277461" y="3735501"/>
            <a:ext cx="381000" cy="381012"/>
            <a:chOff x="0" y="0"/>
            <a:chExt cx="381000" cy="381012"/>
          </a:xfrm>
        </p:grpSpPr>
        <p:sp>
          <p:nvSpPr>
            <p:cNvPr id="2500" name="path 2500"/>
            <p:cNvSpPr/>
            <p:nvPr/>
          </p:nvSpPr>
          <p:spPr>
            <a:xfrm>
              <a:off x="0" y="0"/>
              <a:ext cx="381000" cy="381012"/>
            </a:xfrm>
            <a:custGeom>
              <a:avLst/>
              <a:gdLst/>
              <a:ahLst/>
              <a:cxnLst/>
              <a:rect l="0" t="0" r="0" b="0"/>
              <a:pathLst>
                <a:path w="600" h="600">
                  <a:moveTo>
                    <a:pt x="0" y="299"/>
                  </a:moveTo>
                  <a:cubicBezTo>
                    <a:pt x="0" y="134"/>
                    <a:pt x="134" y="0"/>
                    <a:pt x="300" y="0"/>
                  </a:cubicBezTo>
                  <a:cubicBezTo>
                    <a:pt x="465" y="0"/>
                    <a:pt x="600" y="134"/>
                    <a:pt x="600" y="300"/>
                  </a:cubicBezTo>
                  <a:cubicBezTo>
                    <a:pt x="600" y="465"/>
                    <a:pt x="465" y="600"/>
                    <a:pt x="300" y="600"/>
                  </a:cubicBezTo>
                  <a:cubicBezTo>
                    <a:pt x="134" y="600"/>
                    <a:pt x="0" y="465"/>
                    <a:pt x="0" y="299"/>
                  </a:cubicBezTo>
                </a:path>
              </a:pathLst>
            </a:custGeom>
            <a:solidFill>
              <a:srgbClr val="A5A5A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02" name="textbox 2502"/>
            <p:cNvSpPr/>
            <p:nvPr/>
          </p:nvSpPr>
          <p:spPr>
            <a:xfrm>
              <a:off x="-12700" y="-12700"/>
              <a:ext cx="406400" cy="4356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12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5889" algn="l" rtl="0" eaLnBrk="0">
                <a:lnSpc>
                  <a:spcPct val="85000"/>
                </a:lnSpc>
                <a:tabLst/>
              </a:pPr>
              <a:r>
                <a:rPr sz="1000" kern="0" spc="-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10</a:t>
              </a:r>
              <a:endParaRPr sz="10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504" name="textbox 2504"/>
          <p:cNvSpPr/>
          <p:nvPr/>
        </p:nvSpPr>
        <p:spPr>
          <a:xfrm>
            <a:off x="9879741" y="2175255"/>
            <a:ext cx="667384" cy="979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78000"/>
              </a:lnSpc>
              <a:tabLst/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28575" algn="l" rtl="0" eaLnBrk="0">
              <a:lnSpc>
                <a:spcPct val="95000"/>
              </a:lnSpc>
              <a:spcBef>
                <a:spcPts val="11"/>
              </a:spcBef>
              <a:tabLst/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执行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77000"/>
              </a:lnSpc>
              <a:spcBef>
                <a:spcPts val="3"/>
              </a:spcBef>
              <a:tabLst/>
            </a:pP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2"/>
              </a:spcBef>
              <a:tabLst/>
            </a:pPr>
            <a:r>
              <a:rPr sz="13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组装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06" name="textbox 2506"/>
          <p:cNvSpPr/>
          <p:nvPr/>
        </p:nvSpPr>
        <p:spPr>
          <a:xfrm>
            <a:off x="9895306" y="3518941"/>
            <a:ext cx="328929" cy="373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2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1200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采集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508" name="picture 250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10718292" y="2043480"/>
            <a:ext cx="965085" cy="1309446"/>
          </a:xfrm>
          <a:prstGeom prst="rect">
            <a:avLst/>
          </a:prstGeom>
        </p:spPr>
      </p:pic>
      <p:sp>
        <p:nvSpPr>
          <p:cNvPr id="2510" name="textbox 2510"/>
          <p:cNvSpPr/>
          <p:nvPr/>
        </p:nvSpPr>
        <p:spPr>
          <a:xfrm>
            <a:off x="10865116" y="2195372"/>
            <a:ext cx="480059" cy="1060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7630" indent="-75564" algn="l" rtl="0" eaLnBrk="0">
              <a:lnSpc>
                <a:spcPct val="95000"/>
              </a:lnSpc>
              <a:tabLst/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制成品</a:t>
            </a:r>
            <a:r>
              <a:rPr sz="12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88264" indent="635" algn="l" rtl="0" eaLnBrk="0">
              <a:lnSpc>
                <a:spcPct val="95000"/>
              </a:lnSpc>
              <a:tabLst/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异常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12" name="textbox 2512"/>
          <p:cNvSpPr/>
          <p:nvPr/>
        </p:nvSpPr>
        <p:spPr>
          <a:xfrm>
            <a:off x="11424036" y="2727959"/>
            <a:ext cx="147954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grpSp>
        <p:nvGrpSpPr>
          <p:cNvPr id="182" name="group 182"/>
          <p:cNvGrpSpPr/>
          <p:nvPr/>
        </p:nvGrpSpPr>
        <p:grpSpPr>
          <a:xfrm rot="21600000">
            <a:off x="10718292" y="1214513"/>
            <a:ext cx="965085" cy="789559"/>
            <a:chOff x="0" y="0"/>
            <a:chExt cx="965085" cy="789559"/>
          </a:xfrm>
        </p:grpSpPr>
        <p:pic>
          <p:nvPicPr>
            <p:cNvPr id="2514" name="picture 2514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21600000">
              <a:off x="0" y="0"/>
              <a:ext cx="965085" cy="789559"/>
            </a:xfrm>
            <a:prstGeom prst="rect">
              <a:avLst/>
            </a:prstGeom>
          </p:spPr>
        </p:pic>
        <p:sp>
          <p:nvSpPr>
            <p:cNvPr id="2516" name="textbox 2516"/>
            <p:cNvSpPr/>
            <p:nvPr/>
          </p:nvSpPr>
          <p:spPr>
            <a:xfrm>
              <a:off x="-12700" y="-12700"/>
              <a:ext cx="990600" cy="8305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730884" algn="l" rtl="0" eaLnBrk="0">
                <a:lnSpc>
                  <a:spcPct val="71000"/>
                </a:lnSpc>
                <a:spcBef>
                  <a:spcPts val="5"/>
                </a:spcBef>
                <a:tabLst/>
              </a:pP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8</a:t>
              </a:r>
              <a:endParaRPr sz="1800" dirty="0">
                <a:latin typeface="Arial"/>
                <a:ea typeface="Arial"/>
                <a:cs typeface="Arial"/>
              </a:endParaRPr>
            </a:p>
            <a:p>
              <a:pPr marL="244475" algn="l" rtl="0" eaLnBrk="0">
                <a:lnSpc>
                  <a:spcPct val="80000"/>
                </a:lnSpc>
                <a:spcBef>
                  <a:spcPts val="9"/>
                </a:spcBef>
                <a:tabLst/>
              </a:pPr>
              <a:r>
                <a:rPr sz="1200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制程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52095" algn="l" rtl="0" eaLnBrk="0">
                <a:lnSpc>
                  <a:spcPts val="1569"/>
                </a:lnSpc>
                <a:tabLst/>
              </a:pPr>
              <a:r>
                <a:rPr sz="1200" kern="0" spc="-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品质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84" name="group 184"/>
          <p:cNvGrpSpPr/>
          <p:nvPr/>
        </p:nvGrpSpPr>
        <p:grpSpPr>
          <a:xfrm rot="21600000">
            <a:off x="10718292" y="3392309"/>
            <a:ext cx="771143" cy="635622"/>
            <a:chOff x="0" y="0"/>
            <a:chExt cx="771143" cy="635622"/>
          </a:xfrm>
        </p:grpSpPr>
        <p:pic>
          <p:nvPicPr>
            <p:cNvPr id="2518" name="picture 2518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 rot="21600000">
              <a:off x="0" y="0"/>
              <a:ext cx="771143" cy="635622"/>
            </a:xfrm>
            <a:prstGeom prst="rect">
              <a:avLst/>
            </a:prstGeom>
          </p:spPr>
        </p:pic>
        <p:sp>
          <p:nvSpPr>
            <p:cNvPr id="2520" name="textbox 2520"/>
            <p:cNvSpPr/>
            <p:nvPr/>
          </p:nvSpPr>
          <p:spPr>
            <a:xfrm>
              <a:off x="-12700" y="-12700"/>
              <a:ext cx="796925" cy="6781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47650" algn="l" rtl="0" eaLnBrk="0">
                <a:lnSpc>
                  <a:spcPct val="82000"/>
                </a:lnSpc>
                <a:tabLst/>
              </a:pPr>
              <a:r>
                <a:rPr sz="1200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决策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  <a:p>
              <a:pPr marL="247650" algn="l" rtl="0" eaLnBrk="0">
                <a:lnSpc>
                  <a:spcPts val="1567"/>
                </a:lnSpc>
                <a:tabLst/>
              </a:pPr>
              <a:r>
                <a:rPr sz="1200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管理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86" name="group 186"/>
          <p:cNvGrpSpPr/>
          <p:nvPr/>
        </p:nvGrpSpPr>
        <p:grpSpPr>
          <a:xfrm rot="21600000">
            <a:off x="8938259" y="1175003"/>
            <a:ext cx="2782823" cy="3261359"/>
            <a:chOff x="0" y="0"/>
            <a:chExt cx="2782823" cy="3261359"/>
          </a:xfrm>
        </p:grpSpPr>
        <p:grpSp>
          <p:nvGrpSpPr>
            <p:cNvPr id="188" name="group 188"/>
            <p:cNvGrpSpPr/>
            <p:nvPr/>
          </p:nvGrpSpPr>
          <p:grpSpPr>
            <a:xfrm rot="21600000">
              <a:off x="0" y="0"/>
              <a:ext cx="2782823" cy="3261359"/>
              <a:chOff x="0" y="0"/>
              <a:chExt cx="2782823" cy="3261359"/>
            </a:xfrm>
          </p:grpSpPr>
          <p:sp>
            <p:nvSpPr>
              <p:cNvPr id="2522" name="path 2522"/>
              <p:cNvSpPr/>
              <p:nvPr/>
            </p:nvSpPr>
            <p:spPr>
              <a:xfrm>
                <a:off x="0" y="1763267"/>
                <a:ext cx="275844" cy="249935"/>
              </a:xfrm>
              <a:custGeom>
                <a:avLst/>
                <a:gdLst/>
                <a:ahLst/>
                <a:cxnLst/>
                <a:rect l="0" t="0" r="0" b="0"/>
                <a:pathLst>
                  <a:path w="434" h="393">
                    <a:moveTo>
                      <a:pt x="0" y="295"/>
                    </a:moveTo>
                    <a:lnTo>
                      <a:pt x="240" y="295"/>
                    </a:lnTo>
                    <a:lnTo>
                      <a:pt x="240" y="393"/>
                    </a:lnTo>
                    <a:lnTo>
                      <a:pt x="434" y="196"/>
                    </a:lnTo>
                    <a:lnTo>
                      <a:pt x="240" y="0"/>
                    </a:lnTo>
                    <a:lnTo>
                      <a:pt x="240" y="98"/>
                    </a:lnTo>
                    <a:lnTo>
                      <a:pt x="0" y="98"/>
                    </a:lnTo>
                    <a:lnTo>
                      <a:pt x="0" y="295"/>
                    </a:lnTo>
                  </a:path>
                </a:pathLst>
              </a:custGeom>
              <a:solidFill>
                <a:srgbClr val="DDDDDD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24" name="path 2524"/>
              <p:cNvSpPr/>
              <p:nvPr/>
            </p:nvSpPr>
            <p:spPr>
              <a:xfrm>
                <a:off x="216407" y="0"/>
                <a:ext cx="2566416" cy="3261359"/>
              </a:xfrm>
              <a:custGeom>
                <a:avLst/>
                <a:gdLst/>
                <a:ahLst/>
                <a:cxnLst/>
                <a:rect l="0" t="0" r="0" b="0"/>
                <a:pathLst>
                  <a:path w="4041" h="5135">
                    <a:moveTo>
                      <a:pt x="0" y="0"/>
                    </a:moveTo>
                    <a:lnTo>
                      <a:pt x="4041" y="0"/>
                    </a:lnTo>
                    <a:lnTo>
                      <a:pt x="4041" y="5135"/>
                    </a:lnTo>
                    <a:lnTo>
                      <a:pt x="0" y="51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5E0B4">
                  <a:alpha val="8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526" name="textbox 2526"/>
            <p:cNvSpPr/>
            <p:nvPr/>
          </p:nvSpPr>
          <p:spPr>
            <a:xfrm>
              <a:off x="-12700" y="-12700"/>
              <a:ext cx="2808604" cy="33648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51255" algn="l" rtl="0" eaLnBrk="0">
                <a:lnSpc>
                  <a:spcPct val="84000"/>
                </a:lnSpc>
                <a:spcBef>
                  <a:spcPts val="6"/>
                </a:spcBef>
                <a:tabLst/>
              </a:pPr>
              <a:r>
                <a:rPr sz="2700" b="1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MES</a:t>
              </a:r>
              <a:endParaRPr sz="2700" dirty="0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2528" name="picture 252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1293901" y="1199388"/>
            <a:ext cx="1610842" cy="690371"/>
          </a:xfrm>
          <a:prstGeom prst="rect">
            <a:avLst/>
          </a:prstGeom>
        </p:spPr>
      </p:pic>
      <p:sp>
        <p:nvSpPr>
          <p:cNvPr id="2530" name="textbox 2530"/>
          <p:cNvSpPr/>
          <p:nvPr/>
        </p:nvSpPr>
        <p:spPr>
          <a:xfrm>
            <a:off x="324751" y="275557"/>
            <a:ext cx="3171189" cy="3924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1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C2M业务制造全流程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32" name="textbox 2532"/>
          <p:cNvSpPr/>
          <p:nvPr/>
        </p:nvSpPr>
        <p:spPr>
          <a:xfrm>
            <a:off x="424857" y="3508547"/>
            <a:ext cx="1319530" cy="607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75944" algn="l" rtl="0" eaLnBrk="0">
              <a:lnSpc>
                <a:spcPct val="96000"/>
              </a:lnSpc>
              <a:spcBef>
                <a:spcPts val="7"/>
              </a:spcBef>
              <a:tabLst>
                <a:tab pos="698500" algn="l"/>
              </a:tabLst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供应商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534" name="picture 253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437557" y="3521247"/>
            <a:ext cx="563879" cy="560742"/>
          </a:xfrm>
          <a:prstGeom prst="rect">
            <a:avLst/>
          </a:prstGeom>
        </p:spPr>
      </p:pic>
      <p:sp>
        <p:nvSpPr>
          <p:cNvPr id="2536" name="textbox 2536"/>
          <p:cNvSpPr/>
          <p:nvPr/>
        </p:nvSpPr>
        <p:spPr>
          <a:xfrm>
            <a:off x="198120" y="3433571"/>
            <a:ext cx="1158239" cy="820419"/>
          </a:xfrm>
          <a:prstGeom prst="rect">
            <a:avLst/>
          </a:prstGeom>
          <a:solidFill>
            <a:srgbClr val="C5E0B4">
              <a:alpha val="8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0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3534" indent="-117475" algn="l" rtl="0" eaLnBrk="0">
              <a:lnSpc>
                <a:spcPct val="99000"/>
              </a:lnSpc>
              <a:tabLst/>
            </a:pPr>
            <a:r>
              <a:rPr sz="18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供应商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8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寻源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90" name="group 190"/>
          <p:cNvGrpSpPr/>
          <p:nvPr/>
        </p:nvGrpSpPr>
        <p:grpSpPr>
          <a:xfrm rot="21600000">
            <a:off x="365759" y="4603356"/>
            <a:ext cx="771143" cy="691019"/>
            <a:chOff x="0" y="0"/>
            <a:chExt cx="771143" cy="691019"/>
          </a:xfrm>
        </p:grpSpPr>
        <p:pic>
          <p:nvPicPr>
            <p:cNvPr id="2538" name="picture 2538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 rot="21600000">
              <a:off x="0" y="0"/>
              <a:ext cx="771143" cy="691019"/>
            </a:xfrm>
            <a:prstGeom prst="rect">
              <a:avLst/>
            </a:prstGeom>
          </p:spPr>
        </p:pic>
        <p:sp>
          <p:nvSpPr>
            <p:cNvPr id="2540" name="textbox 2540"/>
            <p:cNvSpPr/>
            <p:nvPr/>
          </p:nvSpPr>
          <p:spPr>
            <a:xfrm>
              <a:off x="-12700" y="-12700"/>
              <a:ext cx="796925" cy="7378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6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203834" algn="l" rtl="0" eaLnBrk="0">
                <a:lnSpc>
                  <a:spcPct val="95000"/>
                </a:lnSpc>
                <a:tabLst/>
              </a:pP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供应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207009" algn="l" rtl="0" eaLnBrk="0">
                <a:lnSpc>
                  <a:spcPct val="95000"/>
                </a:lnSpc>
                <a:spcBef>
                  <a:spcPts val="164"/>
                </a:spcBef>
                <a:tabLst/>
              </a:pP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商协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311784" algn="l" rtl="0" eaLnBrk="0">
                <a:lnSpc>
                  <a:spcPct val="90000"/>
                </a:lnSpc>
                <a:spcBef>
                  <a:spcPts val="249"/>
                </a:spcBef>
                <a:tabLst/>
              </a:pP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同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2542" name="picture 254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1253591" y="4940376"/>
            <a:ext cx="628319" cy="76200"/>
          </a:xfrm>
          <a:prstGeom prst="rect">
            <a:avLst/>
          </a:prstGeom>
        </p:spPr>
      </p:pic>
      <p:sp>
        <p:nvSpPr>
          <p:cNvPr id="2544" name="textbox 2544"/>
          <p:cNvSpPr/>
          <p:nvPr/>
        </p:nvSpPr>
        <p:spPr>
          <a:xfrm>
            <a:off x="208788" y="4567428"/>
            <a:ext cx="1146175" cy="820419"/>
          </a:xfrm>
          <a:prstGeom prst="rect">
            <a:avLst/>
          </a:prstGeom>
          <a:solidFill>
            <a:srgbClr val="C5E0B4">
              <a:alpha val="8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339090" indent="-118745" algn="l" rtl="0" eaLnBrk="0">
              <a:lnSpc>
                <a:spcPct val="99000"/>
              </a:lnSpc>
              <a:spcBef>
                <a:spcPts val="5"/>
              </a:spcBef>
              <a:tabLst/>
            </a:pPr>
            <a:r>
              <a:rPr sz="18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供应商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8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协同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546" name="picture 2546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1907984" y="4603356"/>
            <a:ext cx="770305" cy="691019"/>
          </a:xfrm>
          <a:prstGeom prst="rect">
            <a:avLst/>
          </a:prstGeom>
        </p:spPr>
      </p:pic>
      <p:sp>
        <p:nvSpPr>
          <p:cNvPr id="2548" name="textbox 2548"/>
          <p:cNvSpPr/>
          <p:nvPr/>
        </p:nvSpPr>
        <p:spPr>
          <a:xfrm>
            <a:off x="2102880" y="4843235"/>
            <a:ext cx="381634" cy="220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7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备料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550" name="picture 255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2749778" y="4940376"/>
            <a:ext cx="628319" cy="76200"/>
          </a:xfrm>
          <a:prstGeom prst="rect">
            <a:avLst/>
          </a:prstGeom>
        </p:spPr>
      </p:pic>
      <p:grpSp>
        <p:nvGrpSpPr>
          <p:cNvPr id="192" name="group 192"/>
          <p:cNvGrpSpPr/>
          <p:nvPr/>
        </p:nvGrpSpPr>
        <p:grpSpPr>
          <a:xfrm rot="21600000">
            <a:off x="2510027" y="4423587"/>
            <a:ext cx="381393" cy="381000"/>
            <a:chOff x="0" y="0"/>
            <a:chExt cx="381393" cy="381000"/>
          </a:xfrm>
        </p:grpSpPr>
        <p:sp>
          <p:nvSpPr>
            <p:cNvPr id="2552" name="path 2552"/>
            <p:cNvSpPr/>
            <p:nvPr/>
          </p:nvSpPr>
          <p:spPr>
            <a:xfrm>
              <a:off x="0" y="0"/>
              <a:ext cx="381393" cy="381000"/>
            </a:xfrm>
            <a:custGeom>
              <a:avLst/>
              <a:gdLst/>
              <a:ahLst/>
              <a:cxnLst/>
              <a:rect l="0" t="0" r="0" b="0"/>
              <a:pathLst>
                <a:path w="600" h="600">
                  <a:moveTo>
                    <a:pt x="0" y="300"/>
                  </a:moveTo>
                  <a:cubicBezTo>
                    <a:pt x="0" y="134"/>
                    <a:pt x="134" y="0"/>
                    <a:pt x="300" y="0"/>
                  </a:cubicBezTo>
                  <a:cubicBezTo>
                    <a:pt x="466" y="0"/>
                    <a:pt x="600" y="134"/>
                    <a:pt x="600" y="300"/>
                  </a:cubicBezTo>
                  <a:cubicBezTo>
                    <a:pt x="600" y="465"/>
                    <a:pt x="466" y="600"/>
                    <a:pt x="300" y="600"/>
                  </a:cubicBezTo>
                  <a:cubicBezTo>
                    <a:pt x="134" y="600"/>
                    <a:pt x="0" y="465"/>
                    <a:pt x="0" y="300"/>
                  </a:cubicBezTo>
                </a:path>
              </a:pathLst>
            </a:custGeom>
            <a:solidFill>
              <a:srgbClr val="A5A5A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54" name="textbox 2554"/>
            <p:cNvSpPr/>
            <p:nvPr/>
          </p:nvSpPr>
          <p:spPr>
            <a:xfrm>
              <a:off x="-12700" y="-12700"/>
              <a:ext cx="407034" cy="4616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140335" algn="l" rtl="0" eaLnBrk="0">
                <a:lnSpc>
                  <a:spcPct val="83000"/>
                </a:lnSpc>
                <a:spcBef>
                  <a:spcPts val="1"/>
                </a:spcBef>
                <a:tabLst/>
              </a:pPr>
              <a:r>
                <a:rPr sz="18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</a:t>
              </a:r>
              <a:endParaRPr sz="18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556" name="textbox 2556"/>
          <p:cNvSpPr/>
          <p:nvPr/>
        </p:nvSpPr>
        <p:spPr>
          <a:xfrm>
            <a:off x="1717547" y="4556759"/>
            <a:ext cx="1069975" cy="820419"/>
          </a:xfrm>
          <a:prstGeom prst="rect">
            <a:avLst/>
          </a:prstGeom>
          <a:solidFill>
            <a:srgbClr val="C5E0B4">
              <a:alpha val="8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299720" indent="1270" algn="l" rtl="0" eaLnBrk="0">
              <a:lnSpc>
                <a:spcPct val="99000"/>
              </a:lnSpc>
              <a:spcBef>
                <a:spcPts val="3"/>
              </a:spcBef>
              <a:tabLst/>
            </a:pPr>
            <a:r>
              <a:rPr sz="18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</a:t>
            </a:r>
            <a:r>
              <a:rPr sz="18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8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备料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94" name="group 194"/>
          <p:cNvGrpSpPr/>
          <p:nvPr/>
        </p:nvGrpSpPr>
        <p:grpSpPr>
          <a:xfrm rot="21600000">
            <a:off x="496176" y="1209471"/>
            <a:ext cx="800620" cy="690295"/>
            <a:chOff x="0" y="0"/>
            <a:chExt cx="800620" cy="690295"/>
          </a:xfrm>
        </p:grpSpPr>
        <p:pic>
          <p:nvPicPr>
            <p:cNvPr id="2558" name="picture 2558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 rot="21600000">
              <a:off x="0" y="0"/>
              <a:ext cx="800620" cy="690295"/>
            </a:xfrm>
            <a:prstGeom prst="rect">
              <a:avLst/>
            </a:prstGeom>
          </p:spPr>
        </p:pic>
        <p:sp>
          <p:nvSpPr>
            <p:cNvPr id="2560" name="textbox 2560"/>
            <p:cNvSpPr/>
            <p:nvPr/>
          </p:nvSpPr>
          <p:spPr>
            <a:xfrm>
              <a:off x="-12700" y="-12700"/>
              <a:ext cx="826135" cy="7334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6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8114" algn="l" rtl="0" eaLnBrk="0">
                <a:lnSpc>
                  <a:spcPct val="93000"/>
                </a:lnSpc>
                <a:tabLst/>
              </a:pPr>
              <a:r>
                <a:rPr sz="1300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研发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96" name="group 196"/>
          <p:cNvGrpSpPr/>
          <p:nvPr/>
        </p:nvGrpSpPr>
        <p:grpSpPr>
          <a:xfrm rot="21600000">
            <a:off x="9435084" y="4688788"/>
            <a:ext cx="771142" cy="690930"/>
            <a:chOff x="0" y="0"/>
            <a:chExt cx="771142" cy="690930"/>
          </a:xfrm>
        </p:grpSpPr>
        <p:pic>
          <p:nvPicPr>
            <p:cNvPr id="2562" name="picture 2562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 rot="21600000">
              <a:off x="0" y="0"/>
              <a:ext cx="771142" cy="690930"/>
            </a:xfrm>
            <a:prstGeom prst="rect">
              <a:avLst/>
            </a:prstGeom>
          </p:spPr>
        </p:pic>
        <p:sp>
          <p:nvSpPr>
            <p:cNvPr id="2564" name="textbox 2564"/>
            <p:cNvSpPr/>
            <p:nvPr/>
          </p:nvSpPr>
          <p:spPr>
            <a:xfrm>
              <a:off x="-12700" y="-12700"/>
              <a:ext cx="796925" cy="7169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211454" algn="l" rtl="0" eaLnBrk="0">
                <a:lnSpc>
                  <a:spcPct val="87000"/>
                </a:lnSpc>
                <a:spcBef>
                  <a:spcPts val="3"/>
                </a:spcBef>
                <a:tabLst/>
              </a:pP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物流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216534" algn="l" rtl="0" eaLnBrk="0">
                <a:lnSpc>
                  <a:spcPts val="1740"/>
                </a:lnSpc>
                <a:tabLst/>
              </a:pPr>
              <a:r>
                <a:rPr sz="1400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配送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98" name="group 198"/>
          <p:cNvGrpSpPr/>
          <p:nvPr/>
        </p:nvGrpSpPr>
        <p:grpSpPr>
          <a:xfrm rot="21600000">
            <a:off x="4913375" y="1194447"/>
            <a:ext cx="771144" cy="690740"/>
            <a:chOff x="0" y="0"/>
            <a:chExt cx="771144" cy="690740"/>
          </a:xfrm>
        </p:grpSpPr>
        <p:pic>
          <p:nvPicPr>
            <p:cNvPr id="2566" name="picture 2566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 rot="21600000">
              <a:off x="0" y="0"/>
              <a:ext cx="771144" cy="690740"/>
            </a:xfrm>
            <a:prstGeom prst="rect">
              <a:avLst/>
            </a:prstGeom>
          </p:spPr>
        </p:pic>
        <p:sp>
          <p:nvSpPr>
            <p:cNvPr id="2568" name="textbox 2568"/>
            <p:cNvSpPr/>
            <p:nvPr/>
          </p:nvSpPr>
          <p:spPr>
            <a:xfrm>
              <a:off x="-12700" y="-12700"/>
              <a:ext cx="796925" cy="7327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28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47015" algn="l" rtl="0" eaLnBrk="0">
                <a:lnSpc>
                  <a:spcPct val="91000"/>
                </a:lnSpc>
                <a:tabLst/>
              </a:pPr>
              <a:r>
                <a:rPr sz="1200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订单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2570" name="picture 257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4736591" y="381000"/>
            <a:ext cx="635508" cy="768362"/>
          </a:xfrm>
          <a:prstGeom prst="rect">
            <a:avLst/>
          </a:prstGeom>
        </p:spPr>
      </p:pic>
      <p:pic>
        <p:nvPicPr>
          <p:cNvPr id="2572" name="picture 2572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10357104" y="4724400"/>
            <a:ext cx="635507" cy="635508"/>
          </a:xfrm>
          <a:prstGeom prst="rect">
            <a:avLst/>
          </a:prstGeom>
        </p:spPr>
      </p:pic>
      <p:sp>
        <p:nvSpPr>
          <p:cNvPr id="2574" name="textbox 2574"/>
          <p:cNvSpPr/>
          <p:nvPr/>
        </p:nvSpPr>
        <p:spPr>
          <a:xfrm>
            <a:off x="2192197" y="1270711"/>
            <a:ext cx="328295" cy="557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1435" indent="-39369" algn="l" rtl="0" eaLnBrk="0">
              <a:lnSpc>
                <a:spcPct val="97000"/>
              </a:lnSpc>
              <a:tabLst/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/工  </a:t>
            </a:r>
            <a:r>
              <a:rPr sz="1200" kern="0" spc="2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艺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576" name="picture 2576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2904312" y="1502193"/>
            <a:ext cx="2009495" cy="76200"/>
          </a:xfrm>
          <a:prstGeom prst="rect">
            <a:avLst/>
          </a:prstGeom>
        </p:spPr>
      </p:pic>
      <p:sp>
        <p:nvSpPr>
          <p:cNvPr id="2578" name="textbox 2578"/>
          <p:cNvSpPr/>
          <p:nvPr/>
        </p:nvSpPr>
        <p:spPr>
          <a:xfrm>
            <a:off x="6152388" y="3297935"/>
            <a:ext cx="338454" cy="287020"/>
          </a:xfrm>
          <a:prstGeom prst="rect">
            <a:avLst/>
          </a:prstGeom>
          <a:solidFill>
            <a:srgbClr val="DBEB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46990" algn="l" rtl="0" eaLnBrk="0">
              <a:lnSpc>
                <a:spcPct val="89000"/>
              </a:lnSpc>
              <a:spcBef>
                <a:spcPts val="3"/>
              </a:spcBef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PO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580" name="picture 2580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8020798" y="4940350"/>
            <a:ext cx="1263384" cy="76200"/>
          </a:xfrm>
          <a:prstGeom prst="rect">
            <a:avLst/>
          </a:prstGeom>
        </p:spPr>
      </p:pic>
      <p:sp>
        <p:nvSpPr>
          <p:cNvPr id="2582" name="textbox 2582"/>
          <p:cNvSpPr/>
          <p:nvPr/>
        </p:nvSpPr>
        <p:spPr>
          <a:xfrm>
            <a:off x="11208496" y="4971881"/>
            <a:ext cx="430530" cy="246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客户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84" name="textbox 2584"/>
          <p:cNvSpPr/>
          <p:nvPr/>
        </p:nvSpPr>
        <p:spPr>
          <a:xfrm>
            <a:off x="5526580" y="628698"/>
            <a:ext cx="430530" cy="246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客户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586" name="picture 2586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 rot="21600000">
            <a:off x="4291317" y="4940376"/>
            <a:ext cx="628319" cy="76200"/>
          </a:xfrm>
          <a:prstGeom prst="rect">
            <a:avLst/>
          </a:prstGeom>
        </p:spPr>
      </p:pic>
      <p:sp>
        <p:nvSpPr>
          <p:cNvPr id="2588" name="textbox 2588"/>
          <p:cNvSpPr/>
          <p:nvPr/>
        </p:nvSpPr>
        <p:spPr>
          <a:xfrm>
            <a:off x="5135384" y="1358976"/>
            <a:ext cx="328929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选配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" name="rect 2590"/>
          <p:cNvSpPr/>
          <p:nvPr/>
        </p:nvSpPr>
        <p:spPr>
          <a:xfrm>
            <a:off x="1883664" y="2380488"/>
            <a:ext cx="9358884" cy="1856231"/>
          </a:xfrm>
          <a:prstGeom prst="rect">
            <a:avLst/>
          </a:prstGeom>
          <a:solidFill>
            <a:srgbClr val="3E82F9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92" name="textbox 2592"/>
          <p:cNvSpPr/>
          <p:nvPr/>
        </p:nvSpPr>
        <p:spPr>
          <a:xfrm>
            <a:off x="659890" y="5011640"/>
            <a:ext cx="7797165" cy="1742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9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3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C2M预测驱动物料储备</a:t>
            </a:r>
            <a:r>
              <a:rPr sz="13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，保障C2M订单快速交付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4000"/>
              </a:lnSpc>
              <a:spcBef>
                <a:spcPts val="944"/>
              </a:spcBef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基于瓶颈资源的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AFP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快速计划</a:t>
            </a:r>
            <a:r>
              <a:rPr sz="13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，支持2-4小时排产备料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4000"/>
              </a:lnSpc>
              <a:spcBef>
                <a:spcPts val="943"/>
              </a:spcBef>
              <a:tabLst/>
            </a:pP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打通供应链上下游</a:t>
            </a:r>
            <a:r>
              <a:rPr sz="13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，全过程透明</a:t>
            </a:r>
            <a:r>
              <a:rPr sz="13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，高效供应商协同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4000"/>
              </a:lnSpc>
              <a:spcBef>
                <a:spcPts val="944"/>
              </a:spcBef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计划与执行无缝集成</a:t>
            </a:r>
            <a:r>
              <a:rPr sz="13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，拉式生产</a:t>
            </a:r>
            <a:r>
              <a:rPr sz="13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，根据生产实绩灵活调整排产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1736"/>
              </a:lnSpc>
              <a:spcBef>
                <a:spcPts val="700"/>
              </a:spcBef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继承源头系统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BOM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/工艺路线</a:t>
            </a:r>
            <a:r>
              <a:rPr sz="13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，改善数据质量</a:t>
            </a:r>
            <a:r>
              <a:rPr sz="13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，提升排产准确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和及时性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2"/>
              </a:spcBef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整合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APS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AFS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系统功能</a:t>
            </a:r>
            <a:r>
              <a:rPr sz="13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，完美兼容现有可视系统</a:t>
            </a:r>
            <a:r>
              <a:rPr sz="13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，支持订单全流程节点跟踪</a:t>
            </a:r>
            <a:r>
              <a:rPr sz="13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，提升用户体验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和易用性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94" name="rect 2594"/>
          <p:cNvSpPr/>
          <p:nvPr/>
        </p:nvSpPr>
        <p:spPr>
          <a:xfrm>
            <a:off x="1883664" y="1229867"/>
            <a:ext cx="9358884" cy="998220"/>
          </a:xfrm>
          <a:prstGeom prst="rect">
            <a:avLst/>
          </a:prstGeom>
          <a:solidFill>
            <a:srgbClr val="3E82F9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596" name="picture 25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525011" y="2430779"/>
            <a:ext cx="1453921" cy="655828"/>
          </a:xfrm>
          <a:prstGeom prst="rect">
            <a:avLst/>
          </a:prstGeom>
        </p:spPr>
      </p:pic>
      <p:pic>
        <p:nvPicPr>
          <p:cNvPr id="2598" name="picture 25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13020" y="3430511"/>
            <a:ext cx="3064828" cy="655535"/>
          </a:xfrm>
          <a:prstGeom prst="rect">
            <a:avLst/>
          </a:prstGeom>
        </p:spPr>
      </p:pic>
      <p:pic>
        <p:nvPicPr>
          <p:cNvPr id="2600" name="picture 26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776745" y="2430779"/>
            <a:ext cx="1401102" cy="655828"/>
          </a:xfrm>
          <a:prstGeom prst="rect">
            <a:avLst/>
          </a:prstGeom>
        </p:spPr>
      </p:pic>
      <p:pic>
        <p:nvPicPr>
          <p:cNvPr id="2602" name="picture 26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113020" y="2430779"/>
            <a:ext cx="1529296" cy="655828"/>
          </a:xfrm>
          <a:prstGeom prst="rect">
            <a:avLst/>
          </a:prstGeom>
        </p:spPr>
      </p:pic>
      <p:sp>
        <p:nvSpPr>
          <p:cNvPr id="2604" name="textbox 2604"/>
          <p:cNvSpPr/>
          <p:nvPr/>
        </p:nvSpPr>
        <p:spPr>
          <a:xfrm>
            <a:off x="3836341" y="2483152"/>
            <a:ext cx="4488815" cy="1448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1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2400" kern="0" spc="30" baseline="-15192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约束计划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3000" kern="0" spc="30" dirty="0">
                <a:solidFill>
                  <a:srgbClr val="A7A7A7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3000" kern="0" spc="180" dirty="0">
                <a:solidFill>
                  <a:srgbClr val="A7A7A7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400" kern="0" spc="30" baseline="-15192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跟单件排产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r>
              <a:rPr sz="2400" kern="0" spc="30" baseline="23873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储备件</a:t>
            </a:r>
            <a:r>
              <a:rPr sz="2400" kern="0" spc="20" baseline="23873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/共享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3000" kern="0" spc="20" dirty="0">
                <a:solidFill>
                  <a:srgbClr val="A7A7A7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endParaRPr sz="3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079"/>
              </a:lnSpc>
              <a:spcBef>
                <a:spcPts val="4"/>
              </a:spcBef>
              <a:tabLst/>
            </a:pPr>
            <a:r>
              <a:rPr sz="2400" kern="0" spc="60" baseline="-7605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工单下达</a:t>
            </a:r>
            <a:r>
              <a:rPr sz="15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</a:t>
            </a:r>
            <a:r>
              <a:rPr sz="1500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3000" kern="0" spc="60" dirty="0">
                <a:solidFill>
                  <a:srgbClr val="A7A7A7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3000" dirty="0">
              <a:latin typeface="Arial"/>
              <a:ea typeface="Arial"/>
              <a:cs typeface="Arial"/>
            </a:endParaRPr>
          </a:p>
        </p:txBody>
      </p:sp>
      <p:pic>
        <p:nvPicPr>
          <p:cNvPr id="2606" name="picture 26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20851" y="2720746"/>
            <a:ext cx="134429" cy="76200"/>
          </a:xfrm>
          <a:prstGeom prst="rect">
            <a:avLst/>
          </a:prstGeom>
        </p:spPr>
      </p:pic>
      <p:pic>
        <p:nvPicPr>
          <p:cNvPr id="2608" name="picture 26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941410" y="1280528"/>
            <a:ext cx="1519402" cy="1959800"/>
          </a:xfrm>
          <a:prstGeom prst="rect">
            <a:avLst/>
          </a:prstGeom>
        </p:spPr>
      </p:pic>
      <p:grpSp>
        <p:nvGrpSpPr>
          <p:cNvPr id="200" name="group 200"/>
          <p:cNvGrpSpPr/>
          <p:nvPr/>
        </p:nvGrpSpPr>
        <p:grpSpPr>
          <a:xfrm rot="21600000">
            <a:off x="9675355" y="2430779"/>
            <a:ext cx="1481976" cy="1655254"/>
            <a:chOff x="0" y="0"/>
            <a:chExt cx="1481976" cy="1655254"/>
          </a:xfrm>
        </p:grpSpPr>
        <p:pic>
          <p:nvPicPr>
            <p:cNvPr id="2610" name="picture 261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1481976" cy="1655254"/>
            </a:xfrm>
            <a:prstGeom prst="rect">
              <a:avLst/>
            </a:prstGeom>
          </p:spPr>
        </p:pic>
        <p:sp>
          <p:nvSpPr>
            <p:cNvPr id="2612" name="textbox 2612"/>
            <p:cNvSpPr/>
            <p:nvPr/>
          </p:nvSpPr>
          <p:spPr>
            <a:xfrm>
              <a:off x="-12700" y="-12700"/>
              <a:ext cx="1507489" cy="17011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80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80059" algn="l" rtl="0" eaLnBrk="0">
                <a:lnSpc>
                  <a:spcPct val="97000"/>
                </a:lnSpc>
                <a:tabLst/>
              </a:pPr>
              <a:r>
                <a:rPr sz="15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生产备料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614" name="textbox 2614"/>
          <p:cNvSpPr/>
          <p:nvPr/>
        </p:nvSpPr>
        <p:spPr>
          <a:xfrm>
            <a:off x="8311896" y="1408176"/>
            <a:ext cx="2846070" cy="654050"/>
          </a:xfrm>
          <a:prstGeom prst="rect">
            <a:avLst/>
          </a:prstGeom>
          <a:solidFill>
            <a:srgbClr val="7D7D7D">
              <a:alpha val="5019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67055" algn="l" rtl="0" eaLnBrk="0">
              <a:lnSpc>
                <a:spcPts val="2059"/>
              </a:lnSpc>
              <a:spcBef>
                <a:spcPts val="1"/>
              </a:spcBef>
              <a:tabLst/>
            </a:pPr>
            <a:r>
              <a:rPr sz="15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储备/其他采购订单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02" name="group 202"/>
          <p:cNvGrpSpPr/>
          <p:nvPr/>
        </p:nvGrpSpPr>
        <p:grpSpPr>
          <a:xfrm rot="21600000">
            <a:off x="1866379" y="3293351"/>
            <a:ext cx="1524520" cy="792695"/>
            <a:chOff x="0" y="0"/>
            <a:chExt cx="1524520" cy="792695"/>
          </a:xfrm>
        </p:grpSpPr>
        <p:pic>
          <p:nvPicPr>
            <p:cNvPr id="2616" name="picture 261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1524520" cy="792695"/>
            </a:xfrm>
            <a:prstGeom prst="rect">
              <a:avLst/>
            </a:prstGeom>
          </p:spPr>
        </p:pic>
        <p:sp>
          <p:nvSpPr>
            <p:cNvPr id="2618" name="textbox 2618"/>
            <p:cNvSpPr/>
            <p:nvPr/>
          </p:nvSpPr>
          <p:spPr>
            <a:xfrm>
              <a:off x="-12700" y="-12700"/>
              <a:ext cx="1550035" cy="8388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10489" algn="l" rtl="0" eaLnBrk="0">
                <a:lnSpc>
                  <a:spcPct val="88000"/>
                </a:lnSpc>
                <a:spcBef>
                  <a:spcPts val="3"/>
                </a:spcBef>
                <a:tabLst/>
              </a:pPr>
              <a:r>
                <a:rPr sz="15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440690" algn="l" rtl="0" eaLnBrk="0">
                <a:lnSpc>
                  <a:spcPct val="96000"/>
                </a:lnSpc>
                <a:spcBef>
                  <a:spcPts val="4"/>
                </a:spcBef>
                <a:tabLst/>
              </a:pPr>
              <a:r>
                <a:rPr sz="1500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工艺路线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2620" name="picture 26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311896" y="3430511"/>
            <a:ext cx="1363979" cy="655535"/>
          </a:xfrm>
          <a:prstGeom prst="rect">
            <a:avLst/>
          </a:prstGeom>
        </p:spPr>
      </p:pic>
      <p:pic>
        <p:nvPicPr>
          <p:cNvPr id="2622" name="picture 26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311896" y="2430779"/>
            <a:ext cx="1363979" cy="655828"/>
          </a:xfrm>
          <a:prstGeom prst="rect">
            <a:avLst/>
          </a:prstGeom>
        </p:spPr>
      </p:pic>
      <p:sp>
        <p:nvSpPr>
          <p:cNvPr id="2624" name="textbox 2624"/>
          <p:cNvSpPr/>
          <p:nvPr/>
        </p:nvSpPr>
        <p:spPr>
          <a:xfrm>
            <a:off x="8497568" y="2643470"/>
            <a:ext cx="1016635" cy="1243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自制又采购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9525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工单排程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26" name="textbox 2626"/>
          <p:cNvSpPr/>
          <p:nvPr/>
        </p:nvSpPr>
        <p:spPr>
          <a:xfrm>
            <a:off x="336654" y="348570"/>
            <a:ext cx="3219450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计划一体化-项目规划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04" name="group 204"/>
          <p:cNvGrpSpPr/>
          <p:nvPr/>
        </p:nvGrpSpPr>
        <p:grpSpPr>
          <a:xfrm rot="21600000">
            <a:off x="2000821" y="2430779"/>
            <a:ext cx="1390078" cy="655828"/>
            <a:chOff x="0" y="0"/>
            <a:chExt cx="1390078" cy="655828"/>
          </a:xfrm>
        </p:grpSpPr>
        <p:pic>
          <p:nvPicPr>
            <p:cNvPr id="2628" name="picture 262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1390078" cy="655828"/>
            </a:xfrm>
            <a:prstGeom prst="rect">
              <a:avLst/>
            </a:prstGeom>
          </p:spPr>
        </p:pic>
        <p:sp>
          <p:nvSpPr>
            <p:cNvPr id="2630" name="textbox 2630"/>
            <p:cNvSpPr/>
            <p:nvPr/>
          </p:nvSpPr>
          <p:spPr>
            <a:xfrm>
              <a:off x="-12700" y="-12700"/>
              <a:ext cx="1416050" cy="7010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34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03529" algn="l" rtl="0" eaLnBrk="0">
                <a:lnSpc>
                  <a:spcPct val="96000"/>
                </a:lnSpc>
                <a:tabLst/>
              </a:pPr>
              <a:r>
                <a:rPr sz="15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订单获取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06" name="group 206"/>
          <p:cNvGrpSpPr/>
          <p:nvPr/>
        </p:nvGrpSpPr>
        <p:grpSpPr>
          <a:xfrm rot="21600000">
            <a:off x="2000821" y="1389151"/>
            <a:ext cx="1390078" cy="653402"/>
            <a:chOff x="0" y="0"/>
            <a:chExt cx="1390078" cy="653402"/>
          </a:xfrm>
        </p:grpSpPr>
        <p:pic>
          <p:nvPicPr>
            <p:cNvPr id="2632" name="picture 263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1390078" cy="653402"/>
            </a:xfrm>
            <a:prstGeom prst="rect">
              <a:avLst/>
            </a:prstGeom>
          </p:spPr>
        </p:pic>
        <p:sp>
          <p:nvSpPr>
            <p:cNvPr id="2634" name="textbox 2634"/>
            <p:cNvSpPr/>
            <p:nvPr/>
          </p:nvSpPr>
          <p:spPr>
            <a:xfrm>
              <a:off x="-12700" y="-12700"/>
              <a:ext cx="1416050" cy="6978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67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04165" algn="l" rtl="0" eaLnBrk="0">
                <a:lnSpc>
                  <a:spcPct val="96000"/>
                </a:lnSpc>
                <a:tabLst/>
              </a:pPr>
              <a:r>
                <a:rPr sz="1500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预测获取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08" name="group 208"/>
          <p:cNvGrpSpPr/>
          <p:nvPr/>
        </p:nvGrpSpPr>
        <p:grpSpPr>
          <a:xfrm rot="21600000">
            <a:off x="6776732" y="1408176"/>
            <a:ext cx="1294372" cy="653973"/>
            <a:chOff x="0" y="0"/>
            <a:chExt cx="1294372" cy="653973"/>
          </a:xfrm>
        </p:grpSpPr>
        <p:pic>
          <p:nvPicPr>
            <p:cNvPr id="2636" name="picture 263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0" y="0"/>
              <a:ext cx="1294372" cy="653973"/>
            </a:xfrm>
            <a:prstGeom prst="rect">
              <a:avLst/>
            </a:prstGeom>
          </p:spPr>
        </p:pic>
        <p:sp>
          <p:nvSpPr>
            <p:cNvPr id="2638" name="textbox 2638"/>
            <p:cNvSpPr/>
            <p:nvPr/>
          </p:nvSpPr>
          <p:spPr>
            <a:xfrm>
              <a:off x="-12700" y="-12700"/>
              <a:ext cx="1320164" cy="7010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97485" algn="l" rtl="0" eaLnBrk="0">
                <a:lnSpc>
                  <a:spcPct val="95000"/>
                </a:lnSpc>
                <a:spcBef>
                  <a:spcPts val="6"/>
                </a:spcBef>
                <a:tabLst/>
              </a:pPr>
              <a:r>
                <a:rPr sz="15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ASCP</a:t>
              </a:r>
              <a:r>
                <a:rPr sz="1500" kern="0" spc="2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计划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640" name="textbox 2640"/>
          <p:cNvSpPr/>
          <p:nvPr/>
        </p:nvSpPr>
        <p:spPr>
          <a:xfrm>
            <a:off x="6680847" y="4372355"/>
            <a:ext cx="1529080" cy="520700"/>
          </a:xfrm>
          <a:prstGeom prst="rect">
            <a:avLst/>
          </a:prstGeom>
          <a:solidFill>
            <a:srgbClr val="7D7D7D">
              <a:alpha val="5019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07340" algn="l" rtl="0" eaLnBrk="0">
              <a:lnSpc>
                <a:spcPts val="2414"/>
              </a:lnSpc>
              <a:spcBef>
                <a:spcPts val="5"/>
              </a:spcBef>
              <a:tabLst/>
            </a:pP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ERP</a:t>
            </a:r>
            <a:r>
              <a:rPr sz="1800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WI</a:t>
            </a:r>
            <a:r>
              <a:rPr sz="1800" kern="0" spc="-3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42" name="textbox 2642"/>
          <p:cNvSpPr/>
          <p:nvPr/>
        </p:nvSpPr>
        <p:spPr>
          <a:xfrm>
            <a:off x="5113020" y="4372355"/>
            <a:ext cx="1466214" cy="526415"/>
          </a:xfrm>
          <a:prstGeom prst="rect">
            <a:avLst/>
          </a:prstGeom>
          <a:solidFill>
            <a:srgbClr val="7D7D7D">
              <a:alpha val="5019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38480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1500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MES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44" name="textbox 2644"/>
          <p:cNvSpPr/>
          <p:nvPr/>
        </p:nvSpPr>
        <p:spPr>
          <a:xfrm>
            <a:off x="684276" y="2430779"/>
            <a:ext cx="1128394" cy="655955"/>
          </a:xfrm>
          <a:prstGeom prst="rect">
            <a:avLst/>
          </a:prstGeom>
          <a:solidFill>
            <a:srgbClr val="7D7D7D">
              <a:alpha val="5019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002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5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订单需求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46" name="textbox 2646"/>
          <p:cNvSpPr/>
          <p:nvPr/>
        </p:nvSpPr>
        <p:spPr>
          <a:xfrm>
            <a:off x="684276" y="3430511"/>
            <a:ext cx="1128394" cy="655955"/>
          </a:xfrm>
          <a:prstGeom prst="rect">
            <a:avLst/>
          </a:prstGeom>
          <a:solidFill>
            <a:srgbClr val="7D7D7D">
              <a:alpha val="5019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63220" indent="-226695" algn="l" rtl="0" eaLnBrk="0">
              <a:lnSpc>
                <a:spcPct val="101000"/>
              </a:lnSpc>
              <a:spcBef>
                <a:spcPts val="3"/>
              </a:spcBef>
              <a:tabLst/>
            </a:pP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PLM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工艺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路线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48" name="textbox 2648"/>
          <p:cNvSpPr/>
          <p:nvPr/>
        </p:nvSpPr>
        <p:spPr>
          <a:xfrm>
            <a:off x="685800" y="1389151"/>
            <a:ext cx="1128394" cy="653415"/>
          </a:xfrm>
          <a:prstGeom prst="rect">
            <a:avLst/>
          </a:prstGeom>
          <a:solidFill>
            <a:srgbClr val="7D7D7D">
              <a:alpha val="5019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0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0654" algn="l" rtl="0" eaLnBrk="0">
              <a:lnSpc>
                <a:spcPct val="95000"/>
              </a:lnSpc>
              <a:tabLst/>
            </a:pP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预测需求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50" name="picture 265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5837148" y="3086557"/>
            <a:ext cx="1889887" cy="343954"/>
          </a:xfrm>
          <a:prstGeom prst="rect">
            <a:avLst/>
          </a:prstGeom>
        </p:spPr>
      </p:pic>
      <p:pic>
        <p:nvPicPr>
          <p:cNvPr id="2652" name="picture 265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3390264" y="3086100"/>
            <a:ext cx="899795" cy="676592"/>
          </a:xfrm>
          <a:prstGeom prst="rect">
            <a:avLst/>
          </a:prstGeom>
        </p:spPr>
      </p:pic>
      <p:pic>
        <p:nvPicPr>
          <p:cNvPr id="2654" name="picture 265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3390772" y="1677758"/>
            <a:ext cx="3385959" cy="76200"/>
          </a:xfrm>
          <a:prstGeom prst="rect">
            <a:avLst/>
          </a:prstGeom>
        </p:spPr>
      </p:pic>
      <p:sp>
        <p:nvSpPr>
          <p:cNvPr id="2656" name="textbox 2656"/>
          <p:cNvSpPr/>
          <p:nvPr/>
        </p:nvSpPr>
        <p:spPr>
          <a:xfrm>
            <a:off x="7162044" y="2767100"/>
            <a:ext cx="632459" cy="242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件下达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10" name="group 210"/>
          <p:cNvGrpSpPr/>
          <p:nvPr/>
        </p:nvGrpSpPr>
        <p:grpSpPr>
          <a:xfrm rot="21600000">
            <a:off x="9793223" y="2318892"/>
            <a:ext cx="288087" cy="287997"/>
            <a:chOff x="0" y="0"/>
            <a:chExt cx="288087" cy="287997"/>
          </a:xfrm>
        </p:grpSpPr>
        <p:sp>
          <p:nvSpPr>
            <p:cNvPr id="2658" name="path 2658"/>
            <p:cNvSpPr/>
            <p:nvPr/>
          </p:nvSpPr>
          <p:spPr>
            <a:xfrm>
              <a:off x="0" y="0"/>
              <a:ext cx="288087" cy="287997"/>
            </a:xfrm>
            <a:custGeom>
              <a:avLst/>
              <a:gdLst/>
              <a:ahLst/>
              <a:cxnLst/>
              <a:rect l="0" t="0" r="0" b="0"/>
              <a:pathLst>
                <a:path w="453" h="453">
                  <a:moveTo>
                    <a:pt x="0" y="226"/>
                  </a:moveTo>
                  <a:cubicBezTo>
                    <a:pt x="0" y="101"/>
                    <a:pt x="101" y="0"/>
                    <a:pt x="226" y="0"/>
                  </a:cubicBezTo>
                  <a:cubicBezTo>
                    <a:pt x="352" y="0"/>
                    <a:pt x="453" y="101"/>
                    <a:pt x="453" y="226"/>
                  </a:cubicBezTo>
                  <a:cubicBezTo>
                    <a:pt x="453" y="352"/>
                    <a:pt x="352" y="453"/>
                    <a:pt x="226" y="453"/>
                  </a:cubicBezTo>
                  <a:cubicBezTo>
                    <a:pt x="101" y="453"/>
                    <a:pt x="0" y="352"/>
                    <a:pt x="0" y="226"/>
                  </a:cubicBezTo>
                </a:path>
              </a:pathLst>
            </a:custGeom>
            <a:solidFill>
              <a:srgbClr val="FF9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60" name="textbox 2660"/>
            <p:cNvSpPr/>
            <p:nvPr/>
          </p:nvSpPr>
          <p:spPr>
            <a:xfrm>
              <a:off x="-12700" y="-12700"/>
              <a:ext cx="313690" cy="3568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09220" algn="l" rtl="0" eaLnBrk="0">
                <a:lnSpc>
                  <a:spcPct val="89000"/>
                </a:lnSpc>
                <a:spcBef>
                  <a:spcPts val="4"/>
                </a:spcBef>
                <a:tabLst/>
              </a:pPr>
              <a:r>
                <a:rPr sz="15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12" name="group 212"/>
          <p:cNvGrpSpPr/>
          <p:nvPr/>
        </p:nvGrpSpPr>
        <p:grpSpPr>
          <a:xfrm rot="21600000">
            <a:off x="1866379" y="1258938"/>
            <a:ext cx="288010" cy="287997"/>
            <a:chOff x="0" y="0"/>
            <a:chExt cx="288010" cy="287997"/>
          </a:xfrm>
        </p:grpSpPr>
        <p:sp>
          <p:nvSpPr>
            <p:cNvPr id="2662" name="path 2662"/>
            <p:cNvSpPr/>
            <p:nvPr/>
          </p:nvSpPr>
          <p:spPr>
            <a:xfrm>
              <a:off x="0" y="0"/>
              <a:ext cx="288010" cy="287997"/>
            </a:xfrm>
            <a:custGeom>
              <a:avLst/>
              <a:gdLst/>
              <a:ahLst/>
              <a:cxnLst/>
              <a:rect l="0" t="0" r="0" b="0"/>
              <a:pathLst>
                <a:path w="453" h="453">
                  <a:moveTo>
                    <a:pt x="0" y="227"/>
                  </a:moveTo>
                  <a:cubicBezTo>
                    <a:pt x="0" y="101"/>
                    <a:pt x="101" y="0"/>
                    <a:pt x="226" y="0"/>
                  </a:cubicBezTo>
                  <a:cubicBezTo>
                    <a:pt x="352" y="0"/>
                    <a:pt x="453" y="101"/>
                    <a:pt x="453" y="226"/>
                  </a:cubicBezTo>
                  <a:cubicBezTo>
                    <a:pt x="453" y="352"/>
                    <a:pt x="352" y="453"/>
                    <a:pt x="226" y="453"/>
                  </a:cubicBezTo>
                  <a:cubicBezTo>
                    <a:pt x="101" y="453"/>
                    <a:pt x="0" y="352"/>
                    <a:pt x="0" y="227"/>
                  </a:cubicBezTo>
                </a:path>
              </a:pathLst>
            </a:custGeom>
            <a:solidFill>
              <a:srgbClr val="FF9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64" name="textbox 2664"/>
            <p:cNvSpPr/>
            <p:nvPr/>
          </p:nvSpPr>
          <p:spPr>
            <a:xfrm>
              <a:off x="-12700" y="-12700"/>
              <a:ext cx="313690" cy="3594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11760" algn="l" rtl="0" eaLnBrk="0">
                <a:lnSpc>
                  <a:spcPct val="90000"/>
                </a:lnSpc>
                <a:spcBef>
                  <a:spcPts val="1"/>
                </a:spcBef>
                <a:tabLst/>
              </a:pPr>
              <a:r>
                <a:rPr sz="15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14" name="group 214"/>
          <p:cNvGrpSpPr/>
          <p:nvPr/>
        </p:nvGrpSpPr>
        <p:grpSpPr>
          <a:xfrm rot="21600000">
            <a:off x="5002606" y="2318892"/>
            <a:ext cx="287997" cy="287997"/>
            <a:chOff x="0" y="0"/>
            <a:chExt cx="287997" cy="287997"/>
          </a:xfrm>
        </p:grpSpPr>
        <p:sp>
          <p:nvSpPr>
            <p:cNvPr id="2666" name="path 2666"/>
            <p:cNvSpPr/>
            <p:nvPr/>
          </p:nvSpPr>
          <p:spPr>
            <a:xfrm>
              <a:off x="0" y="0"/>
              <a:ext cx="287997" cy="287997"/>
            </a:xfrm>
            <a:custGeom>
              <a:avLst/>
              <a:gdLst/>
              <a:ahLst/>
              <a:cxnLst/>
              <a:rect l="0" t="0" r="0" b="0"/>
              <a:pathLst>
                <a:path w="453" h="453">
                  <a:moveTo>
                    <a:pt x="1" y="226"/>
                  </a:moveTo>
                  <a:cubicBezTo>
                    <a:pt x="0" y="101"/>
                    <a:pt x="101" y="0"/>
                    <a:pt x="226" y="0"/>
                  </a:cubicBezTo>
                  <a:cubicBezTo>
                    <a:pt x="352" y="0"/>
                    <a:pt x="453" y="101"/>
                    <a:pt x="453" y="226"/>
                  </a:cubicBezTo>
                  <a:cubicBezTo>
                    <a:pt x="453" y="352"/>
                    <a:pt x="352" y="453"/>
                    <a:pt x="226" y="453"/>
                  </a:cubicBezTo>
                  <a:cubicBezTo>
                    <a:pt x="101" y="453"/>
                    <a:pt x="0" y="352"/>
                    <a:pt x="1" y="226"/>
                  </a:cubicBezTo>
                </a:path>
              </a:pathLst>
            </a:custGeom>
            <a:solidFill>
              <a:srgbClr val="FF9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68" name="textbox 2668"/>
            <p:cNvSpPr/>
            <p:nvPr/>
          </p:nvSpPr>
          <p:spPr>
            <a:xfrm>
              <a:off x="-12700" y="-12700"/>
              <a:ext cx="313690" cy="3594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04139" algn="l" rtl="0" eaLnBrk="0">
                <a:lnSpc>
                  <a:spcPct val="89000"/>
                </a:lnSpc>
                <a:tabLst/>
              </a:pPr>
              <a:r>
                <a:rPr sz="15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16" name="group 216"/>
          <p:cNvGrpSpPr/>
          <p:nvPr/>
        </p:nvGrpSpPr>
        <p:grpSpPr>
          <a:xfrm rot="21600000">
            <a:off x="5002606" y="4244848"/>
            <a:ext cx="287997" cy="287997"/>
            <a:chOff x="0" y="0"/>
            <a:chExt cx="287997" cy="287997"/>
          </a:xfrm>
        </p:grpSpPr>
        <p:sp>
          <p:nvSpPr>
            <p:cNvPr id="2670" name="path 2670"/>
            <p:cNvSpPr/>
            <p:nvPr/>
          </p:nvSpPr>
          <p:spPr>
            <a:xfrm>
              <a:off x="0" y="0"/>
              <a:ext cx="287997" cy="287997"/>
            </a:xfrm>
            <a:custGeom>
              <a:avLst/>
              <a:gdLst/>
              <a:ahLst/>
              <a:cxnLst/>
              <a:rect l="0" t="0" r="0" b="0"/>
              <a:pathLst>
                <a:path w="453" h="453">
                  <a:moveTo>
                    <a:pt x="1" y="227"/>
                  </a:moveTo>
                  <a:cubicBezTo>
                    <a:pt x="0" y="101"/>
                    <a:pt x="101" y="0"/>
                    <a:pt x="226" y="0"/>
                  </a:cubicBezTo>
                  <a:cubicBezTo>
                    <a:pt x="352" y="0"/>
                    <a:pt x="453" y="101"/>
                    <a:pt x="453" y="226"/>
                  </a:cubicBezTo>
                  <a:cubicBezTo>
                    <a:pt x="453" y="352"/>
                    <a:pt x="352" y="453"/>
                    <a:pt x="226" y="453"/>
                  </a:cubicBezTo>
                  <a:cubicBezTo>
                    <a:pt x="101" y="453"/>
                    <a:pt x="0" y="352"/>
                    <a:pt x="1" y="227"/>
                  </a:cubicBezTo>
                </a:path>
              </a:pathLst>
            </a:custGeom>
            <a:solidFill>
              <a:srgbClr val="FF9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72" name="textbox 2672"/>
            <p:cNvSpPr/>
            <p:nvPr/>
          </p:nvSpPr>
          <p:spPr>
            <a:xfrm>
              <a:off x="-12700" y="-12700"/>
              <a:ext cx="313690" cy="3594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96519" algn="l" rtl="0" eaLnBrk="0">
                <a:lnSpc>
                  <a:spcPct val="88000"/>
                </a:lnSpc>
                <a:spcBef>
                  <a:spcPts val="4"/>
                </a:spcBef>
                <a:tabLst/>
              </a:pPr>
              <a:r>
                <a:rPr sz="1500" b="1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2674" name="picture 267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8955709" y="2062137"/>
            <a:ext cx="76200" cy="368934"/>
          </a:xfrm>
          <a:prstGeom prst="rect">
            <a:avLst/>
          </a:prstGeom>
        </p:spPr>
      </p:pic>
      <p:pic>
        <p:nvPicPr>
          <p:cNvPr id="2676" name="picture 267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10509237" y="2062137"/>
            <a:ext cx="76200" cy="368934"/>
          </a:xfrm>
          <a:prstGeom prst="rect">
            <a:avLst/>
          </a:prstGeom>
        </p:spPr>
      </p:pic>
      <p:pic>
        <p:nvPicPr>
          <p:cNvPr id="2678" name="picture 267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7385684" y="2062137"/>
            <a:ext cx="76200" cy="363270"/>
          </a:xfrm>
          <a:prstGeom prst="rect">
            <a:avLst/>
          </a:prstGeom>
        </p:spPr>
      </p:pic>
      <p:sp>
        <p:nvSpPr>
          <p:cNvPr id="2680" name="textbox 2680"/>
          <p:cNvSpPr/>
          <p:nvPr/>
        </p:nvSpPr>
        <p:spPr>
          <a:xfrm>
            <a:off x="5530291" y="4073334"/>
            <a:ext cx="101600" cy="3117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254"/>
              </a:lnSpc>
              <a:tabLst/>
            </a:pPr>
            <a:r>
              <a:rPr sz="1700" kern="0" spc="-260" dirty="0">
                <a:solidFill>
                  <a:srgbClr val="A7A7A7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82" name="picture 268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6061443" y="4086034"/>
            <a:ext cx="76200" cy="286359"/>
          </a:xfrm>
          <a:prstGeom prst="rect">
            <a:avLst/>
          </a:prstGeom>
        </p:spPr>
      </p:pic>
      <p:pic>
        <p:nvPicPr>
          <p:cNvPr id="2684" name="picture 268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7146607" y="4086034"/>
            <a:ext cx="76200" cy="286359"/>
          </a:xfrm>
          <a:prstGeom prst="rect">
            <a:avLst/>
          </a:prstGeom>
        </p:spPr>
      </p:pic>
      <p:pic>
        <p:nvPicPr>
          <p:cNvPr id="2686" name="picture 268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7665046" y="4086034"/>
            <a:ext cx="76200" cy="286359"/>
          </a:xfrm>
          <a:prstGeom prst="rect">
            <a:avLst/>
          </a:prstGeom>
        </p:spPr>
      </p:pic>
      <p:pic>
        <p:nvPicPr>
          <p:cNvPr id="2688" name="picture 268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8070749" y="1697342"/>
            <a:ext cx="241527" cy="76200"/>
          </a:xfrm>
          <a:prstGeom prst="rect">
            <a:avLst/>
          </a:prstGeom>
        </p:spPr>
      </p:pic>
      <p:pic>
        <p:nvPicPr>
          <p:cNvPr id="2690" name="picture 269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1812328" y="2720746"/>
            <a:ext cx="188480" cy="76200"/>
          </a:xfrm>
          <a:prstGeom prst="rect">
            <a:avLst/>
          </a:prstGeom>
        </p:spPr>
      </p:pic>
      <p:pic>
        <p:nvPicPr>
          <p:cNvPr id="2692" name="picture 269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1812328" y="3720172"/>
            <a:ext cx="188480" cy="76200"/>
          </a:xfrm>
          <a:prstGeom prst="rect">
            <a:avLst/>
          </a:prstGeom>
        </p:spPr>
      </p:pic>
      <p:pic>
        <p:nvPicPr>
          <p:cNvPr id="2694" name="picture 269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1813852" y="1677746"/>
            <a:ext cx="186969" cy="76200"/>
          </a:xfrm>
          <a:prstGeom prst="rect">
            <a:avLst/>
          </a:prstGeom>
        </p:spPr>
      </p:pic>
      <p:pic>
        <p:nvPicPr>
          <p:cNvPr id="2696" name="picture 269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3390772" y="2720746"/>
            <a:ext cx="134429" cy="76200"/>
          </a:xfrm>
          <a:prstGeom prst="rect">
            <a:avLst/>
          </a:prstGeom>
        </p:spPr>
      </p:pic>
      <p:pic>
        <p:nvPicPr>
          <p:cNvPr id="2698" name="picture 269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3397910" y="1280528"/>
            <a:ext cx="62903" cy="6409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0" name="textbox 2700"/>
          <p:cNvSpPr/>
          <p:nvPr/>
        </p:nvSpPr>
        <p:spPr>
          <a:xfrm>
            <a:off x="683537" y="1331525"/>
            <a:ext cx="5057140" cy="45027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2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38629" algn="l" rtl="0" eaLnBrk="0">
              <a:lnSpc>
                <a:spcPct val="94000"/>
              </a:lnSpc>
              <a:tabLst/>
            </a:pP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业务变革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60375" indent="-447675" algn="l" rtl="0" eaLnBrk="0">
              <a:lnSpc>
                <a:spcPct val="137000"/>
              </a:lnSpc>
              <a:spcBef>
                <a:spcPts val="423"/>
              </a:spcBef>
              <a:tabLst/>
            </a:pP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  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研究</a:t>
            </a:r>
            <a:r>
              <a:rPr sz="14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C2M业务模式下物料及关键零部件供应和储备机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</a:t>
            </a:r>
            <a:r>
              <a:rPr sz="14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kern="0" spc="-2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如：</a:t>
            </a:r>
            <a:r>
              <a:rPr sz="1400" kern="0" spc="-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预测指导物料及自制件储备可能性、</a:t>
            </a:r>
            <a:r>
              <a:rPr sz="1400" kern="0" spc="-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制定相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应的预测模型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61009" indent="-448944" algn="l" rtl="0" eaLnBrk="0">
              <a:lnSpc>
                <a:spcPct val="100000"/>
              </a:lnSpc>
              <a:spcBef>
                <a:spcPts val="427"/>
              </a:spcBef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 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制定适应于C2M模式的生产布局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及排产规则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匹配柔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性生产线体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22"/>
              </a:spcBef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当C2M和T+3模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式订单出现冲突时的处理机制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28"/>
              </a:spcBef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 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整理优化T+3直发订单排产合并单元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标准及算法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424"/>
              </a:spcBef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 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完善瓶颈资源、产线优先级数据及总部装关系等数据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461644" indent="-448944" algn="l" rtl="0" eaLnBrk="0">
              <a:lnSpc>
                <a:spcPct val="100000"/>
              </a:lnSpc>
              <a:spcBef>
                <a:spcPts val="2"/>
              </a:spcBef>
              <a:tabLst/>
            </a:pPr>
            <a:r>
              <a:rPr sz="14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  </a:t>
            </a:r>
            <a:r>
              <a:rPr sz="14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重新</a:t>
            </a:r>
            <a:r>
              <a:rPr sz="14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确认各排产节点时间</a:t>
            </a:r>
            <a:r>
              <a:rPr sz="14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明确总部装班次有序排产规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则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702" name="picture 27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33793" y="2773146"/>
            <a:ext cx="3976891" cy="2731439"/>
          </a:xfrm>
          <a:prstGeom prst="rect">
            <a:avLst/>
          </a:prstGeom>
        </p:spPr>
      </p:pic>
      <p:grpSp>
        <p:nvGrpSpPr>
          <p:cNvPr id="218" name="group 218"/>
          <p:cNvGrpSpPr/>
          <p:nvPr/>
        </p:nvGrpSpPr>
        <p:grpSpPr>
          <a:xfrm rot="21600000">
            <a:off x="10151364" y="3179965"/>
            <a:ext cx="1440396" cy="1440002"/>
            <a:chOff x="0" y="0"/>
            <a:chExt cx="1440396" cy="1440002"/>
          </a:xfrm>
        </p:grpSpPr>
        <p:pic>
          <p:nvPicPr>
            <p:cNvPr id="2704" name="picture 270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440396" cy="1440002"/>
            </a:xfrm>
            <a:prstGeom prst="rect">
              <a:avLst/>
            </a:prstGeom>
          </p:spPr>
        </p:pic>
        <p:sp>
          <p:nvSpPr>
            <p:cNvPr id="2706" name="textbox 2706"/>
            <p:cNvSpPr/>
            <p:nvPr/>
          </p:nvSpPr>
          <p:spPr>
            <a:xfrm>
              <a:off x="-12700" y="-12700"/>
              <a:ext cx="1466214" cy="14655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33069" algn="l" rtl="0" eaLnBrk="0">
                <a:lnSpc>
                  <a:spcPct val="84000"/>
                </a:lnSpc>
                <a:spcBef>
                  <a:spcPts val="5"/>
                </a:spcBef>
                <a:tabLst/>
              </a:pP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规则可配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  <a:p>
              <a:pPr marL="431800" algn="l" rtl="0" eaLnBrk="0">
                <a:lnSpc>
                  <a:spcPts val="1898"/>
                </a:lnSpc>
                <a:tabLst/>
              </a:pP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精准排产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2708" name="picture 27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302752" y="2004961"/>
            <a:ext cx="1438491" cy="1440002"/>
          </a:xfrm>
          <a:prstGeom prst="rect">
            <a:avLst/>
          </a:prstGeom>
        </p:spPr>
      </p:pic>
      <p:grpSp>
        <p:nvGrpSpPr>
          <p:cNvPr id="220" name="group 220"/>
          <p:cNvGrpSpPr/>
          <p:nvPr/>
        </p:nvGrpSpPr>
        <p:grpSpPr>
          <a:xfrm rot="21600000">
            <a:off x="6452615" y="3179965"/>
            <a:ext cx="1438110" cy="1440002"/>
            <a:chOff x="0" y="0"/>
            <a:chExt cx="1438110" cy="1440002"/>
          </a:xfrm>
        </p:grpSpPr>
        <p:pic>
          <p:nvPicPr>
            <p:cNvPr id="2710" name="picture 27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438110" cy="1440002"/>
            </a:xfrm>
            <a:prstGeom prst="rect">
              <a:avLst/>
            </a:prstGeom>
          </p:spPr>
        </p:pic>
        <p:sp>
          <p:nvSpPr>
            <p:cNvPr id="2712" name="textbox 2712"/>
            <p:cNvSpPr/>
            <p:nvPr/>
          </p:nvSpPr>
          <p:spPr>
            <a:xfrm>
              <a:off x="-12700" y="-12700"/>
              <a:ext cx="1463675" cy="14655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14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24484" algn="l" rtl="0" eaLnBrk="0">
                <a:lnSpc>
                  <a:spcPct val="84000"/>
                </a:lnSpc>
                <a:tabLst/>
              </a:pPr>
              <a:r>
                <a:rPr sz="1300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C2M预测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  <a:p>
              <a:pPr marL="318134" algn="l" rtl="0" eaLnBrk="0">
                <a:lnSpc>
                  <a:spcPts val="1906"/>
                </a:lnSpc>
                <a:tabLst/>
              </a:pP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缩短交期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22" name="group 222"/>
          <p:cNvGrpSpPr/>
          <p:nvPr/>
        </p:nvGrpSpPr>
        <p:grpSpPr>
          <a:xfrm rot="21600000">
            <a:off x="9248991" y="4777625"/>
            <a:ext cx="1438046" cy="1440002"/>
            <a:chOff x="0" y="0"/>
            <a:chExt cx="1438046" cy="1440002"/>
          </a:xfrm>
        </p:grpSpPr>
        <p:pic>
          <p:nvPicPr>
            <p:cNvPr id="2714" name="picture 27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438046" cy="1440002"/>
            </a:xfrm>
            <a:prstGeom prst="rect">
              <a:avLst/>
            </a:prstGeom>
          </p:spPr>
        </p:pic>
        <p:sp>
          <p:nvSpPr>
            <p:cNvPr id="2716" name="textbox 2716"/>
            <p:cNvSpPr/>
            <p:nvPr/>
          </p:nvSpPr>
          <p:spPr>
            <a:xfrm>
              <a:off x="-12700" y="-12700"/>
              <a:ext cx="1463675" cy="14827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24154" algn="l" rtl="0" eaLnBrk="0">
                <a:lnSpc>
                  <a:spcPct val="112000"/>
                </a:lnSpc>
                <a:spcBef>
                  <a:spcPts val="2"/>
                </a:spcBef>
                <a:tabLst/>
              </a:pP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支持订单可视</a:t>
              </a: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</a:t>
              </a: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支持下线直发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2718" name="picture 27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357402" y="4777625"/>
            <a:ext cx="1438033" cy="1440002"/>
          </a:xfrm>
          <a:prstGeom prst="rect">
            <a:avLst/>
          </a:prstGeom>
        </p:spPr>
      </p:pic>
      <p:sp>
        <p:nvSpPr>
          <p:cNvPr id="2720" name="textbox 2720"/>
          <p:cNvSpPr/>
          <p:nvPr/>
        </p:nvSpPr>
        <p:spPr>
          <a:xfrm>
            <a:off x="336654" y="347538"/>
            <a:ext cx="3219450" cy="394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计划一体化-业务变革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22" name="textbox 2722"/>
          <p:cNvSpPr/>
          <p:nvPr/>
        </p:nvSpPr>
        <p:spPr>
          <a:xfrm>
            <a:off x="7557743" y="5276531"/>
            <a:ext cx="875664" cy="452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8425" algn="l" rtl="0" eaLnBrk="0">
              <a:lnSpc>
                <a:spcPct val="93000"/>
              </a:lnSpc>
              <a:tabLst/>
            </a:pPr>
            <a:r>
              <a:rPr sz="13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协同排产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3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价值链提升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24" name="textbox 2724"/>
          <p:cNvSpPr/>
          <p:nvPr/>
        </p:nvSpPr>
        <p:spPr>
          <a:xfrm>
            <a:off x="8673400" y="2504892"/>
            <a:ext cx="704850" cy="452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3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计划一体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1"/>
              </a:spcBef>
              <a:tabLst/>
            </a:pPr>
            <a:r>
              <a:rPr sz="13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快速排产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26" name="textbox 2726"/>
          <p:cNvSpPr/>
          <p:nvPr/>
        </p:nvSpPr>
        <p:spPr>
          <a:xfrm>
            <a:off x="8535967" y="1344823"/>
            <a:ext cx="970914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2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业务价值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28" name="path 2728"/>
          <p:cNvSpPr/>
          <p:nvPr/>
        </p:nvSpPr>
        <p:spPr>
          <a:xfrm>
            <a:off x="6202679" y="1112520"/>
            <a:ext cx="5638800" cy="5447487"/>
          </a:xfrm>
          <a:custGeom>
            <a:avLst/>
            <a:gdLst/>
            <a:ahLst/>
            <a:cxnLst/>
            <a:rect l="0" t="0" r="0" b="0"/>
            <a:pathLst>
              <a:path w="8880" h="8578">
                <a:moveTo>
                  <a:pt x="0" y="208"/>
                </a:moveTo>
                <a:moveTo>
                  <a:pt x="0" y="208"/>
                </a:moveTo>
                <a:cubicBezTo>
                  <a:pt x="0" y="93"/>
                  <a:pt x="94" y="0"/>
                  <a:pt x="208" y="0"/>
                </a:cubicBezTo>
                <a:lnTo>
                  <a:pt x="8671" y="0"/>
                </a:lnTo>
                <a:cubicBezTo>
                  <a:pt x="8786" y="0"/>
                  <a:pt x="8879" y="93"/>
                  <a:pt x="8880" y="208"/>
                </a:cubicBezTo>
                <a:lnTo>
                  <a:pt x="8880" y="8371"/>
                </a:lnTo>
                <a:cubicBezTo>
                  <a:pt x="8879" y="8485"/>
                  <a:pt x="8786" y="8578"/>
                  <a:pt x="8671" y="8577"/>
                </a:cubicBezTo>
                <a:lnTo>
                  <a:pt x="208" y="8577"/>
                </a:lnTo>
                <a:cubicBezTo>
                  <a:pt x="94" y="8578"/>
                  <a:pt x="0" y="8485"/>
                  <a:pt x="0" y="8371"/>
                </a:cubicBezTo>
                <a:lnTo>
                  <a:pt x="0" y="208"/>
                </a:lnTo>
              </a:path>
            </a:pathLst>
          </a:custGeom>
          <a:solidFill>
            <a:srgbClr val="3E82F9">
              <a:alpha val="509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30" name="path 2730"/>
          <p:cNvSpPr/>
          <p:nvPr/>
        </p:nvSpPr>
        <p:spPr>
          <a:xfrm>
            <a:off x="348716" y="1112520"/>
            <a:ext cx="5637910" cy="5447487"/>
          </a:xfrm>
          <a:custGeom>
            <a:avLst/>
            <a:gdLst/>
            <a:ahLst/>
            <a:cxnLst/>
            <a:rect l="0" t="0" r="0" b="0"/>
            <a:pathLst>
              <a:path w="8878" h="8578">
                <a:moveTo>
                  <a:pt x="0" y="208"/>
                </a:moveTo>
                <a:moveTo>
                  <a:pt x="0" y="208"/>
                </a:moveTo>
                <a:cubicBezTo>
                  <a:pt x="0" y="93"/>
                  <a:pt x="93" y="0"/>
                  <a:pt x="209" y="0"/>
                </a:cubicBezTo>
                <a:lnTo>
                  <a:pt x="8669" y="0"/>
                </a:lnTo>
                <a:cubicBezTo>
                  <a:pt x="8785" y="0"/>
                  <a:pt x="8878" y="93"/>
                  <a:pt x="8878" y="208"/>
                </a:cubicBezTo>
                <a:lnTo>
                  <a:pt x="8878" y="8371"/>
                </a:lnTo>
                <a:cubicBezTo>
                  <a:pt x="8878" y="8485"/>
                  <a:pt x="8785" y="8578"/>
                  <a:pt x="8669" y="8577"/>
                </a:cubicBezTo>
                <a:lnTo>
                  <a:pt x="209" y="8577"/>
                </a:lnTo>
                <a:cubicBezTo>
                  <a:pt x="93" y="8578"/>
                  <a:pt x="0" y="8485"/>
                  <a:pt x="0" y="8371"/>
                </a:cubicBezTo>
                <a:lnTo>
                  <a:pt x="0" y="208"/>
                </a:lnTo>
              </a:path>
            </a:pathLst>
          </a:custGeom>
          <a:solidFill>
            <a:srgbClr val="3E82F9">
              <a:alpha val="509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32" name="table 2732"/>
          <p:cNvGraphicFramePr>
            <a:graphicFrameLocks noGrp="1"/>
          </p:cNvGraphicFramePr>
          <p:nvPr/>
        </p:nvGraphicFramePr>
        <p:xfrm>
          <a:off x="854417" y="993902"/>
          <a:ext cx="10500359" cy="5264785"/>
        </p:xfrm>
        <a:graphic>
          <a:graphicData uri="http://schemas.openxmlformats.org/drawingml/2006/table">
            <a:tbl>
              <a:tblPr/>
              <a:tblGrid>
                <a:gridCol w="3246120"/>
                <a:gridCol w="3843654"/>
                <a:gridCol w="1264920"/>
                <a:gridCol w="2145664"/>
              </a:tblGrid>
              <a:tr h="5822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6025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业务变革点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84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94485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关键任务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84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7350" algn="l" rtl="0" eaLnBrk="0">
                        <a:lnSpc>
                          <a:spcPct val="9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84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315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完成时间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84D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3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瓶颈资源梳理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3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各工厂梳理资源瓶颈和约束条件考虑关键资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源约束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8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3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排产时间梳理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各节点排产时间梳理</a:t>
                      </a:r>
                      <a:r>
                        <a:rPr sz="12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，各环节按确定时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点排产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8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3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总部装关系梳理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3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总部装关系按新逻辑梳理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8"/>
                    </a:solidFill>
                  </a:tcPr>
                </a:tc>
              </a:tr>
              <a:tr h="5638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6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现有系统基础数据清理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6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4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物料采购标识更改、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库存分类、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产能等基础数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据清理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8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5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ts val="1671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产品/产线对应关系整理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5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" algn="l" rtl="0" eaLnBrk="0">
                        <a:lnSpc>
                          <a:spcPts val="1671"/>
                        </a:lnSpc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制定产品/产线优先对应关系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，简化排产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3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订单均衡齐套业务逻辑整理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3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整理优化T+3直发订单排产合并单元标准及算法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8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3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4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适应C2M模式的生产布局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4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总装柔性线可行性探讨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8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4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4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计划人员的稳定性与能力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4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稳定计划人员；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建立计划维护体系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34" name="textbox 2734"/>
          <p:cNvSpPr/>
          <p:nvPr/>
        </p:nvSpPr>
        <p:spPr>
          <a:xfrm>
            <a:off x="235030" y="348629"/>
            <a:ext cx="3409315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计划一体化业务变革点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6" name="picture 27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6536" y="2528849"/>
            <a:ext cx="10791177" cy="2194724"/>
          </a:xfrm>
          <a:prstGeom prst="rect">
            <a:avLst/>
          </a:prstGeom>
        </p:spPr>
      </p:pic>
      <p:grpSp>
        <p:nvGrpSpPr>
          <p:cNvPr id="224" name="group 224"/>
          <p:cNvGrpSpPr/>
          <p:nvPr/>
        </p:nvGrpSpPr>
        <p:grpSpPr>
          <a:xfrm rot="21600000">
            <a:off x="641299" y="4948211"/>
            <a:ext cx="10781651" cy="542760"/>
            <a:chOff x="0" y="0"/>
            <a:chExt cx="10781651" cy="542760"/>
          </a:xfrm>
        </p:grpSpPr>
        <p:pic>
          <p:nvPicPr>
            <p:cNvPr id="2738" name="picture 273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0781651" cy="542760"/>
            </a:xfrm>
            <a:prstGeom prst="rect">
              <a:avLst/>
            </a:prstGeom>
          </p:spPr>
        </p:pic>
        <p:sp>
          <p:nvSpPr>
            <p:cNvPr id="2740" name="textbox 2740"/>
            <p:cNvSpPr/>
            <p:nvPr/>
          </p:nvSpPr>
          <p:spPr>
            <a:xfrm>
              <a:off x="-12700" y="-12700"/>
              <a:ext cx="10807065" cy="5810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721359" algn="l" rtl="0" eaLnBrk="0">
                <a:lnSpc>
                  <a:spcPct val="90000"/>
                </a:lnSpc>
                <a:spcBef>
                  <a:spcPts val="2"/>
                </a:spcBef>
                <a:tabLst/>
              </a:pPr>
              <a:r>
                <a:rPr sz="10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PLM</a:t>
              </a:r>
              <a:r>
                <a:rPr sz="1000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</a:t>
              </a:r>
              <a:r>
                <a:rPr sz="10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ERP</a:t>
              </a:r>
              <a:r>
                <a:rPr sz="1000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</a:t>
              </a:r>
              <a:r>
                <a:rPr sz="10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AFS</a:t>
              </a:r>
              <a:r>
                <a:rPr sz="1000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</a:t>
              </a:r>
              <a:r>
                <a:rPr sz="10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SRM</a:t>
              </a:r>
              <a:r>
                <a:rPr sz="1000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</a:t>
              </a:r>
              <a:r>
                <a:rPr sz="10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QMS</a:t>
              </a:r>
              <a:r>
                <a:rPr sz="1000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</a:t>
              </a:r>
              <a:r>
                <a:rPr sz="10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MES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marL="581025" algn="l" rtl="0" eaLnBrk="0">
                <a:lnSpc>
                  <a:spcPct val="98000"/>
                </a:lnSpc>
                <a:spcBef>
                  <a:spcPts val="115"/>
                </a:spcBef>
                <a:tabLst/>
              </a:pPr>
              <a:r>
                <a:rPr sz="10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样品进度                              库存水位                               排产变动                                物流轨迹                            </a:t>
              </a:r>
              <a:r>
                <a:rPr sz="1000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检验进度                                生产执行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742" name="textbox 2742"/>
          <p:cNvSpPr/>
          <p:nvPr/>
        </p:nvSpPr>
        <p:spPr>
          <a:xfrm>
            <a:off x="336969" y="347953"/>
            <a:ext cx="6689725" cy="908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生产备料-项目规划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spcBef>
                <a:spcPts val="3"/>
              </a:spcBef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项目分两期实施</a:t>
            </a:r>
            <a:r>
              <a:rPr sz="15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，备料平台17年11月上线；</a:t>
            </a:r>
            <a:r>
              <a:rPr sz="1500" kern="0" spc="-3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采购平台18年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4月上线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44" name="textbox 2744"/>
          <p:cNvSpPr/>
          <p:nvPr/>
        </p:nvSpPr>
        <p:spPr>
          <a:xfrm>
            <a:off x="659877" y="5839883"/>
            <a:ext cx="3354704" cy="8242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9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连通工厂与供应商</a:t>
            </a:r>
            <a:r>
              <a:rPr sz="13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，支持2-4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小时排产备料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4000"/>
              </a:lnSpc>
              <a:spcBef>
                <a:spcPts val="944"/>
              </a:spcBef>
              <a:tabLst/>
            </a:pP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线上月度计划、指导供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方排产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3"/>
              </a:spcBef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整体拉通</a:t>
            </a:r>
            <a:r>
              <a:rPr sz="13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，厂内厂外供应链全流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程可视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26" name="group 226"/>
          <p:cNvGrpSpPr/>
          <p:nvPr/>
        </p:nvGrpSpPr>
        <p:grpSpPr>
          <a:xfrm rot="21600000">
            <a:off x="5586983" y="3182264"/>
            <a:ext cx="4837265" cy="502767"/>
            <a:chOff x="0" y="0"/>
            <a:chExt cx="4837265" cy="502767"/>
          </a:xfrm>
        </p:grpSpPr>
        <p:pic>
          <p:nvPicPr>
            <p:cNvPr id="2746" name="picture 274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837265" cy="502767"/>
            </a:xfrm>
            <a:prstGeom prst="rect">
              <a:avLst/>
            </a:prstGeom>
          </p:spPr>
        </p:pic>
        <p:sp>
          <p:nvSpPr>
            <p:cNvPr id="2748" name="textbox 2748"/>
            <p:cNvSpPr/>
            <p:nvPr/>
          </p:nvSpPr>
          <p:spPr>
            <a:xfrm>
              <a:off x="-12700" y="-12700"/>
              <a:ext cx="4862829" cy="5283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6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43204" algn="l" rtl="0" eaLnBrk="0">
                <a:lnSpc>
                  <a:spcPts val="1736"/>
                </a:lnSpc>
                <a:spcBef>
                  <a:spcPts val="1"/>
                </a:spcBef>
                <a:tabLst/>
              </a:pP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齐套检讨          送货计划</a:t>
              </a:r>
              <a:r>
                <a:rPr sz="1300" kern="0" spc="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</a:t>
              </a: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送货通知</a:t>
              </a:r>
              <a:r>
                <a:rPr sz="1300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</a:t>
              </a: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调让/外协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750" name="picture 275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731886" y="4749"/>
              <a:ext cx="1278343" cy="208800"/>
            </a:xfrm>
            <a:prstGeom prst="rect">
              <a:avLst/>
            </a:prstGeom>
          </p:spPr>
        </p:pic>
      </p:grpSp>
      <p:pic>
        <p:nvPicPr>
          <p:cNvPr id="2752" name="picture 27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29412" y="2532710"/>
            <a:ext cx="829055" cy="2187117"/>
          </a:xfrm>
          <a:prstGeom prst="rect">
            <a:avLst/>
          </a:prstGeom>
        </p:spPr>
      </p:pic>
      <p:pic>
        <p:nvPicPr>
          <p:cNvPr id="2754" name="picture 27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125586" y="3080562"/>
            <a:ext cx="2507373" cy="632447"/>
          </a:xfrm>
          <a:prstGeom prst="rect">
            <a:avLst/>
          </a:prstGeom>
        </p:spPr>
      </p:pic>
      <p:sp>
        <p:nvSpPr>
          <p:cNvPr id="2756" name="textbox 2756"/>
          <p:cNvSpPr/>
          <p:nvPr/>
        </p:nvSpPr>
        <p:spPr>
          <a:xfrm>
            <a:off x="4537124" y="1857605"/>
            <a:ext cx="6841490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销 售 订 单         需 求 整 理         生 产 排 程          备 料 送 货        检 验 入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库          生 产 完 工         成 品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 货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28" name="group 228"/>
          <p:cNvGrpSpPr/>
          <p:nvPr/>
        </p:nvGrpSpPr>
        <p:grpSpPr>
          <a:xfrm rot="21600000">
            <a:off x="5290985" y="4172711"/>
            <a:ext cx="1371942" cy="353567"/>
            <a:chOff x="0" y="0"/>
            <a:chExt cx="1371942" cy="353567"/>
          </a:xfrm>
        </p:grpSpPr>
        <p:pic>
          <p:nvPicPr>
            <p:cNvPr id="2758" name="picture 275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1371942" cy="353567"/>
            </a:xfrm>
            <a:prstGeom prst="rect">
              <a:avLst/>
            </a:prstGeom>
          </p:spPr>
        </p:pic>
        <p:sp>
          <p:nvSpPr>
            <p:cNvPr id="2760" name="textbox 2760"/>
            <p:cNvSpPr/>
            <p:nvPr/>
          </p:nvSpPr>
          <p:spPr>
            <a:xfrm>
              <a:off x="-12700" y="-12700"/>
              <a:ext cx="1397635" cy="3968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59409" algn="l" rtl="0" eaLnBrk="0">
                <a:lnSpc>
                  <a:spcPct val="93000"/>
                </a:lnSpc>
                <a:spcBef>
                  <a:spcPts val="2"/>
                </a:spcBef>
                <a:tabLst/>
              </a:pP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信息拉通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2762" name="picture 27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319758" y="2731935"/>
            <a:ext cx="1371803" cy="350100"/>
          </a:xfrm>
          <a:prstGeom prst="rect">
            <a:avLst/>
          </a:prstGeom>
        </p:spPr>
      </p:pic>
      <p:pic>
        <p:nvPicPr>
          <p:cNvPr id="2764" name="picture 276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693835" y="2731935"/>
            <a:ext cx="1372196" cy="348639"/>
          </a:xfrm>
          <a:prstGeom prst="rect">
            <a:avLst/>
          </a:prstGeom>
        </p:spPr>
      </p:pic>
      <p:sp>
        <p:nvSpPr>
          <p:cNvPr id="2766" name="textbox 2766"/>
          <p:cNvSpPr/>
          <p:nvPr/>
        </p:nvSpPr>
        <p:spPr>
          <a:xfrm>
            <a:off x="970774" y="1659588"/>
            <a:ext cx="2731135" cy="173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销 售 预 测         物 料 计 划         采 购 计 划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30" name="group 230"/>
          <p:cNvGrpSpPr/>
          <p:nvPr/>
        </p:nvGrpSpPr>
        <p:grpSpPr>
          <a:xfrm rot="21600000">
            <a:off x="2811779" y="3712464"/>
            <a:ext cx="1133881" cy="318554"/>
            <a:chOff x="0" y="0"/>
            <a:chExt cx="1133881" cy="318554"/>
          </a:xfrm>
        </p:grpSpPr>
        <p:pic>
          <p:nvPicPr>
            <p:cNvPr id="2768" name="picture 276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1133881" cy="318554"/>
            </a:xfrm>
            <a:prstGeom prst="rect">
              <a:avLst/>
            </a:prstGeom>
          </p:spPr>
        </p:pic>
        <p:sp>
          <p:nvSpPr>
            <p:cNvPr id="2770" name="textbox 2770"/>
            <p:cNvSpPr/>
            <p:nvPr/>
          </p:nvSpPr>
          <p:spPr>
            <a:xfrm>
              <a:off x="-12700" y="-12700"/>
              <a:ext cx="1159510" cy="3613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41300" algn="l" rtl="0" eaLnBrk="0">
                <a:lnSpc>
                  <a:spcPct val="94000"/>
                </a:lnSpc>
                <a:spcBef>
                  <a:spcPts val="5"/>
                </a:spcBef>
                <a:tabLst/>
              </a:pP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订单变动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32" name="group 232"/>
          <p:cNvGrpSpPr/>
          <p:nvPr/>
        </p:nvGrpSpPr>
        <p:grpSpPr>
          <a:xfrm rot="21600000">
            <a:off x="4027932" y="3712464"/>
            <a:ext cx="1133855" cy="318554"/>
            <a:chOff x="0" y="0"/>
            <a:chExt cx="1133855" cy="318554"/>
          </a:xfrm>
        </p:grpSpPr>
        <p:pic>
          <p:nvPicPr>
            <p:cNvPr id="2772" name="picture 277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1133855" cy="318554"/>
            </a:xfrm>
            <a:prstGeom prst="rect">
              <a:avLst/>
            </a:prstGeom>
          </p:spPr>
        </p:pic>
        <p:sp>
          <p:nvSpPr>
            <p:cNvPr id="2774" name="textbox 2774"/>
            <p:cNvSpPr/>
            <p:nvPr/>
          </p:nvSpPr>
          <p:spPr>
            <a:xfrm>
              <a:off x="-12700" y="-12700"/>
              <a:ext cx="1159510" cy="3606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41300" algn="l" rtl="0" eaLnBrk="0">
                <a:lnSpc>
                  <a:spcPct val="93000"/>
                </a:lnSpc>
                <a:spcBef>
                  <a:spcPts val="3"/>
                </a:spcBef>
                <a:tabLst/>
              </a:pP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采购预测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34" name="group 234"/>
          <p:cNvGrpSpPr/>
          <p:nvPr/>
        </p:nvGrpSpPr>
        <p:grpSpPr>
          <a:xfrm rot="21600000">
            <a:off x="1597151" y="3712464"/>
            <a:ext cx="1132471" cy="318554"/>
            <a:chOff x="0" y="0"/>
            <a:chExt cx="1132471" cy="318554"/>
          </a:xfrm>
        </p:grpSpPr>
        <p:pic>
          <p:nvPicPr>
            <p:cNvPr id="2776" name="picture 277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1132471" cy="318554"/>
            </a:xfrm>
            <a:prstGeom prst="rect">
              <a:avLst/>
            </a:prstGeom>
          </p:spPr>
        </p:pic>
        <p:sp>
          <p:nvSpPr>
            <p:cNvPr id="2778" name="textbox 2778"/>
            <p:cNvSpPr/>
            <p:nvPr/>
          </p:nvSpPr>
          <p:spPr>
            <a:xfrm>
              <a:off x="-12700" y="-12700"/>
              <a:ext cx="1158239" cy="3619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40029" algn="l" rtl="0" eaLnBrk="0">
                <a:lnSpc>
                  <a:spcPct val="94000"/>
                </a:lnSpc>
                <a:spcBef>
                  <a:spcPts val="5"/>
                </a:spcBef>
                <a:tabLst/>
              </a:pP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订单下达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2780" name="picture 278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272539" y="1908073"/>
            <a:ext cx="2164346" cy="114300"/>
          </a:xfrm>
          <a:prstGeom prst="rect">
            <a:avLst/>
          </a:prstGeom>
        </p:spPr>
      </p:pic>
      <p:sp>
        <p:nvSpPr>
          <p:cNvPr id="2782" name="textbox 2782"/>
          <p:cNvSpPr/>
          <p:nvPr/>
        </p:nvSpPr>
        <p:spPr>
          <a:xfrm>
            <a:off x="924942" y="3063042"/>
            <a:ext cx="220979" cy="140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813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300" b="1" kern="0" spc="-1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</a:t>
            </a:r>
            <a:r>
              <a:rPr sz="1300" b="1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3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体</a:t>
            </a:r>
            <a:r>
              <a:rPr sz="1300" b="1" kern="0" spc="-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 采</a:t>
            </a:r>
            <a:r>
              <a:rPr sz="1300" b="1" kern="0" spc="-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购</a:t>
            </a:r>
            <a:r>
              <a:rPr sz="1300" b="1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</a:t>
            </a:r>
            <a:r>
              <a:rPr sz="1300" b="1" kern="0" spc="-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b="1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台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84" name="textbox 2784"/>
          <p:cNvSpPr/>
          <p:nvPr/>
        </p:nvSpPr>
        <p:spPr>
          <a:xfrm>
            <a:off x="7652960" y="2805396"/>
            <a:ext cx="706755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3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备料平台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86" name="textbox 2786"/>
          <p:cNvSpPr/>
          <p:nvPr/>
        </p:nvSpPr>
        <p:spPr>
          <a:xfrm>
            <a:off x="3028668" y="2805001"/>
            <a:ext cx="704850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3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采购平台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788" name="picture 278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3277171" y="2139658"/>
            <a:ext cx="205130" cy="557999"/>
          </a:xfrm>
          <a:prstGeom prst="rect">
            <a:avLst/>
          </a:prstGeom>
        </p:spPr>
      </p:pic>
      <p:pic>
        <p:nvPicPr>
          <p:cNvPr id="2790" name="picture 279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7909724" y="2401532"/>
            <a:ext cx="205130" cy="296125"/>
          </a:xfrm>
          <a:prstGeom prst="rect">
            <a:avLst/>
          </a:prstGeom>
        </p:spPr>
      </p:pic>
      <p:pic>
        <p:nvPicPr>
          <p:cNvPr id="2792" name="picture 279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5874219" y="4624031"/>
            <a:ext cx="205130" cy="296125"/>
          </a:xfrm>
          <a:prstGeom prst="rect">
            <a:avLst/>
          </a:prstGeom>
        </p:spPr>
      </p:pic>
      <p:sp>
        <p:nvSpPr>
          <p:cNvPr id="2794" name="textbox 2794"/>
          <p:cNvSpPr/>
          <p:nvPr/>
        </p:nvSpPr>
        <p:spPr>
          <a:xfrm>
            <a:off x="868343" y="2787052"/>
            <a:ext cx="360679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400" b="1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SCP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796" name="picture 279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4869751" y="2170645"/>
            <a:ext cx="6186512" cy="7620"/>
          </a:xfrm>
          <a:prstGeom prst="rect">
            <a:avLst/>
          </a:prstGeom>
        </p:spPr>
      </p:pic>
      <p:sp>
        <p:nvSpPr>
          <p:cNvPr id="2798" name="path 2798"/>
          <p:cNvSpPr/>
          <p:nvPr/>
        </p:nvSpPr>
        <p:spPr>
          <a:xfrm>
            <a:off x="4837175" y="2117305"/>
            <a:ext cx="114858" cy="114312"/>
          </a:xfrm>
          <a:custGeom>
            <a:avLst/>
            <a:gdLst/>
            <a:ahLst/>
            <a:cxnLst/>
            <a:rect l="0" t="0" r="0" b="0"/>
            <a:pathLst>
              <a:path w="180" h="180">
                <a:moveTo>
                  <a:pt x="0" y="90"/>
                </a:moveTo>
                <a:cubicBezTo>
                  <a:pt x="0" y="40"/>
                  <a:pt x="41" y="0"/>
                  <a:pt x="90" y="0"/>
                </a:cubicBezTo>
                <a:cubicBezTo>
                  <a:pt x="140" y="0"/>
                  <a:pt x="180" y="40"/>
                  <a:pt x="180" y="90"/>
                </a:cubicBezTo>
                <a:cubicBezTo>
                  <a:pt x="180" y="139"/>
                  <a:pt x="140" y="180"/>
                  <a:pt x="90" y="180"/>
                </a:cubicBezTo>
                <a:cubicBezTo>
                  <a:pt x="41" y="180"/>
                  <a:pt x="0" y="139"/>
                  <a:pt x="0" y="90"/>
                </a:cubicBezTo>
              </a:path>
            </a:pathLst>
          </a:custGeom>
          <a:solidFill>
            <a:srgbClr val="3E82F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00" name="path 2800"/>
          <p:cNvSpPr/>
          <p:nvPr/>
        </p:nvSpPr>
        <p:spPr>
          <a:xfrm>
            <a:off x="10998707" y="2117305"/>
            <a:ext cx="114719" cy="114312"/>
          </a:xfrm>
          <a:custGeom>
            <a:avLst/>
            <a:gdLst/>
            <a:ahLst/>
            <a:cxnLst/>
            <a:rect l="0" t="0" r="0" b="0"/>
            <a:pathLst>
              <a:path w="180" h="180">
                <a:moveTo>
                  <a:pt x="0" y="90"/>
                </a:moveTo>
                <a:cubicBezTo>
                  <a:pt x="0" y="40"/>
                  <a:pt x="40" y="0"/>
                  <a:pt x="90" y="0"/>
                </a:cubicBezTo>
                <a:cubicBezTo>
                  <a:pt x="140" y="0"/>
                  <a:pt x="180" y="40"/>
                  <a:pt x="180" y="90"/>
                </a:cubicBezTo>
                <a:cubicBezTo>
                  <a:pt x="180" y="139"/>
                  <a:pt x="140" y="180"/>
                  <a:pt x="90" y="180"/>
                </a:cubicBezTo>
                <a:cubicBezTo>
                  <a:pt x="40" y="180"/>
                  <a:pt x="0" y="139"/>
                  <a:pt x="0" y="90"/>
                </a:cubicBezTo>
              </a:path>
            </a:pathLst>
          </a:custGeom>
          <a:solidFill>
            <a:srgbClr val="3E82F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02" name="path 2802"/>
          <p:cNvSpPr/>
          <p:nvPr/>
        </p:nvSpPr>
        <p:spPr>
          <a:xfrm>
            <a:off x="7952231" y="2117305"/>
            <a:ext cx="114413" cy="114312"/>
          </a:xfrm>
          <a:custGeom>
            <a:avLst/>
            <a:gdLst/>
            <a:ahLst/>
            <a:cxnLst/>
            <a:rect l="0" t="0" r="0" b="0"/>
            <a:pathLst>
              <a:path w="180" h="180">
                <a:moveTo>
                  <a:pt x="0" y="90"/>
                </a:moveTo>
                <a:cubicBezTo>
                  <a:pt x="0" y="40"/>
                  <a:pt x="40" y="0"/>
                  <a:pt x="90" y="0"/>
                </a:cubicBezTo>
                <a:cubicBezTo>
                  <a:pt x="139" y="0"/>
                  <a:pt x="180" y="40"/>
                  <a:pt x="180" y="90"/>
                </a:cubicBezTo>
                <a:cubicBezTo>
                  <a:pt x="180" y="139"/>
                  <a:pt x="139" y="180"/>
                  <a:pt x="90" y="180"/>
                </a:cubicBezTo>
                <a:cubicBezTo>
                  <a:pt x="40" y="180"/>
                  <a:pt x="0" y="139"/>
                  <a:pt x="0" y="90"/>
                </a:cubicBezTo>
              </a:path>
            </a:pathLst>
          </a:custGeom>
          <a:solidFill>
            <a:srgbClr val="FF93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04" name="path 2804"/>
          <p:cNvSpPr/>
          <p:nvPr/>
        </p:nvSpPr>
        <p:spPr>
          <a:xfrm>
            <a:off x="5862535" y="2117305"/>
            <a:ext cx="114300" cy="114312"/>
          </a:xfrm>
          <a:custGeom>
            <a:avLst/>
            <a:gdLst/>
            <a:ahLst/>
            <a:cxnLst/>
            <a:rect l="0" t="0" r="0" b="0"/>
            <a:pathLst>
              <a:path w="180" h="180">
                <a:moveTo>
                  <a:pt x="0" y="90"/>
                </a:moveTo>
                <a:cubicBezTo>
                  <a:pt x="0" y="40"/>
                  <a:pt x="40" y="0"/>
                  <a:pt x="90" y="0"/>
                </a:cubicBezTo>
                <a:cubicBezTo>
                  <a:pt x="139" y="0"/>
                  <a:pt x="180" y="40"/>
                  <a:pt x="180" y="90"/>
                </a:cubicBezTo>
                <a:cubicBezTo>
                  <a:pt x="180" y="139"/>
                  <a:pt x="139" y="180"/>
                  <a:pt x="90" y="180"/>
                </a:cubicBezTo>
                <a:cubicBezTo>
                  <a:pt x="40" y="180"/>
                  <a:pt x="0" y="139"/>
                  <a:pt x="0" y="90"/>
                </a:cubicBezTo>
              </a:path>
            </a:pathLst>
          </a:custGeom>
          <a:solidFill>
            <a:srgbClr val="3E82F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06" name="path 2806"/>
          <p:cNvSpPr/>
          <p:nvPr/>
        </p:nvSpPr>
        <p:spPr>
          <a:xfrm>
            <a:off x="6892582" y="2117305"/>
            <a:ext cx="114300" cy="114312"/>
          </a:xfrm>
          <a:custGeom>
            <a:avLst/>
            <a:gdLst/>
            <a:ahLst/>
            <a:cxnLst/>
            <a:rect l="0" t="0" r="0" b="0"/>
            <a:pathLst>
              <a:path w="180" h="180">
                <a:moveTo>
                  <a:pt x="0" y="90"/>
                </a:moveTo>
                <a:cubicBezTo>
                  <a:pt x="0" y="40"/>
                  <a:pt x="40" y="0"/>
                  <a:pt x="90" y="0"/>
                </a:cubicBezTo>
                <a:cubicBezTo>
                  <a:pt x="139" y="0"/>
                  <a:pt x="180" y="40"/>
                  <a:pt x="180" y="90"/>
                </a:cubicBezTo>
                <a:cubicBezTo>
                  <a:pt x="180" y="139"/>
                  <a:pt x="139" y="180"/>
                  <a:pt x="90" y="180"/>
                </a:cubicBezTo>
                <a:cubicBezTo>
                  <a:pt x="40" y="180"/>
                  <a:pt x="0" y="139"/>
                  <a:pt x="0" y="90"/>
                </a:cubicBezTo>
              </a:path>
            </a:pathLst>
          </a:custGeom>
          <a:solidFill>
            <a:srgbClr val="3E82F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08" name="path 2808"/>
          <p:cNvSpPr/>
          <p:nvPr/>
        </p:nvSpPr>
        <p:spPr>
          <a:xfrm>
            <a:off x="8945854" y="2117305"/>
            <a:ext cx="114300" cy="114312"/>
          </a:xfrm>
          <a:custGeom>
            <a:avLst/>
            <a:gdLst/>
            <a:ahLst/>
            <a:cxnLst/>
            <a:rect l="0" t="0" r="0" b="0"/>
            <a:pathLst>
              <a:path w="180" h="180">
                <a:moveTo>
                  <a:pt x="0" y="90"/>
                </a:moveTo>
                <a:cubicBezTo>
                  <a:pt x="0" y="40"/>
                  <a:pt x="40" y="0"/>
                  <a:pt x="90" y="0"/>
                </a:cubicBezTo>
                <a:cubicBezTo>
                  <a:pt x="139" y="0"/>
                  <a:pt x="180" y="40"/>
                  <a:pt x="180" y="90"/>
                </a:cubicBezTo>
                <a:cubicBezTo>
                  <a:pt x="180" y="139"/>
                  <a:pt x="139" y="180"/>
                  <a:pt x="90" y="180"/>
                </a:cubicBezTo>
                <a:cubicBezTo>
                  <a:pt x="40" y="180"/>
                  <a:pt x="0" y="139"/>
                  <a:pt x="0" y="90"/>
                </a:cubicBezTo>
              </a:path>
            </a:pathLst>
          </a:custGeom>
          <a:solidFill>
            <a:srgbClr val="3E82F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10" name="path 2810"/>
          <p:cNvSpPr/>
          <p:nvPr/>
        </p:nvSpPr>
        <p:spPr>
          <a:xfrm>
            <a:off x="9972485" y="2117305"/>
            <a:ext cx="114300" cy="114312"/>
          </a:xfrm>
          <a:custGeom>
            <a:avLst/>
            <a:gdLst/>
            <a:ahLst/>
            <a:cxnLst/>
            <a:rect l="0" t="0" r="0" b="0"/>
            <a:pathLst>
              <a:path w="180" h="180">
                <a:moveTo>
                  <a:pt x="0" y="90"/>
                </a:moveTo>
                <a:cubicBezTo>
                  <a:pt x="0" y="40"/>
                  <a:pt x="40" y="0"/>
                  <a:pt x="90" y="0"/>
                </a:cubicBezTo>
                <a:cubicBezTo>
                  <a:pt x="139" y="0"/>
                  <a:pt x="180" y="40"/>
                  <a:pt x="180" y="90"/>
                </a:cubicBezTo>
                <a:cubicBezTo>
                  <a:pt x="180" y="139"/>
                  <a:pt x="139" y="180"/>
                  <a:pt x="90" y="180"/>
                </a:cubicBezTo>
                <a:cubicBezTo>
                  <a:pt x="40" y="180"/>
                  <a:pt x="0" y="139"/>
                  <a:pt x="0" y="90"/>
                </a:cubicBezTo>
              </a:path>
            </a:pathLst>
          </a:custGeom>
          <a:solidFill>
            <a:srgbClr val="3E82F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812" name="picture 281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7997723" y="3082035"/>
            <a:ext cx="15875" cy="10678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4" name="textbox 2814"/>
          <p:cNvSpPr/>
          <p:nvPr/>
        </p:nvSpPr>
        <p:spPr>
          <a:xfrm>
            <a:off x="709355" y="1349686"/>
            <a:ext cx="4839970" cy="4403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2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57375" algn="l" rtl="0" eaLnBrk="0">
              <a:lnSpc>
                <a:spcPct val="94000"/>
              </a:lnSpc>
              <a:tabLst/>
            </a:pP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业务变革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7345" indent="-334645" algn="l" rtl="0" eaLnBrk="0">
              <a:lnSpc>
                <a:spcPct val="127000"/>
              </a:lnSpc>
              <a:spcBef>
                <a:spcPts val="425"/>
              </a:spcBef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推动作业备料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对前端排产发布和后端库存拉动能够快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速响应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21"/>
              </a:spcBef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加强物料器具、送货标签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的标准化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431"/>
              </a:spcBef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物流端供方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配发货的全面推广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，拉动供方库存和物流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22"/>
              </a:spcBef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培养核心供应商的信息化建设</a:t>
            </a:r>
            <a:r>
              <a:rPr sz="14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，协同排产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，精准配送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63550" indent="-450850" algn="l" rtl="0" eaLnBrk="0">
              <a:lnSpc>
                <a:spcPct val="134000"/>
              </a:lnSpc>
              <a:spcBef>
                <a:spcPts val="427"/>
              </a:spcBef>
              <a:tabLst/>
            </a:pP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梳理订单、</a:t>
            </a:r>
            <a:r>
              <a:rPr sz="1400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配送管理规范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，承诺/拒绝线上交互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，对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“僵尸”指令及时清理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46075" indent="-333375" algn="l" rtl="0" eaLnBrk="0">
              <a:lnSpc>
                <a:spcPct val="126000"/>
              </a:lnSpc>
              <a:spcBef>
                <a:spcPts val="3"/>
              </a:spcBef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杜绝未试用评价就大货采购</a:t>
            </a:r>
            <a:r>
              <a:rPr sz="14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，加强管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，规避呆滞和品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质风险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16" name="picture 28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33793" y="2773146"/>
            <a:ext cx="3976891" cy="2731439"/>
          </a:xfrm>
          <a:prstGeom prst="rect">
            <a:avLst/>
          </a:prstGeom>
        </p:spPr>
      </p:pic>
      <p:grpSp>
        <p:nvGrpSpPr>
          <p:cNvPr id="236" name="group 236"/>
          <p:cNvGrpSpPr/>
          <p:nvPr/>
        </p:nvGrpSpPr>
        <p:grpSpPr>
          <a:xfrm rot="21600000">
            <a:off x="10151364" y="3292818"/>
            <a:ext cx="1440383" cy="1440014"/>
            <a:chOff x="0" y="0"/>
            <a:chExt cx="1440383" cy="1440014"/>
          </a:xfrm>
        </p:grpSpPr>
        <p:pic>
          <p:nvPicPr>
            <p:cNvPr id="2818" name="picture 28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440383" cy="1440014"/>
            </a:xfrm>
            <a:prstGeom prst="rect">
              <a:avLst/>
            </a:prstGeom>
          </p:spPr>
        </p:pic>
        <p:sp>
          <p:nvSpPr>
            <p:cNvPr id="2820" name="textbox 2820"/>
            <p:cNvSpPr/>
            <p:nvPr/>
          </p:nvSpPr>
          <p:spPr>
            <a:xfrm>
              <a:off x="-12700" y="-12700"/>
              <a:ext cx="1466214" cy="14655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65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59105" algn="l" rtl="0" eaLnBrk="0">
                <a:lnSpc>
                  <a:spcPct val="85000"/>
                </a:lnSpc>
                <a:tabLst/>
              </a:pP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GPS</a:t>
              </a:r>
              <a:r>
                <a:rPr sz="1300" kern="0" spc="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定位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  <a:p>
              <a:pPr marL="454025" algn="l" rtl="0" eaLnBrk="0">
                <a:lnSpc>
                  <a:spcPts val="1902"/>
                </a:lnSpc>
                <a:tabLst/>
              </a:pP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监控厂外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38" name="group 238"/>
          <p:cNvGrpSpPr/>
          <p:nvPr/>
        </p:nvGrpSpPr>
        <p:grpSpPr>
          <a:xfrm rot="21600000">
            <a:off x="8302752" y="2004961"/>
            <a:ext cx="1438491" cy="1440002"/>
            <a:chOff x="0" y="0"/>
            <a:chExt cx="1438491" cy="1440002"/>
          </a:xfrm>
        </p:grpSpPr>
        <p:pic>
          <p:nvPicPr>
            <p:cNvPr id="2822" name="picture 28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438491" cy="1440002"/>
            </a:xfrm>
            <a:prstGeom prst="rect">
              <a:avLst/>
            </a:prstGeom>
          </p:spPr>
        </p:pic>
        <p:sp>
          <p:nvSpPr>
            <p:cNvPr id="2824" name="textbox 2824"/>
            <p:cNvSpPr/>
            <p:nvPr/>
          </p:nvSpPr>
          <p:spPr>
            <a:xfrm>
              <a:off x="-12700" y="-12700"/>
              <a:ext cx="1464310" cy="14655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89254" algn="l" rtl="0" eaLnBrk="0">
                <a:lnSpc>
                  <a:spcPct val="86000"/>
                </a:lnSpc>
                <a:spcBef>
                  <a:spcPts val="7"/>
                </a:spcBef>
                <a:tabLst/>
              </a:pP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恰时备料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  <a:p>
              <a:pPr marL="390525" algn="l" rtl="0" eaLnBrk="0">
                <a:lnSpc>
                  <a:spcPts val="1902"/>
                </a:lnSpc>
                <a:tabLst/>
              </a:pP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减少积压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40" name="group 240"/>
          <p:cNvGrpSpPr/>
          <p:nvPr/>
        </p:nvGrpSpPr>
        <p:grpSpPr>
          <a:xfrm rot="21600000">
            <a:off x="6452615" y="3292818"/>
            <a:ext cx="1438097" cy="1440014"/>
            <a:chOff x="0" y="0"/>
            <a:chExt cx="1438097" cy="1440014"/>
          </a:xfrm>
        </p:grpSpPr>
        <p:pic>
          <p:nvPicPr>
            <p:cNvPr id="2826" name="picture 282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438097" cy="1440014"/>
            </a:xfrm>
            <a:prstGeom prst="rect">
              <a:avLst/>
            </a:prstGeom>
          </p:spPr>
        </p:pic>
        <p:sp>
          <p:nvSpPr>
            <p:cNvPr id="2828" name="textbox 2828"/>
            <p:cNvSpPr/>
            <p:nvPr/>
          </p:nvSpPr>
          <p:spPr>
            <a:xfrm>
              <a:off x="-12700" y="-12700"/>
              <a:ext cx="1463675" cy="14655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94970" algn="l" rtl="0" eaLnBrk="0">
                <a:lnSpc>
                  <a:spcPct val="85000"/>
                </a:lnSpc>
                <a:spcBef>
                  <a:spcPts val="4"/>
                </a:spcBef>
                <a:tabLst/>
              </a:pP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齐套预警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  <a:p>
              <a:pPr marL="393065" algn="l" rtl="0" eaLnBrk="0">
                <a:lnSpc>
                  <a:spcPts val="1898"/>
                </a:lnSpc>
                <a:tabLst/>
              </a:pP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厂内跟踪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42" name="group 242"/>
          <p:cNvGrpSpPr/>
          <p:nvPr/>
        </p:nvGrpSpPr>
        <p:grpSpPr>
          <a:xfrm rot="21600000">
            <a:off x="8358453" y="4559096"/>
            <a:ext cx="1438047" cy="1440002"/>
            <a:chOff x="0" y="0"/>
            <a:chExt cx="1438047" cy="1440002"/>
          </a:xfrm>
        </p:grpSpPr>
        <p:pic>
          <p:nvPicPr>
            <p:cNvPr id="2830" name="picture 283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438047" cy="1440002"/>
            </a:xfrm>
            <a:prstGeom prst="rect">
              <a:avLst/>
            </a:prstGeom>
          </p:spPr>
        </p:pic>
        <p:sp>
          <p:nvSpPr>
            <p:cNvPr id="2832" name="textbox 2832"/>
            <p:cNvSpPr/>
            <p:nvPr/>
          </p:nvSpPr>
          <p:spPr>
            <a:xfrm>
              <a:off x="-12700" y="-12700"/>
              <a:ext cx="1463675" cy="14655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73379" algn="l" rtl="0" eaLnBrk="0">
                <a:lnSpc>
                  <a:spcPct val="85000"/>
                </a:lnSpc>
                <a:spcBef>
                  <a:spcPts val="6"/>
                </a:spcBef>
                <a:tabLst/>
              </a:pP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协同排产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  <a:p>
              <a:pPr marL="372745" algn="l" rtl="0" eaLnBrk="0">
                <a:lnSpc>
                  <a:spcPts val="1903"/>
                </a:lnSpc>
                <a:tabLst/>
              </a:pP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精准配送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834" name="textbox 2834"/>
          <p:cNvSpPr/>
          <p:nvPr/>
        </p:nvSpPr>
        <p:spPr>
          <a:xfrm>
            <a:off x="336972" y="347953"/>
            <a:ext cx="2879089" cy="393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生产备料-业务变革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36" name="textbox 2836"/>
          <p:cNvSpPr/>
          <p:nvPr/>
        </p:nvSpPr>
        <p:spPr>
          <a:xfrm>
            <a:off x="8535991" y="1344822"/>
            <a:ext cx="970914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2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业务价值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38" name="path 2838"/>
          <p:cNvSpPr/>
          <p:nvPr/>
        </p:nvSpPr>
        <p:spPr>
          <a:xfrm>
            <a:off x="6202679" y="1112520"/>
            <a:ext cx="5638800" cy="5447487"/>
          </a:xfrm>
          <a:custGeom>
            <a:avLst/>
            <a:gdLst/>
            <a:ahLst/>
            <a:cxnLst/>
            <a:rect l="0" t="0" r="0" b="0"/>
            <a:pathLst>
              <a:path w="8880" h="8578">
                <a:moveTo>
                  <a:pt x="0" y="208"/>
                </a:moveTo>
                <a:moveTo>
                  <a:pt x="0" y="208"/>
                </a:moveTo>
                <a:cubicBezTo>
                  <a:pt x="0" y="93"/>
                  <a:pt x="94" y="0"/>
                  <a:pt x="208" y="0"/>
                </a:cubicBezTo>
                <a:lnTo>
                  <a:pt x="8671" y="0"/>
                </a:lnTo>
                <a:cubicBezTo>
                  <a:pt x="8786" y="0"/>
                  <a:pt x="8879" y="93"/>
                  <a:pt x="8880" y="208"/>
                </a:cubicBezTo>
                <a:lnTo>
                  <a:pt x="8880" y="8371"/>
                </a:lnTo>
                <a:cubicBezTo>
                  <a:pt x="8879" y="8485"/>
                  <a:pt x="8786" y="8578"/>
                  <a:pt x="8671" y="8577"/>
                </a:cubicBezTo>
                <a:lnTo>
                  <a:pt x="208" y="8577"/>
                </a:lnTo>
                <a:cubicBezTo>
                  <a:pt x="94" y="8578"/>
                  <a:pt x="0" y="8485"/>
                  <a:pt x="0" y="8371"/>
                </a:cubicBezTo>
                <a:lnTo>
                  <a:pt x="0" y="208"/>
                </a:lnTo>
              </a:path>
            </a:pathLst>
          </a:custGeom>
          <a:solidFill>
            <a:srgbClr val="3E82F9">
              <a:alpha val="509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40" name="path 2840"/>
          <p:cNvSpPr/>
          <p:nvPr/>
        </p:nvSpPr>
        <p:spPr>
          <a:xfrm>
            <a:off x="320040" y="1154963"/>
            <a:ext cx="5638800" cy="5119839"/>
          </a:xfrm>
          <a:custGeom>
            <a:avLst/>
            <a:gdLst/>
            <a:ahLst/>
            <a:cxnLst/>
            <a:rect l="0" t="0" r="0" b="0"/>
            <a:pathLst>
              <a:path w="8880" h="8062">
                <a:moveTo>
                  <a:pt x="0" y="194"/>
                </a:moveTo>
                <a:moveTo>
                  <a:pt x="0" y="194"/>
                </a:moveTo>
                <a:cubicBezTo>
                  <a:pt x="1" y="87"/>
                  <a:pt x="88" y="0"/>
                  <a:pt x="196" y="0"/>
                </a:cubicBezTo>
                <a:lnTo>
                  <a:pt x="8683" y="0"/>
                </a:lnTo>
                <a:cubicBezTo>
                  <a:pt x="8792" y="0"/>
                  <a:pt x="8879" y="87"/>
                  <a:pt x="8880" y="194"/>
                </a:cubicBezTo>
                <a:lnTo>
                  <a:pt x="8880" y="7867"/>
                </a:lnTo>
                <a:cubicBezTo>
                  <a:pt x="8879" y="7975"/>
                  <a:pt x="8792" y="8062"/>
                  <a:pt x="8683" y="8061"/>
                </a:cubicBezTo>
                <a:lnTo>
                  <a:pt x="196" y="8061"/>
                </a:lnTo>
                <a:cubicBezTo>
                  <a:pt x="88" y="8062"/>
                  <a:pt x="1" y="7975"/>
                  <a:pt x="0" y="7867"/>
                </a:cubicBezTo>
                <a:lnTo>
                  <a:pt x="0" y="194"/>
                </a:lnTo>
              </a:path>
            </a:pathLst>
          </a:custGeom>
          <a:solidFill>
            <a:srgbClr val="3E82F9">
              <a:alpha val="509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42" name="table 2842"/>
          <p:cNvGraphicFramePr>
            <a:graphicFrameLocks noGrp="1"/>
          </p:cNvGraphicFramePr>
          <p:nvPr/>
        </p:nvGraphicFramePr>
        <p:xfrm>
          <a:off x="408406" y="1193977"/>
          <a:ext cx="11313794" cy="4907915"/>
        </p:xfrm>
        <a:graphic>
          <a:graphicData uri="http://schemas.openxmlformats.org/drawingml/2006/table">
            <a:tbl>
              <a:tblPr/>
              <a:tblGrid>
                <a:gridCol w="3724909"/>
                <a:gridCol w="4707254"/>
                <a:gridCol w="1270635"/>
                <a:gridCol w="1610995"/>
              </a:tblGrid>
              <a:tr h="5816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55419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业务变革点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84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26920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关键任务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84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0525" algn="l" rtl="0" eaLnBrk="0">
                        <a:lnSpc>
                          <a:spcPct val="9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84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5615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完成时间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84D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844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供应商库存管理变革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4" indent="3810" algn="l" rtl="0" eaLnBrk="0">
                        <a:lnSpc>
                          <a:spcPct val="15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改善线下报库存</a:t>
                      </a:r>
                      <a:r>
                        <a:rPr sz="1200" kern="0" spc="-16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，有</a:t>
                      </a:r>
                      <a:r>
                        <a:rPr sz="1200" kern="0" spc="8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约束机制</a:t>
                      </a:r>
                      <a:r>
                        <a:rPr sz="1200" kern="0" spc="-15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，供应商在供方平台按规则录入库</a:t>
                      </a:r>
                      <a:r>
                        <a:rPr sz="1200" kern="0" spc="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7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3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209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物料试用改善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增加试用的订单数量风险控制</a:t>
                      </a:r>
                      <a:r>
                        <a:rPr sz="1200" kern="0" spc="-15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-20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品质防错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844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供货比例制定和变更规范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4" indent="-635" algn="l" rtl="0" eaLnBrk="0">
                        <a:lnSpc>
                          <a:spcPct val="15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供货比例制定、</a:t>
                      </a:r>
                      <a:r>
                        <a:rPr sz="1200" kern="0" spc="-16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变革和考核的时间约定</a:t>
                      </a:r>
                      <a:r>
                        <a:rPr sz="1200" kern="0" spc="-15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-23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以保证制定和考核的信</a:t>
                      </a:r>
                      <a:r>
                        <a:rPr sz="1200" kern="0" spc="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9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息对称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25" algn="l" rtl="0" eaLnBrk="0">
                        <a:lnSpc>
                          <a:spcPct val="9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月度计划、</a:t>
                      </a:r>
                      <a:r>
                        <a:rPr sz="1200" kern="0" spc="-24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双周计划线上制定</a:t>
                      </a:r>
                      <a:r>
                        <a:rPr sz="1200" kern="0" spc="8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和发布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28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固化月度计划、</a:t>
                      </a:r>
                      <a:r>
                        <a:rPr sz="1200" kern="0" spc="-24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双周计划</a:t>
                      </a:r>
                      <a:r>
                        <a:rPr sz="1200" kern="0" spc="8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的格式和规则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750" algn="l" rtl="0" eaLnBrk="0">
                        <a:lnSpc>
                          <a:spcPts val="1671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线下拒绝导致采购/供应链信息不对称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" indent="-2540" algn="l" rtl="0" eaLnBrk="0">
                        <a:lnSpc>
                          <a:spcPct val="15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供应链配套制定规则和发文</a:t>
                      </a:r>
                      <a:r>
                        <a:rPr sz="1200" kern="0" spc="-15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，在既定周期、</a:t>
                      </a:r>
                      <a:r>
                        <a:rPr sz="1200" kern="0" spc="-23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产能下</a:t>
                      </a:r>
                      <a:r>
                        <a:rPr sz="1200" kern="0" spc="-16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，线上拒绝订</a:t>
                      </a:r>
                      <a:r>
                        <a:rPr sz="1200" kern="0" spc="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5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3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750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接收后提示供方未填报检单退货</a:t>
                      </a:r>
                      <a:r>
                        <a:rPr sz="1200" kern="0" spc="-16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，重新打</a:t>
                      </a:r>
                      <a:r>
                        <a:rPr sz="1200" kern="0" spc="8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单入库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1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品质要求供应商及时报检验报告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42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844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供方资源梳理机制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4" indent="-635" algn="l" rtl="0" eaLnBrk="0">
                        <a:lnSpc>
                          <a:spcPct val="152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梳理供应商可供品类、</a:t>
                      </a:r>
                      <a:r>
                        <a:rPr sz="1200" kern="0" spc="-18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产能、</a:t>
                      </a:r>
                      <a:r>
                        <a:rPr sz="1200" kern="0" spc="-13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区域、</a:t>
                      </a:r>
                      <a:r>
                        <a:rPr sz="1200" kern="0" spc="-23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红黄牌等阶段状态的周期和</a:t>
                      </a:r>
                      <a:r>
                        <a:rPr sz="1200" kern="0" spc="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</a:t>
                      </a:r>
                      <a:r>
                        <a:rPr sz="1200" kern="0" spc="7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</a:t>
                      </a:r>
                      <a:r>
                        <a:rPr sz="1200" kern="0" spc="-9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，保障供货量、</a:t>
                      </a:r>
                      <a:r>
                        <a:rPr sz="1200" kern="0" spc="-21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D0D0D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配合度和品质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1F9"/>
                    </a:solidFill>
                  </a:tcPr>
                </a:tc>
              </a:tr>
            </a:tbl>
          </a:graphicData>
        </a:graphic>
      </p:graphicFrame>
      <p:sp>
        <p:nvSpPr>
          <p:cNvPr id="2844" name="textbox 2844"/>
          <p:cNvSpPr/>
          <p:nvPr/>
        </p:nvSpPr>
        <p:spPr>
          <a:xfrm>
            <a:off x="336969" y="347953"/>
            <a:ext cx="3070225" cy="393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6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生产备料业务变革点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" name="rect 2846"/>
          <p:cNvSpPr/>
          <p:nvPr/>
        </p:nvSpPr>
        <p:spPr>
          <a:xfrm>
            <a:off x="2206066" y="1481328"/>
            <a:ext cx="9208693" cy="3323843"/>
          </a:xfrm>
          <a:prstGeom prst="rect">
            <a:avLst/>
          </a:prstGeom>
          <a:solidFill>
            <a:srgbClr val="3E82F9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48" name="textbox 2848"/>
          <p:cNvSpPr/>
          <p:nvPr/>
        </p:nvSpPr>
        <p:spPr>
          <a:xfrm>
            <a:off x="401970" y="5170678"/>
            <a:ext cx="6404609" cy="1035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6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项目目标：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30480" algn="l" rtl="0" eaLnBrk="0">
              <a:lnSpc>
                <a:spcPct val="96000"/>
              </a:lnSpc>
              <a:spcBef>
                <a:spcPts val="527"/>
              </a:spcBef>
              <a:tabLst/>
            </a:pPr>
            <a:r>
              <a:rPr sz="1400" kern="0" spc="5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1.现有总装</a:t>
            </a:r>
            <a:r>
              <a:rPr sz="1400" kern="0" spc="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MES</a:t>
            </a:r>
            <a:r>
              <a:rPr sz="1400" kern="0" spc="5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功能应用提升</a:t>
            </a:r>
            <a:r>
              <a:rPr sz="1400" kern="0" spc="-15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：包括入场物流</a:t>
            </a:r>
            <a:r>
              <a:rPr sz="1400" kern="0" spc="-20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，过程品质控制</a:t>
            </a:r>
            <a:r>
              <a:rPr sz="1400" kern="0" spc="-19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，库存管理；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24129" indent="-1905" algn="l" rtl="0" eaLnBrk="0">
              <a:lnSpc>
                <a:spcPct val="115000"/>
              </a:lnSpc>
              <a:spcBef>
                <a:spcPts val="366"/>
              </a:spcBef>
              <a:tabLst/>
            </a:pPr>
            <a:r>
              <a:rPr sz="1400" kern="0" spc="4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2.注塑</a:t>
            </a:r>
            <a:r>
              <a:rPr sz="1400" kern="0" spc="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MES</a:t>
            </a:r>
            <a:r>
              <a:rPr sz="1400" kern="0" spc="-13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400" kern="0" spc="-28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电子</a:t>
            </a:r>
            <a:r>
              <a:rPr sz="1400" kern="0" spc="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MES</a:t>
            </a:r>
            <a:r>
              <a:rPr sz="1400" kern="0" spc="4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推广实施；增加报表看板</a:t>
            </a:r>
            <a:r>
              <a:rPr sz="1400" kern="0" spc="-19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，移动化</a:t>
            </a:r>
            <a:r>
              <a:rPr sz="1400" kern="0" spc="-20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，提升工厂透明化；</a:t>
            </a:r>
            <a:r>
              <a:rPr sz="1400" kern="0" spc="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6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3.拉式生产、</a:t>
            </a:r>
            <a:r>
              <a:rPr sz="1400" kern="0" spc="-31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6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工艺指引等功能实施提升工厂柔</a:t>
            </a:r>
            <a:r>
              <a:rPr sz="1400" kern="0" spc="50" dirty="0">
                <a:solidFill>
                  <a:srgbClr val="63646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性生产能力；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44" name="group 244"/>
          <p:cNvGrpSpPr/>
          <p:nvPr/>
        </p:nvGrpSpPr>
        <p:grpSpPr>
          <a:xfrm rot="21600000">
            <a:off x="5538749" y="1686432"/>
            <a:ext cx="5568442" cy="991616"/>
            <a:chOff x="0" y="0"/>
            <a:chExt cx="5568442" cy="991616"/>
          </a:xfrm>
        </p:grpSpPr>
        <p:pic>
          <p:nvPicPr>
            <p:cNvPr id="2850" name="picture 285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568442" cy="991616"/>
            </a:xfrm>
            <a:prstGeom prst="rect">
              <a:avLst/>
            </a:prstGeom>
          </p:spPr>
        </p:pic>
        <p:sp>
          <p:nvSpPr>
            <p:cNvPr id="2852" name="rect 2852"/>
            <p:cNvSpPr/>
            <p:nvPr/>
          </p:nvSpPr>
          <p:spPr>
            <a:xfrm>
              <a:off x="2034006" y="303911"/>
              <a:ext cx="1160043" cy="542544"/>
            </a:xfrm>
            <a:prstGeom prst="rect">
              <a:avLst/>
            </a:pr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54" name="rect 2854"/>
            <p:cNvSpPr/>
            <p:nvPr/>
          </p:nvSpPr>
          <p:spPr>
            <a:xfrm>
              <a:off x="371322" y="316103"/>
              <a:ext cx="1106424" cy="544068"/>
            </a:xfrm>
            <a:prstGeom prst="rect">
              <a:avLst/>
            </a:pr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56" name="rect 2856"/>
            <p:cNvSpPr/>
            <p:nvPr/>
          </p:nvSpPr>
          <p:spPr>
            <a:xfrm>
              <a:off x="3879570" y="303911"/>
              <a:ext cx="1107173" cy="542544"/>
            </a:xfrm>
            <a:prstGeom prst="rect">
              <a:avLst/>
            </a:pr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858" name="textbox 2858"/>
            <p:cNvSpPr/>
            <p:nvPr/>
          </p:nvSpPr>
          <p:spPr>
            <a:xfrm>
              <a:off x="552026" y="483723"/>
              <a:ext cx="735330" cy="2203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8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1000"/>
                </a:lnSpc>
                <a:tabLst/>
              </a:pP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注塑生产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860" name="textbox 2860"/>
          <p:cNvSpPr/>
          <p:nvPr/>
        </p:nvSpPr>
        <p:spPr>
          <a:xfrm>
            <a:off x="387460" y="263411"/>
            <a:ext cx="2880360" cy="1017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制造执行-项目规划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97509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范围</a:t>
            </a:r>
            <a:r>
              <a:rPr sz="15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：无锡工厂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62" name="textbox 2862"/>
          <p:cNvSpPr/>
          <p:nvPr/>
        </p:nvSpPr>
        <p:spPr>
          <a:xfrm>
            <a:off x="2421636" y="3828288"/>
            <a:ext cx="1102360" cy="544194"/>
          </a:xfrm>
          <a:prstGeom prst="rect">
            <a:avLst/>
          </a:prstGeom>
          <a:solidFill>
            <a:srgbClr val="FFC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4310" algn="l" rtl="0" eaLnBrk="0">
              <a:lnSpc>
                <a:spcPct val="91000"/>
              </a:lnSpc>
              <a:spcBef>
                <a:spcPts val="5"/>
              </a:spcBef>
              <a:tabLst/>
            </a:pP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工艺路线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64" name="picture 28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631768" y="3568700"/>
            <a:ext cx="952500" cy="552450"/>
          </a:xfrm>
          <a:prstGeom prst="rect">
            <a:avLst/>
          </a:prstGeom>
        </p:spPr>
      </p:pic>
      <p:grpSp>
        <p:nvGrpSpPr>
          <p:cNvPr id="246" name="group 246"/>
          <p:cNvGrpSpPr/>
          <p:nvPr/>
        </p:nvGrpSpPr>
        <p:grpSpPr>
          <a:xfrm rot="21600000">
            <a:off x="10104005" y="2931680"/>
            <a:ext cx="1016621" cy="508012"/>
            <a:chOff x="0" y="0"/>
            <a:chExt cx="1016621" cy="508012"/>
          </a:xfrm>
        </p:grpSpPr>
        <p:pic>
          <p:nvPicPr>
            <p:cNvPr id="2866" name="picture 286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016621" cy="508012"/>
            </a:xfrm>
            <a:prstGeom prst="rect">
              <a:avLst/>
            </a:prstGeom>
          </p:spPr>
        </p:pic>
        <p:sp>
          <p:nvSpPr>
            <p:cNvPr id="2868" name="textbox 2868"/>
            <p:cNvSpPr/>
            <p:nvPr/>
          </p:nvSpPr>
          <p:spPr>
            <a:xfrm>
              <a:off x="-12700" y="-12700"/>
              <a:ext cx="1042035" cy="5524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6839" algn="l" rtl="0" eaLnBrk="0">
                <a:lnSpc>
                  <a:spcPct val="91000"/>
                </a:lnSpc>
                <a:spcBef>
                  <a:spcPts val="1"/>
                </a:spcBef>
                <a:tabLst/>
              </a:pP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成品管理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48" name="group 248"/>
          <p:cNvGrpSpPr/>
          <p:nvPr/>
        </p:nvGrpSpPr>
        <p:grpSpPr>
          <a:xfrm rot="21600000">
            <a:off x="4024883" y="2026805"/>
            <a:ext cx="1016584" cy="508012"/>
            <a:chOff x="0" y="0"/>
            <a:chExt cx="1016584" cy="508012"/>
          </a:xfrm>
        </p:grpSpPr>
        <p:pic>
          <p:nvPicPr>
            <p:cNvPr id="2870" name="picture 287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016584" cy="508012"/>
            </a:xfrm>
            <a:prstGeom prst="rect">
              <a:avLst/>
            </a:prstGeom>
          </p:spPr>
        </p:pic>
        <p:sp>
          <p:nvSpPr>
            <p:cNvPr id="2872" name="textbox 2872"/>
            <p:cNvSpPr/>
            <p:nvPr/>
          </p:nvSpPr>
          <p:spPr>
            <a:xfrm>
              <a:off x="-12700" y="-12700"/>
              <a:ext cx="1042035" cy="5518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69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16204" algn="l" rtl="0" eaLnBrk="0">
                <a:lnSpc>
                  <a:spcPct val="92000"/>
                </a:lnSpc>
                <a:tabLst/>
              </a:pP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库存管理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50" name="group 250"/>
          <p:cNvGrpSpPr/>
          <p:nvPr/>
        </p:nvGrpSpPr>
        <p:grpSpPr>
          <a:xfrm rot="21600000">
            <a:off x="4024883" y="2931680"/>
            <a:ext cx="1016584" cy="508012"/>
            <a:chOff x="0" y="0"/>
            <a:chExt cx="1016584" cy="508012"/>
          </a:xfrm>
        </p:grpSpPr>
        <p:pic>
          <p:nvPicPr>
            <p:cNvPr id="2874" name="picture 287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016584" cy="508012"/>
            </a:xfrm>
            <a:prstGeom prst="rect">
              <a:avLst/>
            </a:prstGeom>
          </p:spPr>
        </p:pic>
        <p:sp>
          <p:nvSpPr>
            <p:cNvPr id="2876" name="textbox 2876"/>
            <p:cNvSpPr/>
            <p:nvPr/>
          </p:nvSpPr>
          <p:spPr>
            <a:xfrm>
              <a:off x="-12700" y="-12700"/>
              <a:ext cx="1042035" cy="5524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0014" algn="l" rtl="0" eaLnBrk="0">
                <a:lnSpc>
                  <a:spcPct val="91000"/>
                </a:lnSpc>
                <a:spcBef>
                  <a:spcPts val="1"/>
                </a:spcBef>
                <a:tabLst/>
              </a:pP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工单上线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52" name="group 252"/>
          <p:cNvGrpSpPr/>
          <p:nvPr/>
        </p:nvGrpSpPr>
        <p:grpSpPr>
          <a:xfrm rot="21600000">
            <a:off x="824483" y="2931680"/>
            <a:ext cx="1016584" cy="508012"/>
            <a:chOff x="0" y="0"/>
            <a:chExt cx="1016584" cy="508012"/>
          </a:xfrm>
        </p:grpSpPr>
        <p:pic>
          <p:nvPicPr>
            <p:cNvPr id="2878" name="picture 287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1016584" cy="508012"/>
            </a:xfrm>
            <a:prstGeom prst="rect">
              <a:avLst/>
            </a:prstGeom>
          </p:spPr>
        </p:pic>
        <p:sp>
          <p:nvSpPr>
            <p:cNvPr id="2880" name="textbox 2880"/>
            <p:cNvSpPr/>
            <p:nvPr/>
          </p:nvSpPr>
          <p:spPr>
            <a:xfrm>
              <a:off x="-12700" y="-12700"/>
              <a:ext cx="1042035" cy="5740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61315" algn="l" rtl="0" eaLnBrk="0">
                <a:lnSpc>
                  <a:spcPct val="85000"/>
                </a:lnSpc>
                <a:spcBef>
                  <a:spcPts val="6"/>
                </a:spcBef>
                <a:tabLst/>
              </a:pP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AFS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54" name="group 254"/>
          <p:cNvGrpSpPr/>
          <p:nvPr/>
        </p:nvGrpSpPr>
        <p:grpSpPr>
          <a:xfrm rot="21600000">
            <a:off x="824483" y="2017280"/>
            <a:ext cx="1016584" cy="508000"/>
            <a:chOff x="0" y="0"/>
            <a:chExt cx="1016584" cy="508000"/>
          </a:xfrm>
        </p:grpSpPr>
        <p:pic>
          <p:nvPicPr>
            <p:cNvPr id="2882" name="picture 288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1016584" cy="508000"/>
            </a:xfrm>
            <a:prstGeom prst="rect">
              <a:avLst/>
            </a:prstGeom>
          </p:spPr>
        </p:pic>
        <p:sp>
          <p:nvSpPr>
            <p:cNvPr id="2884" name="textbox 2884"/>
            <p:cNvSpPr/>
            <p:nvPr/>
          </p:nvSpPr>
          <p:spPr>
            <a:xfrm>
              <a:off x="-12700" y="-12700"/>
              <a:ext cx="1042035" cy="5524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47979" algn="l" rtl="0" eaLnBrk="0">
                <a:lnSpc>
                  <a:spcPct val="91000"/>
                </a:lnSpc>
                <a:spcBef>
                  <a:spcPts val="3"/>
                </a:spcBef>
                <a:tabLst/>
              </a:pPr>
              <a:r>
                <a:rPr sz="1400" kern="0" spc="-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市场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56" name="group 256"/>
          <p:cNvGrpSpPr/>
          <p:nvPr/>
        </p:nvGrpSpPr>
        <p:grpSpPr>
          <a:xfrm rot="21600000">
            <a:off x="824483" y="3846080"/>
            <a:ext cx="1016584" cy="508000"/>
            <a:chOff x="0" y="0"/>
            <a:chExt cx="1016584" cy="508000"/>
          </a:xfrm>
        </p:grpSpPr>
        <p:pic>
          <p:nvPicPr>
            <p:cNvPr id="2886" name="picture 288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1016584" cy="508000"/>
            </a:xfrm>
            <a:prstGeom prst="rect">
              <a:avLst/>
            </a:prstGeom>
          </p:spPr>
        </p:pic>
        <p:sp>
          <p:nvSpPr>
            <p:cNvPr id="2888" name="textbox 2888"/>
            <p:cNvSpPr/>
            <p:nvPr/>
          </p:nvSpPr>
          <p:spPr>
            <a:xfrm>
              <a:off x="-12700" y="-12700"/>
              <a:ext cx="1042035" cy="5473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184785" algn="l" rtl="0" eaLnBrk="0">
                <a:lnSpc>
                  <a:spcPct val="84000"/>
                </a:lnSpc>
                <a:spcBef>
                  <a:spcPts val="5"/>
                </a:spcBef>
                <a:tabLst/>
              </a:pPr>
              <a:r>
                <a:rPr sz="10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PLM</a:t>
              </a:r>
              <a:r>
                <a:rPr sz="10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工艺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marL="337184" algn="l" rtl="0" eaLnBrk="0">
                <a:lnSpc>
                  <a:spcPct val="97000"/>
                </a:lnSpc>
                <a:spcBef>
                  <a:spcPts val="10"/>
                </a:spcBef>
                <a:tabLst/>
              </a:pPr>
              <a:r>
                <a:rPr sz="10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路线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58" name="group 258"/>
          <p:cNvGrpSpPr/>
          <p:nvPr/>
        </p:nvGrpSpPr>
        <p:grpSpPr>
          <a:xfrm rot="21600000">
            <a:off x="7064730" y="2931680"/>
            <a:ext cx="1016012" cy="508012"/>
            <a:chOff x="0" y="0"/>
            <a:chExt cx="1016012" cy="508012"/>
          </a:xfrm>
        </p:grpSpPr>
        <p:pic>
          <p:nvPicPr>
            <p:cNvPr id="2890" name="picture 289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1016012" cy="508012"/>
            </a:xfrm>
            <a:prstGeom prst="rect">
              <a:avLst/>
            </a:prstGeom>
          </p:spPr>
        </p:pic>
        <p:sp>
          <p:nvSpPr>
            <p:cNvPr id="2892" name="textbox 2892"/>
            <p:cNvSpPr/>
            <p:nvPr/>
          </p:nvSpPr>
          <p:spPr>
            <a:xfrm>
              <a:off x="-12700" y="-12700"/>
              <a:ext cx="1042035" cy="5518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1920" algn="l" rtl="0" eaLnBrk="0">
                <a:lnSpc>
                  <a:spcPct val="90000"/>
                </a:lnSpc>
                <a:spcBef>
                  <a:spcPts val="6"/>
                </a:spcBef>
                <a:tabLst/>
              </a:pP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过程品质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60" name="group 260"/>
          <p:cNvGrpSpPr/>
          <p:nvPr/>
        </p:nvGrpSpPr>
        <p:grpSpPr>
          <a:xfrm rot="21600000">
            <a:off x="2507818" y="2026805"/>
            <a:ext cx="1016000" cy="508012"/>
            <a:chOff x="0" y="0"/>
            <a:chExt cx="1016000" cy="508012"/>
          </a:xfrm>
        </p:grpSpPr>
        <p:pic>
          <p:nvPicPr>
            <p:cNvPr id="2894" name="picture 289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1016000" cy="508012"/>
            </a:xfrm>
            <a:prstGeom prst="rect">
              <a:avLst/>
            </a:prstGeom>
          </p:spPr>
        </p:pic>
        <p:sp>
          <p:nvSpPr>
            <p:cNvPr id="2896" name="textbox 2896"/>
            <p:cNvSpPr/>
            <p:nvPr/>
          </p:nvSpPr>
          <p:spPr>
            <a:xfrm>
              <a:off x="-12700" y="-12700"/>
              <a:ext cx="1042035" cy="5524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63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18110" algn="l" rtl="0" eaLnBrk="0">
                <a:lnSpc>
                  <a:spcPct val="92000"/>
                </a:lnSpc>
                <a:tabLst/>
              </a:pP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入场物流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62" name="group 262"/>
          <p:cNvGrpSpPr/>
          <p:nvPr/>
        </p:nvGrpSpPr>
        <p:grpSpPr>
          <a:xfrm rot="21600000">
            <a:off x="2507818" y="2931680"/>
            <a:ext cx="1016000" cy="508012"/>
            <a:chOff x="0" y="0"/>
            <a:chExt cx="1016000" cy="508012"/>
          </a:xfrm>
        </p:grpSpPr>
        <p:pic>
          <p:nvPicPr>
            <p:cNvPr id="2898" name="picture 289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1016000" cy="508012"/>
            </a:xfrm>
            <a:prstGeom prst="rect">
              <a:avLst/>
            </a:prstGeom>
          </p:spPr>
        </p:pic>
        <p:sp>
          <p:nvSpPr>
            <p:cNvPr id="2900" name="textbox 2900"/>
            <p:cNvSpPr/>
            <p:nvPr/>
          </p:nvSpPr>
          <p:spPr>
            <a:xfrm>
              <a:off x="-12700" y="-12700"/>
              <a:ext cx="1042035" cy="5518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0650" algn="l" rtl="0" eaLnBrk="0">
                <a:lnSpc>
                  <a:spcPct val="91000"/>
                </a:lnSpc>
                <a:spcBef>
                  <a:spcPts val="1"/>
                </a:spcBef>
                <a:tabLst/>
              </a:pP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工单获取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64" name="group 264"/>
          <p:cNvGrpSpPr/>
          <p:nvPr/>
        </p:nvGrpSpPr>
        <p:grpSpPr>
          <a:xfrm rot="21600000">
            <a:off x="5545099" y="2931680"/>
            <a:ext cx="1016000" cy="508012"/>
            <a:chOff x="0" y="0"/>
            <a:chExt cx="1016000" cy="508012"/>
          </a:xfrm>
        </p:grpSpPr>
        <p:pic>
          <p:nvPicPr>
            <p:cNvPr id="2902" name="picture 290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1016000" cy="508012"/>
            </a:xfrm>
            <a:prstGeom prst="rect">
              <a:avLst/>
            </a:prstGeom>
          </p:spPr>
        </p:pic>
        <p:sp>
          <p:nvSpPr>
            <p:cNvPr id="2904" name="textbox 2904"/>
            <p:cNvSpPr/>
            <p:nvPr/>
          </p:nvSpPr>
          <p:spPr>
            <a:xfrm>
              <a:off x="-12700" y="-12700"/>
              <a:ext cx="1041400" cy="5524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1285" algn="l" rtl="0" eaLnBrk="0">
                <a:lnSpc>
                  <a:spcPct val="91000"/>
                </a:lnSpc>
                <a:spcBef>
                  <a:spcPts val="1"/>
                </a:spcBef>
                <a:tabLst/>
              </a:pP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工单生产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66" name="group 266"/>
          <p:cNvGrpSpPr/>
          <p:nvPr/>
        </p:nvGrpSpPr>
        <p:grpSpPr>
          <a:xfrm rot="21600000">
            <a:off x="8584375" y="2931680"/>
            <a:ext cx="1016000" cy="508012"/>
            <a:chOff x="0" y="0"/>
            <a:chExt cx="1016000" cy="508012"/>
          </a:xfrm>
        </p:grpSpPr>
        <p:pic>
          <p:nvPicPr>
            <p:cNvPr id="2906" name="picture 290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1016000" cy="508012"/>
            </a:xfrm>
            <a:prstGeom prst="rect">
              <a:avLst/>
            </a:prstGeom>
          </p:spPr>
        </p:pic>
        <p:sp>
          <p:nvSpPr>
            <p:cNvPr id="2908" name="textbox 2908"/>
            <p:cNvSpPr/>
            <p:nvPr/>
          </p:nvSpPr>
          <p:spPr>
            <a:xfrm>
              <a:off x="-12700" y="-12700"/>
              <a:ext cx="1041400" cy="5530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09220" algn="l" rtl="0" eaLnBrk="0">
                <a:lnSpc>
                  <a:spcPct val="91000"/>
                </a:lnSpc>
                <a:spcBef>
                  <a:spcPts val="1"/>
                </a:spcBef>
                <a:tabLst/>
              </a:pP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完工下线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68" name="group 268"/>
          <p:cNvGrpSpPr/>
          <p:nvPr/>
        </p:nvGrpSpPr>
        <p:grpSpPr>
          <a:xfrm rot="21600000">
            <a:off x="7064730" y="3855605"/>
            <a:ext cx="1016012" cy="508000"/>
            <a:chOff x="0" y="0"/>
            <a:chExt cx="1016012" cy="508000"/>
          </a:xfrm>
        </p:grpSpPr>
        <p:pic>
          <p:nvPicPr>
            <p:cNvPr id="2910" name="picture 291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1016012" cy="508000"/>
            </a:xfrm>
            <a:prstGeom prst="rect">
              <a:avLst/>
            </a:prstGeom>
          </p:spPr>
        </p:pic>
        <p:sp>
          <p:nvSpPr>
            <p:cNvPr id="2912" name="textbox 2912"/>
            <p:cNvSpPr/>
            <p:nvPr/>
          </p:nvSpPr>
          <p:spPr>
            <a:xfrm>
              <a:off x="-12700" y="-12700"/>
              <a:ext cx="1042035" cy="5524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1285" algn="l" rtl="0" eaLnBrk="0">
                <a:lnSpc>
                  <a:spcPct val="91000"/>
                </a:lnSpc>
                <a:spcBef>
                  <a:spcPts val="1"/>
                </a:spcBef>
                <a:tabLst/>
              </a:pP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报表看板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914" name="textbox 2914"/>
          <p:cNvSpPr/>
          <p:nvPr/>
        </p:nvSpPr>
        <p:spPr>
          <a:xfrm>
            <a:off x="9599174" y="2157813"/>
            <a:ext cx="735965" cy="219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钣金生产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16" name="textbox 2916"/>
          <p:cNvSpPr/>
          <p:nvPr/>
        </p:nvSpPr>
        <p:spPr>
          <a:xfrm>
            <a:off x="7789737" y="2157813"/>
            <a:ext cx="726440" cy="219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400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电子生产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18" name="textbox 2918"/>
          <p:cNvSpPr/>
          <p:nvPr/>
        </p:nvSpPr>
        <p:spPr>
          <a:xfrm>
            <a:off x="8060449" y="1732586"/>
            <a:ext cx="374650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40" dirty="0">
                <a:solidFill>
                  <a:srgbClr val="2F5FB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部装</a:t>
            </a:r>
            <a:endParaRPr sz="14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2920" name="picture 29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993328" y="3147580"/>
            <a:ext cx="427812" cy="76200"/>
          </a:xfrm>
          <a:prstGeom prst="rect">
            <a:avLst/>
          </a:prstGeom>
        </p:spPr>
      </p:pic>
      <p:pic>
        <p:nvPicPr>
          <p:cNvPr id="2922" name="picture 29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993328" y="4055630"/>
            <a:ext cx="427812" cy="76200"/>
          </a:xfrm>
          <a:prstGeom prst="rect">
            <a:avLst/>
          </a:prstGeom>
        </p:spPr>
      </p:pic>
      <p:pic>
        <p:nvPicPr>
          <p:cNvPr id="2924" name="picture 29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1972055" y="2260600"/>
            <a:ext cx="427812" cy="76200"/>
          </a:xfrm>
          <a:prstGeom prst="rect">
            <a:avLst/>
          </a:prstGeom>
        </p:spPr>
      </p:pic>
      <p:pic>
        <p:nvPicPr>
          <p:cNvPr id="2926" name="picture 29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5146522" y="2242718"/>
            <a:ext cx="298450" cy="76200"/>
          </a:xfrm>
          <a:prstGeom prst="rect">
            <a:avLst/>
          </a:prstGeom>
        </p:spPr>
      </p:pic>
      <p:pic>
        <p:nvPicPr>
          <p:cNvPr id="2928" name="picture 292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631768" y="2260600"/>
            <a:ext cx="298450" cy="76200"/>
          </a:xfrm>
          <a:prstGeom prst="rect">
            <a:avLst/>
          </a:prstGeom>
        </p:spPr>
      </p:pic>
      <p:pic>
        <p:nvPicPr>
          <p:cNvPr id="2930" name="picture 293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3638118" y="3149600"/>
            <a:ext cx="298450" cy="76200"/>
          </a:xfrm>
          <a:prstGeom prst="rect">
            <a:avLst/>
          </a:prstGeom>
        </p:spPr>
      </p:pic>
      <p:pic>
        <p:nvPicPr>
          <p:cNvPr id="2932" name="picture 293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5162118" y="3149600"/>
            <a:ext cx="298450" cy="76200"/>
          </a:xfrm>
          <a:prstGeom prst="rect">
            <a:avLst/>
          </a:prstGeom>
        </p:spPr>
      </p:pic>
      <p:pic>
        <p:nvPicPr>
          <p:cNvPr id="2934" name="picture 293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6686118" y="3149600"/>
            <a:ext cx="298450" cy="76200"/>
          </a:xfrm>
          <a:prstGeom prst="rect">
            <a:avLst/>
          </a:prstGeom>
        </p:spPr>
      </p:pic>
      <p:pic>
        <p:nvPicPr>
          <p:cNvPr id="2936" name="picture 293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8210118" y="3149600"/>
            <a:ext cx="298450" cy="76200"/>
          </a:xfrm>
          <a:prstGeom prst="rect">
            <a:avLst/>
          </a:prstGeom>
        </p:spPr>
      </p:pic>
      <p:pic>
        <p:nvPicPr>
          <p:cNvPr id="2938" name="picture 293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9734118" y="3149600"/>
            <a:ext cx="29845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0" name="textbox 2940"/>
          <p:cNvSpPr/>
          <p:nvPr/>
        </p:nvSpPr>
        <p:spPr>
          <a:xfrm>
            <a:off x="681476" y="1216158"/>
            <a:ext cx="5151754" cy="4885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82114" algn="l" rtl="0" eaLnBrk="0">
              <a:lnSpc>
                <a:spcPct val="96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核心业务变革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51154" indent="-338454" algn="l" rtl="0" eaLnBrk="0">
              <a:lnSpc>
                <a:spcPct val="127000"/>
              </a:lnSpc>
              <a:spcBef>
                <a:spcPts val="425"/>
              </a:spcBef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完善标准工时核定机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，通过计划和物流时刻指导生产及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配送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04"/>
              </a:lnSpc>
              <a:spcBef>
                <a:spcPts val="430"/>
              </a:spcBef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推进物料/自制件（包括:箱体、</a:t>
            </a:r>
            <a:r>
              <a:rPr sz="14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内桶、</a:t>
            </a:r>
            <a:r>
              <a:rPr sz="1400" kern="0" spc="-3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离合器）容器标准化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7345" indent="-335279" algn="l" rtl="0" eaLnBrk="0">
              <a:lnSpc>
                <a:spcPct val="134000"/>
              </a:lnSpc>
              <a:spcBef>
                <a:spcPts val="428"/>
              </a:spcBef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入场物流路径/卸货区域/车位规划；物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料/自制件/成品货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位管理规划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04"/>
              </a:lnSpc>
              <a:spcBef>
                <a:spcPts val="430"/>
              </a:spcBef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推广关键零部件条码（物料标签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、单体条码）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7979" indent="-335279" algn="l" rtl="0" eaLnBrk="0">
              <a:lnSpc>
                <a:spcPct val="126000"/>
              </a:lnSpc>
              <a:spcBef>
                <a:spcPts val="422"/>
              </a:spcBef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 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推动拉动生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产模式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，推进注塑按工单生产；按总装生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产计划配送上线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426"/>
              </a:spcBef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建立制造系统运维体系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8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75260" algn="l" rtl="0" eaLnBrk="0">
              <a:lnSpc>
                <a:spcPts val="2894"/>
              </a:lnSpc>
              <a:spcBef>
                <a:spcPts val="6"/>
              </a:spcBef>
              <a:tabLst/>
            </a:pPr>
            <a:r>
              <a:rPr sz="2300" kern="0" spc="0" dirty="0">
                <a:solidFill>
                  <a:srgbClr val="FF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MES</a:t>
            </a:r>
            <a:r>
              <a:rPr sz="2300" kern="0" spc="80" dirty="0">
                <a:solidFill>
                  <a:srgbClr val="FF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实施前提：</a:t>
            </a:r>
            <a:r>
              <a:rPr sz="2300" kern="0" spc="-430" dirty="0">
                <a:solidFill>
                  <a:srgbClr val="FF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300" kern="0" spc="80" dirty="0">
                <a:solidFill>
                  <a:srgbClr val="FF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硬件按时采购到位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2942" name="picture 29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33793" y="1905431"/>
            <a:ext cx="4557954" cy="4212666"/>
          </a:xfrm>
          <a:prstGeom prst="rect">
            <a:avLst/>
          </a:prstGeom>
        </p:spPr>
      </p:pic>
      <p:grpSp>
        <p:nvGrpSpPr>
          <p:cNvPr id="270" name="group 270"/>
          <p:cNvGrpSpPr/>
          <p:nvPr/>
        </p:nvGrpSpPr>
        <p:grpSpPr>
          <a:xfrm rot="21600000">
            <a:off x="6452615" y="3080435"/>
            <a:ext cx="1438097" cy="1440002"/>
            <a:chOff x="0" y="0"/>
            <a:chExt cx="1438097" cy="1440002"/>
          </a:xfrm>
        </p:grpSpPr>
        <p:pic>
          <p:nvPicPr>
            <p:cNvPr id="2944" name="picture 29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438097" cy="1440002"/>
            </a:xfrm>
            <a:prstGeom prst="rect">
              <a:avLst/>
            </a:prstGeom>
          </p:spPr>
        </p:pic>
        <p:sp>
          <p:nvSpPr>
            <p:cNvPr id="2946" name="textbox 2946"/>
            <p:cNvSpPr/>
            <p:nvPr/>
          </p:nvSpPr>
          <p:spPr>
            <a:xfrm>
              <a:off x="-12700" y="-12700"/>
              <a:ext cx="1463675" cy="14655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70509" algn="l" rtl="0" eaLnBrk="0">
                <a:lnSpc>
                  <a:spcPct val="85000"/>
                </a:lnSpc>
                <a:spcBef>
                  <a:spcPts val="4"/>
                </a:spcBef>
                <a:tabLst/>
              </a:pP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总部装拉动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  <a:p>
              <a:pPr marL="354965" algn="l" rtl="0" eaLnBrk="0">
                <a:lnSpc>
                  <a:spcPts val="1905"/>
                </a:lnSpc>
                <a:tabLst/>
              </a:pP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柔性生产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948" name="textbox 2948"/>
          <p:cNvSpPr/>
          <p:nvPr/>
        </p:nvSpPr>
        <p:spPr>
          <a:xfrm>
            <a:off x="336662" y="260454"/>
            <a:ext cx="2880360" cy="394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制造执行-业务变革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50" name="textbox 2950"/>
          <p:cNvSpPr/>
          <p:nvPr/>
        </p:nvSpPr>
        <p:spPr>
          <a:xfrm>
            <a:off x="9538972" y="5177159"/>
            <a:ext cx="874394" cy="452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52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7155" indent="-84455" algn="l" rtl="0" eaLnBrk="0">
              <a:lnSpc>
                <a:spcPct val="110000"/>
              </a:lnSpc>
              <a:tabLst/>
            </a:pPr>
            <a:r>
              <a:rPr sz="13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管理目视化</a:t>
            </a:r>
            <a:r>
              <a:rPr sz="1300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快速响应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52" name="textbox 2952"/>
          <p:cNvSpPr/>
          <p:nvPr/>
        </p:nvSpPr>
        <p:spPr>
          <a:xfrm>
            <a:off x="7701243" y="5188068"/>
            <a:ext cx="704215" cy="454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13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设备联机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实时预警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54" name="textbox 2954"/>
          <p:cNvSpPr/>
          <p:nvPr/>
        </p:nvSpPr>
        <p:spPr>
          <a:xfrm>
            <a:off x="10525213" y="3579512"/>
            <a:ext cx="706755" cy="452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54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905" algn="l" rtl="0" eaLnBrk="0">
              <a:lnSpc>
                <a:spcPct val="110000"/>
              </a:lnSpc>
              <a:tabLst/>
            </a:pPr>
            <a:r>
              <a:rPr sz="13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规范管理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物流高效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56" name="textbox 2956"/>
          <p:cNvSpPr/>
          <p:nvPr/>
        </p:nvSpPr>
        <p:spPr>
          <a:xfrm>
            <a:off x="8660270" y="2403825"/>
            <a:ext cx="705484" cy="453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602" rIns="0" bIns="0"/>
          <a:lstStyle/>
          <a:p>
            <a:pPr marL="13970" indent="-1270" algn="l" rtl="0" eaLnBrk="0">
              <a:lnSpc>
                <a:spcPct val="111000"/>
              </a:lnSpc>
              <a:spcBef>
                <a:spcPts val="5"/>
              </a:spcBef>
              <a:tabLst/>
            </a:pPr>
            <a:r>
              <a:rPr sz="13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精准排产</a:t>
            </a:r>
            <a:r>
              <a:rPr sz="1300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实时完工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58" name="textbox 2958"/>
          <p:cNvSpPr/>
          <p:nvPr/>
        </p:nvSpPr>
        <p:spPr>
          <a:xfrm>
            <a:off x="8535038" y="1238653"/>
            <a:ext cx="769619" cy="229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7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业务价值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60" name="path 2960"/>
          <p:cNvSpPr/>
          <p:nvPr/>
        </p:nvSpPr>
        <p:spPr>
          <a:xfrm>
            <a:off x="6245288" y="1025652"/>
            <a:ext cx="5596191" cy="5447271"/>
          </a:xfrm>
          <a:custGeom>
            <a:avLst/>
            <a:gdLst/>
            <a:ahLst/>
            <a:cxnLst/>
            <a:rect l="0" t="0" r="0" b="0"/>
            <a:pathLst>
              <a:path w="8812" h="8578">
                <a:moveTo>
                  <a:pt x="0" y="208"/>
                </a:moveTo>
                <a:moveTo>
                  <a:pt x="0" y="208"/>
                </a:moveTo>
                <a:cubicBezTo>
                  <a:pt x="0" y="93"/>
                  <a:pt x="93" y="0"/>
                  <a:pt x="208" y="0"/>
                </a:cubicBezTo>
                <a:lnTo>
                  <a:pt x="8604" y="0"/>
                </a:lnTo>
                <a:cubicBezTo>
                  <a:pt x="8719" y="0"/>
                  <a:pt x="8812" y="93"/>
                  <a:pt x="8812" y="208"/>
                </a:cubicBezTo>
                <a:lnTo>
                  <a:pt x="8812" y="8371"/>
                </a:lnTo>
                <a:cubicBezTo>
                  <a:pt x="8812" y="8485"/>
                  <a:pt x="8719" y="8578"/>
                  <a:pt x="8604" y="8577"/>
                </a:cubicBezTo>
                <a:lnTo>
                  <a:pt x="208" y="8577"/>
                </a:lnTo>
                <a:cubicBezTo>
                  <a:pt x="93" y="8578"/>
                  <a:pt x="0" y="8485"/>
                  <a:pt x="0" y="8371"/>
                </a:cubicBezTo>
                <a:lnTo>
                  <a:pt x="0" y="208"/>
                </a:lnTo>
              </a:path>
            </a:pathLst>
          </a:custGeom>
          <a:solidFill>
            <a:srgbClr val="3E82F9">
              <a:alpha val="509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62" name="path 2962"/>
          <p:cNvSpPr/>
          <p:nvPr/>
        </p:nvSpPr>
        <p:spPr>
          <a:xfrm>
            <a:off x="416813" y="1025652"/>
            <a:ext cx="5650229" cy="5443727"/>
          </a:xfrm>
          <a:custGeom>
            <a:avLst/>
            <a:gdLst/>
            <a:ahLst/>
            <a:cxnLst/>
            <a:rect l="0" t="0" r="0" b="0"/>
            <a:pathLst>
              <a:path w="8897" h="8572">
                <a:moveTo>
                  <a:pt x="1" y="208"/>
                </a:moveTo>
                <a:moveTo>
                  <a:pt x="1" y="208"/>
                </a:moveTo>
                <a:cubicBezTo>
                  <a:pt x="0" y="93"/>
                  <a:pt x="93" y="0"/>
                  <a:pt x="207" y="0"/>
                </a:cubicBezTo>
                <a:lnTo>
                  <a:pt x="8689" y="0"/>
                </a:lnTo>
                <a:cubicBezTo>
                  <a:pt x="8804" y="0"/>
                  <a:pt x="8897" y="93"/>
                  <a:pt x="8897" y="208"/>
                </a:cubicBezTo>
                <a:lnTo>
                  <a:pt x="8897" y="8363"/>
                </a:lnTo>
                <a:cubicBezTo>
                  <a:pt x="8897" y="8479"/>
                  <a:pt x="8804" y="8572"/>
                  <a:pt x="8689" y="8572"/>
                </a:cubicBezTo>
                <a:lnTo>
                  <a:pt x="207" y="8572"/>
                </a:lnTo>
                <a:cubicBezTo>
                  <a:pt x="93" y="8572"/>
                  <a:pt x="0" y="8479"/>
                  <a:pt x="1" y="8363"/>
                </a:cubicBezTo>
                <a:lnTo>
                  <a:pt x="1" y="208"/>
                </a:lnTo>
              </a:path>
            </a:pathLst>
          </a:custGeom>
          <a:solidFill>
            <a:srgbClr val="3E82F9">
              <a:alpha val="509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roup 272"/>
          <p:cNvGrpSpPr/>
          <p:nvPr/>
        </p:nvGrpSpPr>
        <p:grpSpPr>
          <a:xfrm rot="21600000">
            <a:off x="3576764" y="3062046"/>
            <a:ext cx="4974399" cy="3606977"/>
            <a:chOff x="0" y="0"/>
            <a:chExt cx="4974399" cy="3606977"/>
          </a:xfrm>
        </p:grpSpPr>
        <p:sp>
          <p:nvSpPr>
            <p:cNvPr id="2964" name="rect 2964"/>
            <p:cNvSpPr/>
            <p:nvPr/>
          </p:nvSpPr>
          <p:spPr>
            <a:xfrm>
              <a:off x="0" y="234226"/>
              <a:ext cx="4974399" cy="3372751"/>
            </a:xfrm>
            <a:prstGeom prst="rect">
              <a:avLst/>
            </a:prstGeom>
            <a:solidFill>
              <a:srgbClr val="ECF2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966" name="picture 296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2106879" y="454189"/>
              <a:ext cx="1162392" cy="1054290"/>
            </a:xfrm>
            <a:prstGeom prst="rect">
              <a:avLst/>
            </a:prstGeom>
          </p:spPr>
        </p:pic>
        <p:sp>
          <p:nvSpPr>
            <p:cNvPr id="2968" name="textbox 2968"/>
            <p:cNvSpPr/>
            <p:nvPr/>
          </p:nvSpPr>
          <p:spPr>
            <a:xfrm>
              <a:off x="1995995" y="377049"/>
              <a:ext cx="2731770" cy="17837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70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94000"/>
                </a:lnSpc>
                <a:tabLst/>
              </a:pPr>
              <a:r>
                <a:rPr sz="18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基地部署</a:t>
              </a:r>
              <a:endParaRPr sz="18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7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40384" algn="l" rtl="0" eaLnBrk="0">
                <a:lnSpc>
                  <a:spcPct val="82000"/>
                </a:lnSpc>
                <a:spcBef>
                  <a:spcPts val="372"/>
                </a:spcBef>
                <a:tabLst/>
              </a:pPr>
              <a:r>
                <a:rPr sz="1200" kern="0" spc="-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OPC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marL="391795" algn="l" rtl="0" eaLnBrk="0">
                <a:lnSpc>
                  <a:spcPct val="81000"/>
                </a:lnSpc>
                <a:spcBef>
                  <a:spcPts val="274"/>
                </a:spcBef>
                <a:tabLst/>
              </a:pPr>
              <a:r>
                <a:rPr sz="12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SERVER</a:t>
              </a:r>
              <a:endParaRPr sz="12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5000"/>
                </a:lnSpc>
                <a:spcBef>
                  <a:spcPts val="2"/>
                </a:spcBef>
                <a:tabLst>
                  <a:tab pos="164464" algn="l"/>
                </a:tabLst>
              </a:pP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1400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智联宝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970" name="picture 297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2160833" y="1883450"/>
              <a:ext cx="351042" cy="245012"/>
            </a:xfrm>
            <a:prstGeom prst="rect">
              <a:avLst/>
            </a:prstGeom>
          </p:spPr>
        </p:pic>
        <p:pic>
          <p:nvPicPr>
            <p:cNvPr id="2972" name="picture 297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581456" y="603338"/>
              <a:ext cx="894308" cy="768705"/>
            </a:xfrm>
            <a:prstGeom prst="rect">
              <a:avLst/>
            </a:prstGeom>
          </p:spPr>
        </p:pic>
        <p:pic>
          <p:nvPicPr>
            <p:cNvPr id="2974" name="picture 297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548053" y="953528"/>
              <a:ext cx="500570" cy="76212"/>
            </a:xfrm>
            <a:prstGeom prst="rect">
              <a:avLst/>
            </a:prstGeom>
          </p:spPr>
        </p:pic>
        <p:pic>
          <p:nvPicPr>
            <p:cNvPr id="2976" name="picture 297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8711" y="949591"/>
              <a:ext cx="476250" cy="76200"/>
            </a:xfrm>
            <a:prstGeom prst="rect">
              <a:avLst/>
            </a:prstGeom>
          </p:spPr>
        </p:pic>
        <p:pic>
          <p:nvPicPr>
            <p:cNvPr id="2978" name="picture 297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2576093" y="0"/>
              <a:ext cx="76200" cy="331965"/>
            </a:xfrm>
            <a:prstGeom prst="rect">
              <a:avLst/>
            </a:prstGeom>
          </p:spPr>
        </p:pic>
        <p:pic>
          <p:nvPicPr>
            <p:cNvPr id="2980" name="picture 298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2649982" y="1535366"/>
              <a:ext cx="76200" cy="167931"/>
            </a:xfrm>
            <a:prstGeom prst="rect">
              <a:avLst/>
            </a:prstGeom>
          </p:spPr>
        </p:pic>
      </p:grpSp>
      <p:sp>
        <p:nvSpPr>
          <p:cNvPr id="2982" name="rect 2982"/>
          <p:cNvSpPr/>
          <p:nvPr/>
        </p:nvSpPr>
        <p:spPr>
          <a:xfrm>
            <a:off x="1604454" y="1327403"/>
            <a:ext cx="1800161" cy="5355590"/>
          </a:xfrm>
          <a:prstGeom prst="rect">
            <a:avLst/>
          </a:prstGeom>
          <a:solidFill>
            <a:srgbClr val="3E82F9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84" name="rect 2984"/>
          <p:cNvSpPr/>
          <p:nvPr/>
        </p:nvSpPr>
        <p:spPr>
          <a:xfrm>
            <a:off x="8735453" y="1353311"/>
            <a:ext cx="1800123" cy="5304282"/>
          </a:xfrm>
          <a:prstGeom prst="rect">
            <a:avLst/>
          </a:prstGeom>
          <a:solidFill>
            <a:srgbClr val="3E82F9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86" name="textbox 2986"/>
          <p:cNvSpPr/>
          <p:nvPr/>
        </p:nvSpPr>
        <p:spPr>
          <a:xfrm>
            <a:off x="370951" y="262391"/>
            <a:ext cx="8197850" cy="938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ct val="93000"/>
              </a:lnSpc>
              <a:tabLst/>
            </a:pPr>
            <a:r>
              <a:rPr sz="26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工业互联网-项目规划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059"/>
              </a:lnSpc>
              <a:spcBef>
                <a:spcPts val="1"/>
              </a:spcBef>
              <a:tabLst/>
            </a:pP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 搭建设备数据采集平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台</a:t>
            </a:r>
            <a:r>
              <a:rPr sz="15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，实现设备联机；</a:t>
            </a:r>
            <a:r>
              <a:rPr sz="15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 设备数据分析与运用（如:设备维修保养预警）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74" name="group 274"/>
          <p:cNvGrpSpPr/>
          <p:nvPr/>
        </p:nvGrpSpPr>
        <p:grpSpPr>
          <a:xfrm rot="21600000">
            <a:off x="4683385" y="1283665"/>
            <a:ext cx="2727061" cy="1725810"/>
            <a:chOff x="0" y="0"/>
            <a:chExt cx="2727061" cy="1725810"/>
          </a:xfrm>
        </p:grpSpPr>
        <p:sp>
          <p:nvSpPr>
            <p:cNvPr id="2988" name="path 2988"/>
            <p:cNvSpPr/>
            <p:nvPr/>
          </p:nvSpPr>
          <p:spPr>
            <a:xfrm>
              <a:off x="0" y="0"/>
              <a:ext cx="2727061" cy="1725810"/>
            </a:xfrm>
            <a:custGeom>
              <a:avLst/>
              <a:gdLst/>
              <a:ahLst/>
              <a:cxnLst/>
              <a:rect l="0" t="0" r="0" b="0"/>
              <a:pathLst>
                <a:path w="4294" h="2717">
                  <a:moveTo>
                    <a:pt x="2451" y="0"/>
                  </a:moveTo>
                  <a:cubicBezTo>
                    <a:pt x="2143" y="0"/>
                    <a:pt x="1835" y="117"/>
                    <a:pt x="1600" y="352"/>
                  </a:cubicBezTo>
                  <a:cubicBezTo>
                    <a:pt x="1521" y="431"/>
                    <a:pt x="1457" y="519"/>
                    <a:pt x="1404" y="612"/>
                  </a:cubicBezTo>
                  <a:cubicBezTo>
                    <a:pt x="1177" y="523"/>
                    <a:pt x="909" y="570"/>
                    <a:pt x="725" y="754"/>
                  </a:cubicBezTo>
                  <a:cubicBezTo>
                    <a:pt x="646" y="833"/>
                    <a:pt x="594" y="929"/>
                    <a:pt x="566" y="1030"/>
                  </a:cubicBezTo>
                  <a:cubicBezTo>
                    <a:pt x="452" y="1072"/>
                    <a:pt x="344" y="1138"/>
                    <a:pt x="253" y="1229"/>
                  </a:cubicBezTo>
                  <a:cubicBezTo>
                    <a:pt x="-83" y="1566"/>
                    <a:pt x="-83" y="2113"/>
                    <a:pt x="253" y="2450"/>
                  </a:cubicBezTo>
                  <a:cubicBezTo>
                    <a:pt x="331" y="2529"/>
                    <a:pt x="421" y="2588"/>
                    <a:pt x="517" y="2630"/>
                  </a:cubicBezTo>
                  <a:cubicBezTo>
                    <a:pt x="528" y="2643"/>
                    <a:pt x="541" y="2655"/>
                    <a:pt x="555" y="2665"/>
                  </a:cubicBezTo>
                  <a:cubicBezTo>
                    <a:pt x="569" y="2675"/>
                    <a:pt x="584" y="2683"/>
                    <a:pt x="600" y="2689"/>
                  </a:cubicBezTo>
                  <a:cubicBezTo>
                    <a:pt x="625" y="2697"/>
                    <a:pt x="650" y="2701"/>
                    <a:pt x="679" y="2703"/>
                  </a:cubicBezTo>
                  <a:cubicBezTo>
                    <a:pt x="709" y="2705"/>
                    <a:pt x="744" y="2705"/>
                    <a:pt x="791" y="2705"/>
                  </a:cubicBezTo>
                  <a:lnTo>
                    <a:pt x="3348" y="2705"/>
                  </a:lnTo>
                  <a:cubicBezTo>
                    <a:pt x="3598" y="2748"/>
                    <a:pt x="3864" y="2674"/>
                    <a:pt x="4057" y="2481"/>
                  </a:cubicBezTo>
                  <a:cubicBezTo>
                    <a:pt x="4372" y="2166"/>
                    <a:pt x="4372" y="1655"/>
                    <a:pt x="4057" y="1340"/>
                  </a:cubicBezTo>
                  <a:cubicBezTo>
                    <a:pt x="3942" y="1225"/>
                    <a:pt x="3800" y="1152"/>
                    <a:pt x="3651" y="1121"/>
                  </a:cubicBezTo>
                  <a:cubicBezTo>
                    <a:pt x="3632" y="841"/>
                    <a:pt x="3517" y="566"/>
                    <a:pt x="3303" y="352"/>
                  </a:cubicBezTo>
                  <a:cubicBezTo>
                    <a:pt x="3068" y="117"/>
                    <a:pt x="2760" y="0"/>
                    <a:pt x="2451" y="0"/>
                  </a:cubicBezTo>
                </a:path>
              </a:pathLst>
            </a:custGeom>
            <a:solidFill>
              <a:srgbClr val="ECF2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990" name="textbox 2990"/>
            <p:cNvSpPr/>
            <p:nvPr/>
          </p:nvSpPr>
          <p:spPr>
            <a:xfrm>
              <a:off x="-12700" y="-12700"/>
              <a:ext cx="2752725" cy="17684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656590" algn="l" rtl="0" eaLnBrk="0">
                <a:lnSpc>
                  <a:spcPct val="96000"/>
                </a:lnSpc>
                <a:spcBef>
                  <a:spcPts val="2"/>
                </a:spcBef>
                <a:tabLst/>
              </a:pPr>
              <a:r>
                <a:rPr sz="14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工业互联网云平台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3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488315" algn="l" rtl="0" eaLnBrk="0">
                <a:lnSpc>
                  <a:spcPct val="95000"/>
                </a:lnSpc>
                <a:spcBef>
                  <a:spcPts val="1"/>
                </a:spcBef>
                <a:tabLst/>
              </a:pPr>
              <a:r>
                <a:rPr sz="14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标准协议</a:t>
              </a:r>
              <a:r>
                <a:rPr sz="14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</a:t>
              </a:r>
              <a:r>
                <a:rPr sz="14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数据存储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992" name="textbox 2992"/>
          <p:cNvSpPr/>
          <p:nvPr/>
        </p:nvSpPr>
        <p:spPr>
          <a:xfrm>
            <a:off x="4577320" y="6228260"/>
            <a:ext cx="3372484" cy="2559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13"/>
              </a:lnSpc>
              <a:tabLst/>
            </a:pPr>
            <a:r>
              <a:rPr sz="1400" kern="0" spc="-10" dirty="0">
                <a:solidFill>
                  <a:srgbClr val="53535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PLC      </a:t>
            </a:r>
            <a:r>
              <a:rPr sz="1400" kern="0" spc="-20" dirty="0">
                <a:solidFill>
                  <a:srgbClr val="53535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机器手</a:t>
            </a:r>
            <a:r>
              <a:rPr sz="1400" kern="0" spc="0" dirty="0">
                <a:solidFill>
                  <a:srgbClr val="53535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</a:t>
            </a:r>
            <a:r>
              <a:rPr sz="1400" kern="0" spc="-20" dirty="0">
                <a:solidFill>
                  <a:srgbClr val="53535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RFID</a:t>
            </a:r>
            <a:r>
              <a:rPr sz="1400" kern="0" spc="20" dirty="0">
                <a:solidFill>
                  <a:srgbClr val="53535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r>
              <a:rPr sz="1400" kern="0" spc="10" dirty="0">
                <a:solidFill>
                  <a:srgbClr val="53535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53535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扫码枪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994" name="picture 299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638471" y="5622328"/>
            <a:ext cx="3104972" cy="178955"/>
          </a:xfrm>
          <a:prstGeom prst="rect">
            <a:avLst/>
          </a:prstGeom>
        </p:spPr>
      </p:pic>
      <p:grpSp>
        <p:nvGrpSpPr>
          <p:cNvPr id="276" name="group 276"/>
          <p:cNvGrpSpPr/>
          <p:nvPr/>
        </p:nvGrpSpPr>
        <p:grpSpPr>
          <a:xfrm rot="21600000">
            <a:off x="9119641" y="1775688"/>
            <a:ext cx="963942" cy="549465"/>
            <a:chOff x="0" y="0"/>
            <a:chExt cx="963942" cy="549465"/>
          </a:xfrm>
        </p:grpSpPr>
        <p:pic>
          <p:nvPicPr>
            <p:cNvPr id="2996" name="picture 299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963942" cy="549465"/>
            </a:xfrm>
            <a:prstGeom prst="rect">
              <a:avLst/>
            </a:prstGeom>
          </p:spPr>
        </p:pic>
        <p:sp>
          <p:nvSpPr>
            <p:cNvPr id="2998" name="textbox 2998"/>
            <p:cNvSpPr/>
            <p:nvPr/>
          </p:nvSpPr>
          <p:spPr>
            <a:xfrm>
              <a:off x="-12700" y="-12700"/>
              <a:ext cx="989964" cy="5943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6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38759" algn="l" rtl="0" eaLnBrk="0">
                <a:lnSpc>
                  <a:spcPct val="95000"/>
                </a:lnSpc>
                <a:spcBef>
                  <a:spcPts val="3"/>
                </a:spcBef>
                <a:tabLst/>
              </a:pP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智慧云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78" name="group 278"/>
          <p:cNvGrpSpPr/>
          <p:nvPr/>
        </p:nvGrpSpPr>
        <p:grpSpPr>
          <a:xfrm rot="21600000">
            <a:off x="9119641" y="2550388"/>
            <a:ext cx="963942" cy="549465"/>
            <a:chOff x="0" y="0"/>
            <a:chExt cx="963942" cy="549465"/>
          </a:xfrm>
        </p:grpSpPr>
        <p:pic>
          <p:nvPicPr>
            <p:cNvPr id="3000" name="picture 30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963942" cy="549465"/>
            </a:xfrm>
            <a:prstGeom prst="rect">
              <a:avLst/>
            </a:prstGeom>
          </p:spPr>
        </p:pic>
        <p:sp>
          <p:nvSpPr>
            <p:cNvPr id="3002" name="textbox 3002"/>
            <p:cNvSpPr/>
            <p:nvPr/>
          </p:nvSpPr>
          <p:spPr>
            <a:xfrm>
              <a:off x="-12700" y="-12700"/>
              <a:ext cx="989964" cy="5930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4939" algn="l" rtl="0" eaLnBrk="0">
                <a:lnSpc>
                  <a:spcPct val="96000"/>
                </a:lnSpc>
                <a:spcBef>
                  <a:spcPts val="7"/>
                </a:spcBef>
                <a:tabLst/>
              </a:pP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营销服务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80" name="group 280"/>
          <p:cNvGrpSpPr/>
          <p:nvPr/>
        </p:nvGrpSpPr>
        <p:grpSpPr>
          <a:xfrm rot="21600000">
            <a:off x="9176530" y="4851539"/>
            <a:ext cx="913855" cy="549465"/>
            <a:chOff x="0" y="0"/>
            <a:chExt cx="913855" cy="549465"/>
          </a:xfrm>
        </p:grpSpPr>
        <p:pic>
          <p:nvPicPr>
            <p:cNvPr id="3004" name="picture 300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913855" cy="549465"/>
            </a:xfrm>
            <a:prstGeom prst="rect">
              <a:avLst/>
            </a:prstGeom>
          </p:spPr>
        </p:pic>
        <p:sp>
          <p:nvSpPr>
            <p:cNvPr id="3006" name="textbox 3006"/>
            <p:cNvSpPr/>
            <p:nvPr/>
          </p:nvSpPr>
          <p:spPr>
            <a:xfrm>
              <a:off x="-12700" y="-12700"/>
              <a:ext cx="939800" cy="5956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7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64464" algn="l" rtl="0" eaLnBrk="0">
                <a:lnSpc>
                  <a:spcPct val="96000"/>
                </a:lnSpc>
                <a:spcBef>
                  <a:spcPts val="5"/>
                </a:spcBef>
                <a:tabLst/>
              </a:pPr>
              <a:r>
                <a:rPr sz="15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供应商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82" name="group 282"/>
          <p:cNvGrpSpPr/>
          <p:nvPr/>
        </p:nvGrpSpPr>
        <p:grpSpPr>
          <a:xfrm rot="21600000">
            <a:off x="9176530" y="5613539"/>
            <a:ext cx="913855" cy="549465"/>
            <a:chOff x="0" y="0"/>
            <a:chExt cx="913855" cy="549465"/>
          </a:xfrm>
        </p:grpSpPr>
        <p:pic>
          <p:nvPicPr>
            <p:cNvPr id="3008" name="picture 300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913855" cy="549465"/>
            </a:xfrm>
            <a:prstGeom prst="rect">
              <a:avLst/>
            </a:prstGeom>
          </p:spPr>
        </p:pic>
        <p:sp>
          <p:nvSpPr>
            <p:cNvPr id="3010" name="textbox 3010"/>
            <p:cNvSpPr/>
            <p:nvPr/>
          </p:nvSpPr>
          <p:spPr>
            <a:xfrm>
              <a:off x="-12700" y="-12700"/>
              <a:ext cx="939800" cy="6210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10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90525" algn="l" rtl="0" eaLnBrk="0">
                <a:lnSpc>
                  <a:spcPts val="521"/>
                </a:lnSpc>
                <a:tabLst/>
              </a:pPr>
              <a:r>
                <a:rPr sz="15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…</a:t>
              </a:r>
              <a:endParaRPr sz="15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284" name="group 284"/>
          <p:cNvGrpSpPr/>
          <p:nvPr/>
        </p:nvGrpSpPr>
        <p:grpSpPr>
          <a:xfrm rot="21600000">
            <a:off x="9176530" y="4089539"/>
            <a:ext cx="913855" cy="549465"/>
            <a:chOff x="0" y="0"/>
            <a:chExt cx="913855" cy="549465"/>
          </a:xfrm>
        </p:grpSpPr>
        <p:pic>
          <p:nvPicPr>
            <p:cNvPr id="3012" name="picture 301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913855" cy="549465"/>
            </a:xfrm>
            <a:prstGeom prst="rect">
              <a:avLst/>
            </a:prstGeom>
          </p:spPr>
        </p:pic>
        <p:sp>
          <p:nvSpPr>
            <p:cNvPr id="3014" name="textbox 3014"/>
            <p:cNvSpPr/>
            <p:nvPr/>
          </p:nvSpPr>
          <p:spPr>
            <a:xfrm>
              <a:off x="-12700" y="-12700"/>
              <a:ext cx="939800" cy="5937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95885" algn="l" rtl="0" eaLnBrk="0">
                <a:lnSpc>
                  <a:spcPct val="95000"/>
                </a:lnSpc>
                <a:spcBef>
                  <a:spcPts val="7"/>
                </a:spcBef>
                <a:tabLst/>
              </a:pP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虚拟工厂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86" name="group 286"/>
          <p:cNvGrpSpPr/>
          <p:nvPr/>
        </p:nvGrpSpPr>
        <p:grpSpPr>
          <a:xfrm rot="21600000">
            <a:off x="9176530" y="3327539"/>
            <a:ext cx="913855" cy="549465"/>
            <a:chOff x="0" y="0"/>
            <a:chExt cx="913855" cy="549465"/>
          </a:xfrm>
        </p:grpSpPr>
        <p:pic>
          <p:nvPicPr>
            <p:cNvPr id="3016" name="picture 301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913855" cy="549465"/>
            </a:xfrm>
            <a:prstGeom prst="rect">
              <a:avLst/>
            </a:prstGeom>
          </p:spPr>
        </p:pic>
        <p:sp>
          <p:nvSpPr>
            <p:cNvPr id="3018" name="textbox 3018"/>
            <p:cNvSpPr/>
            <p:nvPr/>
          </p:nvSpPr>
          <p:spPr>
            <a:xfrm>
              <a:off x="-12700" y="-12700"/>
              <a:ext cx="939800" cy="5949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82575" algn="l" rtl="0" eaLnBrk="0">
                <a:lnSpc>
                  <a:spcPct val="96000"/>
                </a:lnSpc>
                <a:spcBef>
                  <a:spcPts val="1"/>
                </a:spcBef>
                <a:tabLst/>
              </a:pPr>
              <a:r>
                <a:rPr sz="14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客服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88" name="group 288"/>
          <p:cNvGrpSpPr/>
          <p:nvPr/>
        </p:nvGrpSpPr>
        <p:grpSpPr>
          <a:xfrm rot="21600000">
            <a:off x="2114359" y="1540535"/>
            <a:ext cx="754811" cy="561175"/>
            <a:chOff x="0" y="0"/>
            <a:chExt cx="754811" cy="561175"/>
          </a:xfrm>
        </p:grpSpPr>
        <p:pic>
          <p:nvPicPr>
            <p:cNvPr id="3020" name="picture 302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754811" cy="561175"/>
            </a:xfrm>
            <a:prstGeom prst="rect">
              <a:avLst/>
            </a:prstGeom>
          </p:spPr>
        </p:pic>
        <p:sp>
          <p:nvSpPr>
            <p:cNvPr id="3022" name="textbox 3022"/>
            <p:cNvSpPr/>
            <p:nvPr/>
          </p:nvSpPr>
          <p:spPr>
            <a:xfrm>
              <a:off x="-12700" y="-12700"/>
              <a:ext cx="780415" cy="6292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9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27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15265" algn="l" rtl="0" eaLnBrk="0">
                <a:lnSpc>
                  <a:spcPct val="84000"/>
                </a:lnSpc>
                <a:tabLst/>
              </a:pP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ERP</a:t>
              </a:r>
              <a:endParaRPr sz="14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290" name="group 290"/>
          <p:cNvGrpSpPr/>
          <p:nvPr/>
        </p:nvGrpSpPr>
        <p:grpSpPr>
          <a:xfrm rot="21600000">
            <a:off x="2114359" y="2241625"/>
            <a:ext cx="754811" cy="561175"/>
            <a:chOff x="0" y="0"/>
            <a:chExt cx="754811" cy="561175"/>
          </a:xfrm>
        </p:grpSpPr>
        <p:pic>
          <p:nvPicPr>
            <p:cNvPr id="3024" name="picture 3024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0" y="0"/>
              <a:ext cx="754811" cy="561175"/>
            </a:xfrm>
            <a:prstGeom prst="rect">
              <a:avLst/>
            </a:prstGeom>
          </p:spPr>
        </p:pic>
        <p:sp>
          <p:nvSpPr>
            <p:cNvPr id="3026" name="textbox 3026"/>
            <p:cNvSpPr/>
            <p:nvPr/>
          </p:nvSpPr>
          <p:spPr>
            <a:xfrm>
              <a:off x="-12700" y="-12700"/>
              <a:ext cx="780415" cy="6292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9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27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14629" algn="l" rtl="0" eaLnBrk="0">
                <a:lnSpc>
                  <a:spcPct val="84000"/>
                </a:lnSpc>
                <a:tabLst/>
              </a:pP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PLM</a:t>
              </a:r>
              <a:endParaRPr sz="14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292" name="group 292"/>
          <p:cNvGrpSpPr/>
          <p:nvPr/>
        </p:nvGrpSpPr>
        <p:grpSpPr>
          <a:xfrm rot="21600000">
            <a:off x="2120709" y="2952825"/>
            <a:ext cx="754811" cy="561175"/>
            <a:chOff x="0" y="0"/>
            <a:chExt cx="754811" cy="561175"/>
          </a:xfrm>
        </p:grpSpPr>
        <p:pic>
          <p:nvPicPr>
            <p:cNvPr id="3028" name="picture 3028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0" y="0"/>
              <a:ext cx="754811" cy="561175"/>
            </a:xfrm>
            <a:prstGeom prst="rect">
              <a:avLst/>
            </a:prstGeom>
          </p:spPr>
        </p:pic>
        <p:sp>
          <p:nvSpPr>
            <p:cNvPr id="3030" name="textbox 3030"/>
            <p:cNvSpPr/>
            <p:nvPr/>
          </p:nvSpPr>
          <p:spPr>
            <a:xfrm>
              <a:off x="-12700" y="-12700"/>
              <a:ext cx="780415" cy="6273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9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39395" algn="l" rtl="0" eaLnBrk="0">
                <a:lnSpc>
                  <a:spcPct val="85000"/>
                </a:lnSpc>
                <a:spcBef>
                  <a:spcPts val="5"/>
                </a:spcBef>
                <a:tabLst/>
              </a:pP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MES</a:t>
              </a:r>
              <a:endParaRPr sz="14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294" name="group 294"/>
          <p:cNvGrpSpPr/>
          <p:nvPr/>
        </p:nvGrpSpPr>
        <p:grpSpPr>
          <a:xfrm rot="21600000">
            <a:off x="2120709" y="3675316"/>
            <a:ext cx="754811" cy="561175"/>
            <a:chOff x="0" y="0"/>
            <a:chExt cx="754811" cy="561175"/>
          </a:xfrm>
        </p:grpSpPr>
        <p:pic>
          <p:nvPicPr>
            <p:cNvPr id="3032" name="picture 3032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754811" cy="561175"/>
            </a:xfrm>
            <a:prstGeom prst="rect">
              <a:avLst/>
            </a:prstGeom>
          </p:spPr>
        </p:pic>
        <p:sp>
          <p:nvSpPr>
            <p:cNvPr id="3034" name="textbox 3034"/>
            <p:cNvSpPr/>
            <p:nvPr/>
          </p:nvSpPr>
          <p:spPr>
            <a:xfrm>
              <a:off x="-12700" y="-12700"/>
              <a:ext cx="780415" cy="6292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9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10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40665" algn="l" rtl="0" eaLnBrk="0">
                <a:lnSpc>
                  <a:spcPct val="84000"/>
                </a:lnSpc>
                <a:tabLst/>
              </a:pP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EAM</a:t>
              </a:r>
              <a:endParaRPr sz="14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296" name="group 296"/>
          <p:cNvGrpSpPr/>
          <p:nvPr/>
        </p:nvGrpSpPr>
        <p:grpSpPr>
          <a:xfrm rot="21600000">
            <a:off x="2120709" y="4414875"/>
            <a:ext cx="754811" cy="561175"/>
            <a:chOff x="0" y="0"/>
            <a:chExt cx="754811" cy="561175"/>
          </a:xfrm>
        </p:grpSpPr>
        <p:pic>
          <p:nvPicPr>
            <p:cNvPr id="3036" name="picture 3036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0" y="0"/>
              <a:ext cx="754811" cy="561175"/>
            </a:xfrm>
            <a:prstGeom prst="rect">
              <a:avLst/>
            </a:prstGeom>
          </p:spPr>
        </p:pic>
        <p:sp>
          <p:nvSpPr>
            <p:cNvPr id="3038" name="textbox 3038"/>
            <p:cNvSpPr/>
            <p:nvPr/>
          </p:nvSpPr>
          <p:spPr>
            <a:xfrm>
              <a:off x="-12700" y="-12700"/>
              <a:ext cx="780415" cy="6273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9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26059" algn="l" rtl="0" eaLnBrk="0">
                <a:lnSpc>
                  <a:spcPct val="85000"/>
                </a:lnSpc>
                <a:spcBef>
                  <a:spcPts val="5"/>
                </a:spcBef>
                <a:tabLst/>
              </a:pPr>
              <a:r>
                <a:rPr sz="1400" kern="0" spc="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APS</a:t>
              </a:r>
              <a:endParaRPr sz="14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298" name="group 298"/>
          <p:cNvGrpSpPr/>
          <p:nvPr/>
        </p:nvGrpSpPr>
        <p:grpSpPr>
          <a:xfrm rot="21600000">
            <a:off x="2114359" y="5841885"/>
            <a:ext cx="754811" cy="561175"/>
            <a:chOff x="0" y="0"/>
            <a:chExt cx="754811" cy="561175"/>
          </a:xfrm>
        </p:grpSpPr>
        <p:pic>
          <p:nvPicPr>
            <p:cNvPr id="3040" name="picture 3040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0" y="0"/>
              <a:ext cx="754811" cy="561175"/>
            </a:xfrm>
            <a:prstGeom prst="rect">
              <a:avLst/>
            </a:prstGeom>
          </p:spPr>
        </p:pic>
        <p:sp>
          <p:nvSpPr>
            <p:cNvPr id="3042" name="textbox 3042"/>
            <p:cNvSpPr/>
            <p:nvPr/>
          </p:nvSpPr>
          <p:spPr>
            <a:xfrm>
              <a:off x="-12700" y="-12700"/>
              <a:ext cx="780415" cy="632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93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18134" algn="l" rtl="0" eaLnBrk="0">
                <a:lnSpc>
                  <a:spcPts val="521"/>
                </a:lnSpc>
                <a:tabLst/>
              </a:pPr>
              <a:r>
                <a:rPr sz="15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…</a:t>
              </a:r>
              <a:endParaRPr sz="15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300" name="group 300"/>
          <p:cNvGrpSpPr/>
          <p:nvPr/>
        </p:nvGrpSpPr>
        <p:grpSpPr>
          <a:xfrm rot="21600000">
            <a:off x="2120709" y="5140617"/>
            <a:ext cx="754811" cy="561174"/>
            <a:chOff x="0" y="0"/>
            <a:chExt cx="754811" cy="561174"/>
          </a:xfrm>
        </p:grpSpPr>
        <p:pic>
          <p:nvPicPr>
            <p:cNvPr id="3044" name="picture 3044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0" y="0"/>
              <a:ext cx="754811" cy="561174"/>
            </a:xfrm>
            <a:prstGeom prst="rect">
              <a:avLst/>
            </a:prstGeom>
          </p:spPr>
        </p:pic>
        <p:sp>
          <p:nvSpPr>
            <p:cNvPr id="3046" name="textbox 3046"/>
            <p:cNvSpPr/>
            <p:nvPr/>
          </p:nvSpPr>
          <p:spPr>
            <a:xfrm>
              <a:off x="-12700" y="-12700"/>
              <a:ext cx="780415" cy="6273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9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82245" algn="l" rtl="0" eaLnBrk="0">
                <a:lnSpc>
                  <a:spcPct val="85000"/>
                </a:lnSpc>
                <a:spcBef>
                  <a:spcPts val="5"/>
                </a:spcBef>
                <a:tabLst/>
              </a:pPr>
              <a:r>
                <a:rPr sz="14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SRM</a:t>
              </a:r>
              <a:endParaRPr sz="14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3048" name="textbox 3048"/>
          <p:cNvSpPr/>
          <p:nvPr/>
        </p:nvSpPr>
        <p:spPr>
          <a:xfrm>
            <a:off x="7365911" y="2024948"/>
            <a:ext cx="1327785" cy="229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1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工业大数据服务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50" name="textbox 3050"/>
          <p:cNvSpPr/>
          <p:nvPr/>
        </p:nvSpPr>
        <p:spPr>
          <a:xfrm>
            <a:off x="3526891" y="2018598"/>
            <a:ext cx="957580" cy="229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7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私有云服务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52" name="picture 305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4453128" y="5910071"/>
            <a:ext cx="568452" cy="272795"/>
          </a:xfrm>
          <a:prstGeom prst="rect">
            <a:avLst/>
          </a:prstGeom>
        </p:spPr>
      </p:pic>
      <p:sp>
        <p:nvSpPr>
          <p:cNvPr id="3054" name="textbox 3054"/>
          <p:cNvSpPr/>
          <p:nvPr/>
        </p:nvSpPr>
        <p:spPr>
          <a:xfrm>
            <a:off x="4353497" y="3980230"/>
            <a:ext cx="470534" cy="363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32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70485" algn="l" rtl="0" eaLnBrk="0">
              <a:lnSpc>
                <a:spcPct val="95000"/>
              </a:lnSpc>
              <a:tabLst/>
            </a:pPr>
            <a:r>
              <a:rPr sz="1200" kern="0" spc="-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MES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中间件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56" name="picture 305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573589" y="2320137"/>
            <a:ext cx="862165" cy="76200"/>
          </a:xfrm>
          <a:prstGeom prst="rect">
            <a:avLst/>
          </a:prstGeom>
        </p:spPr>
      </p:pic>
      <p:pic>
        <p:nvPicPr>
          <p:cNvPr id="3058" name="picture 305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7657872" y="2367991"/>
            <a:ext cx="862163" cy="76200"/>
          </a:xfrm>
          <a:prstGeom prst="rect">
            <a:avLst/>
          </a:prstGeom>
        </p:spPr>
      </p:pic>
      <p:pic>
        <p:nvPicPr>
          <p:cNvPr id="3060" name="picture 306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7522611" y="5961888"/>
            <a:ext cx="306029" cy="207263"/>
          </a:xfrm>
          <a:prstGeom prst="rect">
            <a:avLst/>
          </a:prstGeom>
        </p:spPr>
      </p:pic>
      <p:pic>
        <p:nvPicPr>
          <p:cNvPr id="3062" name="picture 306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6530340" y="5925311"/>
            <a:ext cx="256031" cy="242316"/>
          </a:xfrm>
          <a:prstGeom prst="rect">
            <a:avLst/>
          </a:prstGeom>
        </p:spPr>
      </p:pic>
      <p:pic>
        <p:nvPicPr>
          <p:cNvPr id="3064" name="picture 306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5532267" y="5948587"/>
            <a:ext cx="293787" cy="210796"/>
          </a:xfrm>
          <a:prstGeom prst="rect">
            <a:avLst/>
          </a:prstGeom>
        </p:spPr>
      </p:pic>
      <p:pic>
        <p:nvPicPr>
          <p:cNvPr id="3066" name="picture 306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6143459" y="5397652"/>
            <a:ext cx="266700" cy="16793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68" name="table 3068"/>
          <p:cNvGraphicFramePr>
            <a:graphicFrameLocks noGrp="1"/>
          </p:cNvGraphicFramePr>
          <p:nvPr/>
        </p:nvGraphicFramePr>
        <p:xfrm>
          <a:off x="361899" y="979906"/>
          <a:ext cx="11314430" cy="5770245"/>
        </p:xfrm>
        <a:graphic>
          <a:graphicData uri="http://schemas.openxmlformats.org/drawingml/2006/table">
            <a:tbl>
              <a:tblPr/>
              <a:tblGrid>
                <a:gridCol w="781050"/>
                <a:gridCol w="2063750"/>
                <a:gridCol w="5452109"/>
                <a:gridCol w="1508125"/>
                <a:gridCol w="1509394"/>
              </a:tblGrid>
              <a:tr h="5530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870" algn="l" rtl="0" eaLnBrk="0">
                        <a:lnSpc>
                          <a:spcPct val="9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序号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84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4215" algn="l" rtl="0" eaLnBrk="0">
                        <a:lnSpc>
                          <a:spcPct val="9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业务模块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84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33295" algn="l" rtl="0" eaLnBrk="0">
                        <a:lnSpc>
                          <a:spcPct val="9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业务变革需求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84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2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634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2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84D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3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418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2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完成时间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84DA"/>
                    </a:solidFill>
                  </a:tcPr>
                </a:tc>
              </a:tr>
              <a:tr h="274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950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848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总装生产过程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4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1、确定总装生产过程扫码点位</a:t>
                      </a:r>
                      <a:r>
                        <a:rPr sz="12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随线筒部装扫码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采集业务方案；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4965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2、确定总装关键件物料种类并推进供应商来料粘贴二维码标签；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6234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2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" indent="8889" algn="l" rtl="0" eaLnBrk="0">
                        <a:lnSpc>
                          <a:spcPct val="109000"/>
                        </a:lnSpc>
                        <a:tabLst/>
                      </a:pPr>
                      <a:r>
                        <a:rPr sz="12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3、确定总装线关键设备联机需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求明细（安规仪器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 ，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确定设备型号及厂商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6709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4" algn="l" rtl="0" eaLnBrk="0">
                        <a:lnSpc>
                          <a:spcPts val="1671"/>
                        </a:lnSpc>
                        <a:tabLst/>
                      </a:pP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4、条码整合变更相关业务(设备、</a:t>
                      </a:r>
                      <a:r>
                        <a:rPr sz="12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物流)变革</a:t>
                      </a:r>
                      <a:r>
                        <a:rPr sz="12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2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15-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16位转22位条码；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9409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3580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入厂物流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4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1、厂内物流路径规划及各种车辆、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车位规划确定；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4965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2、供应商来料标准容器规范统一；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3695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4" algn="l" rtl="0" eaLnBrk="0">
                        <a:lnSpc>
                          <a:spcPts val="1671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3、</a:t>
                      </a:r>
                      <a:r>
                        <a:rPr sz="12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明确物料分类属性</a:t>
                      </a:r>
                      <a:r>
                        <a:rPr sz="12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：推式（跟单、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共享）</a:t>
                      </a:r>
                      <a:r>
                        <a:rPr sz="12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、拉</a:t>
                      </a:r>
                      <a:r>
                        <a:rPr sz="12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式；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3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3059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4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4、供应商来料物料标签粘贴规范</a:t>
                      </a:r>
                      <a:r>
                        <a:rPr sz="1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，确保标签与实物一致</a:t>
                      </a:r>
                      <a:r>
                        <a:rPr sz="12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，保证单货同行；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3059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5、供应商来料暂存、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拆包、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分拣、</a:t>
                      </a:r>
                      <a:r>
                        <a:rPr sz="12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齐套暂存区域规划确定；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3690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4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6460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自制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4" algn="l" rtl="0" eaLnBrk="0">
                        <a:lnSpc>
                          <a:spcPts val="1671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1、</a:t>
                      </a: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自制件部装半成品（箱体、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内筒）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标准容器确定；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3690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2、</a:t>
                      </a:r>
                      <a:r>
                        <a:rPr sz="1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自制件半成品暂存区域规划确定；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3690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4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3、箱体、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桶、</a:t>
                      </a:r>
                      <a:r>
                        <a:rPr sz="12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离合器等自制件部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票实现见票生产、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票随物流；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3690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4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4、</a:t>
                      </a:r>
                      <a:r>
                        <a:rPr sz="12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自制件生产价值流拉动业务流程确定</a:t>
                      </a:r>
                      <a:r>
                        <a:rPr sz="12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，拉动信息看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板确定；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3690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2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3109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2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电子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MES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4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1、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电子分厂按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票拉动配送</a:t>
                      </a:r>
                      <a:r>
                        <a:rPr sz="12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，单车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票时间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按节拍设定；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3690" algn="l" rtl="0" eaLnBrk="0">
                        <a:lnSpc>
                          <a:spcPct val="91000"/>
                        </a:lnSpc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4" algn="l" rtl="0" eaLnBrk="0">
                        <a:lnSpc>
                          <a:spcPct val="9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2、</a:t>
                      </a:r>
                      <a:r>
                        <a:rPr sz="12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电子分厂内部物流器具标准化</a:t>
                      </a:r>
                      <a:r>
                        <a:rPr sz="12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，达到内部拉动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顺畅可行。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3690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1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4855"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2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注塑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MES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4" algn="l" rtl="0" eaLnBrk="0">
                        <a:lnSpc>
                          <a:spcPts val="1671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1.注塑分厂实现按单生产（共享单)</a:t>
                      </a:r>
                      <a:r>
                        <a:rPr sz="12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，并做出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入库管理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3690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9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2.注塑物料实现先进先出管理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3690" algn="l" rtl="0" eaLnBrk="0">
                        <a:lnSpc>
                          <a:spcPct val="91000"/>
                        </a:lnSpc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4" algn="l" rtl="0" eaLnBrk="0">
                        <a:lnSpc>
                          <a:spcPts val="1671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3、设备连接管理基础条件（通信接口</a:t>
                      </a:r>
                      <a:r>
                        <a:rPr sz="12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，业务流程标准化等）</a:t>
                      </a:r>
                      <a:r>
                        <a:rPr sz="12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确认；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70" name="textbox 3070"/>
          <p:cNvSpPr/>
          <p:nvPr/>
        </p:nvSpPr>
        <p:spPr>
          <a:xfrm>
            <a:off x="387468" y="213303"/>
            <a:ext cx="3071495" cy="394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制造执行业务变革点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" name="textbox 3072"/>
          <p:cNvSpPr/>
          <p:nvPr/>
        </p:nvSpPr>
        <p:spPr>
          <a:xfrm>
            <a:off x="219706" y="173345"/>
            <a:ext cx="11251565" cy="2442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供应商协同-项目规划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4145" algn="l" rtl="0" eaLnBrk="0">
              <a:lnSpc>
                <a:spcPct val="94000"/>
              </a:lnSpc>
              <a:spcBef>
                <a:spcPts val="545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</a:t>
            </a:r>
            <a:r>
              <a:rPr sz="18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美的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97000"/>
              </a:lnSpc>
              <a:spcBef>
                <a:spcPts val="790"/>
              </a:spcBef>
              <a:tabLst/>
            </a:pPr>
            <a:r>
              <a:rPr sz="14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了解供应商生产制造信息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，及时发现纠正计划生产例外；</a:t>
            </a:r>
            <a:r>
              <a:rPr sz="1500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深度了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解供方绩效、</a:t>
            </a:r>
            <a:r>
              <a:rPr sz="1500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指导供方提升供应能力</a:t>
            </a:r>
            <a:r>
              <a:rPr sz="15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00" kern="0" spc="-3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为2-4小时备料提供支持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35254" algn="l" rtl="0" eaLnBrk="0">
              <a:lnSpc>
                <a:spcPct val="94000"/>
              </a:lnSpc>
              <a:spcBef>
                <a:spcPts val="1529"/>
              </a:spcBef>
              <a:tabLst/>
            </a:pP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 供应商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9539" indent="-4444" algn="l" rtl="0" eaLnBrk="0">
              <a:lnSpc>
                <a:spcPct val="119000"/>
              </a:lnSpc>
              <a:tabLst/>
            </a:pPr>
            <a:r>
              <a:rPr sz="14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通过云支撑计划排程、生产执行、库存、交货等业务流程的精细化&amp;透明化管理；通过客户采购数据共享及时掌握客户计划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变动和接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收情况；绩效透明化、经营改进、有的放矢。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74" name="rect 3074"/>
          <p:cNvSpPr/>
          <p:nvPr/>
        </p:nvSpPr>
        <p:spPr>
          <a:xfrm>
            <a:off x="6509004" y="2806522"/>
            <a:ext cx="5332476" cy="3753485"/>
          </a:xfrm>
          <a:prstGeom prst="rect">
            <a:avLst/>
          </a:prstGeom>
          <a:solidFill>
            <a:srgbClr val="3E82F9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76" name="rect 3076"/>
          <p:cNvSpPr/>
          <p:nvPr/>
        </p:nvSpPr>
        <p:spPr>
          <a:xfrm>
            <a:off x="348716" y="2806522"/>
            <a:ext cx="5287505" cy="3753485"/>
          </a:xfrm>
          <a:prstGeom prst="rect">
            <a:avLst/>
          </a:prstGeom>
          <a:solidFill>
            <a:srgbClr val="3E82F9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078" name="picture 30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08409" y="3771138"/>
            <a:ext cx="4300194" cy="2207882"/>
          </a:xfrm>
          <a:prstGeom prst="rect">
            <a:avLst/>
          </a:prstGeom>
        </p:spPr>
      </p:pic>
      <p:sp>
        <p:nvSpPr>
          <p:cNvPr id="3080" name="textbox 3080"/>
          <p:cNvSpPr/>
          <p:nvPr/>
        </p:nvSpPr>
        <p:spPr>
          <a:xfrm>
            <a:off x="9932098" y="3521859"/>
            <a:ext cx="1005839" cy="2629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需求工作台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5405" algn="l" rtl="0" eaLnBrk="0">
              <a:lnSpc>
                <a:spcPct val="96000"/>
              </a:lnSpc>
              <a:spcBef>
                <a:spcPts val="422"/>
              </a:spcBef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②生成工单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1755" algn="l" rtl="0" eaLnBrk="0">
              <a:lnSpc>
                <a:spcPct val="88000"/>
              </a:lnSpc>
              <a:spcBef>
                <a:spcPts val="422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⑤入库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58419" algn="l" rtl="0" eaLnBrk="0">
              <a:lnSpc>
                <a:spcPts val="4726"/>
              </a:lnSpc>
              <a:tabLst/>
            </a:pP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⑥发货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39395" algn="l" rtl="0" eaLnBrk="0">
              <a:lnSpc>
                <a:spcPct val="93000"/>
              </a:lnSpc>
              <a:tabLst/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品质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82" name="textbox 3082"/>
          <p:cNvSpPr/>
          <p:nvPr/>
        </p:nvSpPr>
        <p:spPr>
          <a:xfrm>
            <a:off x="6899471" y="3533301"/>
            <a:ext cx="1139189" cy="13823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290" algn="l" rtl="0" eaLnBrk="0">
              <a:lnSpc>
                <a:spcPct val="95000"/>
              </a:lnSpc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①采购需求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431"/>
              </a:spcBef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③排程工作台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55880" algn="l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④完工下线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84" name="textbox 3084"/>
          <p:cNvSpPr/>
          <p:nvPr/>
        </p:nvSpPr>
        <p:spPr>
          <a:xfrm>
            <a:off x="5635785" y="3508463"/>
            <a:ext cx="918210" cy="1438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8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2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预测、计划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191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产能、排产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6679" algn="l" rtl="0" eaLnBrk="0">
              <a:lnSpc>
                <a:spcPct val="91000"/>
              </a:lnSpc>
              <a:spcBef>
                <a:spcPts val="430"/>
              </a:spcBef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送货通知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库存、交货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86" name="picture 30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508409" y="5397410"/>
            <a:ext cx="1175182" cy="76200"/>
          </a:xfrm>
          <a:prstGeom prst="rect">
            <a:avLst/>
          </a:prstGeom>
        </p:spPr>
      </p:pic>
      <p:sp>
        <p:nvSpPr>
          <p:cNvPr id="3088" name="textbox 3088"/>
          <p:cNvSpPr/>
          <p:nvPr/>
        </p:nvSpPr>
        <p:spPr>
          <a:xfrm>
            <a:off x="5284972" y="5132951"/>
            <a:ext cx="1624330" cy="6267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采购订单、开票对账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245109" algn="l" rtl="0" eaLnBrk="0">
              <a:lnSpc>
                <a:spcPts val="471"/>
              </a:lnSpc>
              <a:spcBef>
                <a:spcPts val="1023"/>
              </a:spcBef>
              <a:tabLst/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endParaRPr sz="1000" dirty="0">
              <a:latin typeface="SimSun"/>
              <a:ea typeface="SimSun"/>
              <a:cs typeface="SimSun"/>
            </a:endParaRPr>
          </a:p>
          <a:p>
            <a:pPr marL="366395" algn="l" rtl="0" eaLnBrk="0">
              <a:lnSpc>
                <a:spcPct val="92000"/>
              </a:lnSpc>
              <a:spcBef>
                <a:spcPts val="161"/>
              </a:spcBef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物流、品质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90" name="picture 30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215452" y="3497998"/>
            <a:ext cx="1625117" cy="565937"/>
          </a:xfrm>
          <a:prstGeom prst="rect">
            <a:avLst/>
          </a:prstGeom>
        </p:spPr>
      </p:pic>
      <p:sp>
        <p:nvSpPr>
          <p:cNvPr id="3092" name="textbox 3092"/>
          <p:cNvSpPr/>
          <p:nvPr/>
        </p:nvSpPr>
        <p:spPr>
          <a:xfrm>
            <a:off x="6921062" y="5288851"/>
            <a:ext cx="952500" cy="818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⑦物流跟踪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05410" algn="l" rtl="0" eaLnBrk="0">
              <a:lnSpc>
                <a:spcPts val="4692"/>
              </a:lnSpc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收货确认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94" name="picture 30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49524" y="5262016"/>
            <a:ext cx="665378" cy="665378"/>
          </a:xfrm>
          <a:prstGeom prst="rect">
            <a:avLst/>
          </a:prstGeom>
        </p:spPr>
      </p:pic>
      <p:pic>
        <p:nvPicPr>
          <p:cNvPr id="3096" name="picture 309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244060" y="3940492"/>
            <a:ext cx="665378" cy="665378"/>
          </a:xfrm>
          <a:prstGeom prst="rect">
            <a:avLst/>
          </a:prstGeom>
        </p:spPr>
      </p:pic>
      <p:pic>
        <p:nvPicPr>
          <p:cNvPr id="3098" name="picture 309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971264" y="5012283"/>
            <a:ext cx="640067" cy="640054"/>
          </a:xfrm>
          <a:prstGeom prst="rect">
            <a:avLst/>
          </a:prstGeom>
        </p:spPr>
      </p:pic>
      <p:pic>
        <p:nvPicPr>
          <p:cNvPr id="3100" name="picture 310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759940" y="5155209"/>
            <a:ext cx="621093" cy="621080"/>
          </a:xfrm>
          <a:prstGeom prst="rect">
            <a:avLst/>
          </a:prstGeom>
        </p:spPr>
      </p:pic>
      <p:pic>
        <p:nvPicPr>
          <p:cNvPr id="3102" name="picture 310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69670" y="4551146"/>
            <a:ext cx="611568" cy="611555"/>
          </a:xfrm>
          <a:prstGeom prst="rect">
            <a:avLst/>
          </a:prstGeom>
        </p:spPr>
      </p:pic>
      <p:pic>
        <p:nvPicPr>
          <p:cNvPr id="3104" name="picture 310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048000" y="3680231"/>
            <a:ext cx="593902" cy="593661"/>
          </a:xfrm>
          <a:prstGeom prst="rect">
            <a:avLst/>
          </a:prstGeom>
        </p:spPr>
      </p:pic>
      <p:pic>
        <p:nvPicPr>
          <p:cNvPr id="3106" name="picture 310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812036" y="3822839"/>
            <a:ext cx="575360" cy="575259"/>
          </a:xfrm>
          <a:prstGeom prst="rect">
            <a:avLst/>
          </a:prstGeom>
        </p:spPr>
      </p:pic>
      <p:pic>
        <p:nvPicPr>
          <p:cNvPr id="3108" name="picture 310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8245564" y="4150296"/>
            <a:ext cx="76200" cy="508520"/>
          </a:xfrm>
          <a:prstGeom prst="rect">
            <a:avLst/>
          </a:prstGeom>
        </p:spPr>
      </p:pic>
      <p:pic>
        <p:nvPicPr>
          <p:cNvPr id="3110" name="picture 31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8215452" y="4088269"/>
            <a:ext cx="1625117" cy="144233"/>
          </a:xfrm>
          <a:prstGeom prst="rect">
            <a:avLst/>
          </a:prstGeom>
        </p:spPr>
      </p:pic>
      <p:sp>
        <p:nvSpPr>
          <p:cNvPr id="3112" name="textbox 3112"/>
          <p:cNvSpPr/>
          <p:nvPr/>
        </p:nvSpPr>
        <p:spPr>
          <a:xfrm>
            <a:off x="8807194" y="3068293"/>
            <a:ext cx="737234" cy="283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供应商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14" name="textbox 3114"/>
          <p:cNvSpPr/>
          <p:nvPr/>
        </p:nvSpPr>
        <p:spPr>
          <a:xfrm>
            <a:off x="2745477" y="3067580"/>
            <a:ext cx="497205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美的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116" name="picture 31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8215452" y="5284571"/>
            <a:ext cx="136411" cy="750239"/>
          </a:xfrm>
          <a:prstGeom prst="rect">
            <a:avLst/>
          </a:prstGeom>
        </p:spPr>
      </p:pic>
      <p:pic>
        <p:nvPicPr>
          <p:cNvPr id="3118" name="picture 31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9703307" y="4694288"/>
            <a:ext cx="136424" cy="565950"/>
          </a:xfrm>
          <a:prstGeom prst="rect">
            <a:avLst/>
          </a:prstGeom>
        </p:spPr>
      </p:pic>
      <p:sp>
        <p:nvSpPr>
          <p:cNvPr id="3120" name="textbox 3120"/>
          <p:cNvSpPr/>
          <p:nvPr/>
        </p:nvSpPr>
        <p:spPr>
          <a:xfrm>
            <a:off x="1026429" y="5192150"/>
            <a:ext cx="396240" cy="229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7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服务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22" name="textbox 3122"/>
          <p:cNvSpPr/>
          <p:nvPr/>
        </p:nvSpPr>
        <p:spPr>
          <a:xfrm>
            <a:off x="1913680" y="5811335"/>
            <a:ext cx="396875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8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销售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24" name="textbox 3124"/>
          <p:cNvSpPr/>
          <p:nvPr/>
        </p:nvSpPr>
        <p:spPr>
          <a:xfrm>
            <a:off x="3045698" y="5964411"/>
            <a:ext cx="394334" cy="229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1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26" name="textbox 3126"/>
          <p:cNvSpPr/>
          <p:nvPr/>
        </p:nvSpPr>
        <p:spPr>
          <a:xfrm>
            <a:off x="4137123" y="5674176"/>
            <a:ext cx="397509" cy="227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研发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28" name="textbox 3128"/>
          <p:cNvSpPr/>
          <p:nvPr/>
        </p:nvSpPr>
        <p:spPr>
          <a:xfrm>
            <a:off x="3235347" y="4332461"/>
            <a:ext cx="397509" cy="2273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5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采购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30" name="textbox 3130"/>
          <p:cNvSpPr/>
          <p:nvPr/>
        </p:nvSpPr>
        <p:spPr>
          <a:xfrm>
            <a:off x="1935524" y="4411570"/>
            <a:ext cx="396240" cy="2273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2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制造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32" name="textbox 3132"/>
          <p:cNvSpPr/>
          <p:nvPr/>
        </p:nvSpPr>
        <p:spPr>
          <a:xfrm>
            <a:off x="4380052" y="4644405"/>
            <a:ext cx="396875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计划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34" name="path 3134"/>
          <p:cNvSpPr/>
          <p:nvPr/>
        </p:nvSpPr>
        <p:spPr>
          <a:xfrm>
            <a:off x="9703307" y="5890590"/>
            <a:ext cx="136424" cy="144221"/>
          </a:xfrm>
          <a:custGeom>
            <a:avLst/>
            <a:gdLst/>
            <a:ahLst/>
            <a:cxnLst/>
            <a:rect l="0" t="0" r="0" b="0"/>
            <a:pathLst>
              <a:path w="214" h="227">
                <a:moveTo>
                  <a:pt x="0" y="114"/>
                </a:moveTo>
                <a:cubicBezTo>
                  <a:pt x="0" y="50"/>
                  <a:pt x="48" y="0"/>
                  <a:pt x="107" y="0"/>
                </a:cubicBezTo>
                <a:cubicBezTo>
                  <a:pt x="166" y="0"/>
                  <a:pt x="214" y="50"/>
                  <a:pt x="214" y="113"/>
                </a:cubicBezTo>
                <a:cubicBezTo>
                  <a:pt x="214" y="176"/>
                  <a:pt x="166" y="227"/>
                  <a:pt x="107" y="227"/>
                </a:cubicBezTo>
                <a:cubicBezTo>
                  <a:pt x="48" y="227"/>
                  <a:pt x="0" y="176"/>
                  <a:pt x="0" y="114"/>
                </a:cubicBezTo>
              </a:path>
            </a:pathLst>
          </a:custGeom>
          <a:solidFill>
            <a:srgbClr val="007ED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36" name="path 3136"/>
          <p:cNvSpPr/>
          <p:nvPr/>
        </p:nvSpPr>
        <p:spPr>
          <a:xfrm>
            <a:off x="9703307" y="5284571"/>
            <a:ext cx="136424" cy="144221"/>
          </a:xfrm>
          <a:custGeom>
            <a:avLst/>
            <a:gdLst/>
            <a:ahLst/>
            <a:cxnLst/>
            <a:rect l="0" t="0" r="0" b="0"/>
            <a:pathLst>
              <a:path w="214" h="227">
                <a:moveTo>
                  <a:pt x="0" y="113"/>
                </a:moveTo>
                <a:cubicBezTo>
                  <a:pt x="0" y="50"/>
                  <a:pt x="48" y="0"/>
                  <a:pt x="107" y="0"/>
                </a:cubicBezTo>
                <a:cubicBezTo>
                  <a:pt x="166" y="0"/>
                  <a:pt x="214" y="50"/>
                  <a:pt x="214" y="113"/>
                </a:cubicBezTo>
                <a:cubicBezTo>
                  <a:pt x="214" y="176"/>
                  <a:pt x="166" y="227"/>
                  <a:pt x="107" y="227"/>
                </a:cubicBezTo>
                <a:cubicBezTo>
                  <a:pt x="48" y="227"/>
                  <a:pt x="0" y="176"/>
                  <a:pt x="0" y="113"/>
                </a:cubicBezTo>
              </a:path>
            </a:pathLst>
          </a:custGeom>
          <a:solidFill>
            <a:srgbClr val="007ED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138" name="path 3138"/>
          <p:cNvSpPr/>
          <p:nvPr/>
        </p:nvSpPr>
        <p:spPr>
          <a:xfrm>
            <a:off x="8215452" y="4694288"/>
            <a:ext cx="136411" cy="144233"/>
          </a:xfrm>
          <a:custGeom>
            <a:avLst/>
            <a:gdLst/>
            <a:ahLst/>
            <a:cxnLst/>
            <a:rect l="0" t="0" r="0" b="0"/>
            <a:pathLst>
              <a:path w="214" h="227">
                <a:moveTo>
                  <a:pt x="0" y="114"/>
                </a:moveTo>
                <a:cubicBezTo>
                  <a:pt x="0" y="50"/>
                  <a:pt x="48" y="0"/>
                  <a:pt x="107" y="0"/>
                </a:cubicBezTo>
                <a:cubicBezTo>
                  <a:pt x="166" y="0"/>
                  <a:pt x="214" y="50"/>
                  <a:pt x="214" y="113"/>
                </a:cubicBezTo>
                <a:cubicBezTo>
                  <a:pt x="214" y="176"/>
                  <a:pt x="166" y="227"/>
                  <a:pt x="107" y="227"/>
                </a:cubicBezTo>
                <a:cubicBezTo>
                  <a:pt x="48" y="227"/>
                  <a:pt x="0" y="176"/>
                  <a:pt x="0" y="114"/>
                </a:cubicBezTo>
              </a:path>
            </a:pathLst>
          </a:custGeom>
          <a:solidFill>
            <a:srgbClr val="007ED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0" name="picture 31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103444" y="2830067"/>
            <a:ext cx="635000" cy="321564"/>
          </a:xfrm>
          <a:prstGeom prst="rect">
            <a:avLst/>
          </a:prstGeom>
        </p:spPr>
      </p:pic>
      <p:pic>
        <p:nvPicPr>
          <p:cNvPr id="3142" name="picture 31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134867" y="2830067"/>
            <a:ext cx="944880" cy="321564"/>
          </a:xfrm>
          <a:prstGeom prst="rect">
            <a:avLst/>
          </a:prstGeom>
        </p:spPr>
      </p:pic>
      <p:pic>
        <p:nvPicPr>
          <p:cNvPr id="3144" name="picture 31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128515" y="2830067"/>
            <a:ext cx="931164" cy="321564"/>
          </a:xfrm>
          <a:prstGeom prst="rect">
            <a:avLst/>
          </a:prstGeom>
        </p:spPr>
      </p:pic>
      <p:pic>
        <p:nvPicPr>
          <p:cNvPr id="3146" name="picture 31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966794" y="3262566"/>
            <a:ext cx="1257871" cy="320738"/>
          </a:xfrm>
          <a:prstGeom prst="rect">
            <a:avLst/>
          </a:prstGeom>
        </p:spPr>
      </p:pic>
      <p:pic>
        <p:nvPicPr>
          <p:cNvPr id="3148" name="picture 31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163567" y="4748466"/>
            <a:ext cx="1466418" cy="320738"/>
          </a:xfrm>
          <a:prstGeom prst="rect">
            <a:avLst/>
          </a:prstGeom>
        </p:spPr>
      </p:pic>
      <p:pic>
        <p:nvPicPr>
          <p:cNvPr id="3150" name="picture 31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677789" y="4748466"/>
            <a:ext cx="781303" cy="320738"/>
          </a:xfrm>
          <a:prstGeom prst="rect">
            <a:avLst/>
          </a:prstGeom>
        </p:spPr>
      </p:pic>
      <p:pic>
        <p:nvPicPr>
          <p:cNvPr id="3152" name="picture 31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877556" y="5466016"/>
            <a:ext cx="727226" cy="320738"/>
          </a:xfrm>
          <a:prstGeom prst="rect">
            <a:avLst/>
          </a:prstGeom>
        </p:spPr>
      </p:pic>
      <p:pic>
        <p:nvPicPr>
          <p:cNvPr id="3154" name="picture 315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382949" y="4748466"/>
            <a:ext cx="733374" cy="320738"/>
          </a:xfrm>
          <a:prstGeom prst="rect">
            <a:avLst/>
          </a:prstGeom>
        </p:spPr>
      </p:pic>
      <p:pic>
        <p:nvPicPr>
          <p:cNvPr id="3156" name="picture 315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212335" y="5103876"/>
            <a:ext cx="1514855" cy="321564"/>
          </a:xfrm>
          <a:prstGeom prst="rect">
            <a:avLst/>
          </a:prstGeom>
        </p:spPr>
      </p:pic>
      <p:pic>
        <p:nvPicPr>
          <p:cNvPr id="3158" name="picture 315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3909059" y="5821616"/>
            <a:ext cx="2093163" cy="320738"/>
          </a:xfrm>
          <a:prstGeom prst="rect">
            <a:avLst/>
          </a:prstGeom>
        </p:spPr>
      </p:pic>
      <p:pic>
        <p:nvPicPr>
          <p:cNvPr id="3160" name="picture 316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470281" y="5466016"/>
            <a:ext cx="1363446" cy="320738"/>
          </a:xfrm>
          <a:prstGeom prst="rect">
            <a:avLst/>
          </a:prstGeom>
        </p:spPr>
      </p:pic>
      <p:pic>
        <p:nvPicPr>
          <p:cNvPr id="3162" name="picture 316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743955" y="5466016"/>
            <a:ext cx="681888" cy="320738"/>
          </a:xfrm>
          <a:prstGeom prst="rect">
            <a:avLst/>
          </a:prstGeom>
        </p:spPr>
      </p:pic>
      <p:pic>
        <p:nvPicPr>
          <p:cNvPr id="3164" name="picture 316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178903" y="5103876"/>
            <a:ext cx="1450505" cy="321564"/>
          </a:xfrm>
          <a:prstGeom prst="rect">
            <a:avLst/>
          </a:prstGeom>
        </p:spPr>
      </p:pic>
      <p:pic>
        <p:nvPicPr>
          <p:cNvPr id="3166" name="picture 316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5771019" y="5103876"/>
            <a:ext cx="1363433" cy="321564"/>
          </a:xfrm>
          <a:prstGeom prst="rect">
            <a:avLst/>
          </a:prstGeom>
        </p:spPr>
      </p:pic>
      <p:pic>
        <p:nvPicPr>
          <p:cNvPr id="3168" name="picture 316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6065520" y="5821616"/>
            <a:ext cx="2104644" cy="320738"/>
          </a:xfrm>
          <a:prstGeom prst="rect">
            <a:avLst/>
          </a:prstGeom>
        </p:spPr>
      </p:pic>
      <p:pic>
        <p:nvPicPr>
          <p:cNvPr id="3170" name="picture 317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5064252" y="5466016"/>
            <a:ext cx="635507" cy="320738"/>
          </a:xfrm>
          <a:prstGeom prst="rect">
            <a:avLst/>
          </a:prstGeom>
        </p:spPr>
      </p:pic>
      <p:pic>
        <p:nvPicPr>
          <p:cNvPr id="3172" name="picture 317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2455164" y="5821616"/>
            <a:ext cx="1411363" cy="320738"/>
          </a:xfrm>
          <a:prstGeom prst="rect">
            <a:avLst/>
          </a:prstGeom>
        </p:spPr>
      </p:pic>
      <p:pic>
        <p:nvPicPr>
          <p:cNvPr id="3174" name="picture 317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2455164" y="4011167"/>
            <a:ext cx="1365503" cy="321564"/>
          </a:xfrm>
          <a:prstGeom prst="rect">
            <a:avLst/>
          </a:prstGeom>
        </p:spPr>
      </p:pic>
      <p:pic>
        <p:nvPicPr>
          <p:cNvPr id="3176" name="picture 317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2651760" y="4748466"/>
            <a:ext cx="683387" cy="320738"/>
          </a:xfrm>
          <a:prstGeom prst="rect">
            <a:avLst/>
          </a:prstGeom>
        </p:spPr>
      </p:pic>
      <p:pic>
        <p:nvPicPr>
          <p:cNvPr id="3178" name="picture 317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861218" y="4386071"/>
            <a:ext cx="1363446" cy="321563"/>
          </a:xfrm>
          <a:prstGeom prst="rect">
            <a:avLst/>
          </a:prstGeom>
        </p:spPr>
      </p:pic>
      <p:pic>
        <p:nvPicPr>
          <p:cNvPr id="3180" name="picture 318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6837565" y="4011167"/>
            <a:ext cx="3557968" cy="321564"/>
          </a:xfrm>
          <a:prstGeom prst="rect">
            <a:avLst/>
          </a:prstGeom>
        </p:spPr>
      </p:pic>
      <p:pic>
        <p:nvPicPr>
          <p:cNvPr id="3182" name="picture 318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3872483" y="4011167"/>
            <a:ext cx="2918460" cy="321564"/>
          </a:xfrm>
          <a:prstGeom prst="rect">
            <a:avLst/>
          </a:prstGeom>
        </p:spPr>
      </p:pic>
      <p:pic>
        <p:nvPicPr>
          <p:cNvPr id="3184" name="picture 318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2455164" y="3637216"/>
            <a:ext cx="1411363" cy="320738"/>
          </a:xfrm>
          <a:prstGeom prst="rect">
            <a:avLst/>
          </a:prstGeom>
        </p:spPr>
      </p:pic>
      <p:pic>
        <p:nvPicPr>
          <p:cNvPr id="3186" name="picture 318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8401786" y="3262566"/>
            <a:ext cx="879957" cy="320738"/>
          </a:xfrm>
          <a:prstGeom prst="rect">
            <a:avLst/>
          </a:prstGeom>
        </p:spPr>
      </p:pic>
      <p:pic>
        <p:nvPicPr>
          <p:cNvPr id="3188" name="picture 318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6786193" y="3262566"/>
            <a:ext cx="1568513" cy="320738"/>
          </a:xfrm>
          <a:prstGeom prst="rect">
            <a:avLst/>
          </a:prstGeom>
        </p:spPr>
      </p:pic>
      <p:pic>
        <p:nvPicPr>
          <p:cNvPr id="3190" name="picture 319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5420271" y="3637216"/>
            <a:ext cx="3638385" cy="320738"/>
          </a:xfrm>
          <a:prstGeom prst="rect">
            <a:avLst/>
          </a:prstGeom>
        </p:spPr>
      </p:pic>
      <p:pic>
        <p:nvPicPr>
          <p:cNvPr id="3192" name="picture 319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3909059" y="3637216"/>
            <a:ext cx="1316939" cy="320738"/>
          </a:xfrm>
          <a:prstGeom prst="rect">
            <a:avLst/>
          </a:prstGeom>
        </p:spPr>
      </p:pic>
      <p:pic>
        <p:nvPicPr>
          <p:cNvPr id="3194" name="picture 319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10445496" y="4011167"/>
            <a:ext cx="682751" cy="321564"/>
          </a:xfrm>
          <a:prstGeom prst="rect">
            <a:avLst/>
          </a:prstGeom>
        </p:spPr>
      </p:pic>
      <p:pic>
        <p:nvPicPr>
          <p:cNvPr id="3196" name="picture 3196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2455164" y="4386071"/>
            <a:ext cx="635507" cy="321563"/>
          </a:xfrm>
          <a:prstGeom prst="rect">
            <a:avLst/>
          </a:prstGeom>
        </p:spPr>
      </p:pic>
      <p:pic>
        <p:nvPicPr>
          <p:cNvPr id="3198" name="picture 3198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3134867" y="4386071"/>
            <a:ext cx="681901" cy="321563"/>
          </a:xfrm>
          <a:prstGeom prst="rect">
            <a:avLst/>
          </a:prstGeom>
        </p:spPr>
      </p:pic>
      <p:pic>
        <p:nvPicPr>
          <p:cNvPr id="3200" name="picture 320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5268467" y="4386071"/>
            <a:ext cx="727240" cy="321563"/>
          </a:xfrm>
          <a:prstGeom prst="rect">
            <a:avLst/>
          </a:prstGeom>
        </p:spPr>
      </p:pic>
      <p:pic>
        <p:nvPicPr>
          <p:cNvPr id="3202" name="picture 320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2455164" y="2830067"/>
            <a:ext cx="635507" cy="321564"/>
          </a:xfrm>
          <a:prstGeom prst="rect">
            <a:avLst/>
          </a:prstGeom>
        </p:spPr>
      </p:pic>
      <p:pic>
        <p:nvPicPr>
          <p:cNvPr id="3204" name="picture 3204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2455164" y="3262566"/>
            <a:ext cx="635507" cy="320738"/>
          </a:xfrm>
          <a:prstGeom prst="rect">
            <a:avLst/>
          </a:prstGeom>
        </p:spPr>
      </p:pic>
      <p:pic>
        <p:nvPicPr>
          <p:cNvPr id="3206" name="picture 320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3134867" y="3262566"/>
            <a:ext cx="787907" cy="320738"/>
          </a:xfrm>
          <a:prstGeom prst="rect">
            <a:avLst/>
          </a:prstGeom>
        </p:spPr>
      </p:pic>
      <p:pic>
        <p:nvPicPr>
          <p:cNvPr id="3208" name="picture 320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5268467" y="3262566"/>
            <a:ext cx="622376" cy="320738"/>
          </a:xfrm>
          <a:prstGeom prst="rect">
            <a:avLst/>
          </a:prstGeom>
        </p:spPr>
      </p:pic>
      <p:graphicFrame>
        <p:nvGraphicFramePr>
          <p:cNvPr id="3210" name="table 3210"/>
          <p:cNvGraphicFramePr>
            <a:graphicFrameLocks noGrp="1"/>
          </p:cNvGraphicFramePr>
          <p:nvPr/>
        </p:nvGraphicFramePr>
        <p:xfrm>
          <a:off x="378294" y="2301138"/>
          <a:ext cx="11455400" cy="3924935"/>
        </p:xfrm>
        <a:graphic>
          <a:graphicData uri="http://schemas.openxmlformats.org/drawingml/2006/table">
            <a:tbl>
              <a:tblPr/>
              <a:tblGrid>
                <a:gridCol w="1022985"/>
                <a:gridCol w="1016635"/>
                <a:gridCol w="723900"/>
                <a:gridCol w="723900"/>
                <a:gridCol w="724534"/>
                <a:gridCol w="724534"/>
                <a:gridCol w="724534"/>
                <a:gridCol w="422909"/>
                <a:gridCol w="300990"/>
                <a:gridCol w="724534"/>
                <a:gridCol w="724534"/>
                <a:gridCol w="724534"/>
                <a:gridCol w="724534"/>
                <a:gridCol w="724534"/>
                <a:gridCol w="716280"/>
                <a:gridCol w="731519"/>
              </a:tblGrid>
              <a:tr h="2647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528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0840" algn="l" rtl="0" eaLnBrk="0">
                        <a:lnSpc>
                          <a:spcPct val="9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4"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57704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2017                                                                            2018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3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4" algn="l" rtl="0" eaLnBrk="0">
                        <a:lnSpc>
                          <a:spcPct val="8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590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4" algn="l" rtl="0" eaLnBrk="0">
                        <a:lnSpc>
                          <a:spcPct val="8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" algn="l" rtl="0" eaLnBrk="0">
                        <a:lnSpc>
                          <a:spcPct val="8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" algn="l" rtl="0" eaLnBrk="0">
                        <a:lnSpc>
                          <a:spcPct val="8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" algn="l" rtl="0" eaLnBrk="0">
                        <a:lnSpc>
                          <a:spcPct val="8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" algn="l" rtl="0" eaLnBrk="0">
                        <a:lnSpc>
                          <a:spcPct val="8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" algn="l" rtl="0" eaLnBrk="0">
                        <a:lnSpc>
                          <a:spcPct val="8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ct val="8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679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7004" algn="l" rtl="0" eaLnBrk="0">
                        <a:lnSpc>
                          <a:spcPct val="91000"/>
                        </a:lnSpc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计划一体化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0359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11.18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1615" algn="l" rtl="0" eaLnBrk="0">
                        <a:lnSpc>
                          <a:spcPct val="9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020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2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1000"/>
                        </a:lnSpc>
                        <a:tabLst/>
                      </a:pPr>
                      <a:r>
                        <a:rPr sz="8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</a:t>
                      </a:r>
                      <a:r>
                        <a:rPr sz="8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</a:t>
                      </a:r>
                      <a:endParaRPr sz="8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4" algn="l" rtl="0" eaLnBrk="0">
                        <a:lnSpc>
                          <a:spcPct val="91000"/>
                        </a:lnSpc>
                        <a:tabLst/>
                      </a:pPr>
                      <a:r>
                        <a:rPr sz="8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</a:t>
                      </a:r>
                      <a:endParaRPr sz="8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0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2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02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6220" algn="l" rtl="0" eaLnBrk="0">
                        <a:lnSpc>
                          <a:spcPct val="9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生产备料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279" indent="-41909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备料</a:t>
                      </a:r>
                      <a:r>
                        <a:rPr sz="1100" kern="0" spc="17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100" kern="0" spc="-3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11.25</a:t>
                      </a:r>
                      <a:r>
                        <a:rPr sz="1100" kern="0" spc="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1100" kern="0" spc="-1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采购 4.16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1615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1459" algn="l" rtl="0" eaLnBrk="0">
                        <a:lnSpc>
                          <a:spcPct val="9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0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开发测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4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备料上线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2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02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1325" algn="l" rtl="0" eaLnBrk="0">
                        <a:lnSpc>
                          <a:spcPct val="9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</a:t>
                      </a:r>
                      <a:r>
                        <a:rPr sz="10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购平</a:t>
                      </a:r>
                      <a:r>
                        <a:rPr sz="1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台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180" algn="l" rtl="0" eaLnBrk="0">
                        <a:lnSpc>
                          <a:spcPct val="9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供应商协同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859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试点10.31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</a:t>
                      </a:r>
                      <a:r>
                        <a:rPr sz="10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务</a:t>
                      </a:r>
                      <a:r>
                        <a:rPr sz="10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8465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3-5家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2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02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6364" algn="l" rtl="0" eaLnBrk="0">
                        <a:lnSpc>
                          <a:spcPct val="9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分批推广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4490" algn="l" rtl="0" eaLnBrk="0">
                        <a:lnSpc>
                          <a:spcPct val="8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C2M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indent="-8255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100" kern="0" spc="-3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简化</a:t>
                      </a:r>
                      <a:r>
                        <a:rPr sz="1100" kern="0" spc="16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100" kern="0" spc="-3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12.18</a:t>
                      </a:r>
                      <a:r>
                        <a:rPr sz="1100" kern="0" spc="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1100" kern="0" spc="-2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</a:t>
                      </a:r>
                      <a:r>
                        <a:rPr sz="1100" kern="0" spc="5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100" kern="0" spc="-2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7.1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1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0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求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8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6000"/>
                        </a:lnSpc>
                        <a:tabLst/>
                      </a:pPr>
                      <a:r>
                        <a:rPr sz="1000" kern="0" spc="-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2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1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2000"/>
                        </a:lnSpc>
                        <a:tabLst/>
                      </a:pPr>
                      <a:r>
                        <a:rPr sz="1200" kern="0" spc="-7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02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1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94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300" kern="0" spc="-1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.18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4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660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0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开发测试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1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7970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0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542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300" kern="0" spc="-1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7.1</a:t>
                      </a:r>
                      <a:endParaRPr sz="13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860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总装MES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0359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11.30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1615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0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754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开发测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0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785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2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02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8600" algn="l" rtl="0" eaLnBrk="0">
                        <a:lnSpc>
                          <a:spcPct val="91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注塑MES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0359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12.18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1959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开发测试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110"/>
                        </a:lnSpc>
                        <a:tabLst/>
                      </a:pPr>
                      <a:r>
                        <a:rPr sz="900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2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02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5584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电子MES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7190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3.15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9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143"/>
                        </a:lnSpc>
                        <a:tabLst/>
                      </a:pPr>
                      <a:r>
                        <a:rPr sz="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开发测</a:t>
                      </a:r>
                      <a:endParaRPr sz="9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2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230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0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02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2404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6854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拉式生产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7190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3.15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-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</a:t>
                      </a:r>
                      <a:r>
                        <a:rPr sz="10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   </a:t>
                      </a:r>
                      <a:r>
                        <a:rPr sz="10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990" algn="l" rtl="0" eaLnBrk="0">
                        <a:lnSpc>
                          <a:spcPct val="9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2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02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0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开发测试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8910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工业互联网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5925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F02301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6.1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2000"/>
                        </a:lnSpc>
                        <a:tabLst/>
                      </a:pPr>
                      <a:r>
                        <a:rPr sz="10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求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8440" algn="l" rtl="0" eaLnBrk="0">
                        <a:lnSpc>
                          <a:spcPct val="9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2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02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开发测试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6534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</a:t>
                      </a:r>
                      <a:endParaRPr sz="1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12" name="textbox 3212"/>
          <p:cNvSpPr/>
          <p:nvPr/>
        </p:nvSpPr>
        <p:spPr>
          <a:xfrm>
            <a:off x="300679" y="264090"/>
            <a:ext cx="4733925" cy="1812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项目范围及计划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3500" algn="l" rtl="0" eaLnBrk="0">
              <a:lnSpc>
                <a:spcPct val="94000"/>
              </a:lnSpc>
              <a:spcBef>
                <a:spcPts val="540"/>
              </a:spcBef>
              <a:tabLst/>
            </a:pP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项目实施范围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ts val="1904"/>
              </a:lnSpc>
              <a:spcBef>
                <a:spcPts val="642"/>
              </a:spcBef>
              <a:tabLst/>
            </a:pP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400" kern="0" spc="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计划一体化/备料项目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，实施洗衣机事业部(无锡、合肥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76835" algn="l" rtl="0" eaLnBrk="0">
              <a:lnSpc>
                <a:spcPct val="95000"/>
              </a:lnSpc>
              <a:spcBef>
                <a:spcPts val="133"/>
              </a:spcBef>
              <a:tabLst/>
            </a:pP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400" kern="0" spc="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MES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相关项目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，实施无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锡工厂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37160" algn="l" rtl="0" eaLnBrk="0">
              <a:lnSpc>
                <a:spcPts val="2255"/>
              </a:lnSpc>
              <a:spcBef>
                <a:spcPts val="349"/>
              </a:spcBef>
              <a:tabLst/>
            </a:pPr>
            <a:r>
              <a:rPr sz="1800" kern="0" spc="0" dirty="0">
                <a:solidFill>
                  <a:srgbClr val="FF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MES</a:t>
            </a:r>
            <a:r>
              <a:rPr sz="1800" kern="0" spc="60" dirty="0">
                <a:solidFill>
                  <a:srgbClr val="FF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实施前提：</a:t>
            </a:r>
            <a:r>
              <a:rPr sz="1800" kern="0" spc="-390" dirty="0">
                <a:solidFill>
                  <a:srgbClr val="FF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800" kern="0" spc="60" dirty="0">
                <a:solidFill>
                  <a:srgbClr val="FF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硬件按时</a:t>
            </a:r>
            <a:r>
              <a:rPr sz="1800" kern="0" spc="50" dirty="0">
                <a:solidFill>
                  <a:srgbClr val="FF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采购到位</a:t>
            </a:r>
            <a:endParaRPr sz="18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3214" name="picture 3214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378586" y="2718422"/>
            <a:ext cx="11511636" cy="114300"/>
          </a:xfrm>
          <a:prstGeom prst="rect">
            <a:avLst/>
          </a:prstGeom>
        </p:spPr>
      </p:pic>
      <p:pic>
        <p:nvPicPr>
          <p:cNvPr id="3216" name="picture 3216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8234171" y="5821616"/>
            <a:ext cx="2104644" cy="320738"/>
          </a:xfrm>
          <a:prstGeom prst="rect">
            <a:avLst/>
          </a:prstGeom>
        </p:spPr>
      </p:pic>
      <p:pic>
        <p:nvPicPr>
          <p:cNvPr id="3218" name="picture 3218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3533431" y="5103876"/>
            <a:ext cx="635000" cy="321564"/>
          </a:xfrm>
          <a:prstGeom prst="rect">
            <a:avLst/>
          </a:prstGeom>
        </p:spPr>
      </p:pic>
      <p:sp>
        <p:nvSpPr>
          <p:cNvPr id="3220" name="path 3220"/>
          <p:cNvSpPr/>
          <p:nvPr/>
        </p:nvSpPr>
        <p:spPr>
          <a:xfrm>
            <a:off x="10980419" y="4085844"/>
            <a:ext cx="230124" cy="219455"/>
          </a:xfrm>
          <a:custGeom>
            <a:avLst/>
            <a:gdLst/>
            <a:ahLst/>
            <a:cxnLst/>
            <a:rect l="0" t="0" r="0" b="0"/>
            <a:pathLst>
              <a:path w="362" h="345">
                <a:moveTo>
                  <a:pt x="0" y="131"/>
                </a:moveTo>
                <a:lnTo>
                  <a:pt x="139" y="131"/>
                </a:lnTo>
                <a:lnTo>
                  <a:pt x="182" y="0"/>
                </a:lnTo>
                <a:lnTo>
                  <a:pt x="223" y="131"/>
                </a:lnTo>
                <a:lnTo>
                  <a:pt x="362" y="131"/>
                </a:lnTo>
                <a:lnTo>
                  <a:pt x="249" y="213"/>
                </a:lnTo>
                <a:lnTo>
                  <a:pt x="292" y="345"/>
                </a:lnTo>
                <a:lnTo>
                  <a:pt x="182" y="263"/>
                </a:lnTo>
                <a:lnTo>
                  <a:pt x="69" y="345"/>
                </a:lnTo>
                <a:lnTo>
                  <a:pt x="112" y="213"/>
                </a:lnTo>
                <a:lnTo>
                  <a:pt x="0" y="131"/>
                </a:lnTo>
              </a:path>
            </a:pathLst>
          </a:custGeom>
          <a:solidFill>
            <a:srgbClr val="FF68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22" name="path 3222"/>
          <p:cNvSpPr/>
          <p:nvPr/>
        </p:nvSpPr>
        <p:spPr>
          <a:xfrm>
            <a:off x="6344411" y="4043171"/>
            <a:ext cx="230123" cy="217932"/>
          </a:xfrm>
          <a:custGeom>
            <a:avLst/>
            <a:gdLst/>
            <a:ahLst/>
            <a:cxnLst/>
            <a:rect l="0" t="0" r="0" b="0"/>
            <a:pathLst>
              <a:path w="362" h="343">
                <a:moveTo>
                  <a:pt x="0" y="132"/>
                </a:moveTo>
                <a:lnTo>
                  <a:pt x="136" y="132"/>
                </a:lnTo>
                <a:lnTo>
                  <a:pt x="180" y="0"/>
                </a:lnTo>
                <a:lnTo>
                  <a:pt x="223" y="132"/>
                </a:lnTo>
                <a:lnTo>
                  <a:pt x="362" y="132"/>
                </a:lnTo>
                <a:lnTo>
                  <a:pt x="249" y="213"/>
                </a:lnTo>
                <a:lnTo>
                  <a:pt x="292" y="343"/>
                </a:lnTo>
                <a:lnTo>
                  <a:pt x="180" y="264"/>
                </a:lnTo>
                <a:lnTo>
                  <a:pt x="67" y="343"/>
                </a:lnTo>
                <a:lnTo>
                  <a:pt x="110" y="213"/>
                </a:lnTo>
                <a:lnTo>
                  <a:pt x="0" y="132"/>
                </a:lnTo>
              </a:path>
            </a:pathLst>
          </a:custGeom>
          <a:solidFill>
            <a:srgbClr val="FF68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24" name="textbox 3224"/>
          <p:cNvSpPr/>
          <p:nvPr/>
        </p:nvSpPr>
        <p:spPr>
          <a:xfrm>
            <a:off x="3703180" y="5178851"/>
            <a:ext cx="294640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需求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26" name="textbox 3226"/>
          <p:cNvSpPr/>
          <p:nvPr/>
        </p:nvSpPr>
        <p:spPr>
          <a:xfrm>
            <a:off x="8096218" y="5547598"/>
            <a:ext cx="158114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0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rect 3228"/>
          <p:cNvSpPr/>
          <p:nvPr/>
        </p:nvSpPr>
        <p:spPr>
          <a:xfrm>
            <a:off x="333756" y="1752600"/>
            <a:ext cx="11521440" cy="4853940"/>
          </a:xfrm>
          <a:prstGeom prst="rect">
            <a:avLst/>
          </a:prstGeom>
          <a:solidFill>
            <a:srgbClr val="C6C6C6">
              <a:alpha val="65098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30" name="textbox 3230"/>
          <p:cNvSpPr/>
          <p:nvPr/>
        </p:nvSpPr>
        <p:spPr>
          <a:xfrm>
            <a:off x="460254" y="1022580"/>
            <a:ext cx="3860800" cy="4424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4200" b="1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目录</a:t>
            </a:r>
            <a:endParaRPr sz="4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32740" algn="l" rtl="0" eaLnBrk="0">
              <a:lnSpc>
                <a:spcPts val="3883"/>
              </a:lnSpc>
              <a:spcBef>
                <a:spcPts val="967"/>
              </a:spcBef>
              <a:tabLst>
                <a:tab pos="621665" algn="l"/>
              </a:tabLst>
            </a:pPr>
            <a:r>
              <a:rPr sz="3200" kern="0" spc="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200" kern="0" spc="29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kern="0" spc="-3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C2M方案与架构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marL="332740" algn="l" rtl="0" eaLnBrk="0">
              <a:lnSpc>
                <a:spcPts val="3883"/>
              </a:lnSpc>
              <a:spcBef>
                <a:spcPts val="572"/>
              </a:spcBef>
              <a:tabLst>
                <a:tab pos="621665" algn="l"/>
              </a:tabLst>
            </a:pPr>
            <a:r>
              <a:rPr sz="3200" kern="0" spc="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200" kern="0" spc="21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kern="0" spc="-2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营销领域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marL="332740" algn="l" rtl="0" eaLnBrk="0">
              <a:lnSpc>
                <a:spcPts val="3883"/>
              </a:lnSpc>
              <a:spcBef>
                <a:spcPts val="572"/>
              </a:spcBef>
              <a:tabLst>
                <a:tab pos="621665" algn="l"/>
              </a:tabLst>
            </a:pPr>
            <a:r>
              <a:rPr sz="3200" kern="0" spc="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200" kern="0" spc="21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kern="0" spc="-2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研发领域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marL="332740" algn="l" rtl="0" eaLnBrk="0">
              <a:lnSpc>
                <a:spcPts val="3883"/>
              </a:lnSpc>
              <a:spcBef>
                <a:spcPts val="572"/>
              </a:spcBef>
              <a:tabLst>
                <a:tab pos="621665" algn="l"/>
              </a:tabLst>
            </a:pPr>
            <a:r>
              <a:rPr sz="3200" kern="0" spc="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200" kern="0" spc="19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kern="0" spc="-1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供应链领域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marL="332740" algn="l" rtl="0" eaLnBrk="0">
              <a:lnSpc>
                <a:spcPts val="3870"/>
              </a:lnSpc>
              <a:spcBef>
                <a:spcPts val="572"/>
              </a:spcBef>
              <a:tabLst>
                <a:tab pos="621665" algn="l"/>
              </a:tabLst>
            </a:pPr>
            <a:r>
              <a:rPr sz="32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32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32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数据领域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232" name="picture 32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93130" y="4942727"/>
            <a:ext cx="288994" cy="450994"/>
          </a:xfrm>
          <a:prstGeom prst="rect">
            <a:avLst/>
          </a:prstGeom>
        </p:spPr>
      </p:pic>
      <p:pic>
        <p:nvPicPr>
          <p:cNvPr id="3234" name="picture 32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93130" y="4376942"/>
            <a:ext cx="288994" cy="450994"/>
          </a:xfrm>
          <a:prstGeom prst="rect">
            <a:avLst/>
          </a:prstGeom>
        </p:spPr>
      </p:pic>
      <p:pic>
        <p:nvPicPr>
          <p:cNvPr id="3236" name="picture 32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93130" y="3811157"/>
            <a:ext cx="288994" cy="450994"/>
          </a:xfrm>
          <a:prstGeom prst="rect">
            <a:avLst/>
          </a:prstGeom>
        </p:spPr>
      </p:pic>
      <p:pic>
        <p:nvPicPr>
          <p:cNvPr id="3238" name="picture 32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93130" y="3245372"/>
            <a:ext cx="288994" cy="450994"/>
          </a:xfrm>
          <a:prstGeom prst="rect">
            <a:avLst/>
          </a:prstGeom>
        </p:spPr>
      </p:pic>
      <p:pic>
        <p:nvPicPr>
          <p:cNvPr id="3240" name="picture 32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93130" y="2679587"/>
            <a:ext cx="288994" cy="45099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2" name="picture 32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37260" y="2793492"/>
            <a:ext cx="6629400" cy="2449067"/>
          </a:xfrm>
          <a:prstGeom prst="rect">
            <a:avLst/>
          </a:prstGeom>
        </p:spPr>
      </p:pic>
      <p:sp>
        <p:nvSpPr>
          <p:cNvPr id="3244" name="textbox 3244"/>
          <p:cNvSpPr/>
          <p:nvPr/>
        </p:nvSpPr>
        <p:spPr>
          <a:xfrm>
            <a:off x="6919059" y="2810569"/>
            <a:ext cx="292734" cy="12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800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KUKA</a:t>
            </a:r>
            <a:endParaRPr sz="8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246" name="picture 32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87211" y="3547897"/>
            <a:ext cx="9525" cy="1526006"/>
          </a:xfrm>
          <a:prstGeom prst="rect">
            <a:avLst/>
          </a:prstGeom>
        </p:spPr>
      </p:pic>
      <p:pic>
        <p:nvPicPr>
          <p:cNvPr id="3248" name="picture 32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102145" y="4035488"/>
            <a:ext cx="149846" cy="108673"/>
          </a:xfrm>
          <a:prstGeom prst="rect">
            <a:avLst/>
          </a:prstGeom>
        </p:spPr>
      </p:pic>
      <p:pic>
        <p:nvPicPr>
          <p:cNvPr id="3250" name="picture 32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472843" y="2942132"/>
            <a:ext cx="5833491" cy="445808"/>
          </a:xfrm>
          <a:prstGeom prst="rect">
            <a:avLst/>
          </a:prstGeom>
        </p:spPr>
      </p:pic>
      <p:pic>
        <p:nvPicPr>
          <p:cNvPr id="3252" name="picture 32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271740" y="2950464"/>
            <a:ext cx="71552" cy="1527848"/>
          </a:xfrm>
          <a:prstGeom prst="rect">
            <a:avLst/>
          </a:prstGeom>
        </p:spPr>
      </p:pic>
      <p:pic>
        <p:nvPicPr>
          <p:cNvPr id="3254" name="picture 32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815811" y="3241205"/>
            <a:ext cx="9525" cy="1517802"/>
          </a:xfrm>
          <a:prstGeom prst="rect">
            <a:avLst/>
          </a:prstGeom>
        </p:spPr>
      </p:pic>
      <p:sp>
        <p:nvSpPr>
          <p:cNvPr id="3256" name="path 3256"/>
          <p:cNvSpPr/>
          <p:nvPr/>
        </p:nvSpPr>
        <p:spPr>
          <a:xfrm>
            <a:off x="1932432" y="2778252"/>
            <a:ext cx="190500" cy="356615"/>
          </a:xfrm>
          <a:custGeom>
            <a:avLst/>
            <a:gdLst/>
            <a:ahLst/>
            <a:cxnLst/>
            <a:rect l="0" t="0" r="0" b="0"/>
            <a:pathLst>
              <a:path w="300" h="561">
                <a:moveTo>
                  <a:pt x="103" y="561"/>
                </a:moveTo>
                <a:lnTo>
                  <a:pt x="103" y="278"/>
                </a:lnTo>
                <a:lnTo>
                  <a:pt x="0" y="278"/>
                </a:lnTo>
                <a:lnTo>
                  <a:pt x="151" y="0"/>
                </a:lnTo>
                <a:lnTo>
                  <a:pt x="300" y="278"/>
                </a:lnTo>
                <a:lnTo>
                  <a:pt x="199" y="278"/>
                </a:lnTo>
                <a:lnTo>
                  <a:pt x="199" y="561"/>
                </a:lnTo>
                <a:lnTo>
                  <a:pt x="103" y="561"/>
                </a:lnTo>
              </a:path>
            </a:pathLst>
          </a:custGeom>
          <a:solidFill>
            <a:srgbClr val="B8D1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58" name="path 3258"/>
          <p:cNvSpPr/>
          <p:nvPr/>
        </p:nvSpPr>
        <p:spPr>
          <a:xfrm>
            <a:off x="6819900" y="2836164"/>
            <a:ext cx="170688" cy="152400"/>
          </a:xfrm>
          <a:custGeom>
            <a:avLst/>
            <a:gdLst/>
            <a:ahLst/>
            <a:cxnLst/>
            <a:rect l="0" t="0" r="0" b="0"/>
            <a:pathLst>
              <a:path w="268" h="240">
                <a:moveTo>
                  <a:pt x="91" y="240"/>
                </a:moveTo>
                <a:lnTo>
                  <a:pt x="91" y="220"/>
                </a:lnTo>
                <a:lnTo>
                  <a:pt x="0" y="220"/>
                </a:lnTo>
                <a:lnTo>
                  <a:pt x="134" y="0"/>
                </a:lnTo>
                <a:lnTo>
                  <a:pt x="268" y="220"/>
                </a:lnTo>
                <a:lnTo>
                  <a:pt x="177" y="220"/>
                </a:lnTo>
                <a:lnTo>
                  <a:pt x="177" y="240"/>
                </a:lnTo>
                <a:lnTo>
                  <a:pt x="91" y="240"/>
                </a:lnTo>
              </a:path>
            </a:pathLst>
          </a:custGeom>
          <a:solidFill>
            <a:srgbClr val="B8D1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260" name="picture 326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909557" y="4229137"/>
            <a:ext cx="1972869" cy="1696135"/>
          </a:xfrm>
          <a:prstGeom prst="rect">
            <a:avLst/>
          </a:prstGeom>
        </p:spPr>
      </p:pic>
      <p:pic>
        <p:nvPicPr>
          <p:cNvPr id="3262" name="picture 32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371639" y="3712413"/>
            <a:ext cx="2081719" cy="1730019"/>
          </a:xfrm>
          <a:prstGeom prst="rect">
            <a:avLst/>
          </a:prstGeom>
        </p:spPr>
      </p:pic>
      <p:sp>
        <p:nvSpPr>
          <p:cNvPr id="3264" name="textbox 3264"/>
          <p:cNvSpPr/>
          <p:nvPr/>
        </p:nvSpPr>
        <p:spPr>
          <a:xfrm>
            <a:off x="5487495" y="3390043"/>
            <a:ext cx="718184" cy="2800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36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86384" algn="l" rtl="0" eaLnBrk="0">
              <a:lnSpc>
                <a:spcPct val="108000"/>
              </a:lnSpc>
              <a:tabLst/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厨房电器</a:t>
            </a:r>
            <a:r>
              <a:rPr sz="8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家用空调</a:t>
            </a:r>
            <a:endParaRPr sz="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66" name="textbox 3266"/>
          <p:cNvSpPr/>
          <p:nvPr/>
        </p:nvSpPr>
        <p:spPr>
          <a:xfrm>
            <a:off x="1030695" y="3893712"/>
            <a:ext cx="446405" cy="1149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940" algn="l" rtl="0" eaLnBrk="0">
              <a:lnSpc>
                <a:spcPct val="91000"/>
              </a:lnSpc>
              <a:tabLst/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经营总览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2000"/>
              </a:lnSpc>
              <a:spcBef>
                <a:spcPts val="251"/>
              </a:spcBef>
              <a:tabLst/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财务管理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交易单据</a:t>
            </a:r>
            <a:endParaRPr sz="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68" name="textbox 3268"/>
          <p:cNvSpPr/>
          <p:nvPr/>
        </p:nvSpPr>
        <p:spPr>
          <a:xfrm>
            <a:off x="1730421" y="3893201"/>
            <a:ext cx="447675" cy="11506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940" algn="l" rtl="0" eaLnBrk="0">
              <a:lnSpc>
                <a:spcPct val="92000"/>
              </a:lnSpc>
              <a:tabLst/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零售看板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1000"/>
              </a:lnSpc>
              <a:spcBef>
                <a:spcPts val="248"/>
              </a:spcBef>
              <a:tabLst/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渠道管理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销售明细</a:t>
            </a:r>
            <a:endParaRPr sz="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70" name="textbox 3270"/>
          <p:cNvSpPr/>
          <p:nvPr/>
        </p:nvSpPr>
        <p:spPr>
          <a:xfrm>
            <a:off x="2458029" y="3894121"/>
            <a:ext cx="447675" cy="1149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ct val="91000"/>
              </a:lnSpc>
              <a:tabLst/>
            </a:pPr>
            <a:r>
              <a:rPr sz="8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国际概况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92000"/>
              </a:lnSpc>
              <a:spcBef>
                <a:spcPts val="251"/>
              </a:spcBef>
              <a:tabLst/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客户管理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订单明细</a:t>
            </a:r>
            <a:endParaRPr sz="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72" name="textbox 3272"/>
          <p:cNvSpPr/>
          <p:nvPr/>
        </p:nvSpPr>
        <p:spPr>
          <a:xfrm>
            <a:off x="3167083" y="3893815"/>
            <a:ext cx="447675" cy="1149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91000"/>
              </a:lnSpc>
              <a:tabLst/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行业全貌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91000"/>
              </a:lnSpc>
              <a:spcBef>
                <a:spcPts val="249"/>
              </a:spcBef>
              <a:tabLst/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产品结构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产品详情</a:t>
            </a:r>
            <a:endParaRPr sz="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74" name="textbox 3274"/>
          <p:cNvSpPr/>
          <p:nvPr/>
        </p:nvSpPr>
        <p:spPr>
          <a:xfrm>
            <a:off x="3874892" y="3894325"/>
            <a:ext cx="447675" cy="1149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6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91000"/>
              </a:lnSpc>
              <a:tabLst/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采购全景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ct val="91000"/>
              </a:lnSpc>
              <a:spcBef>
                <a:spcPts val="249"/>
              </a:spcBef>
              <a:tabLst/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供方管理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采购清单</a:t>
            </a:r>
            <a:endParaRPr sz="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76" name="textbox 3276"/>
          <p:cNvSpPr/>
          <p:nvPr/>
        </p:nvSpPr>
        <p:spPr>
          <a:xfrm>
            <a:off x="6074741" y="3152737"/>
            <a:ext cx="394970" cy="220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2890" algn="l" rtl="0" eaLnBrk="0">
              <a:lnSpc>
                <a:spcPts val="212"/>
              </a:lnSpc>
              <a:tabLst/>
            </a:pPr>
            <a:r>
              <a:rPr sz="6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……</a:t>
            </a:r>
            <a:endParaRPr sz="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2"/>
              </a:spcBef>
              <a:tabLst/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TLSC</a:t>
            </a:r>
            <a:endParaRPr sz="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78" name="textbox 3278"/>
          <p:cNvSpPr/>
          <p:nvPr/>
        </p:nvSpPr>
        <p:spPr>
          <a:xfrm>
            <a:off x="4577646" y="3893917"/>
            <a:ext cx="447675" cy="1149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2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91000"/>
              </a:lnSpc>
              <a:tabLst/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人才战略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669" algn="l" rtl="0" eaLnBrk="0">
              <a:lnSpc>
                <a:spcPct val="91000"/>
              </a:lnSpc>
              <a:spcBef>
                <a:spcPts val="249"/>
              </a:spcBef>
              <a:tabLst/>
            </a:pPr>
            <a:r>
              <a:rPr sz="8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团队管理</a:t>
            </a:r>
            <a:endParaRPr sz="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个人资料</a:t>
            </a:r>
            <a:endParaRPr sz="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80" name="rect 3280"/>
          <p:cNvSpPr/>
          <p:nvPr/>
        </p:nvSpPr>
        <p:spPr>
          <a:xfrm>
            <a:off x="660844" y="2792806"/>
            <a:ext cx="7308152" cy="2681770"/>
          </a:xfrm>
          <a:prstGeom prst="rect">
            <a:avLst/>
          </a:prstGeom>
          <a:solidFill>
            <a:srgbClr val="3E82F9">
              <a:alpha val="6980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82" name="rect 3282"/>
          <p:cNvSpPr/>
          <p:nvPr/>
        </p:nvSpPr>
        <p:spPr>
          <a:xfrm>
            <a:off x="911313" y="5663856"/>
            <a:ext cx="1894166" cy="970178"/>
          </a:xfrm>
          <a:prstGeom prst="rect">
            <a:avLst/>
          </a:prstGeom>
          <a:solidFill>
            <a:srgbClr val="365FA2">
              <a:alpha val="99607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302" name="group 302"/>
          <p:cNvGrpSpPr/>
          <p:nvPr/>
        </p:nvGrpSpPr>
        <p:grpSpPr>
          <a:xfrm rot="21600000">
            <a:off x="2736659" y="5663856"/>
            <a:ext cx="1894167" cy="970178"/>
            <a:chOff x="0" y="0"/>
            <a:chExt cx="1894167" cy="970178"/>
          </a:xfrm>
        </p:grpSpPr>
        <p:sp>
          <p:nvSpPr>
            <p:cNvPr id="3284" name="rect 3284"/>
            <p:cNvSpPr/>
            <p:nvPr/>
          </p:nvSpPr>
          <p:spPr>
            <a:xfrm>
              <a:off x="0" y="0"/>
              <a:ext cx="1894167" cy="970178"/>
            </a:xfrm>
            <a:prstGeom prst="rect">
              <a:avLst/>
            </a:prstGeom>
            <a:solidFill>
              <a:srgbClr val="365FA2">
                <a:alpha val="99607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3286" name="picture 328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975372" y="449503"/>
              <a:ext cx="764387" cy="454152"/>
            </a:xfrm>
            <a:prstGeom prst="rect">
              <a:avLst/>
            </a:prstGeom>
          </p:spPr>
        </p:pic>
        <p:sp>
          <p:nvSpPr>
            <p:cNvPr id="3288" name="textbox 3288"/>
            <p:cNvSpPr/>
            <p:nvPr/>
          </p:nvSpPr>
          <p:spPr>
            <a:xfrm>
              <a:off x="539686" y="79076"/>
              <a:ext cx="1076960" cy="8039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7000"/>
                </a:lnSpc>
                <a:tabLst/>
              </a:pPr>
              <a:r>
                <a:rPr sz="10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内部业务数据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8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571500" indent="112395" algn="l" rtl="0" eaLnBrk="0">
                <a:lnSpc>
                  <a:spcPct val="142000"/>
                </a:lnSpc>
                <a:spcBef>
                  <a:spcPts val="2"/>
                </a:spcBef>
                <a:tabLst/>
              </a:pPr>
              <a:r>
                <a:rPr sz="10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财务</a:t>
              </a:r>
              <a:r>
                <a:rPr sz="10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</a:t>
              </a:r>
              <a:r>
                <a:rPr sz="10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物流</a:t>
              </a:r>
              <a:r>
                <a:rPr sz="1000" kern="0" spc="-2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…</a:t>
              </a:r>
              <a:r>
                <a:rPr sz="1000" kern="0" spc="-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kern="0" spc="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…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290" name="picture 329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148780" y="449503"/>
              <a:ext cx="764387" cy="454152"/>
            </a:xfrm>
            <a:prstGeom prst="rect">
              <a:avLst/>
            </a:prstGeom>
          </p:spPr>
        </p:pic>
      </p:grpSp>
      <p:sp>
        <p:nvSpPr>
          <p:cNvPr id="3292" name="textbox 3292"/>
          <p:cNvSpPr/>
          <p:nvPr/>
        </p:nvSpPr>
        <p:spPr>
          <a:xfrm>
            <a:off x="3119346" y="6140866"/>
            <a:ext cx="297179" cy="405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8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客服</a:t>
            </a:r>
            <a:endParaRPr sz="1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64135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HR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294" name="picture 329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065707" y="6113360"/>
            <a:ext cx="764387" cy="221551"/>
          </a:xfrm>
          <a:prstGeom prst="rect">
            <a:avLst/>
          </a:prstGeom>
        </p:spPr>
      </p:pic>
      <p:pic>
        <p:nvPicPr>
          <p:cNvPr id="3296" name="picture 329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065707" y="5883567"/>
            <a:ext cx="764387" cy="221551"/>
          </a:xfrm>
          <a:prstGeom prst="rect">
            <a:avLst/>
          </a:prstGeom>
        </p:spPr>
      </p:pic>
      <p:sp>
        <p:nvSpPr>
          <p:cNvPr id="3298" name="textbox 3298"/>
          <p:cNvSpPr/>
          <p:nvPr/>
        </p:nvSpPr>
        <p:spPr>
          <a:xfrm>
            <a:off x="1233299" y="6061624"/>
            <a:ext cx="431165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0" indent="-146050" algn="l" rtl="0" eaLnBrk="0">
              <a:lnSpc>
                <a:spcPct val="101000"/>
              </a:lnSpc>
              <a:tabLst/>
            </a:pP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论坛社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区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300" name="picture 330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065707" y="6345961"/>
            <a:ext cx="764387" cy="221551"/>
          </a:xfrm>
          <a:prstGeom prst="rect">
            <a:avLst/>
          </a:prstGeom>
        </p:spPr>
      </p:pic>
      <p:sp>
        <p:nvSpPr>
          <p:cNvPr id="3302" name="textbox 3302"/>
          <p:cNvSpPr/>
          <p:nvPr/>
        </p:nvSpPr>
        <p:spPr>
          <a:xfrm>
            <a:off x="1232212" y="6293002"/>
            <a:ext cx="432434" cy="335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3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7954" indent="-135889" algn="l" rtl="0" eaLnBrk="0">
              <a:lnSpc>
                <a:spcPct val="102000"/>
              </a:lnSpc>
              <a:tabLst/>
            </a:pP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跨行合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04" name="textbox 3304"/>
          <p:cNvSpPr/>
          <p:nvPr/>
        </p:nvSpPr>
        <p:spPr>
          <a:xfrm>
            <a:off x="1370281" y="5743612"/>
            <a:ext cx="975994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8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0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外部互联网数据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306" name="picture 330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892312" y="6113360"/>
            <a:ext cx="764387" cy="221551"/>
          </a:xfrm>
          <a:prstGeom prst="rect">
            <a:avLst/>
          </a:prstGeom>
        </p:spPr>
      </p:pic>
      <p:pic>
        <p:nvPicPr>
          <p:cNvPr id="3308" name="picture 330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892312" y="5883567"/>
            <a:ext cx="764387" cy="221551"/>
          </a:xfrm>
          <a:prstGeom prst="rect">
            <a:avLst/>
          </a:prstGeom>
        </p:spPr>
      </p:pic>
      <p:sp>
        <p:nvSpPr>
          <p:cNvPr id="3310" name="textbox 3310"/>
          <p:cNvSpPr/>
          <p:nvPr/>
        </p:nvSpPr>
        <p:spPr>
          <a:xfrm>
            <a:off x="2060176" y="6059586"/>
            <a:ext cx="431165" cy="335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7320" indent="-135254" algn="l" rtl="0" eaLnBrk="0">
              <a:lnSpc>
                <a:spcPct val="102000"/>
              </a:lnSpc>
              <a:tabLst/>
            </a:pP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综合网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站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304" name="group 304"/>
          <p:cNvGrpSpPr/>
          <p:nvPr/>
        </p:nvGrpSpPr>
        <p:grpSpPr>
          <a:xfrm rot="21600000">
            <a:off x="4592942" y="5663856"/>
            <a:ext cx="1894166" cy="970178"/>
            <a:chOff x="0" y="0"/>
            <a:chExt cx="1894166" cy="970178"/>
          </a:xfrm>
        </p:grpSpPr>
        <p:sp>
          <p:nvSpPr>
            <p:cNvPr id="3312" name="rect 3312"/>
            <p:cNvSpPr/>
            <p:nvPr/>
          </p:nvSpPr>
          <p:spPr>
            <a:xfrm>
              <a:off x="0" y="0"/>
              <a:ext cx="1894166" cy="970178"/>
            </a:xfrm>
            <a:prstGeom prst="rect">
              <a:avLst/>
            </a:prstGeom>
            <a:solidFill>
              <a:srgbClr val="365FA2">
                <a:alpha val="99607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3314" name="picture 3314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154406" y="446379"/>
              <a:ext cx="1585366" cy="454152"/>
            </a:xfrm>
            <a:prstGeom prst="rect">
              <a:avLst/>
            </a:prstGeom>
          </p:spPr>
        </p:pic>
        <p:sp>
          <p:nvSpPr>
            <p:cNvPr id="3316" name="textbox 3316"/>
            <p:cNvSpPr/>
            <p:nvPr/>
          </p:nvSpPr>
          <p:spPr>
            <a:xfrm>
              <a:off x="324130" y="78804"/>
              <a:ext cx="1224914" cy="8013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12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9225" algn="l" rtl="0" eaLnBrk="0">
                <a:lnSpc>
                  <a:spcPct val="97000"/>
                </a:lnSpc>
                <a:tabLst/>
              </a:pPr>
              <a:r>
                <a:rPr sz="1000" kern="0" spc="6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设备和其他数据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8000"/>
                </a:lnSpc>
                <a:tabLst/>
              </a:pPr>
              <a:endParaRPr sz="200" dirty="0">
                <a:latin typeface="Arial"/>
                <a:ea typeface="Arial"/>
                <a:cs typeface="Arial"/>
              </a:endParaRPr>
            </a:p>
            <a:p>
              <a:pPr marL="35559" indent="-23495" algn="l" rtl="0" eaLnBrk="0">
                <a:lnSpc>
                  <a:spcPct val="140000"/>
                </a:lnSpc>
                <a:spcBef>
                  <a:spcPts val="2"/>
                </a:spcBef>
                <a:tabLst/>
              </a:pPr>
              <a:r>
                <a:rPr sz="10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生产制造（机器人） 物流和其他设备</a:t>
              </a:r>
              <a:r>
                <a:rPr sz="10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…</a:t>
              </a:r>
              <a:r>
                <a:rPr sz="1000" kern="0" spc="-2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0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…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3318" name="picture 33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892312" y="6345961"/>
            <a:ext cx="764387" cy="221551"/>
          </a:xfrm>
          <a:prstGeom prst="rect">
            <a:avLst/>
          </a:prstGeom>
        </p:spPr>
      </p:pic>
      <p:sp>
        <p:nvSpPr>
          <p:cNvPr id="3320" name="textbox 3320"/>
          <p:cNvSpPr/>
          <p:nvPr/>
        </p:nvSpPr>
        <p:spPr>
          <a:xfrm>
            <a:off x="623316" y="5646420"/>
            <a:ext cx="7308215" cy="1062989"/>
          </a:xfrm>
          <a:prstGeom prst="rect">
            <a:avLst/>
          </a:prstGeom>
          <a:solidFill>
            <a:srgbClr val="3E82F9">
              <a:alpha val="7254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0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80564" algn="l" rtl="0" eaLnBrk="0">
              <a:lnSpc>
                <a:spcPct val="90000"/>
              </a:lnSpc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业务流程-全面数字</a:t>
            </a:r>
            <a:r>
              <a:rPr sz="2300" kern="0" spc="7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化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22" name="rect 3322"/>
          <p:cNvSpPr/>
          <p:nvPr/>
        </p:nvSpPr>
        <p:spPr>
          <a:xfrm>
            <a:off x="696468" y="1502600"/>
            <a:ext cx="7344155" cy="975893"/>
          </a:xfrm>
          <a:prstGeom prst="rect">
            <a:avLst/>
          </a:prstGeom>
          <a:solidFill>
            <a:srgbClr val="3E82F9">
              <a:alpha val="1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306" name="group 306"/>
          <p:cNvGrpSpPr/>
          <p:nvPr/>
        </p:nvGrpSpPr>
        <p:grpSpPr>
          <a:xfrm rot="21600000">
            <a:off x="6711454" y="2063496"/>
            <a:ext cx="1227061" cy="345071"/>
            <a:chOff x="0" y="0"/>
            <a:chExt cx="1227061" cy="345071"/>
          </a:xfrm>
        </p:grpSpPr>
        <p:pic>
          <p:nvPicPr>
            <p:cNvPr id="3324" name="picture 3324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0" y="0"/>
              <a:ext cx="1227061" cy="345071"/>
            </a:xfrm>
            <a:prstGeom prst="rect">
              <a:avLst/>
            </a:prstGeom>
          </p:spPr>
        </p:pic>
        <p:sp>
          <p:nvSpPr>
            <p:cNvPr id="3326" name="textbox 3326"/>
            <p:cNvSpPr/>
            <p:nvPr/>
          </p:nvSpPr>
          <p:spPr>
            <a:xfrm>
              <a:off x="-12700" y="-12700"/>
              <a:ext cx="1252855" cy="3867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85725" algn="l" rtl="0" eaLnBrk="0">
                <a:lnSpc>
                  <a:spcPct val="91000"/>
                </a:lnSpc>
                <a:spcBef>
                  <a:spcPts val="6"/>
                </a:spcBef>
                <a:tabLst/>
              </a:pPr>
              <a:r>
                <a:rPr sz="1200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策略推荐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3328" name="picture 332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5248655" y="1590675"/>
            <a:ext cx="1226934" cy="344804"/>
          </a:xfrm>
          <a:prstGeom prst="rect">
            <a:avLst/>
          </a:prstGeom>
        </p:spPr>
      </p:pic>
      <p:sp>
        <p:nvSpPr>
          <p:cNvPr id="3330" name="rect 3330"/>
          <p:cNvSpPr/>
          <p:nvPr/>
        </p:nvSpPr>
        <p:spPr>
          <a:xfrm>
            <a:off x="5248655" y="2063496"/>
            <a:ext cx="1226934" cy="345071"/>
          </a:xfrm>
          <a:prstGeom prst="rect">
            <a:avLst/>
          </a:prstGeom>
          <a:solidFill>
            <a:srgbClr val="FFC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332" name="picture 333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3786746" y="1590675"/>
            <a:ext cx="1227213" cy="344804"/>
          </a:xfrm>
          <a:prstGeom prst="rect">
            <a:avLst/>
          </a:prstGeom>
        </p:spPr>
      </p:pic>
      <p:sp>
        <p:nvSpPr>
          <p:cNvPr id="3334" name="rect 3334"/>
          <p:cNvSpPr/>
          <p:nvPr/>
        </p:nvSpPr>
        <p:spPr>
          <a:xfrm>
            <a:off x="5260848" y="2081783"/>
            <a:ext cx="1203960" cy="307848"/>
          </a:xfrm>
          <a:prstGeom prst="rect">
            <a:avLst/>
          </a:prstGeom>
          <a:solidFill>
            <a:srgbClr val="FFC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336" name="picture 333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3786746" y="2063496"/>
            <a:ext cx="1227213" cy="345071"/>
          </a:xfrm>
          <a:prstGeom prst="rect">
            <a:avLst/>
          </a:prstGeom>
        </p:spPr>
      </p:pic>
      <p:sp>
        <p:nvSpPr>
          <p:cNvPr id="3338" name="textbox 3338"/>
          <p:cNvSpPr/>
          <p:nvPr/>
        </p:nvSpPr>
        <p:spPr>
          <a:xfrm>
            <a:off x="3846804" y="1671561"/>
            <a:ext cx="2641600" cy="666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数字企划</a:t>
            </a:r>
            <a:r>
              <a:rPr sz="12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</a:t>
            </a:r>
            <a:r>
              <a:rPr sz="12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智能制造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8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spcBef>
                <a:spcPts val="2"/>
              </a:spcBef>
              <a:tabLst/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风险合规</a:t>
            </a:r>
            <a:r>
              <a:rPr sz="1200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C2M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308" name="group 308"/>
          <p:cNvGrpSpPr/>
          <p:nvPr/>
        </p:nvGrpSpPr>
        <p:grpSpPr>
          <a:xfrm rot="21600000">
            <a:off x="2324100" y="1590675"/>
            <a:ext cx="1226820" cy="344804"/>
            <a:chOff x="0" y="0"/>
            <a:chExt cx="1226820" cy="344804"/>
          </a:xfrm>
        </p:grpSpPr>
        <p:pic>
          <p:nvPicPr>
            <p:cNvPr id="3340" name="picture 3340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0" y="0"/>
              <a:ext cx="1226820" cy="344804"/>
            </a:xfrm>
            <a:prstGeom prst="rect">
              <a:avLst/>
            </a:prstGeom>
          </p:spPr>
        </p:pic>
        <p:sp>
          <p:nvSpPr>
            <p:cNvPr id="3342" name="textbox 3342"/>
            <p:cNvSpPr/>
            <p:nvPr/>
          </p:nvSpPr>
          <p:spPr>
            <a:xfrm>
              <a:off x="-12700" y="-12700"/>
              <a:ext cx="1252855" cy="3848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85725" algn="l" rtl="0" eaLnBrk="0">
                <a:lnSpc>
                  <a:spcPct val="91000"/>
                </a:lnSpc>
                <a:spcBef>
                  <a:spcPts val="1"/>
                </a:spcBef>
                <a:tabLst/>
              </a:pPr>
              <a:r>
                <a:rPr sz="1200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数字零售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10" name="group 310"/>
          <p:cNvGrpSpPr/>
          <p:nvPr/>
        </p:nvGrpSpPr>
        <p:grpSpPr>
          <a:xfrm rot="21600000">
            <a:off x="2324100" y="2063496"/>
            <a:ext cx="1226820" cy="345071"/>
            <a:chOff x="0" y="0"/>
            <a:chExt cx="1226820" cy="345071"/>
          </a:xfrm>
        </p:grpSpPr>
        <p:pic>
          <p:nvPicPr>
            <p:cNvPr id="3344" name="picture 3344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0" y="0"/>
              <a:ext cx="1226820" cy="345071"/>
            </a:xfrm>
            <a:prstGeom prst="rect">
              <a:avLst/>
            </a:prstGeom>
          </p:spPr>
        </p:pic>
        <p:sp>
          <p:nvSpPr>
            <p:cNvPr id="3346" name="textbox 3346"/>
            <p:cNvSpPr/>
            <p:nvPr/>
          </p:nvSpPr>
          <p:spPr>
            <a:xfrm>
              <a:off x="-12700" y="-12700"/>
              <a:ext cx="1252855" cy="3867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88900" algn="l" rtl="0" eaLnBrk="0">
                <a:lnSpc>
                  <a:spcPct val="91000"/>
                </a:lnSpc>
                <a:spcBef>
                  <a:spcPts val="6"/>
                </a:spcBef>
                <a:tabLst/>
              </a:pPr>
              <a:r>
                <a:rPr sz="1200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舆情监控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12" name="group 312"/>
          <p:cNvGrpSpPr/>
          <p:nvPr/>
        </p:nvGrpSpPr>
        <p:grpSpPr>
          <a:xfrm rot="21600000">
            <a:off x="862050" y="2063496"/>
            <a:ext cx="1226489" cy="345071"/>
            <a:chOff x="0" y="0"/>
            <a:chExt cx="1226489" cy="345071"/>
          </a:xfrm>
        </p:grpSpPr>
        <p:pic>
          <p:nvPicPr>
            <p:cNvPr id="3348" name="picture 3348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21600000">
              <a:off x="0" y="0"/>
              <a:ext cx="1226489" cy="345071"/>
            </a:xfrm>
            <a:prstGeom prst="rect">
              <a:avLst/>
            </a:prstGeom>
          </p:spPr>
        </p:pic>
        <p:sp>
          <p:nvSpPr>
            <p:cNvPr id="3350" name="textbox 3350"/>
            <p:cNvSpPr/>
            <p:nvPr/>
          </p:nvSpPr>
          <p:spPr>
            <a:xfrm>
              <a:off x="-12700" y="-12700"/>
              <a:ext cx="1252219" cy="3873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88264" algn="l" rtl="0" eaLnBrk="0">
                <a:lnSpc>
                  <a:spcPct val="91000"/>
                </a:lnSpc>
                <a:spcBef>
                  <a:spcPts val="6"/>
                </a:spcBef>
                <a:tabLst/>
              </a:pPr>
              <a:r>
                <a:rPr sz="1200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市场洞察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14" name="group 314"/>
          <p:cNvGrpSpPr/>
          <p:nvPr/>
        </p:nvGrpSpPr>
        <p:grpSpPr>
          <a:xfrm rot="21600000">
            <a:off x="862050" y="1590675"/>
            <a:ext cx="1226489" cy="344804"/>
            <a:chOff x="0" y="0"/>
            <a:chExt cx="1226489" cy="344804"/>
          </a:xfrm>
        </p:grpSpPr>
        <p:pic>
          <p:nvPicPr>
            <p:cNvPr id="3352" name="picture 3352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0" y="0"/>
              <a:ext cx="1226489" cy="344804"/>
            </a:xfrm>
            <a:prstGeom prst="rect">
              <a:avLst/>
            </a:prstGeom>
          </p:spPr>
        </p:pic>
        <p:sp>
          <p:nvSpPr>
            <p:cNvPr id="3354" name="textbox 3354"/>
            <p:cNvSpPr/>
            <p:nvPr/>
          </p:nvSpPr>
          <p:spPr>
            <a:xfrm>
              <a:off x="-12700" y="-12700"/>
              <a:ext cx="1252219" cy="3854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86994" algn="l" rtl="0" eaLnBrk="0">
                <a:lnSpc>
                  <a:spcPct val="91000"/>
                </a:lnSpc>
                <a:spcBef>
                  <a:spcPts val="1"/>
                </a:spcBef>
                <a:tabLst/>
              </a:pPr>
              <a:r>
                <a:rPr sz="1200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经营透视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16" name="group 316"/>
          <p:cNvGrpSpPr/>
          <p:nvPr/>
        </p:nvGrpSpPr>
        <p:grpSpPr>
          <a:xfrm rot="21600000">
            <a:off x="6711454" y="1590675"/>
            <a:ext cx="1227061" cy="344804"/>
            <a:chOff x="0" y="0"/>
            <a:chExt cx="1227061" cy="344804"/>
          </a:xfrm>
        </p:grpSpPr>
        <p:pic>
          <p:nvPicPr>
            <p:cNvPr id="3356" name="picture 3356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21600000">
              <a:off x="0" y="0"/>
              <a:ext cx="1227061" cy="344804"/>
            </a:xfrm>
            <a:prstGeom prst="rect">
              <a:avLst/>
            </a:prstGeom>
          </p:spPr>
        </p:pic>
        <p:sp>
          <p:nvSpPr>
            <p:cNvPr id="3358" name="textbox 3358"/>
            <p:cNvSpPr/>
            <p:nvPr/>
          </p:nvSpPr>
          <p:spPr>
            <a:xfrm>
              <a:off x="-12700" y="-12700"/>
              <a:ext cx="1252855" cy="3867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85089" algn="l" rtl="0" eaLnBrk="0">
                <a:lnSpc>
                  <a:spcPct val="92000"/>
                </a:lnSpc>
                <a:spcBef>
                  <a:spcPts val="5"/>
                </a:spcBef>
                <a:tabLst/>
              </a:pPr>
              <a:r>
                <a:rPr sz="1200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智慧物流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3360" name="rect 3360"/>
          <p:cNvSpPr/>
          <p:nvPr/>
        </p:nvSpPr>
        <p:spPr>
          <a:xfrm>
            <a:off x="644652" y="1495044"/>
            <a:ext cx="7440167" cy="929741"/>
          </a:xfrm>
          <a:prstGeom prst="rect">
            <a:avLst/>
          </a:prstGeom>
          <a:solidFill>
            <a:srgbClr val="3E82F9">
              <a:alpha val="7254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62" name="textbox 3362"/>
          <p:cNvSpPr/>
          <p:nvPr/>
        </p:nvSpPr>
        <p:spPr>
          <a:xfrm>
            <a:off x="8288770" y="1389786"/>
            <a:ext cx="3064510" cy="1149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4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350" algn="l" rtl="0" eaLnBrk="0">
              <a:lnSpc>
                <a:spcPct val="107000"/>
              </a:lnSpc>
              <a:tabLst/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建立集团统一的数据魔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方</a:t>
            </a:r>
            <a:r>
              <a:rPr sz="2300" kern="0" spc="-2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，</a:t>
            </a:r>
            <a:r>
              <a:rPr sz="2300" kern="0" spc="-3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实现全集团</a:t>
            </a:r>
            <a:r>
              <a:rPr sz="2300" kern="0" spc="-30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2300" kern="0" spc="-5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全领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域数字化，</a:t>
            </a:r>
            <a:r>
              <a:rPr sz="2300" kern="0" spc="-3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实现分角色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64" name="textbox 3364"/>
          <p:cNvSpPr/>
          <p:nvPr/>
        </p:nvSpPr>
        <p:spPr>
          <a:xfrm>
            <a:off x="8295780" y="2487066"/>
            <a:ext cx="3057525" cy="784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9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-635" algn="l" rtl="0" eaLnBrk="0">
              <a:lnSpc>
                <a:spcPct val="108000"/>
              </a:lnSpc>
              <a:tabLst/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数据可视及关键业务场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景数据驱动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66" name="textbox 3366"/>
          <p:cNvSpPr/>
          <p:nvPr/>
        </p:nvSpPr>
        <p:spPr>
          <a:xfrm>
            <a:off x="659104" y="312080"/>
            <a:ext cx="4755515" cy="396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数字化2.0-大数据平台远景</a:t>
            </a:r>
            <a:r>
              <a:rPr sz="26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规划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318" name="group 318"/>
          <p:cNvGrpSpPr/>
          <p:nvPr/>
        </p:nvGrpSpPr>
        <p:grpSpPr>
          <a:xfrm rot="21600000">
            <a:off x="1167104" y="2497259"/>
            <a:ext cx="6190157" cy="253648"/>
            <a:chOff x="0" y="0"/>
            <a:chExt cx="6190157" cy="253648"/>
          </a:xfrm>
        </p:grpSpPr>
        <p:pic>
          <p:nvPicPr>
            <p:cNvPr id="3368" name="picture 3368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0" y="20680"/>
              <a:ext cx="6190157" cy="232968"/>
            </a:xfrm>
            <a:prstGeom prst="rect">
              <a:avLst/>
            </a:prstGeom>
          </p:spPr>
        </p:pic>
        <p:sp>
          <p:nvSpPr>
            <p:cNvPr id="3370" name="textbox 3370"/>
            <p:cNvSpPr/>
            <p:nvPr/>
          </p:nvSpPr>
          <p:spPr>
            <a:xfrm>
              <a:off x="-12700" y="-12700"/>
              <a:ext cx="6216015" cy="2794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740025" algn="l" rtl="0" eaLnBrk="0">
                <a:lnSpc>
                  <a:spcPts val="1923"/>
                </a:lnSpc>
                <a:tabLst/>
              </a:pPr>
              <a:r>
                <a:rPr sz="1500" kern="0" spc="7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数据驱动</a:t>
              </a:r>
              <a:endParaRPr sz="15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3372" name="textbox 3372"/>
          <p:cNvSpPr/>
          <p:nvPr/>
        </p:nvSpPr>
        <p:spPr>
          <a:xfrm>
            <a:off x="2303170" y="3744683"/>
            <a:ext cx="4124325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94"/>
              </a:lnSpc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数据魔方-全领域数</a:t>
            </a: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据拉通整合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74" name="textbox 3374"/>
          <p:cNvSpPr/>
          <p:nvPr/>
        </p:nvSpPr>
        <p:spPr>
          <a:xfrm>
            <a:off x="10664837" y="4561916"/>
            <a:ext cx="939164" cy="960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200" kern="0" spc="-10" dirty="0">
                <a:solidFill>
                  <a:srgbClr val="53535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分角色数据可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ct val="142000"/>
              </a:lnSpc>
              <a:spcBef>
                <a:spcPts val="25"/>
              </a:spcBef>
              <a:tabLst/>
            </a:pPr>
            <a:r>
              <a:rPr sz="1200" kern="0" spc="-40" dirty="0">
                <a:solidFill>
                  <a:srgbClr val="53535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视</a:t>
            </a:r>
            <a:r>
              <a:rPr sz="1200" kern="0" spc="-150" dirty="0">
                <a:solidFill>
                  <a:srgbClr val="53535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53535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，实现经营</a:t>
            </a:r>
            <a:r>
              <a:rPr sz="1200" kern="0" spc="0" dirty="0">
                <a:solidFill>
                  <a:srgbClr val="53535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53535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透视、数据驱</a:t>
            </a:r>
            <a:r>
              <a:rPr sz="1200" kern="0" spc="20" dirty="0">
                <a:solidFill>
                  <a:srgbClr val="53535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53535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动及智能预警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76" name="textbox 3376"/>
          <p:cNvSpPr/>
          <p:nvPr/>
        </p:nvSpPr>
        <p:spPr>
          <a:xfrm>
            <a:off x="3668598" y="1742961"/>
            <a:ext cx="1838325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94"/>
              </a:lnSpc>
              <a:tabLst/>
            </a:pPr>
            <a:r>
              <a:rPr sz="2300" kern="0" spc="7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数据应用场景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3378" name="textbox 3378"/>
          <p:cNvSpPr/>
          <p:nvPr/>
        </p:nvSpPr>
        <p:spPr>
          <a:xfrm>
            <a:off x="1170724" y="5292475"/>
            <a:ext cx="4491354" cy="166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财经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             国际             产品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采购           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kern="0" spc="0" baseline="3472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HR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</a:t>
            </a:r>
            <a:r>
              <a:rPr sz="1300" kern="0" spc="20" baseline="120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</a:t>
            </a:r>
            <a:endParaRPr sz="1300" baseline="1202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80" name="textbox 3380"/>
          <p:cNvSpPr/>
          <p:nvPr/>
        </p:nvSpPr>
        <p:spPr>
          <a:xfrm>
            <a:off x="9594774" y="4749487"/>
            <a:ext cx="596900" cy="9785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700" kern="0" spc="40" dirty="0">
                <a:solidFill>
                  <a:srgbClr val="D9D9D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</a:t>
            </a:r>
            <a:r>
              <a:rPr sz="700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战指挥中心</a:t>
            </a:r>
            <a:endParaRPr sz="700" dirty="0">
              <a:latin typeface="Microsoft YaHei"/>
              <a:ea typeface="Microsoft YaHei"/>
              <a:cs typeface="Microsoft YaHei"/>
            </a:endParaRPr>
          </a:p>
          <a:p>
            <a:pPr marL="60325" indent="96519" algn="l" rtl="0" eaLnBrk="0">
              <a:lnSpc>
                <a:spcPct val="112000"/>
              </a:lnSpc>
              <a:spcBef>
                <a:spcPts val="1547"/>
              </a:spcBef>
              <a:tabLst/>
            </a:pPr>
            <a:r>
              <a:rPr sz="1200" kern="0" spc="-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中层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700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管理驾驶舱</a:t>
            </a:r>
            <a:endParaRPr sz="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685" algn="l" rtl="0" eaLnBrk="0">
              <a:lnSpc>
                <a:spcPct val="90000"/>
              </a:lnSpc>
              <a:spcBef>
                <a:spcPts val="3"/>
              </a:spcBef>
              <a:tabLst/>
            </a:pP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382" name="picture 338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8973401" y="4341405"/>
            <a:ext cx="343864" cy="1289608"/>
          </a:xfrm>
          <a:prstGeom prst="rect">
            <a:avLst/>
          </a:prstGeom>
        </p:spPr>
      </p:pic>
      <p:grpSp>
        <p:nvGrpSpPr>
          <p:cNvPr id="320" name="group 320"/>
          <p:cNvGrpSpPr/>
          <p:nvPr/>
        </p:nvGrpSpPr>
        <p:grpSpPr>
          <a:xfrm rot="21600000">
            <a:off x="4747348" y="5880455"/>
            <a:ext cx="1585366" cy="221551"/>
            <a:chOff x="0" y="0"/>
            <a:chExt cx="1585366" cy="221551"/>
          </a:xfrm>
        </p:grpSpPr>
        <p:pic>
          <p:nvPicPr>
            <p:cNvPr id="3384" name="picture 3384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 rot="21600000">
              <a:off x="0" y="0"/>
              <a:ext cx="1585366" cy="221551"/>
            </a:xfrm>
            <a:prstGeom prst="rect">
              <a:avLst/>
            </a:prstGeom>
          </p:spPr>
        </p:pic>
        <p:sp>
          <p:nvSpPr>
            <p:cNvPr id="3386" name="textbox 3386"/>
            <p:cNvSpPr/>
            <p:nvPr/>
          </p:nvSpPr>
          <p:spPr>
            <a:xfrm>
              <a:off x="-12700" y="-12700"/>
              <a:ext cx="1610994" cy="2603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98145" algn="l" rtl="0" eaLnBrk="0">
                <a:lnSpc>
                  <a:spcPct val="97000"/>
                </a:lnSpc>
                <a:spcBef>
                  <a:spcPts val="3"/>
                </a:spcBef>
                <a:tabLst/>
              </a:pPr>
              <a:r>
                <a:rPr sz="10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智能家居设备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3388" name="picture 338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1473517" y="5562701"/>
            <a:ext cx="4472990" cy="72809"/>
          </a:xfrm>
          <a:prstGeom prst="rect">
            <a:avLst/>
          </a:prstGeom>
        </p:spPr>
      </p:pic>
      <p:grpSp>
        <p:nvGrpSpPr>
          <p:cNvPr id="322" name="group 322"/>
          <p:cNvGrpSpPr/>
          <p:nvPr/>
        </p:nvGrpSpPr>
        <p:grpSpPr>
          <a:xfrm rot="21600000">
            <a:off x="2885439" y="5883567"/>
            <a:ext cx="764387" cy="221551"/>
            <a:chOff x="0" y="0"/>
            <a:chExt cx="764387" cy="221551"/>
          </a:xfrm>
        </p:grpSpPr>
        <p:pic>
          <p:nvPicPr>
            <p:cNvPr id="3390" name="picture 339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0" y="0"/>
              <a:ext cx="764387" cy="221551"/>
            </a:xfrm>
            <a:prstGeom prst="rect">
              <a:avLst/>
            </a:prstGeom>
          </p:spPr>
        </p:pic>
        <p:sp>
          <p:nvSpPr>
            <p:cNvPr id="3392" name="textbox 3392"/>
            <p:cNvSpPr/>
            <p:nvPr/>
          </p:nvSpPr>
          <p:spPr>
            <a:xfrm>
              <a:off x="-12700" y="-12700"/>
              <a:ext cx="789940" cy="2609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91135" algn="l" rtl="0" eaLnBrk="0">
                <a:lnSpc>
                  <a:spcPct val="97000"/>
                </a:lnSpc>
                <a:spcBef>
                  <a:spcPts val="3"/>
                </a:spcBef>
                <a:tabLst/>
              </a:pPr>
              <a:r>
                <a:rPr sz="10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供应链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24" name="group 324"/>
          <p:cNvGrpSpPr/>
          <p:nvPr/>
        </p:nvGrpSpPr>
        <p:grpSpPr>
          <a:xfrm rot="21600000">
            <a:off x="3712032" y="5883567"/>
            <a:ext cx="764387" cy="221551"/>
            <a:chOff x="0" y="0"/>
            <a:chExt cx="764387" cy="221551"/>
          </a:xfrm>
        </p:grpSpPr>
        <p:pic>
          <p:nvPicPr>
            <p:cNvPr id="3394" name="picture 3394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0" y="0"/>
              <a:ext cx="764387" cy="221551"/>
            </a:xfrm>
            <a:prstGeom prst="rect">
              <a:avLst/>
            </a:prstGeom>
          </p:spPr>
        </p:pic>
        <p:sp>
          <p:nvSpPr>
            <p:cNvPr id="3396" name="textbox 3396"/>
            <p:cNvSpPr/>
            <p:nvPr/>
          </p:nvSpPr>
          <p:spPr>
            <a:xfrm>
              <a:off x="-12700" y="-12700"/>
              <a:ext cx="789940" cy="2609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9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61620" algn="l" rtl="0" eaLnBrk="0">
                <a:lnSpc>
                  <a:spcPct val="96000"/>
                </a:lnSpc>
                <a:tabLst/>
              </a:pPr>
              <a:r>
                <a:rPr sz="10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营销</a:t>
              </a:r>
              <a:endParaRPr sz="1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3398" name="textbox 3398"/>
          <p:cNvSpPr/>
          <p:nvPr/>
        </p:nvSpPr>
        <p:spPr>
          <a:xfrm>
            <a:off x="9521037" y="4470882"/>
            <a:ext cx="536575" cy="250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91000"/>
              </a:lnSpc>
              <a:tabLst>
                <a:tab pos="221615" algn="l"/>
              </a:tabLst>
            </a:pP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00" name="picture 340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9533737" y="4483582"/>
            <a:ext cx="65011" cy="153632"/>
          </a:xfrm>
          <a:prstGeom prst="rect">
            <a:avLst/>
          </a:prstGeom>
        </p:spPr>
      </p:pic>
      <p:sp>
        <p:nvSpPr>
          <p:cNvPr id="3402" name="textbox 3402"/>
          <p:cNvSpPr/>
          <p:nvPr/>
        </p:nvSpPr>
        <p:spPr>
          <a:xfrm>
            <a:off x="2016000" y="6375233"/>
            <a:ext cx="517525" cy="172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外购</a:t>
            </a:r>
            <a:r>
              <a:rPr sz="10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</a:t>
            </a:r>
            <a:r>
              <a:rPr sz="10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04" name="textbox 3404"/>
          <p:cNvSpPr/>
          <p:nvPr/>
        </p:nvSpPr>
        <p:spPr>
          <a:xfrm>
            <a:off x="2059904" y="5911887"/>
            <a:ext cx="43116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运营商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06" name="textbox 3406"/>
          <p:cNvSpPr/>
          <p:nvPr/>
        </p:nvSpPr>
        <p:spPr>
          <a:xfrm>
            <a:off x="9690875" y="5752595"/>
            <a:ext cx="405129" cy="1295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700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单兵系统</a:t>
            </a:r>
            <a:endParaRPr sz="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08" name="textbox 3408"/>
          <p:cNvSpPr/>
          <p:nvPr/>
        </p:nvSpPr>
        <p:spPr>
          <a:xfrm>
            <a:off x="1307631" y="5911887"/>
            <a:ext cx="28892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7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电商</a:t>
            </a:r>
            <a:endParaRPr sz="1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10" name="picture 341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9455607" y="4294733"/>
            <a:ext cx="85178" cy="149313"/>
          </a:xfrm>
          <a:prstGeom prst="rect">
            <a:avLst/>
          </a:prstGeom>
        </p:spPr>
      </p:pic>
      <p:pic>
        <p:nvPicPr>
          <p:cNvPr id="3412" name="picture 341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9584194" y="4681677"/>
            <a:ext cx="33770" cy="5458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roup 326"/>
          <p:cNvGrpSpPr/>
          <p:nvPr/>
        </p:nvGrpSpPr>
        <p:grpSpPr>
          <a:xfrm rot="21600000">
            <a:off x="1234071" y="4435309"/>
            <a:ext cx="9536924" cy="1250734"/>
            <a:chOff x="0" y="0"/>
            <a:chExt cx="9536924" cy="1250734"/>
          </a:xfrm>
        </p:grpSpPr>
        <p:pic>
          <p:nvPicPr>
            <p:cNvPr id="3414" name="picture 34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9536924" cy="1250734"/>
            </a:xfrm>
            <a:prstGeom prst="rect">
              <a:avLst/>
            </a:prstGeom>
          </p:spPr>
        </p:pic>
        <p:sp>
          <p:nvSpPr>
            <p:cNvPr id="3416" name="textbox 3416"/>
            <p:cNvSpPr/>
            <p:nvPr/>
          </p:nvSpPr>
          <p:spPr>
            <a:xfrm>
              <a:off x="-12700" y="-12700"/>
              <a:ext cx="9562465" cy="12763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73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881380" algn="l" rtl="0" eaLnBrk="0">
                <a:lnSpc>
                  <a:spcPts val="2418"/>
                </a:lnSpc>
                <a:tabLst/>
              </a:pP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3.数据驱动业务             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•</a:t>
              </a:r>
              <a:r>
                <a:rPr sz="1400" kern="0" spc="-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挖掘关键数据应用场景</a:t>
              </a:r>
              <a:r>
                <a:rPr sz="14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，通过大数据应用</a:t>
              </a:r>
              <a:r>
                <a:rPr sz="1400" kern="0" spc="-2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，真正实现智能化及数据驱动；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3418" name="picture 34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34071" y="1629168"/>
            <a:ext cx="9536924" cy="1250721"/>
          </a:xfrm>
          <a:prstGeom prst="rect">
            <a:avLst/>
          </a:prstGeom>
        </p:spPr>
      </p:pic>
      <p:sp>
        <p:nvSpPr>
          <p:cNvPr id="3420" name="rect 3420"/>
          <p:cNvSpPr/>
          <p:nvPr/>
        </p:nvSpPr>
        <p:spPr>
          <a:xfrm>
            <a:off x="4664963" y="3038589"/>
            <a:ext cx="6099683" cy="1238021"/>
          </a:xfrm>
          <a:prstGeom prst="rect">
            <a:avLst/>
          </a:prstGeom>
          <a:solidFill>
            <a:srgbClr val="CCF6D4">
              <a:alpha val="9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22" name="rect 3422"/>
          <p:cNvSpPr/>
          <p:nvPr/>
        </p:nvSpPr>
        <p:spPr>
          <a:xfrm>
            <a:off x="4658728" y="3032239"/>
            <a:ext cx="6112268" cy="1250721"/>
          </a:xfrm>
          <a:prstGeom prst="rect">
            <a:avLst/>
          </a:prstGeom>
          <a:solidFill>
            <a:srgbClr val="CCF6D4">
              <a:alpha val="90196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24" name="rect 3424"/>
          <p:cNvSpPr/>
          <p:nvPr/>
        </p:nvSpPr>
        <p:spPr>
          <a:xfrm>
            <a:off x="1234071" y="3061030"/>
            <a:ext cx="3431006" cy="1193139"/>
          </a:xfrm>
          <a:prstGeom prst="rect">
            <a:avLst/>
          </a:prstGeom>
          <a:solidFill>
            <a:srgbClr val="22E14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26" name="rect 3426"/>
          <p:cNvSpPr/>
          <p:nvPr/>
        </p:nvSpPr>
        <p:spPr>
          <a:xfrm>
            <a:off x="1227721" y="3054680"/>
            <a:ext cx="3443706" cy="1205839"/>
          </a:xfrm>
          <a:prstGeom prst="rect">
            <a:avLst/>
          </a:prstGeom>
          <a:solidFill>
            <a:srgbClr val="22E14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28" name="textbox 3428"/>
          <p:cNvSpPr/>
          <p:nvPr/>
        </p:nvSpPr>
        <p:spPr>
          <a:xfrm>
            <a:off x="1215021" y="3444684"/>
            <a:ext cx="9568815" cy="417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38"/>
              </a:lnSpc>
              <a:tabLst>
                <a:tab pos="890905" algn="l"/>
              </a:tabLst>
            </a:pP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	</a:t>
            </a:r>
            <a:r>
              <a:rPr sz="2800" kern="0" spc="-70" baseline="-14571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2.全面经营透视</a:t>
            </a:r>
            <a:r>
              <a:rPr sz="1700" kern="0" spc="-7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             </a:t>
            </a:r>
            <a:r>
              <a:rPr sz="2400" kern="0" spc="-70" baseline="19895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15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kern="0" spc="-80" baseline="19895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开普勒现有数据应用，对产研销进行全流程数据梳理，实现全面经营</a:t>
            </a:r>
            <a:r>
              <a:rPr sz="15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30" name="textbox 3430"/>
          <p:cNvSpPr/>
          <p:nvPr/>
        </p:nvSpPr>
        <p:spPr>
          <a:xfrm>
            <a:off x="4822873" y="3661613"/>
            <a:ext cx="379095" cy="219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5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透</a:t>
            </a:r>
            <a:r>
              <a:rPr sz="15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视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32" name="textbox 3432"/>
          <p:cNvSpPr/>
          <p:nvPr/>
        </p:nvSpPr>
        <p:spPr>
          <a:xfrm>
            <a:off x="4518024" y="3447182"/>
            <a:ext cx="379729" cy="220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1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5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34" name="textbox 3434"/>
          <p:cNvSpPr/>
          <p:nvPr/>
        </p:nvSpPr>
        <p:spPr>
          <a:xfrm>
            <a:off x="4720349" y="2042314"/>
            <a:ext cx="5957570" cy="434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4935" indent="-102235" algn="l" rtl="0" eaLnBrk="0">
              <a:lnSpc>
                <a:spcPct val="96000"/>
              </a:lnSpc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•</a:t>
            </a:r>
            <a:r>
              <a:rPr sz="14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建立运营组织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，制定管理办法实现数据闭环运营</a:t>
            </a:r>
            <a:r>
              <a:rPr sz="14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，确保数据持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续有效应用，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助力业务发展；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36" name="textbox 3436"/>
          <p:cNvSpPr/>
          <p:nvPr/>
        </p:nvSpPr>
        <p:spPr>
          <a:xfrm>
            <a:off x="553402" y="337184"/>
            <a:ext cx="4903470" cy="396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2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数字化2.0-洗衣机数</a:t>
            </a:r>
            <a:r>
              <a:rPr sz="26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据运营-目标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38" name="textbox 3438"/>
          <p:cNvSpPr/>
          <p:nvPr/>
        </p:nvSpPr>
        <p:spPr>
          <a:xfrm>
            <a:off x="2098875" y="2068186"/>
            <a:ext cx="1720850" cy="332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18"/>
              </a:lnSpc>
              <a:tabLst/>
            </a:pPr>
            <a:r>
              <a:rPr sz="2000" kern="0" spc="-5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1.</a:t>
            </a:r>
            <a:r>
              <a:rPr sz="2000" kern="0" spc="-32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000" kern="0" spc="-5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闭环数据运营</a:t>
            </a:r>
            <a:endParaRPr sz="20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" name="textbox 3440"/>
          <p:cNvSpPr/>
          <p:nvPr/>
        </p:nvSpPr>
        <p:spPr>
          <a:xfrm>
            <a:off x="609571" y="366944"/>
            <a:ext cx="10899775" cy="1301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6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建立全面、</a:t>
            </a:r>
            <a:r>
              <a:rPr sz="2600" b="1" kern="0" spc="-6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可持续的闭环数据运</a:t>
            </a:r>
            <a:r>
              <a:rPr sz="26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营体系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43815" indent="14604" algn="l" rtl="0" eaLnBrk="0">
              <a:lnSpc>
                <a:spcPct val="143000"/>
              </a:lnSpc>
              <a:spcBef>
                <a:spcPts val="3"/>
              </a:spcBef>
              <a:tabLst/>
            </a:pP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围绕企业经营管理</a:t>
            </a:r>
            <a:r>
              <a:rPr sz="18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，组织人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员全面梳理业务指标体系</a:t>
            </a:r>
            <a:r>
              <a:rPr sz="18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，通过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IT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技术进行数据搜集</a:t>
            </a:r>
            <a:r>
              <a:rPr sz="18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，全面建设可靠、及时、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便捷的数据平台</a:t>
            </a:r>
            <a:r>
              <a:rPr sz="18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800" kern="0" spc="-4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为业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务决策提供数据支持；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328" name="group 328"/>
          <p:cNvGrpSpPr/>
          <p:nvPr/>
        </p:nvGrpSpPr>
        <p:grpSpPr>
          <a:xfrm rot="21600000">
            <a:off x="2761487" y="4527677"/>
            <a:ext cx="1925371" cy="1840763"/>
            <a:chOff x="0" y="0"/>
            <a:chExt cx="1925371" cy="1840763"/>
          </a:xfrm>
        </p:grpSpPr>
        <p:sp>
          <p:nvSpPr>
            <p:cNvPr id="3442" name="path 3442"/>
            <p:cNvSpPr/>
            <p:nvPr/>
          </p:nvSpPr>
          <p:spPr>
            <a:xfrm>
              <a:off x="0" y="0"/>
              <a:ext cx="1925371" cy="1840763"/>
            </a:xfrm>
            <a:custGeom>
              <a:avLst/>
              <a:gdLst/>
              <a:ahLst/>
              <a:cxnLst/>
              <a:rect l="0" t="0" r="0" b="0"/>
              <a:pathLst>
                <a:path w="3032" h="2898">
                  <a:moveTo>
                    <a:pt x="0" y="1449"/>
                  </a:moveTo>
                  <a:cubicBezTo>
                    <a:pt x="0" y="648"/>
                    <a:pt x="679" y="0"/>
                    <a:pt x="1516" y="0"/>
                  </a:cubicBezTo>
                  <a:cubicBezTo>
                    <a:pt x="2353" y="0"/>
                    <a:pt x="3032" y="648"/>
                    <a:pt x="3032" y="1449"/>
                  </a:cubicBezTo>
                  <a:cubicBezTo>
                    <a:pt x="3032" y="2249"/>
                    <a:pt x="2353" y="2898"/>
                    <a:pt x="1516" y="2898"/>
                  </a:cubicBezTo>
                  <a:cubicBezTo>
                    <a:pt x="679" y="2898"/>
                    <a:pt x="0" y="2249"/>
                    <a:pt x="0" y="1449"/>
                  </a:cubicBezTo>
                </a:path>
              </a:pathLst>
            </a:custGeom>
            <a:solidFill>
              <a:srgbClr val="7F7F7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44" name="textbox 3444"/>
            <p:cNvSpPr/>
            <p:nvPr/>
          </p:nvSpPr>
          <p:spPr>
            <a:xfrm>
              <a:off x="-12700" y="-12700"/>
              <a:ext cx="1951354" cy="1898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831850" indent="-311784" algn="l" rtl="0" eaLnBrk="0">
                <a:lnSpc>
                  <a:spcPct val="99000"/>
                </a:lnSpc>
                <a:tabLst/>
              </a:pPr>
              <a:r>
                <a:rPr sz="2300" b="1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数据平</a:t>
              </a:r>
              <a:r>
                <a:rPr sz="2300" b="1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</a:t>
              </a:r>
              <a:r>
                <a:rPr sz="2300" b="1" kern="0" spc="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台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30" name="group 330"/>
          <p:cNvGrpSpPr/>
          <p:nvPr/>
        </p:nvGrpSpPr>
        <p:grpSpPr>
          <a:xfrm rot="21600000">
            <a:off x="4608258" y="1766519"/>
            <a:ext cx="1924901" cy="1840776"/>
            <a:chOff x="0" y="0"/>
            <a:chExt cx="1924901" cy="1840776"/>
          </a:xfrm>
        </p:grpSpPr>
        <p:sp>
          <p:nvSpPr>
            <p:cNvPr id="3446" name="path 3446"/>
            <p:cNvSpPr/>
            <p:nvPr/>
          </p:nvSpPr>
          <p:spPr>
            <a:xfrm>
              <a:off x="0" y="0"/>
              <a:ext cx="1924901" cy="1840776"/>
            </a:xfrm>
            <a:custGeom>
              <a:avLst/>
              <a:gdLst/>
              <a:ahLst/>
              <a:cxnLst/>
              <a:rect l="0" t="0" r="0" b="0"/>
              <a:pathLst>
                <a:path w="3031" h="2898">
                  <a:moveTo>
                    <a:pt x="0" y="1449"/>
                  </a:moveTo>
                  <a:cubicBezTo>
                    <a:pt x="0" y="648"/>
                    <a:pt x="678" y="0"/>
                    <a:pt x="1515" y="0"/>
                  </a:cubicBezTo>
                  <a:cubicBezTo>
                    <a:pt x="2352" y="0"/>
                    <a:pt x="3031" y="648"/>
                    <a:pt x="3031" y="1449"/>
                  </a:cubicBezTo>
                  <a:cubicBezTo>
                    <a:pt x="3031" y="2249"/>
                    <a:pt x="2352" y="2898"/>
                    <a:pt x="1515" y="2898"/>
                  </a:cubicBezTo>
                  <a:cubicBezTo>
                    <a:pt x="678" y="2898"/>
                    <a:pt x="0" y="2249"/>
                    <a:pt x="0" y="1449"/>
                  </a:cubicBezTo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48" name="textbox 3448"/>
            <p:cNvSpPr/>
            <p:nvPr/>
          </p:nvSpPr>
          <p:spPr>
            <a:xfrm>
              <a:off x="-12700" y="-12700"/>
              <a:ext cx="1950720" cy="18948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826135" indent="-304800" algn="l" rtl="0" eaLnBrk="0">
                <a:lnSpc>
                  <a:spcPct val="99000"/>
                </a:lnSpc>
                <a:spcBef>
                  <a:spcPts val="2"/>
                </a:spcBef>
                <a:tabLst/>
              </a:pPr>
              <a:r>
                <a:rPr sz="23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人员组</a:t>
              </a:r>
              <a:r>
                <a:rPr sz="23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</a:t>
              </a:r>
              <a:r>
                <a:rPr sz="2300" b="1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织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32" name="group 332"/>
          <p:cNvGrpSpPr/>
          <p:nvPr/>
        </p:nvGrpSpPr>
        <p:grpSpPr>
          <a:xfrm rot="21600000">
            <a:off x="6533160" y="4527677"/>
            <a:ext cx="1924913" cy="1840763"/>
            <a:chOff x="0" y="0"/>
            <a:chExt cx="1924913" cy="1840763"/>
          </a:xfrm>
        </p:grpSpPr>
        <p:sp>
          <p:nvSpPr>
            <p:cNvPr id="3450" name="path 3450"/>
            <p:cNvSpPr/>
            <p:nvPr/>
          </p:nvSpPr>
          <p:spPr>
            <a:xfrm>
              <a:off x="0" y="0"/>
              <a:ext cx="1924913" cy="1840763"/>
            </a:xfrm>
            <a:custGeom>
              <a:avLst/>
              <a:gdLst/>
              <a:ahLst/>
              <a:cxnLst/>
              <a:rect l="0" t="0" r="0" b="0"/>
              <a:pathLst>
                <a:path w="3031" h="2898">
                  <a:moveTo>
                    <a:pt x="0" y="1449"/>
                  </a:moveTo>
                  <a:cubicBezTo>
                    <a:pt x="0" y="648"/>
                    <a:pt x="678" y="0"/>
                    <a:pt x="1515" y="0"/>
                  </a:cubicBezTo>
                  <a:cubicBezTo>
                    <a:pt x="2352" y="0"/>
                    <a:pt x="3031" y="648"/>
                    <a:pt x="3031" y="1449"/>
                  </a:cubicBezTo>
                  <a:cubicBezTo>
                    <a:pt x="3031" y="2249"/>
                    <a:pt x="2352" y="2898"/>
                    <a:pt x="1515" y="2898"/>
                  </a:cubicBezTo>
                  <a:cubicBezTo>
                    <a:pt x="678" y="2898"/>
                    <a:pt x="0" y="2249"/>
                    <a:pt x="0" y="1449"/>
                  </a:cubicBezTo>
                </a:path>
              </a:pathLst>
            </a:custGeom>
            <a:solidFill>
              <a:srgbClr val="00B0F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52" name="textbox 3452"/>
            <p:cNvSpPr/>
            <p:nvPr/>
          </p:nvSpPr>
          <p:spPr>
            <a:xfrm>
              <a:off x="-12700" y="-12700"/>
              <a:ext cx="1950720" cy="18662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94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549909" algn="l" rtl="0" eaLnBrk="0">
                <a:lnSpc>
                  <a:spcPts val="3165"/>
                </a:lnSpc>
                <a:tabLst/>
              </a:pPr>
              <a:r>
                <a:rPr sz="23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IT</a:t>
              </a:r>
              <a:r>
                <a:rPr sz="2300" b="1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系统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3454" name="picture 34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42494" y="3328542"/>
            <a:ext cx="1253121" cy="1199134"/>
          </a:xfrm>
          <a:prstGeom prst="rect">
            <a:avLst/>
          </a:prstGeom>
        </p:spPr>
      </p:pic>
      <p:sp>
        <p:nvSpPr>
          <p:cNvPr id="3456" name="textbox 3456"/>
          <p:cNvSpPr/>
          <p:nvPr/>
        </p:nvSpPr>
        <p:spPr>
          <a:xfrm>
            <a:off x="6701219" y="1860890"/>
            <a:ext cx="1496060" cy="1038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059"/>
              </a:lnSpc>
              <a:tabLst/>
            </a:pPr>
            <a:r>
              <a:rPr sz="1500" kern="0" spc="-30" dirty="0">
                <a:solidFill>
                  <a:srgbClr val="FFC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1.需要什么数据？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ts val="2059"/>
              </a:lnSpc>
              <a:spcBef>
                <a:spcPts val="794"/>
              </a:spcBef>
              <a:tabLst/>
            </a:pPr>
            <a:r>
              <a:rPr sz="1500" kern="0" spc="-20" dirty="0">
                <a:solidFill>
                  <a:srgbClr val="00B0F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2.数据是否准确？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059"/>
              </a:lnSpc>
              <a:spcBef>
                <a:spcPts val="4"/>
              </a:spcBef>
              <a:tabLst/>
            </a:pPr>
            <a:r>
              <a:rPr sz="1500" kern="0" spc="-3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3.数据如何应用？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58" name="picture 34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715334" y="3337712"/>
            <a:ext cx="1174813" cy="1198854"/>
          </a:xfrm>
          <a:prstGeom prst="rect">
            <a:avLst/>
          </a:prstGeom>
        </p:spPr>
      </p:pic>
      <p:sp>
        <p:nvSpPr>
          <p:cNvPr id="3460" name="textbox 3460"/>
          <p:cNvSpPr/>
          <p:nvPr/>
        </p:nvSpPr>
        <p:spPr>
          <a:xfrm>
            <a:off x="1075817" y="5045448"/>
            <a:ext cx="1400810" cy="1000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96000"/>
              </a:lnSpc>
              <a:tabLst/>
            </a:pPr>
            <a:r>
              <a:rPr sz="1500" kern="0" spc="60" dirty="0">
                <a:solidFill>
                  <a:srgbClr val="FFC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1.数据整合拉通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5000"/>
              </a:lnSpc>
              <a:spcBef>
                <a:spcPts val="1078"/>
              </a:spcBef>
              <a:tabLst/>
            </a:pPr>
            <a:r>
              <a:rPr sz="1500" kern="0" spc="60" dirty="0">
                <a:solidFill>
                  <a:srgbClr val="00B0F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2.数据可视化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6000"/>
              </a:lnSpc>
              <a:spcBef>
                <a:spcPts val="7"/>
              </a:spcBef>
              <a:tabLst/>
            </a:pPr>
            <a:r>
              <a:rPr sz="1500" kern="0" spc="6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3.数据分析挖掘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62" name="textbox 3462"/>
          <p:cNvSpPr/>
          <p:nvPr/>
        </p:nvSpPr>
        <p:spPr>
          <a:xfrm>
            <a:off x="8643214" y="5158077"/>
            <a:ext cx="1400810" cy="9474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59"/>
              </a:lnSpc>
              <a:tabLst/>
            </a:pPr>
            <a:r>
              <a:rPr sz="1500" kern="0" spc="60" dirty="0">
                <a:solidFill>
                  <a:srgbClr val="FFC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</a:t>
            </a:r>
            <a:r>
              <a:rPr sz="1500" kern="0" spc="0" dirty="0">
                <a:solidFill>
                  <a:srgbClr val="FFC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IT</a:t>
            </a:r>
            <a:r>
              <a:rPr sz="1500" kern="0" spc="60" dirty="0">
                <a:solidFill>
                  <a:srgbClr val="FFC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系统埋点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973"/>
              </a:spcBef>
              <a:tabLst/>
            </a:pPr>
            <a:r>
              <a:rPr sz="1500" kern="0" spc="70" dirty="0">
                <a:solidFill>
                  <a:srgbClr val="00B0F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2.外部数据爬取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500" kern="0" spc="60" dirty="0">
                <a:solidFill>
                  <a:srgbClr val="A6A6A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3.商业数据交换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64" name="textbox 3464"/>
          <p:cNvSpPr/>
          <p:nvPr/>
        </p:nvSpPr>
        <p:spPr>
          <a:xfrm rot="18780000">
            <a:off x="3731926" y="3741602"/>
            <a:ext cx="709930" cy="231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8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数据应用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66" name="textbox 3466"/>
          <p:cNvSpPr/>
          <p:nvPr/>
        </p:nvSpPr>
        <p:spPr>
          <a:xfrm rot="2700000">
            <a:off x="6644544" y="3665436"/>
            <a:ext cx="698500" cy="223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7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数据需求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68" name="picture 34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686858" y="5409958"/>
            <a:ext cx="1846301" cy="76200"/>
          </a:xfrm>
          <a:prstGeom prst="rect">
            <a:avLst/>
          </a:prstGeom>
        </p:spPr>
      </p:pic>
      <p:sp>
        <p:nvSpPr>
          <p:cNvPr id="3470" name="textbox 3470"/>
          <p:cNvSpPr/>
          <p:nvPr/>
        </p:nvSpPr>
        <p:spPr>
          <a:xfrm>
            <a:off x="5183813" y="5545474"/>
            <a:ext cx="534669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源数据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2" name="picture 34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05815" y="5243702"/>
            <a:ext cx="5566028" cy="1056894"/>
          </a:xfrm>
          <a:prstGeom prst="rect">
            <a:avLst/>
          </a:prstGeom>
        </p:spPr>
      </p:pic>
      <p:graphicFrame>
        <p:nvGraphicFramePr>
          <p:cNvPr id="3474" name="table 3474"/>
          <p:cNvGraphicFramePr>
            <a:graphicFrameLocks noGrp="1"/>
          </p:cNvGraphicFramePr>
          <p:nvPr/>
        </p:nvGraphicFramePr>
        <p:xfrm>
          <a:off x="8313902" y="1408861"/>
          <a:ext cx="2275205" cy="1440815"/>
        </p:xfrm>
        <a:graphic>
          <a:graphicData uri="http://schemas.openxmlformats.org/drawingml/2006/table">
            <a:tbl>
              <a:tblPr/>
              <a:tblGrid>
                <a:gridCol w="1106805"/>
                <a:gridCol w="1168400"/>
              </a:tblGrid>
              <a:tr h="4597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476" name="table 3476"/>
          <p:cNvGraphicFramePr>
            <a:graphicFrameLocks noGrp="1"/>
          </p:cNvGraphicFramePr>
          <p:nvPr/>
        </p:nvGraphicFramePr>
        <p:xfrm>
          <a:off x="816482" y="1424558"/>
          <a:ext cx="2120264" cy="1430020"/>
        </p:xfrm>
        <a:graphic>
          <a:graphicData uri="http://schemas.openxmlformats.org/drawingml/2006/table">
            <a:tbl>
              <a:tblPr/>
              <a:tblGrid>
                <a:gridCol w="2120264"/>
              </a:tblGrid>
              <a:tr h="142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478" name="picture 34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26008" y="1434084"/>
            <a:ext cx="2101595" cy="1411223"/>
          </a:xfrm>
          <a:prstGeom prst="rect">
            <a:avLst/>
          </a:prstGeom>
        </p:spPr>
      </p:pic>
      <p:graphicFrame>
        <p:nvGraphicFramePr>
          <p:cNvPr id="3480" name="table 3480"/>
          <p:cNvGraphicFramePr>
            <a:graphicFrameLocks noGrp="1"/>
          </p:cNvGraphicFramePr>
          <p:nvPr/>
        </p:nvGraphicFramePr>
        <p:xfrm>
          <a:off x="4454271" y="3143630"/>
          <a:ext cx="2806064" cy="953135"/>
        </p:xfrm>
        <a:graphic>
          <a:graphicData uri="http://schemas.openxmlformats.org/drawingml/2006/table">
            <a:tbl>
              <a:tblPr/>
              <a:tblGrid>
                <a:gridCol w="2806064"/>
              </a:tblGrid>
              <a:tr h="9467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482" name="picture 34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463795" y="3153155"/>
            <a:ext cx="2787395" cy="934211"/>
          </a:xfrm>
          <a:prstGeom prst="rect">
            <a:avLst/>
          </a:prstGeom>
        </p:spPr>
      </p:pic>
      <p:sp>
        <p:nvSpPr>
          <p:cNvPr id="3484" name="textbox 3484"/>
          <p:cNvSpPr/>
          <p:nvPr/>
        </p:nvSpPr>
        <p:spPr>
          <a:xfrm>
            <a:off x="4000281" y="1116482"/>
            <a:ext cx="3279140" cy="734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350" algn="l" rtl="0" eaLnBrk="0">
              <a:lnSpc>
                <a:spcPct val="103000"/>
              </a:lnSpc>
              <a:spcBef>
                <a:spcPts val="1"/>
              </a:spcBef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业务流程及关键数据场景：</a:t>
            </a:r>
            <a:r>
              <a:rPr sz="1500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手工报表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/考核指标/计划预测/</a:t>
            </a:r>
            <a:r>
              <a:rPr sz="1500" b="1" kern="0" spc="9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C2</a:t>
            </a:r>
            <a:r>
              <a:rPr sz="1500" b="1" kern="0" spc="8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M数据需求</a:t>
            </a:r>
            <a:r>
              <a:rPr sz="1500" b="1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86" name="textbox 3486"/>
          <p:cNvSpPr/>
          <p:nvPr/>
        </p:nvSpPr>
        <p:spPr>
          <a:xfrm>
            <a:off x="739406" y="318563"/>
            <a:ext cx="5106034" cy="394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1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业务全面梳理</a:t>
            </a:r>
            <a:r>
              <a:rPr sz="26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6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600" b="1" kern="0" spc="-6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6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实现全面经营透视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88" name="picture 348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971531" y="5151120"/>
            <a:ext cx="1117092" cy="1060703"/>
          </a:xfrm>
          <a:prstGeom prst="rect">
            <a:avLst/>
          </a:prstGeom>
        </p:spPr>
      </p:pic>
      <p:sp>
        <p:nvSpPr>
          <p:cNvPr id="3490" name="textbox 3490"/>
          <p:cNvSpPr/>
          <p:nvPr/>
        </p:nvSpPr>
        <p:spPr>
          <a:xfrm>
            <a:off x="958675" y="4993432"/>
            <a:ext cx="5293995" cy="262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61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报表体系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移动应用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智能预警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92" name="picture 349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920227" y="5320283"/>
            <a:ext cx="1274064" cy="893063"/>
          </a:xfrm>
          <a:prstGeom prst="rect">
            <a:avLst/>
          </a:prstGeom>
        </p:spPr>
      </p:pic>
      <p:pic>
        <p:nvPicPr>
          <p:cNvPr id="3494" name="picture 34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818561" y="4123931"/>
            <a:ext cx="873379" cy="655687"/>
          </a:xfrm>
          <a:prstGeom prst="rect">
            <a:avLst/>
          </a:prstGeom>
        </p:spPr>
      </p:pic>
      <p:sp>
        <p:nvSpPr>
          <p:cNvPr id="3496" name="textbox 3496"/>
          <p:cNvSpPr/>
          <p:nvPr/>
        </p:nvSpPr>
        <p:spPr>
          <a:xfrm>
            <a:off x="802195" y="1065362"/>
            <a:ext cx="2139950" cy="287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59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高层经营思路/经营复盘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98" name="picture 349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782357" y="4134243"/>
            <a:ext cx="925816" cy="590727"/>
          </a:xfrm>
          <a:prstGeom prst="rect">
            <a:avLst/>
          </a:prstGeom>
        </p:spPr>
      </p:pic>
      <p:sp>
        <p:nvSpPr>
          <p:cNvPr id="3500" name="textbox 3500"/>
          <p:cNvSpPr/>
          <p:nvPr/>
        </p:nvSpPr>
        <p:spPr>
          <a:xfrm>
            <a:off x="8255864" y="1102026"/>
            <a:ext cx="2256154" cy="246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业务数据完整性及准确性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502" name="picture 350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134753" y="2850984"/>
            <a:ext cx="905649" cy="474776"/>
          </a:xfrm>
          <a:prstGeom prst="rect">
            <a:avLst/>
          </a:prstGeom>
        </p:spPr>
      </p:pic>
      <p:pic>
        <p:nvPicPr>
          <p:cNvPr id="3504" name="picture 350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402207" y="2694381"/>
            <a:ext cx="747941" cy="562762"/>
          </a:xfrm>
          <a:prstGeom prst="rect">
            <a:avLst/>
          </a:prstGeom>
        </p:spPr>
      </p:pic>
      <p:pic>
        <p:nvPicPr>
          <p:cNvPr id="3506" name="picture 350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548655" y="4253102"/>
            <a:ext cx="523582" cy="724344"/>
          </a:xfrm>
          <a:prstGeom prst="rect">
            <a:avLst/>
          </a:prstGeom>
        </p:spPr>
      </p:pic>
      <p:sp>
        <p:nvSpPr>
          <p:cNvPr id="3508" name="textbox 3508"/>
          <p:cNvSpPr/>
          <p:nvPr/>
        </p:nvSpPr>
        <p:spPr>
          <a:xfrm>
            <a:off x="8433816" y="1894332"/>
            <a:ext cx="960119" cy="386079"/>
          </a:xfrm>
          <a:prstGeom prst="rect">
            <a:avLst/>
          </a:prstGeom>
          <a:solidFill>
            <a:srgbClr val="D6DCE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32409" algn="l" rtl="0" eaLnBrk="0">
              <a:lnSpc>
                <a:spcPts val="2059"/>
              </a:lnSpc>
              <a:spcBef>
                <a:spcPts val="1"/>
              </a:spcBef>
              <a:tabLst/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CIMS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10" name="textbox 3510"/>
          <p:cNvSpPr/>
          <p:nvPr/>
        </p:nvSpPr>
        <p:spPr>
          <a:xfrm>
            <a:off x="9456419" y="1891283"/>
            <a:ext cx="960119" cy="386079"/>
          </a:xfrm>
          <a:prstGeom prst="rect">
            <a:avLst/>
          </a:prstGeom>
          <a:solidFill>
            <a:srgbClr val="D6DCE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72720" algn="l" rtl="0" eaLnBrk="0">
              <a:lnSpc>
                <a:spcPct val="89000"/>
              </a:lnSpc>
              <a:spcBef>
                <a:spcPts val="4"/>
              </a:spcBef>
              <a:tabLst/>
            </a:pP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GOMS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12" name="textbox 3512"/>
          <p:cNvSpPr/>
          <p:nvPr/>
        </p:nvSpPr>
        <p:spPr>
          <a:xfrm>
            <a:off x="8433816" y="1459991"/>
            <a:ext cx="960119" cy="384175"/>
          </a:xfrm>
          <a:prstGeom prst="rect">
            <a:avLst/>
          </a:prstGeom>
          <a:solidFill>
            <a:srgbClr val="D6DCE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28600" algn="l" rtl="0" eaLnBrk="0">
              <a:lnSpc>
                <a:spcPct val="89000"/>
              </a:lnSpc>
              <a:spcBef>
                <a:spcPts val="7"/>
              </a:spcBef>
              <a:tabLst/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GERP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14" name="textbox 3514"/>
          <p:cNvSpPr/>
          <p:nvPr/>
        </p:nvSpPr>
        <p:spPr>
          <a:xfrm>
            <a:off x="8424671" y="2353055"/>
            <a:ext cx="960119" cy="384175"/>
          </a:xfrm>
          <a:prstGeom prst="rect">
            <a:avLst/>
          </a:prstGeom>
          <a:solidFill>
            <a:srgbClr val="D6DCE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97179" algn="l" rtl="0" eaLnBrk="0">
              <a:lnSpc>
                <a:spcPct val="89000"/>
              </a:lnSpc>
              <a:spcBef>
                <a:spcPts val="3"/>
              </a:spcBef>
              <a:tabLst/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CCS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16" name="textbox 3516"/>
          <p:cNvSpPr/>
          <p:nvPr/>
        </p:nvSpPr>
        <p:spPr>
          <a:xfrm>
            <a:off x="9456419" y="2386583"/>
            <a:ext cx="960119" cy="384175"/>
          </a:xfrm>
          <a:prstGeom prst="rect">
            <a:avLst/>
          </a:prstGeom>
          <a:solidFill>
            <a:srgbClr val="D6DCE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9084" algn="l" rtl="0" eaLnBrk="0">
              <a:lnSpc>
                <a:spcPts val="543"/>
              </a:lnSpc>
              <a:spcBef>
                <a:spcPts val="7"/>
              </a:spcBef>
              <a:tabLst/>
            </a:pP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18" name="textbox 3518"/>
          <p:cNvSpPr/>
          <p:nvPr/>
        </p:nvSpPr>
        <p:spPr>
          <a:xfrm>
            <a:off x="9456419" y="1461516"/>
            <a:ext cx="960119" cy="384175"/>
          </a:xfrm>
          <a:prstGeom prst="rect">
            <a:avLst/>
          </a:prstGeom>
          <a:solidFill>
            <a:srgbClr val="D6DCE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85750" algn="l" rtl="0" eaLnBrk="0">
              <a:lnSpc>
                <a:spcPct val="88000"/>
              </a:lnSpc>
              <a:spcBef>
                <a:spcPts val="7"/>
              </a:spcBef>
              <a:tabLst/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PLM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20" name="textbox 3520"/>
          <p:cNvSpPr/>
          <p:nvPr/>
        </p:nvSpPr>
        <p:spPr>
          <a:xfrm>
            <a:off x="4829915" y="2863789"/>
            <a:ext cx="1851025" cy="244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基础数据</a:t>
            </a:r>
            <a:r>
              <a:rPr sz="15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：指标体系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522" name="picture 35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404078" y="2025345"/>
            <a:ext cx="366877" cy="700684"/>
          </a:xfrm>
          <a:prstGeom prst="rect">
            <a:avLst/>
          </a:prstGeom>
        </p:spPr>
      </p:pic>
      <p:sp>
        <p:nvSpPr>
          <p:cNvPr id="3524" name="textbox 3524"/>
          <p:cNvSpPr/>
          <p:nvPr/>
        </p:nvSpPr>
        <p:spPr>
          <a:xfrm>
            <a:off x="8000993" y="5059740"/>
            <a:ext cx="1038860" cy="246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智能化场景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26" name="textbox 3526"/>
          <p:cNvSpPr/>
          <p:nvPr/>
        </p:nvSpPr>
        <p:spPr>
          <a:xfrm>
            <a:off x="10042942" y="4728787"/>
            <a:ext cx="833119" cy="245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专题分析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28" name="textbox 3528"/>
          <p:cNvSpPr/>
          <p:nvPr/>
        </p:nvSpPr>
        <p:spPr>
          <a:xfrm>
            <a:off x="11474589" y="6429958"/>
            <a:ext cx="210820" cy="179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45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0" name="picture 35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07411" y="1141313"/>
            <a:ext cx="7493403" cy="4466149"/>
          </a:xfrm>
          <a:prstGeom prst="rect">
            <a:avLst/>
          </a:prstGeom>
        </p:spPr>
      </p:pic>
      <p:pic>
        <p:nvPicPr>
          <p:cNvPr id="3532" name="picture 35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35959" y="1538186"/>
            <a:ext cx="9178588" cy="4712626"/>
          </a:xfrm>
          <a:prstGeom prst="rect">
            <a:avLst/>
          </a:prstGeom>
        </p:spPr>
      </p:pic>
      <p:sp>
        <p:nvSpPr>
          <p:cNvPr id="3534" name="textbox 3534"/>
          <p:cNvSpPr/>
          <p:nvPr/>
        </p:nvSpPr>
        <p:spPr>
          <a:xfrm>
            <a:off x="8104088" y="1808088"/>
            <a:ext cx="1142364" cy="393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7164" algn="l" rtl="0" eaLnBrk="0">
              <a:lnSpc>
                <a:spcPct val="92000"/>
              </a:lnSpc>
              <a:tabLst/>
            </a:pPr>
            <a:r>
              <a:rPr sz="21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仪表盘</a:t>
            </a:r>
            <a:endParaRPr sz="2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0800" algn="l" rtl="0" eaLnBrk="0">
              <a:lnSpc>
                <a:spcPct val="92000"/>
              </a:lnSpc>
              <a:spcBef>
                <a:spcPts val="631"/>
              </a:spcBef>
              <a:tabLst/>
            </a:pPr>
            <a:r>
              <a:rPr sz="21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多维报表</a:t>
            </a:r>
            <a:endParaRPr sz="2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632"/>
              </a:spcBef>
              <a:tabLst/>
            </a:pPr>
            <a:r>
              <a:rPr sz="21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数据钻取</a:t>
            </a:r>
            <a:endParaRPr sz="21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100" kern="0" spc="1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敏捷报表</a:t>
            </a:r>
            <a:endParaRPr sz="2100" dirty="0">
              <a:latin typeface="DengXian"/>
              <a:ea typeface="DengXian"/>
              <a:cs typeface="DengXian"/>
            </a:endParaRPr>
          </a:p>
        </p:txBody>
      </p:sp>
      <p:sp>
        <p:nvSpPr>
          <p:cNvPr id="3536" name="textbox 3536"/>
          <p:cNvSpPr/>
          <p:nvPr/>
        </p:nvSpPr>
        <p:spPr>
          <a:xfrm>
            <a:off x="9726167" y="3951732"/>
            <a:ext cx="2315210" cy="847725"/>
          </a:xfrm>
          <a:prstGeom prst="rect">
            <a:avLst/>
          </a:pr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6000"/>
              </a:lnSpc>
              <a:spcBef>
                <a:spcPts val="4"/>
              </a:spcBef>
              <a:tabLst/>
            </a:pPr>
            <a:r>
              <a:rPr sz="15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提供数据的层层钻取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8415" indent="635" algn="l" rtl="0" eaLnBrk="0">
              <a:lnSpc>
                <a:spcPct val="107000"/>
              </a:lnSpc>
              <a:spcBef>
                <a:spcPts val="368"/>
              </a:spcBef>
              <a:tabLst/>
            </a:pPr>
            <a:r>
              <a:rPr sz="15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深入分析数据的影响因素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刨根问底找原因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38" name="textbox 3538"/>
          <p:cNvSpPr/>
          <p:nvPr/>
        </p:nvSpPr>
        <p:spPr>
          <a:xfrm>
            <a:off x="9726167" y="2738628"/>
            <a:ext cx="2315210" cy="847725"/>
          </a:xfrm>
          <a:prstGeom prst="rect">
            <a:avLst/>
          </a:pr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110000"/>
              </a:lnSpc>
              <a:spcBef>
                <a:spcPts val="4"/>
              </a:spcBef>
              <a:tabLst/>
            </a:pP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满足固定、</a:t>
            </a:r>
            <a:r>
              <a:rPr sz="1500" kern="0" spc="-2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常规数据视</a:t>
            </a:r>
            <a:r>
              <a:rPr sz="15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角</a:t>
            </a: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满足汇总数据的统计分析</a:t>
            </a:r>
            <a:r>
              <a:rPr sz="15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减少重复性的报表制作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40" name="textbox 3540"/>
          <p:cNvSpPr/>
          <p:nvPr/>
        </p:nvSpPr>
        <p:spPr>
          <a:xfrm>
            <a:off x="9726167" y="5195315"/>
            <a:ext cx="2315210" cy="780415"/>
          </a:xfrm>
          <a:prstGeom prst="rect">
            <a:avLst/>
          </a:pr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105000"/>
              </a:lnSpc>
              <a:tabLst/>
            </a:pPr>
            <a:r>
              <a:rPr sz="14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快速实现个性化报表需求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4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报表有限共享</a:t>
            </a:r>
            <a:endParaRPr sz="1400" dirty="0">
              <a:latin typeface="Microsoft YaHei"/>
              <a:ea typeface="Microsoft YaHei"/>
              <a:cs typeface="Microsoft YaHei"/>
            </a:endParaRPr>
          </a:p>
          <a:p>
            <a:pPr marL="17145" algn="l" rtl="0" eaLnBrk="0">
              <a:lnSpc>
                <a:spcPct val="95000"/>
              </a:lnSpc>
              <a:spcBef>
                <a:spcPts val="344"/>
              </a:spcBef>
              <a:tabLst/>
            </a:pP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满足日常多样化的报表</a:t>
            </a:r>
            <a:r>
              <a:rPr sz="14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需求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42" name="textbox 3542"/>
          <p:cNvSpPr/>
          <p:nvPr/>
        </p:nvSpPr>
        <p:spPr>
          <a:xfrm>
            <a:off x="9717023" y="1534667"/>
            <a:ext cx="1654175" cy="847725"/>
          </a:xfrm>
          <a:prstGeom prst="rect">
            <a:avLst/>
          </a:prstGeom>
          <a:solidFill>
            <a:srgbClr val="00B0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15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监控关键指标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9050" algn="l" rtl="0" eaLnBrk="0">
              <a:lnSpc>
                <a:spcPts val="2117"/>
              </a:lnSpc>
              <a:tabLst/>
            </a:pPr>
            <a:r>
              <a:rPr sz="15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提供趋势分析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9050" algn="l" rtl="0" eaLnBrk="0">
              <a:lnSpc>
                <a:spcPts val="2103"/>
              </a:lnSpc>
              <a:tabLst/>
            </a:pPr>
            <a:r>
              <a:rPr sz="15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指导经营决策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44" name="textbox 3544"/>
          <p:cNvSpPr/>
          <p:nvPr/>
        </p:nvSpPr>
        <p:spPr>
          <a:xfrm>
            <a:off x="494544" y="294414"/>
            <a:ext cx="3073400" cy="3943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7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指标看板及多维分析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6" name="textbox 3546"/>
          <p:cNvSpPr/>
          <p:nvPr/>
        </p:nvSpPr>
        <p:spPr>
          <a:xfrm>
            <a:off x="527682" y="308891"/>
            <a:ext cx="9490075" cy="1678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6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1755" algn="l" rtl="0" eaLnBrk="0">
              <a:lnSpc>
                <a:spcPct val="93000"/>
              </a:lnSpc>
              <a:tabLst/>
            </a:pP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数据应用-移动化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256"/>
              </a:lnSpc>
              <a:spcBef>
                <a:spcPts val="547"/>
              </a:spcBef>
              <a:tabLst/>
            </a:pP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1800" kern="0" spc="-5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一部手机、</a:t>
            </a:r>
            <a:r>
              <a:rPr sz="1800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随时随地、知晓经营</a:t>
            </a:r>
            <a:endParaRPr sz="18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103"/>
              </a:lnSpc>
              <a:spcBef>
                <a:spcPts val="2"/>
              </a:spcBef>
              <a:tabLst/>
            </a:pP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经营日报                               智能预警                </a:t>
            </a:r>
            <a:r>
              <a:rPr sz="15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内销分析(营销通)                       </a:t>
            </a:r>
            <a:r>
              <a:rPr sz="2400" b="1" kern="0" spc="30" baseline="246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外销分析</a:t>
            </a:r>
            <a:endParaRPr sz="2400" baseline="2468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548" name="picture 35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22848" y="2061972"/>
            <a:ext cx="2150364" cy="3489959"/>
          </a:xfrm>
          <a:prstGeom prst="rect">
            <a:avLst/>
          </a:prstGeom>
        </p:spPr>
      </p:pic>
      <p:pic>
        <p:nvPicPr>
          <p:cNvPr id="3550" name="picture 35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15339" y="2061972"/>
            <a:ext cx="2144267" cy="3489959"/>
          </a:xfrm>
          <a:prstGeom prst="rect">
            <a:avLst/>
          </a:prstGeom>
        </p:spPr>
      </p:pic>
      <p:pic>
        <p:nvPicPr>
          <p:cNvPr id="3552" name="picture 35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05200" y="2061972"/>
            <a:ext cx="2138171" cy="3489959"/>
          </a:xfrm>
          <a:prstGeom prst="rect">
            <a:avLst/>
          </a:prstGeom>
        </p:spPr>
      </p:pic>
      <p:pic>
        <p:nvPicPr>
          <p:cNvPr id="3554" name="picture 35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551164" y="2077211"/>
            <a:ext cx="2097023" cy="3474720"/>
          </a:xfrm>
          <a:prstGeom prst="rect">
            <a:avLst/>
          </a:prstGeom>
        </p:spPr>
      </p:pic>
      <p:sp>
        <p:nvSpPr>
          <p:cNvPr id="3556" name="textbox 3556"/>
          <p:cNvSpPr/>
          <p:nvPr/>
        </p:nvSpPr>
        <p:spPr>
          <a:xfrm>
            <a:off x="4908105" y="5842525"/>
            <a:ext cx="2583179" cy="268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经营分析、运营指标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…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…</a:t>
            </a:r>
            <a:endParaRPr sz="1700" dirty="0">
              <a:latin typeface="SimSun"/>
              <a:ea typeface="SimSun"/>
              <a:cs typeface="SimSun"/>
            </a:endParaRPr>
          </a:p>
        </p:txBody>
      </p:sp>
      <p:sp>
        <p:nvSpPr>
          <p:cNvPr id="3558" name="textbox 3558"/>
          <p:cNvSpPr/>
          <p:nvPr/>
        </p:nvSpPr>
        <p:spPr>
          <a:xfrm>
            <a:off x="11931218" y="6401752"/>
            <a:ext cx="182245" cy="162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1200" kern="0" spc="-30" dirty="0">
                <a:solidFill>
                  <a:srgbClr val="898989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47</a:t>
            </a:r>
            <a:endParaRPr sz="12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0" name="picture 35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34102" y="1557858"/>
            <a:ext cx="4770806" cy="5071339"/>
          </a:xfrm>
          <a:prstGeom prst="rect">
            <a:avLst/>
          </a:prstGeom>
        </p:spPr>
      </p:pic>
      <p:sp>
        <p:nvSpPr>
          <p:cNvPr id="3562" name="textbox 3562"/>
          <p:cNvSpPr/>
          <p:nvPr/>
        </p:nvSpPr>
        <p:spPr>
          <a:xfrm>
            <a:off x="472430" y="339562"/>
            <a:ext cx="9759315" cy="908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3344" algn="l" rtl="0" eaLnBrk="0">
              <a:lnSpc>
                <a:spcPct val="93000"/>
              </a:lnSpc>
              <a:tabLst/>
            </a:pP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数据驱动-智能预警案例-缺货预警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21"/>
              </a:lnSpc>
              <a:spcBef>
                <a:spcPts val="6"/>
              </a:spcBef>
              <a:tabLst/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-89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T+1监控仓库缺货情况</a:t>
            </a:r>
            <a:r>
              <a:rPr sz="2000" kern="0" spc="-2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，多指标关联分析</a:t>
            </a:r>
            <a:r>
              <a:rPr sz="2000" kern="0" spc="-2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，灵活的预警条件配置</a:t>
            </a:r>
            <a:r>
              <a:rPr sz="2000" kern="0" spc="-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，风险逐层升级预警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564" name="picture 35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777740" y="4728971"/>
            <a:ext cx="4582668" cy="1772411"/>
          </a:xfrm>
          <a:prstGeom prst="rect">
            <a:avLst/>
          </a:prstGeom>
        </p:spPr>
      </p:pic>
      <p:sp>
        <p:nvSpPr>
          <p:cNvPr id="3566" name="textbox 3566"/>
          <p:cNvSpPr/>
          <p:nvPr/>
        </p:nvSpPr>
        <p:spPr>
          <a:xfrm>
            <a:off x="2525039" y="2241727"/>
            <a:ext cx="1523364" cy="577850"/>
          </a:xfrm>
          <a:prstGeom prst="rect">
            <a:avLst/>
          </a:prstGeom>
          <a:solidFill>
            <a:srgbClr val="2E75B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0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5915" algn="l" rtl="0" eaLnBrk="0">
              <a:lnSpc>
                <a:spcPct val="94000"/>
              </a:lnSpc>
              <a:tabLst/>
            </a:pPr>
            <a:r>
              <a:rPr sz="13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库存现有量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334" name="group 334"/>
          <p:cNvGrpSpPr/>
          <p:nvPr/>
        </p:nvGrpSpPr>
        <p:grpSpPr>
          <a:xfrm rot="21600000">
            <a:off x="2019465" y="3694175"/>
            <a:ext cx="2028367" cy="577596"/>
            <a:chOff x="0" y="0"/>
            <a:chExt cx="2028367" cy="577596"/>
          </a:xfrm>
        </p:grpSpPr>
        <p:pic>
          <p:nvPicPr>
            <p:cNvPr id="3568" name="picture 356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028367" cy="577596"/>
            </a:xfrm>
            <a:prstGeom prst="rect">
              <a:avLst/>
            </a:prstGeom>
          </p:spPr>
        </p:pic>
        <p:sp>
          <p:nvSpPr>
            <p:cNvPr id="3570" name="textbox 3570"/>
            <p:cNvSpPr/>
            <p:nvPr/>
          </p:nvSpPr>
          <p:spPr>
            <a:xfrm>
              <a:off x="-12700" y="-12700"/>
              <a:ext cx="2054225" cy="6191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671830" algn="l" rtl="0" eaLnBrk="0">
                <a:lnSpc>
                  <a:spcPct val="94000"/>
                </a:lnSpc>
                <a:spcBef>
                  <a:spcPts val="3"/>
                </a:spcBef>
                <a:tabLst/>
              </a:pPr>
              <a:r>
                <a:rPr sz="1300" kern="0" spc="3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近30天销售数量</a:t>
              </a:r>
              <a:endParaRPr sz="1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3572" name="textbox 3572"/>
          <p:cNvSpPr/>
          <p:nvPr/>
        </p:nvSpPr>
        <p:spPr>
          <a:xfrm>
            <a:off x="2525039" y="4420933"/>
            <a:ext cx="1523364" cy="577850"/>
          </a:xfrm>
          <a:prstGeom prst="rect">
            <a:avLst/>
          </a:prstGeom>
          <a:solidFill>
            <a:srgbClr val="2E75B6">
              <a:alpha val="96862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5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2729" algn="l" rtl="0" eaLnBrk="0">
              <a:lnSpc>
                <a:spcPct val="94000"/>
              </a:lnSpc>
              <a:tabLst/>
            </a:pPr>
            <a:r>
              <a:rPr sz="13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建议补货数量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74" name="textbox 3574"/>
          <p:cNvSpPr/>
          <p:nvPr/>
        </p:nvSpPr>
        <p:spPr>
          <a:xfrm>
            <a:off x="2525039" y="5147335"/>
            <a:ext cx="1523364" cy="577215"/>
          </a:xfrm>
          <a:prstGeom prst="rect">
            <a:avLst/>
          </a:prstGeom>
          <a:solidFill>
            <a:srgbClr val="2E75B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65150" algn="l" rtl="0" eaLnBrk="0">
              <a:lnSpc>
                <a:spcPts val="2026"/>
              </a:lnSpc>
              <a:spcBef>
                <a:spcPts val="5"/>
              </a:spcBef>
              <a:tabLst/>
            </a:pPr>
            <a:r>
              <a:rPr sz="1300" kern="0" spc="-6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…</a:t>
            </a:r>
            <a:r>
              <a:rPr sz="1300" kern="0" spc="16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300" kern="0" spc="-6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…</a:t>
            </a:r>
            <a:endParaRPr sz="1300" dirty="0">
              <a:latin typeface="SimSun"/>
              <a:ea typeface="SimSun"/>
              <a:cs typeface="SimSun"/>
            </a:endParaRPr>
          </a:p>
        </p:txBody>
      </p:sp>
      <p:pic>
        <p:nvPicPr>
          <p:cNvPr id="3576" name="picture 35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70547" y="2530233"/>
            <a:ext cx="2093671" cy="2905619"/>
          </a:xfrm>
          <a:prstGeom prst="rect">
            <a:avLst/>
          </a:prstGeom>
        </p:spPr>
      </p:pic>
      <p:graphicFrame>
        <p:nvGraphicFramePr>
          <p:cNvPr id="3578" name="table 3578"/>
          <p:cNvGraphicFramePr>
            <a:graphicFrameLocks noGrp="1"/>
          </p:cNvGraphicFramePr>
          <p:nvPr/>
        </p:nvGraphicFramePr>
        <p:xfrm>
          <a:off x="4895088" y="2243785"/>
          <a:ext cx="4163695" cy="1337945"/>
        </p:xfrm>
        <a:graphic>
          <a:graphicData uri="http://schemas.openxmlformats.org/drawingml/2006/table">
            <a:tbl>
              <a:tblPr/>
              <a:tblGrid>
                <a:gridCol w="624840"/>
                <a:gridCol w="857885"/>
                <a:gridCol w="600075"/>
                <a:gridCol w="693419"/>
                <a:gridCol w="693419"/>
                <a:gridCol w="694055"/>
              </a:tblGrid>
              <a:tr h="5092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6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382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5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仓库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ct val="8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商品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244475" algn="l" rtl="0" eaLnBrk="0">
                        <a:lnSpc>
                          <a:spcPts val="1906"/>
                        </a:lnSpc>
                        <a:tabLst/>
                      </a:pPr>
                      <a:r>
                        <a:rPr sz="15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编码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0820" indent="-97789" algn="l" rtl="0" eaLnBrk="0">
                        <a:lnSpc>
                          <a:spcPct val="9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现有</a:t>
                      </a: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 </a:t>
                      </a:r>
                      <a:r>
                        <a:rPr sz="1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量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0020" indent="-104139" algn="l" rtl="0" eaLnBrk="0">
                        <a:lnSpc>
                          <a:spcPct val="9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近30天</a:t>
                      </a:r>
                      <a:r>
                        <a:rPr sz="1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</a:t>
                      </a:r>
                      <a:r>
                        <a:rPr sz="15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销量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4464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周转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  <a:p>
                      <a:pPr marL="163195" algn="l" rtl="0" eaLnBrk="0">
                        <a:lnSpc>
                          <a:spcPts val="1930"/>
                        </a:lnSpc>
                        <a:tabLst/>
                      </a:pPr>
                      <a:r>
                        <a:rPr sz="15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天数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405" indent="2540" algn="l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建议补</a:t>
                      </a:r>
                      <a:r>
                        <a:rPr sz="15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  </a:t>
                      </a:r>
                      <a:r>
                        <a:rPr sz="15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货数量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827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济南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3189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1459104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2725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12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9715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11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350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17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984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13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EEAF6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50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上海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3189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1459104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58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44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6540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25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984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18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13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北京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055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1459104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7645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82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5270" algn="l" rtl="0" eaLnBrk="0">
                        <a:lnSpc>
                          <a:spcPct val="7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74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6540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29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7809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1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51</a:t>
                      </a:r>
                      <a:endParaRPr sz="15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  <p:grpSp>
        <p:nvGrpSpPr>
          <p:cNvPr id="336" name="group 336"/>
          <p:cNvGrpSpPr/>
          <p:nvPr/>
        </p:nvGrpSpPr>
        <p:grpSpPr>
          <a:xfrm rot="21600000">
            <a:off x="9540240" y="4509515"/>
            <a:ext cx="1434083" cy="1223772"/>
            <a:chOff x="0" y="0"/>
            <a:chExt cx="1434083" cy="1223772"/>
          </a:xfrm>
        </p:grpSpPr>
        <p:sp>
          <p:nvSpPr>
            <p:cNvPr id="3580" name="path 3580"/>
            <p:cNvSpPr/>
            <p:nvPr/>
          </p:nvSpPr>
          <p:spPr>
            <a:xfrm>
              <a:off x="0" y="0"/>
              <a:ext cx="1434083" cy="1223772"/>
            </a:xfrm>
            <a:custGeom>
              <a:avLst/>
              <a:gdLst/>
              <a:ahLst/>
              <a:cxnLst/>
              <a:rect l="0" t="0" r="0" b="0"/>
              <a:pathLst>
                <a:path w="2258" h="1927">
                  <a:moveTo>
                    <a:pt x="0" y="482"/>
                  </a:moveTo>
                  <a:lnTo>
                    <a:pt x="1293" y="482"/>
                  </a:lnTo>
                  <a:lnTo>
                    <a:pt x="1293" y="0"/>
                  </a:lnTo>
                  <a:lnTo>
                    <a:pt x="2258" y="962"/>
                  </a:lnTo>
                  <a:lnTo>
                    <a:pt x="1293" y="1927"/>
                  </a:lnTo>
                  <a:lnTo>
                    <a:pt x="1293" y="1444"/>
                  </a:lnTo>
                  <a:lnTo>
                    <a:pt x="0" y="1444"/>
                  </a:lnTo>
                  <a:lnTo>
                    <a:pt x="0" y="482"/>
                  </a:lnTo>
                </a:path>
              </a:pathLst>
            </a:custGeom>
            <a:solidFill>
              <a:srgbClr val="FF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82" name="textbox 3582"/>
            <p:cNvSpPr/>
            <p:nvPr/>
          </p:nvSpPr>
          <p:spPr>
            <a:xfrm>
              <a:off x="-12700" y="-12700"/>
              <a:ext cx="1459864" cy="12674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6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60654" indent="104775" algn="l" rtl="0" eaLnBrk="0">
                <a:lnSpc>
                  <a:spcPct val="101000"/>
                </a:lnSpc>
                <a:tabLst/>
              </a:pPr>
              <a:r>
                <a:rPr sz="15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多次预警</a:t>
              </a:r>
              <a:r>
                <a:rPr sz="15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</a:t>
              </a:r>
              <a:r>
                <a:rPr sz="1500" b="1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风险未解除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38" name="group 338"/>
          <p:cNvGrpSpPr/>
          <p:nvPr/>
        </p:nvGrpSpPr>
        <p:grpSpPr>
          <a:xfrm rot="21600000">
            <a:off x="9540240" y="2269235"/>
            <a:ext cx="1434083" cy="1222247"/>
            <a:chOff x="0" y="0"/>
            <a:chExt cx="1434083" cy="1222247"/>
          </a:xfrm>
        </p:grpSpPr>
        <p:sp>
          <p:nvSpPr>
            <p:cNvPr id="3584" name="path 3584"/>
            <p:cNvSpPr/>
            <p:nvPr/>
          </p:nvSpPr>
          <p:spPr>
            <a:xfrm>
              <a:off x="0" y="0"/>
              <a:ext cx="1434083" cy="1222247"/>
            </a:xfrm>
            <a:custGeom>
              <a:avLst/>
              <a:gdLst/>
              <a:ahLst/>
              <a:cxnLst/>
              <a:rect l="0" t="0" r="0" b="0"/>
              <a:pathLst>
                <a:path w="2258" h="1924">
                  <a:moveTo>
                    <a:pt x="0" y="480"/>
                  </a:moveTo>
                  <a:lnTo>
                    <a:pt x="1293" y="480"/>
                  </a:lnTo>
                  <a:lnTo>
                    <a:pt x="1293" y="0"/>
                  </a:lnTo>
                  <a:lnTo>
                    <a:pt x="2258" y="962"/>
                  </a:lnTo>
                  <a:lnTo>
                    <a:pt x="1293" y="1924"/>
                  </a:lnTo>
                  <a:lnTo>
                    <a:pt x="1293" y="1444"/>
                  </a:lnTo>
                  <a:lnTo>
                    <a:pt x="0" y="1444"/>
                  </a:lnTo>
                  <a:lnTo>
                    <a:pt x="0" y="480"/>
                  </a:lnTo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86" name="textbox 3586"/>
            <p:cNvSpPr/>
            <p:nvPr/>
          </p:nvSpPr>
          <p:spPr>
            <a:xfrm>
              <a:off x="-12700" y="-12700"/>
              <a:ext cx="1459864" cy="12668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32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85420" algn="l" rtl="0" eaLnBrk="0">
                <a:lnSpc>
                  <a:spcPct val="96000"/>
                </a:lnSpc>
                <a:tabLst/>
              </a:pPr>
              <a:r>
                <a:rPr sz="15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首次预警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3588" name="path 3588"/>
          <p:cNvSpPr/>
          <p:nvPr/>
        </p:nvSpPr>
        <p:spPr>
          <a:xfrm>
            <a:off x="6326123" y="3852671"/>
            <a:ext cx="1554480" cy="716280"/>
          </a:xfrm>
          <a:custGeom>
            <a:avLst/>
            <a:gdLst/>
            <a:ahLst/>
            <a:cxnLst/>
            <a:rect l="0" t="0" r="0" b="0"/>
            <a:pathLst>
              <a:path w="2448" h="1128">
                <a:moveTo>
                  <a:pt x="0" y="564"/>
                </a:moveTo>
                <a:lnTo>
                  <a:pt x="612" y="564"/>
                </a:lnTo>
                <a:lnTo>
                  <a:pt x="612" y="0"/>
                </a:lnTo>
                <a:lnTo>
                  <a:pt x="1836" y="0"/>
                </a:lnTo>
                <a:lnTo>
                  <a:pt x="1836" y="564"/>
                </a:lnTo>
                <a:lnTo>
                  <a:pt x="2448" y="564"/>
                </a:lnTo>
                <a:lnTo>
                  <a:pt x="1224" y="1128"/>
                </a:lnTo>
                <a:lnTo>
                  <a:pt x="0" y="564"/>
                </a:lnTo>
              </a:path>
            </a:pathLst>
          </a:custGeom>
          <a:solidFill>
            <a:srgbClr val="FFC000">
              <a:alpha val="72941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90" name="textbox 3590"/>
          <p:cNvSpPr/>
          <p:nvPr/>
        </p:nvSpPr>
        <p:spPr>
          <a:xfrm>
            <a:off x="6425378" y="3883445"/>
            <a:ext cx="1370964" cy="862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78790" algn="l" rtl="0" eaLnBrk="0">
              <a:lnSpc>
                <a:spcPct val="83000"/>
              </a:lnSpc>
              <a:tabLst/>
            </a:pPr>
            <a:r>
              <a:rPr sz="1500" b="1" kern="0" spc="7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风险</a:t>
            </a:r>
            <a:endParaRPr sz="1500" dirty="0">
              <a:latin typeface="DengXian"/>
              <a:ea typeface="DengXian"/>
              <a:cs typeface="DengXian"/>
            </a:endParaRPr>
          </a:p>
          <a:p>
            <a:pPr marL="481330" algn="l" rtl="0" eaLnBrk="0">
              <a:lnSpc>
                <a:spcPts val="1927"/>
              </a:lnSpc>
              <a:tabLst/>
            </a:pPr>
            <a:r>
              <a:rPr sz="1500" b="1" kern="0" spc="6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升级</a:t>
            </a:r>
            <a:endParaRPr sz="15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4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商品：</a:t>
            </a:r>
            <a:r>
              <a:rPr sz="1500" kern="0" spc="-1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1459104</a:t>
            </a:r>
            <a:endParaRPr sz="1500" dirty="0">
              <a:latin typeface="DengXian"/>
              <a:ea typeface="DengXian"/>
              <a:cs typeface="DengXian"/>
            </a:endParaRPr>
          </a:p>
        </p:txBody>
      </p:sp>
      <p:sp>
        <p:nvSpPr>
          <p:cNvPr id="3592" name="textbox 3592"/>
          <p:cNvSpPr/>
          <p:nvPr/>
        </p:nvSpPr>
        <p:spPr>
          <a:xfrm>
            <a:off x="552427" y="3622375"/>
            <a:ext cx="1401444" cy="8242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3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库存现有量不满足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3000"/>
              </a:lnSpc>
              <a:spcBef>
                <a:spcPts val="959"/>
              </a:spcBef>
              <a:tabLst/>
            </a:pPr>
            <a:r>
              <a:rPr sz="13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区域未来30天的销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608330" algn="l" rtl="0" eaLnBrk="0">
              <a:lnSpc>
                <a:spcPct val="94000"/>
              </a:lnSpc>
              <a:spcBef>
                <a:spcPts val="3"/>
              </a:spcBef>
              <a:tabLst/>
            </a:pPr>
            <a:r>
              <a:rPr sz="13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售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94" name="textbox 3594"/>
          <p:cNvSpPr/>
          <p:nvPr/>
        </p:nvSpPr>
        <p:spPr>
          <a:xfrm>
            <a:off x="599719" y="1747646"/>
            <a:ext cx="3284854" cy="356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5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缺货风险         指标关联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96" name="textbox 3596"/>
          <p:cNvSpPr/>
          <p:nvPr/>
        </p:nvSpPr>
        <p:spPr>
          <a:xfrm>
            <a:off x="2525039" y="2968129"/>
            <a:ext cx="1523364" cy="577215"/>
          </a:xfrm>
          <a:prstGeom prst="rect">
            <a:avLst/>
          </a:prstGeom>
          <a:solidFill>
            <a:srgbClr val="2E75B6">
              <a:alpha val="9803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5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4000" algn="l" rtl="0" eaLnBrk="0">
              <a:lnSpc>
                <a:spcPct val="94000"/>
              </a:lnSpc>
              <a:tabLst/>
            </a:pPr>
            <a:r>
              <a:rPr sz="1300" kern="0" spc="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商品周转天数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98" name="path 3598"/>
          <p:cNvSpPr/>
          <p:nvPr/>
        </p:nvSpPr>
        <p:spPr>
          <a:xfrm>
            <a:off x="4250435" y="3206495"/>
            <a:ext cx="387096" cy="1565148"/>
          </a:xfrm>
          <a:custGeom>
            <a:avLst/>
            <a:gdLst/>
            <a:ahLst/>
            <a:cxnLst/>
            <a:rect l="0" t="0" r="0" b="0"/>
            <a:pathLst>
              <a:path w="609" h="2464">
                <a:moveTo>
                  <a:pt x="304" y="2464"/>
                </a:moveTo>
                <a:lnTo>
                  <a:pt x="304" y="1847"/>
                </a:lnTo>
                <a:lnTo>
                  <a:pt x="0" y="1847"/>
                </a:lnTo>
                <a:lnTo>
                  <a:pt x="0" y="616"/>
                </a:lnTo>
                <a:lnTo>
                  <a:pt x="304" y="616"/>
                </a:lnTo>
                <a:lnTo>
                  <a:pt x="304" y="0"/>
                </a:lnTo>
                <a:lnTo>
                  <a:pt x="609" y="1233"/>
                </a:lnTo>
                <a:lnTo>
                  <a:pt x="304" y="2464"/>
                </a:lnTo>
              </a:path>
            </a:pathLst>
          </a:custGeom>
          <a:solidFill>
            <a:srgbClr val="FFC000">
              <a:alpha val="72941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600" name="picture 36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032235" y="2249423"/>
            <a:ext cx="676656" cy="890016"/>
          </a:xfrm>
          <a:prstGeom prst="rect">
            <a:avLst/>
          </a:prstGeom>
        </p:spPr>
      </p:pic>
      <p:pic>
        <p:nvPicPr>
          <p:cNvPr id="3602" name="picture 36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035284" y="4543044"/>
            <a:ext cx="670559" cy="854963"/>
          </a:xfrm>
          <a:prstGeom prst="rect">
            <a:avLst/>
          </a:prstGeom>
        </p:spPr>
      </p:pic>
      <p:sp>
        <p:nvSpPr>
          <p:cNvPr id="3604" name="textbox 3604"/>
          <p:cNvSpPr/>
          <p:nvPr/>
        </p:nvSpPr>
        <p:spPr>
          <a:xfrm>
            <a:off x="6416394" y="1748866"/>
            <a:ext cx="1241425" cy="355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预警报告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06" name="textbox 3606"/>
          <p:cNvSpPr/>
          <p:nvPr/>
        </p:nvSpPr>
        <p:spPr>
          <a:xfrm>
            <a:off x="10953132" y="5484315"/>
            <a:ext cx="835660" cy="2463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2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公司高管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08" name="textbox 3608"/>
          <p:cNvSpPr/>
          <p:nvPr/>
        </p:nvSpPr>
        <p:spPr>
          <a:xfrm>
            <a:off x="11055543" y="3237978"/>
            <a:ext cx="631190" cy="242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责任人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10" name="table 3610"/>
          <p:cNvGraphicFramePr>
            <a:graphicFrameLocks noGrp="1"/>
          </p:cNvGraphicFramePr>
          <p:nvPr/>
        </p:nvGraphicFramePr>
        <p:xfrm>
          <a:off x="1407528" y="1180884"/>
          <a:ext cx="8955404" cy="2721610"/>
        </p:xfrm>
        <a:graphic>
          <a:graphicData uri="http://schemas.openxmlformats.org/drawingml/2006/table">
            <a:tbl>
              <a:tblPr/>
              <a:tblGrid>
                <a:gridCol w="1791335"/>
                <a:gridCol w="7164069"/>
              </a:tblGrid>
              <a:tr h="675640"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9890" algn="l" rtl="0" eaLnBrk="0">
                        <a:lnSpc>
                          <a:spcPct val="9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技术平台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ct val="9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数据魔方建设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655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120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实时数据处理平台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929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5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214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分角色数据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Portal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8025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3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120" algn="l" rtl="0" eaLnBrk="0">
                        <a:lnSpc>
                          <a:spcPct val="96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元数据-指标体系管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12" name="textbox 3612"/>
          <p:cNvSpPr/>
          <p:nvPr/>
        </p:nvSpPr>
        <p:spPr>
          <a:xfrm>
            <a:off x="1408176" y="3896867"/>
            <a:ext cx="1790700" cy="2710179"/>
          </a:xfrm>
          <a:prstGeom prst="rect">
            <a:avLst/>
          </a:prstGeom>
          <a:solidFill>
            <a:srgbClr val="2E75B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4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87984" algn="l" rtl="0" eaLnBrk="0">
              <a:lnSpc>
                <a:spcPct val="91000"/>
              </a:lnSpc>
              <a:tabLst/>
            </a:pP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外部数据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14" name="textbox 3614"/>
          <p:cNvSpPr/>
          <p:nvPr/>
        </p:nvSpPr>
        <p:spPr>
          <a:xfrm>
            <a:off x="556120" y="268560"/>
            <a:ext cx="5416550" cy="473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528"/>
              </a:lnSpc>
              <a:tabLst/>
            </a:pPr>
            <a:r>
              <a:rPr sz="26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大数据技术平台&amp;外部</a:t>
            </a:r>
            <a:r>
              <a:rPr sz="26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数据能力拓展</a:t>
            </a:r>
            <a:endParaRPr sz="2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16" name="textbox 3616"/>
          <p:cNvSpPr/>
          <p:nvPr/>
        </p:nvSpPr>
        <p:spPr>
          <a:xfrm>
            <a:off x="3384704" y="4256261"/>
            <a:ext cx="2053589" cy="245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2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线上店铺虚假宣传监测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18" name="textbox 3618"/>
          <p:cNvSpPr/>
          <p:nvPr/>
        </p:nvSpPr>
        <p:spPr>
          <a:xfrm>
            <a:off x="3384096" y="4926641"/>
            <a:ext cx="1851025" cy="245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情报收集及舆情监控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20" name="textbox 3620"/>
          <p:cNvSpPr/>
          <p:nvPr/>
        </p:nvSpPr>
        <p:spPr>
          <a:xfrm>
            <a:off x="3384501" y="6264968"/>
            <a:ext cx="1240789" cy="245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人口普查数据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22" name="textbox 3622"/>
          <p:cNvSpPr/>
          <p:nvPr/>
        </p:nvSpPr>
        <p:spPr>
          <a:xfrm>
            <a:off x="3383084" y="5596209"/>
            <a:ext cx="1242694" cy="245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房产行业数据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24" name="picture 36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98660" y="6567677"/>
            <a:ext cx="7164539" cy="12700"/>
          </a:xfrm>
          <a:prstGeom prst="rect">
            <a:avLst/>
          </a:prstGeom>
        </p:spPr>
      </p:pic>
      <p:pic>
        <p:nvPicPr>
          <p:cNvPr id="3626" name="picture 36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198660" y="5231485"/>
            <a:ext cx="7164539" cy="7620"/>
          </a:xfrm>
          <a:prstGeom prst="rect">
            <a:avLst/>
          </a:prstGeom>
        </p:spPr>
      </p:pic>
      <p:pic>
        <p:nvPicPr>
          <p:cNvPr id="3628" name="picture 36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198660" y="5900851"/>
            <a:ext cx="7164539" cy="7620"/>
          </a:xfrm>
          <a:prstGeom prst="rect">
            <a:avLst/>
          </a:prstGeom>
        </p:spPr>
      </p:pic>
      <p:sp>
        <p:nvSpPr>
          <p:cNvPr id="3630" name="rect 3630"/>
          <p:cNvSpPr/>
          <p:nvPr/>
        </p:nvSpPr>
        <p:spPr>
          <a:xfrm>
            <a:off x="3198660" y="4562119"/>
            <a:ext cx="7164539" cy="7619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2" name="picture 36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86156" y="1435607"/>
            <a:ext cx="10814304" cy="4940808"/>
          </a:xfrm>
          <a:prstGeom prst="rect">
            <a:avLst/>
          </a:prstGeom>
        </p:spPr>
      </p:pic>
      <p:sp>
        <p:nvSpPr>
          <p:cNvPr id="3634" name="textbox 3634"/>
          <p:cNvSpPr/>
          <p:nvPr/>
        </p:nvSpPr>
        <p:spPr>
          <a:xfrm>
            <a:off x="553440" y="369313"/>
            <a:ext cx="5344795" cy="918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3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6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里程碑计划</a:t>
            </a:r>
            <a:endParaRPr sz="26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spcBef>
                <a:spcPts val="6"/>
              </a:spcBef>
              <a:tabLst/>
            </a:pPr>
            <a:r>
              <a:rPr sz="2000" b="1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前期需求并行，9月开始数据</a:t>
            </a:r>
            <a:r>
              <a:rPr sz="2000" b="1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应用按月迭代交付。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6" name="picture 36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683" y="15468"/>
            <a:ext cx="12167314" cy="68335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Microsoft Office PowerPoint</Application>
  <PresentationFormat>宽屏</PresentationFormat>
  <Paragraphs>3196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9" baseType="lpstr">
      <vt:lpstr>Arial Unicode MS</vt:lpstr>
      <vt:lpstr>DengXian</vt:lpstr>
      <vt:lpstr>FangSong</vt:lpstr>
      <vt:lpstr>SimSun</vt:lpstr>
      <vt:lpstr>Microsoft YaHei</vt:lpstr>
      <vt:lpstr>NSimSun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bobosscn</dc:creator>
  <cp:lastModifiedBy>Lenovo</cp:lastModifiedBy>
  <cp:revision>1</cp:revision>
  <dcterms:created xsi:type="dcterms:W3CDTF">2024-11-20T14:13:41Z</dcterms:created>
  <dcterms:modified xsi:type="dcterms:W3CDTF">2025-06-05T06:45:24Z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wqlLaW5nc29mdCBQREYgdG8gV1BTIDEwMA</vt:lpwstr>
  </property>
  <property fmtid="{D5CDD505-2E9C-101B-9397-08002B2CF9AE}" pid="3" name="Created">
    <vt:filetime>2024-11-20T14:14:47Z</vt:filetime>
  </property>
</Properties>
</file>